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71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2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3500"/>
          <c:y val="0.5375"/>
          <c:w val="0.3000"/>
          <c:h val="0.3000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Расходы</c:v>
                </c:pt>
              </c:strCache>
            </c:strRef>
          </c:tx>
          <c:dPt>
            <c:idx val="0"/>
            <c:spPr>
              <a:solidFill>
                <a:srgbClr val="7F59A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677BD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D95C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C7B6DB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ED4EA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C7C7C7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3200" b="1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Продукты, упаковка и списания</c:v>
                </c:pt>
                <c:pt idx="1">
                  <c:v>Зарплаты и связанные начисления</c:v>
                </c:pt>
                <c:pt idx="2">
                  <c:v>Аренда</c:v>
                </c:pt>
                <c:pt idx="3">
                  <c:v>Коммунальные услуги</c:v>
                </c:pt>
                <c:pt idx="4">
                  <c:v>Маркетинг</c:v>
                </c:pt>
                <c:pt idx="5">
                  <c:v>Другие операционные расходы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315000.0</c:v>
                </c:pt>
                <c:pt idx="1">
                  <c:v>270000.0</c:v>
                </c:pt>
                <c:pt idx="2">
                  <c:v>120000.0</c:v>
                </c:pt>
                <c:pt idx="3">
                  <c:v>25000.0</c:v>
                </c:pt>
                <c:pt idx="4">
                  <c:v>20000.0</c:v>
                </c:pt>
                <c:pt idx="5">
                  <c:v>30000.0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3200" b="1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400">
          <a:solidFill>
            <a:srgbClr val="000000"/>
          </a:solidFill>
          <a:latin typeface="Noto Sans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Расходы на продукты, упаковку и списания — 315 000 рублей (35% от выручки). Зарплаты и связанные начисления — 270 000 рублей. Аренда — 120 000 рублей. Коммунальные услуги — 25 000 рублей. Маркетинг — 20 000 рублей. Другие операционные расходы — 30 000 рублей. Общие расходы — 780 000 рублей. Операционная прибыль — 120 000 рублей. Операционная рентабельность — 13,3%.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5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ftr" idx="1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>
              <a:buNone/>
              <a:def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3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5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ftr" idx="2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>
              <a:buNone/>
              <a:def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"/>
          <p:cNvGrpSpPr/>
          <p:nvPr/>
        </p:nvGrpSpPr>
        <p:grpSpPr>
          <a:xfrm>
            <a:off x="0" y="0"/>
            <a:ext cx="3240360" cy="5694480"/>
            <a:chOff x="0" y="0"/>
            <a:chExt cx="3240360" cy="5694480"/>
          </a:xfrm>
        </p:grpSpPr>
        <p:sp>
          <p:nvSpPr>
            <p:cNvPr id="18" name=""/>
            <p:cNvSpPr/>
            <p:nvPr/>
          </p:nvSpPr>
          <p:spPr>
            <a:xfrm>
              <a:off x="0" y="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0" y="2680920"/>
              <a:ext cx="3240360" cy="2988360"/>
            </a:xfrm>
            <a:custGeom>
              <a:avLst/>
              <a:gdLst/>
              <a:ahLst/>
              <a:rect l="0" t="0" r="r" b="b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0" y="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5400000">
            <a:off x="6570720" y="2272320"/>
            <a:ext cx="4950000" cy="112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ru-RU" sz="4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340000" y="360000"/>
            <a:ext cx="630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7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20772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19052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36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2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43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6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5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6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57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296D4C6-1C35-466E-985E-227FFC314D5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69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71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72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DDBE15A-4D99-4428-8DE2-4387BE4C2FC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8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83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35CB629-AC43-4B72-B0BE-51D76321CC5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91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98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6C1CCF4-346E-477A-A43A-B09BFEAD1EC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14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117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9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B855639-9295-438F-B69E-8E0C332612F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129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136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0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141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68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0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74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6" name="PlaceHolder 3"/>
          <p:cNvSpPr>
            <a:spLocks noGrp="1"/>
          </p:cNvSpPr>
          <p:nvPr>
            <p:ph type="dt" idx="21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2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sldNum" idx="23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90985B0-CFE0-43C6-8A9D-ACD710875E2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52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58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62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4" name="PlaceHolder 3"/>
          <p:cNvSpPr>
            <a:spLocks noGrp="1"/>
          </p:cNvSpPr>
          <p:nvPr>
            <p:ph type="dt" idx="18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19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20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3C5321F-0E38-42CB-8801-F08343DCB07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96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8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201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202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4" name="PlaceHolder 3"/>
          <p:cNvSpPr>
            <a:spLocks noGrp="1"/>
          </p:cNvSpPr>
          <p:nvPr>
            <p:ph type="dt" idx="27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ftr" idx="28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sldNum" idx="29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7D665D0-EB59-4F06-BFA8-ED89CDB4F07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8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6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190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PlaceHolder 3"/>
          <p:cNvSpPr>
            <a:spLocks noGrp="1"/>
          </p:cNvSpPr>
          <p:nvPr>
            <p:ph type="dt" idx="24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ftr" idx="25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ldNum" idx="26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FBC4B87-4254-4A06-947A-D13F5ACA6FD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208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4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215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9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220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E54B8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E54B89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231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37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238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4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36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C6D6BBA-A688-4C5D-B7E7-07743F19223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"/>
          <p:cNvGrpSpPr/>
          <p:nvPr/>
        </p:nvGrpSpPr>
        <p:grpSpPr>
          <a:xfrm>
            <a:off x="4710960" y="216000"/>
            <a:ext cx="659160" cy="80280"/>
            <a:chOff x="4710960" y="216000"/>
            <a:chExt cx="659160" cy="80280"/>
          </a:xfrm>
        </p:grpSpPr>
        <p:sp>
          <p:nvSpPr>
            <p:cNvPr id="2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9A1E122-9752-4F28-9DD5-61B57665E97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4000" y="470656"/>
            <a:ext cx="3376791" cy="47292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rPr lang="ru-RU" sz="3600"/>
              <a:t>Операционная рентабельность — 13,3%</a:t>
            </a:r>
          </a:p>
        </p:txBody>
      </p:sp>
      <p:graphicFrame>
        <p:nvGraphicFramePr>
          <p:cNvPr id="369" name="Chart 368"/>
          <p:cNvGraphicFramePr>
            <a:graphicFrameLocks noGrp="1"/>
          </p:cNvGraphicFramePr>
          <p:nvPr/>
        </p:nvGraphicFramePr>
        <p:xfrm>
          <a:off x="504000" y="548641006480"/>
          <a:ext cx="340233" cy="34023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9" name="Legend title 369"/>
          <p:cNvSpPr txBox="1"/>
          <p:nvPr/>
        </p:nvSpPr>
        <p:spPr>
          <a:xfrm>
            <a:off x="1328103" y="4488517"/>
            <a:ext cx="5085386" cy="7340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6F4F99"/>
                </a:solidFill>
                <a:latin typeface="Noto Sans"/>
                <a:cs typeface="Noto Sans"/>
              </a:rPr>
              <a:t>Структура расходов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6F4F99"/>
                </a:solidFill>
                <a:latin typeface="Noto Sans"/>
                <a:cs typeface="Noto Sans"/>
              </a:rPr>
              <a:t>доля от общей суммы</a:t>
            </a:r>
            <a:endParaRPr lang="ru-RU" sz="1800"/>
          </a:p>
        </p:txBody>
      </p:sp>
      <p:sp>
        <p:nvSpPr>
          <p:cNvPr id="370" name="Swatch 370"/>
          <p:cNvSpPr/>
          <p:nvPr/>
        </p:nvSpPr>
        <p:spPr>
          <a:xfrm>
            <a:off x="1328103" y="54864179540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7F59AE"/>
          </a:solidFill>
          <a:ln>
            <a:noFill/>
          </a:ln>
        </p:spPr>
      </p:sp>
      <p:sp>
        <p:nvSpPr>
          <p:cNvPr id="371" name="Legend 371"/>
          <p:cNvSpPr txBox="1"/>
          <p:nvPr/>
        </p:nvSpPr>
        <p:spPr>
          <a:xfrm>
            <a:off x="1624368" y="4374217"/>
            <a:ext cx="1451614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Продукты, упаковка и списания</a:t>
            </a:r>
            <a:endParaRPr lang="ru-RU" sz="1800"/>
          </a:p>
        </p:txBody>
      </p:sp>
      <p:sp>
        <p:nvSpPr>
          <p:cNvPr id="372" name="Share 372"/>
          <p:cNvSpPr txBox="1"/>
          <p:nvPr/>
        </p:nvSpPr>
        <p:spPr>
          <a:xfrm>
            <a:off x="3075982" y="5370830"/>
            <a:ext cx="61193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7F59AE"/>
                </a:solidFill>
                <a:latin typeface="Noto Sans"/>
                <a:cs typeface="Noto Sans"/>
              </a:rPr>
              <a:t>40%</a:t>
            </a:r>
            <a:endParaRPr lang="ru-RU" sz="1800"/>
          </a:p>
        </p:txBody>
      </p:sp>
      <p:sp>
        <p:nvSpPr>
          <p:cNvPr id="373" name="Swatch 373"/>
          <p:cNvSpPr/>
          <p:nvPr/>
        </p:nvSpPr>
        <p:spPr>
          <a:xfrm>
            <a:off x="1328103" y="54864275806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7F59AE">
              <a:alpha val="82000"/>
            </a:srgbClr>
          </a:solidFill>
          <a:ln>
            <a:noFill/>
          </a:ln>
        </p:spPr>
      </p:sp>
      <p:sp>
        <p:nvSpPr>
          <p:cNvPr id="374" name="Legend 374"/>
          <p:cNvSpPr txBox="1"/>
          <p:nvPr/>
        </p:nvSpPr>
        <p:spPr>
          <a:xfrm>
            <a:off x="1624368" y="4374217"/>
            <a:ext cx="1451614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00" b="0" dirty="0">
                <a:solidFill>
                  <a:srgbClr val="000000"/>
                </a:solidFill>
                <a:latin typeface="Noto Sans"/>
                <a:cs typeface="Noto Sans"/>
              </a:rPr>
              <a:t>Зарплаты и связанные начисления</a:t>
            </a:r>
            <a:endParaRPr lang="ru-RU" sz="1800"/>
          </a:p>
        </p:txBody>
      </p:sp>
      <p:sp>
        <p:nvSpPr>
          <p:cNvPr id="375" name="Share 375"/>
          <p:cNvSpPr txBox="1"/>
          <p:nvPr/>
        </p:nvSpPr>
        <p:spPr>
          <a:xfrm>
            <a:off x="3075982" y="5370830"/>
            <a:ext cx="61193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Noto Sans"/>
                <a:cs typeface="Noto Sans"/>
              </a:rPr>
              <a:t>35%</a:t>
            </a:r>
            <a:endParaRPr lang="ru-RU" sz="1800"/>
          </a:p>
        </p:txBody>
      </p:sp>
      <p:sp>
        <p:nvSpPr>
          <p:cNvPr id="376" name="Swatch 376"/>
          <p:cNvSpPr/>
          <p:nvPr/>
        </p:nvSpPr>
        <p:spPr>
          <a:xfrm>
            <a:off x="1328103" y="54864372072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7F59AE">
              <a:alpha val="64000"/>
            </a:srgbClr>
          </a:solidFill>
          <a:ln>
            <a:noFill/>
          </a:ln>
        </p:spPr>
      </p:sp>
      <p:sp>
        <p:nvSpPr>
          <p:cNvPr id="377" name="Legend 377"/>
          <p:cNvSpPr txBox="1"/>
          <p:nvPr/>
        </p:nvSpPr>
        <p:spPr>
          <a:xfrm>
            <a:off x="1624368" y="5370830"/>
            <a:ext cx="145161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Аренда</a:t>
            </a:r>
            <a:endParaRPr lang="ru-RU" sz="1800"/>
          </a:p>
        </p:txBody>
      </p:sp>
      <p:sp>
        <p:nvSpPr>
          <p:cNvPr id="378" name="Share 378"/>
          <p:cNvSpPr txBox="1"/>
          <p:nvPr/>
        </p:nvSpPr>
        <p:spPr>
          <a:xfrm>
            <a:off x="3075982" y="5370830"/>
            <a:ext cx="61193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Noto Sans"/>
                <a:cs typeface="Noto Sans"/>
              </a:rPr>
              <a:t>15%</a:t>
            </a:r>
            <a:endParaRPr lang="ru-RU" sz="1800"/>
          </a:p>
        </p:txBody>
      </p:sp>
      <p:sp>
        <p:nvSpPr>
          <p:cNvPr id="379" name="Swatch 379"/>
          <p:cNvSpPr/>
          <p:nvPr/>
        </p:nvSpPr>
        <p:spPr>
          <a:xfrm>
            <a:off x="4053676" y="54864179540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7F59AE">
              <a:alpha val="44000"/>
            </a:srgbClr>
          </a:solidFill>
          <a:ln>
            <a:noFill/>
          </a:ln>
        </p:spPr>
      </p:sp>
      <p:sp>
        <p:nvSpPr>
          <p:cNvPr id="380" name="Legend 380"/>
          <p:cNvSpPr txBox="1"/>
          <p:nvPr/>
        </p:nvSpPr>
        <p:spPr>
          <a:xfrm>
            <a:off x="4349941" y="4648537"/>
            <a:ext cx="1451614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Коммунальные услуги</a:t>
            </a:r>
            <a:endParaRPr lang="ru-RU" sz="1800"/>
          </a:p>
        </p:txBody>
      </p:sp>
      <p:sp>
        <p:nvSpPr>
          <p:cNvPr id="381" name="Share 381"/>
          <p:cNvSpPr txBox="1"/>
          <p:nvPr/>
        </p:nvSpPr>
        <p:spPr>
          <a:xfrm>
            <a:off x="5801555" y="5370830"/>
            <a:ext cx="61193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Noto Sans"/>
                <a:cs typeface="Noto Sans"/>
              </a:rPr>
              <a:t>3%</a:t>
            </a:r>
            <a:endParaRPr lang="ru-RU" sz="1800"/>
          </a:p>
        </p:txBody>
      </p:sp>
      <p:sp>
        <p:nvSpPr>
          <p:cNvPr id="382" name="Swatch 382"/>
          <p:cNvSpPr/>
          <p:nvPr/>
        </p:nvSpPr>
        <p:spPr>
          <a:xfrm>
            <a:off x="4053676" y="54864248374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7F59AE">
              <a:alpha val="26000"/>
            </a:srgbClr>
          </a:solidFill>
          <a:ln>
            <a:noFill/>
          </a:ln>
        </p:spPr>
      </p:sp>
      <p:sp>
        <p:nvSpPr>
          <p:cNvPr id="383" name="Legend 383"/>
          <p:cNvSpPr txBox="1"/>
          <p:nvPr/>
        </p:nvSpPr>
        <p:spPr>
          <a:xfrm>
            <a:off x="4349941" y="5370830"/>
            <a:ext cx="145161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Маркетинг</a:t>
            </a:r>
            <a:endParaRPr lang="ru-RU" sz="1800"/>
          </a:p>
        </p:txBody>
      </p:sp>
      <p:sp>
        <p:nvSpPr>
          <p:cNvPr id="384" name="Share 384"/>
          <p:cNvSpPr txBox="1"/>
          <p:nvPr/>
        </p:nvSpPr>
        <p:spPr>
          <a:xfrm>
            <a:off x="5801555" y="5370830"/>
            <a:ext cx="61193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Noto Sans"/>
                <a:cs typeface="Noto Sans"/>
              </a:rPr>
              <a:t>3%</a:t>
            </a:r>
            <a:endParaRPr lang="ru-RU" sz="1800"/>
          </a:p>
        </p:txBody>
      </p:sp>
      <p:sp>
        <p:nvSpPr>
          <p:cNvPr id="385" name="Swatch 385"/>
          <p:cNvSpPr/>
          <p:nvPr/>
        </p:nvSpPr>
        <p:spPr>
          <a:xfrm>
            <a:off x="4053676" y="54864289776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</p:sp>
      <p:sp>
        <p:nvSpPr>
          <p:cNvPr id="386" name="Legend 386"/>
          <p:cNvSpPr txBox="1"/>
          <p:nvPr/>
        </p:nvSpPr>
        <p:spPr>
          <a:xfrm>
            <a:off x="4349941" y="4374217"/>
            <a:ext cx="1451614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Другие операционные расходы</a:t>
            </a:r>
            <a:endParaRPr lang="ru-RU" sz="1800"/>
          </a:p>
        </p:txBody>
      </p:sp>
      <p:sp>
        <p:nvSpPr>
          <p:cNvPr id="387" name="Share 387"/>
          <p:cNvSpPr txBox="1"/>
          <p:nvPr/>
        </p:nvSpPr>
        <p:spPr>
          <a:xfrm>
            <a:off x="5801555" y="5370830"/>
            <a:ext cx="61193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Noto Sans"/>
                <a:cs typeface="Noto Sans"/>
              </a:rPr>
              <a:t>4%</a:t>
            </a:r>
            <a:endParaRPr lang="ru-RU" sz="1800"/>
          </a:p>
        </p:txBody>
      </p:sp>
      <p:cxnSp>
        <p:nvCxnSpPr>
          <p:cNvPr id="388" name="Line 388"/>
          <p:cNvCxnSpPr/>
          <p:nvPr/>
        </p:nvCxnSpPr>
        <p:spPr>
          <a:xfrm>
            <a:off x="6552394" y="548641006480"/>
            <a:ext cx="0" cy="1050938"/>
          </a:xfrm>
          <a:prstGeom prst="line">
            <a:avLst/>
          </a:prstGeom>
          <a:ln w="12700">
            <a:solidFill>
              <a:srgbClr val="FCDD99"/>
            </a:solidFill>
          </a:ln>
        </p:spPr>
      </p:cxnSp>
      <p:sp>
        <p:nvSpPr>
          <p:cNvPr id="389" name="Takeaway 389"/>
          <p:cNvSpPr txBox="1"/>
          <p:nvPr/>
        </p:nvSpPr>
        <p:spPr>
          <a:xfrm>
            <a:off x="6794329" y="4171639"/>
            <a:ext cx="2782264" cy="10509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ru-RU" sz="3600" b="1" dirty="0">
                <a:solidFill>
                  <a:srgbClr val="7F59AE"/>
                </a:solidFill>
                <a:latin typeface="Noto Sans"/>
                <a:cs typeface="Noto Sans"/>
              </a:rPr>
              <a:t>120 000 ₽</a:t>
            </a:r>
            <a:endParaRPr lang="ru-RU" sz="3600"/>
          </a:p>
          <a:p>
            <a:pPr algn="l" marL="0" indent="0">
              <a:lnSpc>
                <a:spcPct val="100000"/>
              </a:lnSpc>
              <a:spcAft>
                <a:spcPts val="2310"/>
              </a:spcAft>
              <a:buNone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Операционная прибыль — 120 000 рублей</a:t>
            </a:r>
            <a:endParaRPr lang="ru-RU" sz="1800"/>
          </a:p>
          <a:p>
            <a:pPr algn="l" marL="251460" indent="-251460">
              <a:lnSpc>
                <a:spcPct val="100000"/>
              </a:lnSpc>
              <a:spcAft>
                <a:spcPts val="1155"/>
              </a:spcAft>
              <a:buClr>
                <a:srgbClr val="7F59AE"/>
              </a:buClr>
              <a:buFont typeface="Arial"/>
              <a:buChar char="•"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Общие расходы — 780 000 рублей</a:t>
            </a:r>
            <a:endParaRPr lang="ru-RU" sz="1800"/>
          </a:p>
          <a:p>
            <a:pPr algn="l" marL="251460" indent="-251460">
              <a:lnSpc>
                <a:spcPct val="100000"/>
              </a:lnSpc>
              <a:spcAft>
                <a:spcPts val="1155"/>
              </a:spcAft>
              <a:buClr>
                <a:srgbClr val="7F59AE"/>
              </a:buClr>
              <a:buFont typeface="Arial"/>
              <a:buChar char="•"/>
            </a:pPr>
            <a:r>
              <a:rPr lang="ru-RU" sz="1800" b="0" dirty="0">
                <a:solidFill>
                  <a:srgbClr val="000000"/>
                </a:solidFill>
                <a:latin typeface="Noto Sans"/>
                <a:cs typeface="Noto Sans"/>
              </a:rPr>
              <a:t>Продукты и зарплаты — больше трети расходов</a:t>
            </a:r>
            <a:endParaRPr lang="ru-RU" sz="1800"/>
          </a:p>
        </p:txBody>
      </p:sp>
      <p:sp>
        <p:nvSpPr>
          <p:cNvPr id="390" name="Footnote 390"/>
          <p:cNvSpPr txBox="1"/>
          <p:nvPr/>
        </p:nvSpPr>
        <p:spPr>
          <a:xfrm>
            <a:off x="504000" y="5060017"/>
            <a:ext cx="9072593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dirty="0">
                <a:solidFill>
                  <a:srgbClr val="6F4F99"/>
                </a:solidFill>
                <a:latin typeface="Noto Sans"/>
                <a:cs typeface="Noto Sans"/>
              </a:rPr>
              <a:t>Налоги, проценты по кредитам и амортизация в упрощенной модели не учитываются</a:t>
            </a:r>
            <a:endParaRPr lang="ru-RU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Candy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2026-09-27T15:01:10Z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ru-RU</dc:language>
  <cp:lastModifiedBy/>
  <cp:revision>1</cp:revision>
  <dc:subject/>
  <dc:title>Candy</dc:title>
</cp:coreProperties>
</file>