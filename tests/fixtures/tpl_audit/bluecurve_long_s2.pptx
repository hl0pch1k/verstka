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9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5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Формула выручки: количество покупок в день × средний чек × количество рабочих дней в месяц. Исходные данные: 100 покупок в день, 300 рублей — средний чек, 30 рабочих дней в месяце.</a:t>
            </a:r>
          </a:p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300" b="0" u="none" strike="noStrike">
                <a:solidFill>
                  <a:srgbClr val="DD41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ru-RU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ru-RU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55E1D29C-B4E3-4617-82BA-97DB873FEAF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300" b="0" u="none" strike="noStrike">
                <a:solidFill>
                  <a:srgbClr val="DD41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ru-RU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ru-RU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0791E4BC-100B-4F13-B6DA-C47DC998E42E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ru-RU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ru-RU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ru-RU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A346DDCA-6B82-4325-99CE-63A7E3EDB8FF}" type="slidenum"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60000" y="456606"/>
            <a:ext cx="8669337" cy="5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r>
              <a:rPr lang="ru-RU" sz="3300"/>
              <a:t>Месячная выручка — 900 000 рублей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B1E6ED8-8E5A-48A0-974E-7E235F9DD3B6}" type="slidenum">
              <a:t>2</a:t>
            </a:fld>
          </a:p>
        </p:txBody>
      </p:sp>
      <p:sp>
        <p:nvSpPr>
          <p:cNvPr id="22" name="Figure 22"/>
          <p:cNvSpPr txBox="1"/>
          <p:nvPr/>
        </p:nvSpPr>
        <p:spPr>
          <a:xfrm>
            <a:off x="329330" y="2201428"/>
            <a:ext cx="1138745" cy="73152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800" b="0" dirty="0">
                <a:solidFill>
                  <a:srgbClr val="009BDD"/>
                </a:solidFill>
                <a:latin typeface="Arial"/>
                <a:cs typeface="Arial"/>
              </a:rPr>
              <a:t>100</a:t>
            </a:r>
            <a:endParaRPr lang="ru-RU" sz="4800"/>
          </a:p>
        </p:txBody>
      </p:sp>
      <p:sp>
        <p:nvSpPr>
          <p:cNvPr id="23" name="Term label 23"/>
          <p:cNvSpPr txBox="1"/>
          <p:nvPr/>
        </p:nvSpPr>
        <p:spPr>
          <a:xfrm>
            <a:off x="360000" y="2958465"/>
            <a:ext cx="1511903" cy="2768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50" b="0" dirty="0">
                <a:solidFill>
                  <a:srgbClr val="0369A3"/>
                </a:solidFill>
                <a:latin typeface="Arial"/>
                <a:cs typeface="Arial"/>
              </a:rPr>
              <a:t>покупок в день</a:t>
            </a:r>
            <a:endParaRPr lang="ru-RU" sz="1650"/>
          </a:p>
        </p:txBody>
      </p:sp>
      <p:sp>
        <p:nvSpPr>
          <p:cNvPr id="24" name="Operator 24"/>
          <p:cNvSpPr txBox="1"/>
          <p:nvPr/>
        </p:nvSpPr>
        <p:spPr>
          <a:xfrm>
            <a:off x="1871903" y="2401072"/>
            <a:ext cx="457200" cy="3962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ru-RU" sz="2400" b="0" dirty="0">
                <a:solidFill>
                  <a:srgbClr val="0369A3"/>
                </a:solidFill>
                <a:latin typeface="Arial"/>
                <a:cs typeface="Arial"/>
              </a:rPr>
              <a:t>×</a:t>
            </a:r>
            <a:endParaRPr lang="ru-RU" sz="2400"/>
          </a:p>
        </p:txBody>
      </p:sp>
      <p:sp>
        <p:nvSpPr>
          <p:cNvPr id="25" name="Figure 25"/>
          <p:cNvSpPr txBox="1"/>
          <p:nvPr/>
        </p:nvSpPr>
        <p:spPr>
          <a:xfrm>
            <a:off x="2317635" y="2201428"/>
            <a:ext cx="1362430" cy="73152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800" b="0" dirty="0">
                <a:solidFill>
                  <a:srgbClr val="009BDD"/>
                </a:solidFill>
                <a:latin typeface="Arial"/>
                <a:cs typeface="Arial"/>
              </a:rPr>
              <a:t>300</a:t>
            </a:r>
            <a:r>
              <a:rPr lang="ru-RU" sz="2400" b="0" dirty="0">
                <a:solidFill>
                  <a:srgbClr val="009BDD"/>
                </a:solidFill>
                <a:latin typeface="Arial"/>
                <a:cs typeface="Arial"/>
              </a:rPr>
              <a:t> ₽</a:t>
            </a:r>
            <a:endParaRPr lang="ru-RU" sz="4800"/>
          </a:p>
        </p:txBody>
      </p:sp>
      <p:sp>
        <p:nvSpPr>
          <p:cNvPr id="26" name="Operator 26"/>
          <p:cNvSpPr txBox="1"/>
          <p:nvPr/>
        </p:nvSpPr>
        <p:spPr>
          <a:xfrm>
            <a:off x="3681272" y="2401072"/>
            <a:ext cx="457200" cy="3962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ru-RU" sz="2400" b="0" dirty="0">
                <a:solidFill>
                  <a:srgbClr val="0369A3"/>
                </a:solidFill>
                <a:latin typeface="Arial"/>
                <a:cs typeface="Arial"/>
              </a:rPr>
              <a:t>×</a:t>
            </a:r>
            <a:endParaRPr lang="ru-RU" sz="2400"/>
          </a:p>
        </p:txBody>
      </p:sp>
      <p:sp>
        <p:nvSpPr>
          <p:cNvPr id="27" name="Figure 27"/>
          <p:cNvSpPr txBox="1"/>
          <p:nvPr/>
        </p:nvSpPr>
        <p:spPr>
          <a:xfrm>
            <a:off x="4127004" y="2201428"/>
            <a:ext cx="767118" cy="73152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800" b="0" dirty="0">
                <a:solidFill>
                  <a:srgbClr val="009BDD"/>
                </a:solidFill>
                <a:latin typeface="Arial"/>
                <a:cs typeface="Arial"/>
              </a:rPr>
              <a:t>30</a:t>
            </a:r>
            <a:endParaRPr lang="ru-RU" sz="4800"/>
          </a:p>
        </p:txBody>
      </p:sp>
      <p:sp>
        <p:nvSpPr>
          <p:cNvPr id="28" name="Term label 28"/>
          <p:cNvSpPr txBox="1"/>
          <p:nvPr/>
        </p:nvSpPr>
        <p:spPr>
          <a:xfrm>
            <a:off x="4138472" y="2958465"/>
            <a:ext cx="1399532" cy="2768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650" b="0" dirty="0">
                <a:solidFill>
                  <a:srgbClr val="0369A3"/>
                </a:solidFill>
                <a:latin typeface="Arial"/>
                <a:cs typeface="Arial"/>
              </a:rPr>
              <a:t>рабочих дней</a:t>
            </a:r>
            <a:endParaRPr lang="ru-RU" sz="1650"/>
          </a:p>
        </p:txBody>
      </p:sp>
      <p:sp>
        <p:nvSpPr>
          <p:cNvPr id="29" name="Operator 29"/>
          <p:cNvSpPr txBox="1"/>
          <p:nvPr/>
        </p:nvSpPr>
        <p:spPr>
          <a:xfrm>
            <a:off x="5538004" y="2401072"/>
            <a:ext cx="457200" cy="39624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ru-RU" sz="2400" b="0" dirty="0">
                <a:solidFill>
                  <a:srgbClr val="0369A3"/>
                </a:solidFill>
                <a:latin typeface="Arial"/>
                <a:cs typeface="Arial"/>
              </a:rPr>
              <a:t>=</a:t>
            </a:r>
            <a:endParaRPr lang="ru-RU" sz="2400"/>
          </a:p>
        </p:txBody>
      </p:sp>
      <p:sp>
        <p:nvSpPr>
          <p:cNvPr id="30" name="Result 30"/>
          <p:cNvSpPr/>
          <p:nvPr/>
        </p:nvSpPr>
        <p:spPr>
          <a:xfrm>
            <a:off x="5995204" y="2228860"/>
            <a:ext cx="2941701" cy="740664"/>
          </a:xfrm>
          <a:prstGeom prst="roundRect">
            <a:avLst>
              <a:gd name="adj" fmla="val 14814"/>
            </a:avLst>
          </a:prstGeom>
          <a:solidFill>
            <a:srgbClr val="009BDD"/>
          </a:solidFill>
          <a:ln>
            <a:noFill/>
          </a:ln>
        </p:spPr>
      </p:sp>
      <p:sp>
        <p:nvSpPr>
          <p:cNvPr id="31" name="Result figure 31"/>
          <p:cNvSpPr txBox="1"/>
          <p:nvPr/>
        </p:nvSpPr>
        <p:spPr>
          <a:xfrm>
            <a:off x="6156557" y="2201428"/>
            <a:ext cx="2560447" cy="73152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800" b="0" dirty="0">
                <a:solidFill>
                  <a:srgbClr val="FFFFFF"/>
                </a:solidFill>
                <a:latin typeface="Arial"/>
                <a:cs typeface="Arial"/>
              </a:rPr>
              <a:t>900 000</a:t>
            </a:r>
            <a:r>
              <a:rPr lang="ru-RU" sz="2400" b="0" dirty="0">
                <a:solidFill>
                  <a:srgbClr val="FFFFFF"/>
                </a:solidFill>
                <a:latin typeface="Arial"/>
                <a:cs typeface="Arial"/>
              </a:rPr>
              <a:t> ₽</a:t>
            </a:r>
            <a:endParaRPr lang="ru-RU" sz="4800"/>
          </a:p>
        </p:txBody>
      </p:sp>
      <p:sp>
        <p:nvSpPr>
          <p:cNvPr id="32" name="Conclusion bar 32"/>
          <p:cNvSpPr/>
          <p:nvPr/>
        </p:nvSpPr>
        <p:spPr>
          <a:xfrm>
            <a:off x="360000" y="4562385"/>
            <a:ext cx="38100" cy="250952"/>
          </a:xfrm>
          <a:prstGeom prst="rect">
            <a:avLst/>
          </a:prstGeom>
          <a:solidFill>
            <a:srgbClr val="009BDD"/>
          </a:solidFill>
          <a:ln>
            <a:noFill/>
          </a:ln>
        </p:spPr>
      </p:sp>
      <p:sp>
        <p:nvSpPr>
          <p:cNvPr id="33" name="Conclusion 33"/>
          <p:cNvSpPr txBox="1"/>
          <p:nvPr/>
        </p:nvSpPr>
        <p:spPr>
          <a:xfrm>
            <a:off x="586060" y="4534191"/>
            <a:ext cx="8950210" cy="3073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50" b="0" dirty="0">
                <a:solidFill>
                  <a:srgbClr val="0369A3"/>
                </a:solidFill>
                <a:latin typeface="Arial"/>
                <a:cs typeface="Arial"/>
              </a:rPr>
              <a:t>Рассчитано на основе </a:t>
            </a:r>
            <a:r>
              <a:rPr lang="ru-RU" sz="1850" b="0" dirty="0">
                <a:solidFill>
                  <a:srgbClr val="009BDD"/>
                </a:solidFill>
                <a:latin typeface="Arial"/>
                <a:cs typeface="Arial"/>
              </a:rPr>
              <a:t>3 000 </a:t>
            </a:r>
            <a:r>
              <a:rPr lang="ru-RU" sz="1850" b="0" dirty="0">
                <a:solidFill>
                  <a:srgbClr val="0369A3"/>
                </a:solidFill>
                <a:latin typeface="Arial"/>
                <a:cs typeface="Arial"/>
              </a:rPr>
              <a:t>покупок в месяц</a:t>
            </a:r>
            <a:endParaRPr lang="ru-RU" sz="1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Blue Curve</Template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2026-09-27T15:01:17Z</dcterms:created>
  <dc:creator/>
  <dc:description>This work is licensed under a Creative Commons 0 License.
It makes use of the works of kka_libo_design@ashisuto.co.jp.</dc:description>
  <dc:language>ru-RU</dc:language>
  <cp:lastModifiedBy/>
  <cp:revision>1</cp:revision>
  <dc:subject/>
  <dc:title>Blue Curve</dc:title>
</cp:coreProperties>
</file>