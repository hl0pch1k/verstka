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44"/>
          <c:y val="0.0244"/>
          <c:w val="0.9512"/>
          <c:h val="0.951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 выручке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50A2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AAD1FF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Кофе</c:v>
                </c:pt>
                <c:pt idx="1">
                  <c:v>Десерты и выпечка</c:v>
                </c:pt>
                <c:pt idx="2">
                  <c:v>Чай и другие напитки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25.0</c:v>
                </c:pt>
                <c:pt idx="2">
                  <c:v>15.0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08"/>
          <c:y val="0.0308"/>
          <c:w val="0.9383"/>
          <c:h val="0.938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Расходы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2D8F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5AA7FF"/>
              </a:solidFill>
              <a:ln w="19050">
                <a:solidFill>
                  <a:srgbClr val="FAFCFF"/>
                </a:solidFill>
              </a:ln>
            </c:spPr>
          </c:dPt>
          <c:dPt>
            <c:idx val="3"/>
            <c:spPr>
              <a:solidFill>
                <a:srgbClr val="8CC1FF"/>
              </a:solidFill>
              <a:ln w="19050">
                <a:solidFill>
                  <a:srgbClr val="FAFCFF"/>
                </a:solidFill>
              </a:ln>
            </c:spPr>
          </c:dPt>
          <c:dPt>
            <c:idx val="4"/>
            <c:spPr>
              <a:solidFill>
                <a:srgbClr val="B9D9FF"/>
              </a:solidFill>
              <a:ln w="19050">
                <a:solidFill>
                  <a:srgbClr val="FAFCFF"/>
                </a:solidFill>
              </a:ln>
            </c:spPr>
          </c:dPt>
          <c:dPt>
            <c:idx val="5"/>
            <c:spPr>
              <a:solidFill>
                <a:srgbClr val="C3C5C7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9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Продукты и упаковка</c:v>
                </c:pt>
                <c:pt idx="1">
                  <c:v>Зарплаты</c:v>
                </c:pt>
                <c:pt idx="2">
                  <c:v>Аренда</c:v>
                </c:pt>
                <c:pt idx="3">
                  <c:v>Коммунальные услуги</c:v>
                </c:pt>
                <c:pt idx="4">
                  <c:v>Маркетинг</c:v>
                </c:pt>
                <c:pt idx="5">
                  <c:v>Прочие расходы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315000.0</c:v>
                </c:pt>
                <c:pt idx="1">
                  <c:v>270000.0</c:v>
                </c:pt>
                <c:pt idx="2">
                  <c:v>120000.0</c:v>
                </c:pt>
                <c:pt idx="3">
                  <c:v>25000.0</c:v>
                </c:pt>
                <c:pt idx="4">
                  <c:v>20000.0</c:v>
                </c:pt>
                <c:pt idx="5">
                  <c:v>30000.0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9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49"/>
          <c:y val="0.1188"/>
          <c:w val="0.9902"/>
          <c:h val="0.79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покупок</c:v>
                </c:pt>
              </c:strCache>
            </c:strRef>
          </c:tx>
          <c:spPr>
            <a:solidFill>
              <a:srgbClr val="91C4FF"/>
            </a:solidFill>
            <a:ln>
              <a:noFill/>
            </a:ln>
          </c:spPr>
          <c:invertIfNegative val="0"/>
          <c:dPt>
            <c:idx val="1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1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Цель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115.0</c:v>
                </c:pt>
              </c:numCache>
            </c:numRef>
          </c:val>
        </c:ser>
        <c:dLbls>
          <c:numFmt formatCode="#,##0&quot; покупок&quot;;&quot;−&quot;#,##0&quot; покупо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1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49"/>
          <c:y val="0.1188"/>
          <c:w val="0.9902"/>
          <c:h val="0.79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</c:v>
                </c:pt>
              </c:strCache>
            </c:strRef>
          </c:tx>
          <c:spPr>
            <a:solidFill>
              <a:srgbClr val="91C4FF"/>
            </a:solidFill>
            <a:ln>
              <a:noFill/>
            </a:ln>
          </c:spPr>
          <c:invertIfNegative val="0"/>
          <c:dPt>
            <c:idx val="1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Цель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300.0</c:v>
                </c:pt>
                <c:pt idx="1">
                  <c:v>330.0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33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23"/>
          <c:y val="0.1084"/>
          <c:w val="0.9754"/>
          <c:h val="0.813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marker>
          <c:dPt>
            <c:idx val="6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FAFCFF"/>
                  </a:solidFill>
                </a:ln>
              </c:spPr>
            </c:marke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71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71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14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814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-0.0814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5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9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Сейчас</c:v>
                </c:pt>
                <c:pt idx="1">
                  <c:v>1-й месяц</c:v>
                </c:pt>
                <c:pt idx="2">
                  <c:v>2-й месяц</c:v>
                </c:pt>
                <c:pt idx="3">
                  <c:v>3-й месяц</c:v>
                </c:pt>
                <c:pt idx="4">
                  <c:v>4-й месяц</c:v>
                </c:pt>
                <c:pt idx="5">
                  <c:v>5-й месяц</c:v>
                </c:pt>
                <c:pt idx="6">
                  <c:v>6-й месяц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900000.0</c:v>
                </c:pt>
                <c:pt idx="1">
                  <c:v>930000.0</c:v>
                </c:pt>
                <c:pt idx="2">
                  <c:v>970000.0</c:v>
                </c:pt>
                <c:pt idx="3">
                  <c:v>1015000.0</c:v>
                </c:pt>
                <c:pt idx="4">
                  <c:v>1060000.0</c:v>
                </c:pt>
                <c:pt idx="5">
                  <c:v>1100000.0</c:v>
                </c:pt>
                <c:pt idx="6">
                  <c:v>1138500.0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9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138500.0"/>
          <c:min val="840375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73"/>
          <c:y val="0.0673"/>
          <c:w val="0.8655"/>
          <c:h val="0.865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2D8FFF"/>
              </a:solidFill>
              <a:ln w="19050">
                <a:solidFill>
                  <a:srgbClr val="FAFCFF"/>
                </a:solidFill>
              </a:ln>
            </c:spPr>
          </c:dPt>
          <c:dPt>
            <c:idx val="2"/>
            <c:spPr>
              <a:solidFill>
                <a:srgbClr val="8CC1FF"/>
              </a:solidFill>
              <a:ln w="19050">
                <a:solidFill>
                  <a:srgbClr val="FAFCFF"/>
                </a:solidFill>
              </a:ln>
            </c:spPr>
          </c:dPt>
          <c:dPt>
            <c:idx val="3"/>
            <c:spPr>
              <a:solidFill>
                <a:srgbClr val="B9D9FF"/>
              </a:solidFill>
              <a:ln w="19050">
                <a:solidFill>
                  <a:srgbClr val="FAFCFF"/>
                </a:solidFill>
              </a:ln>
            </c:spPr>
          </c:dPt>
          <c:dPt>
            <c:idx val="4"/>
            <c:spPr>
              <a:solidFill>
                <a:srgbClr val="5AA7FF"/>
              </a:solidFill>
              <a:ln w="19050">
                <a:solidFill>
                  <a:srgbClr val="FAFCFF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Витрина для десертов</c:v>
                </c:pt>
                <c:pt idx="1">
                  <c:v>Программа лояльности и учет</c:v>
                </c:pt>
                <c:pt idx="2">
                  <c:v>Обновление меню и фотографии</c:v>
                </c:pt>
                <c:pt idx="3">
                  <c:v>Обучение сотрудников</c:v>
                </c:pt>
                <c:pt idx="4">
                  <c:v>Резерв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70000.0</c:v>
                </c:pt>
                <c:pt idx="1">
                  <c:v>35000.0</c:v>
                </c:pt>
                <c:pt idx="2">
                  <c:v>25000.0</c:v>
                </c:pt>
                <c:pt idx="3">
                  <c:v>20000.0</c:v>
                </c:pt>
                <c:pt idx="4">
                  <c:v>30000.0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3"/>
          <c:y val="0.1132"/>
          <c:w val="0.9954"/>
          <c:h val="0.80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Прибыль</c:v>
                </c:pt>
              </c:strCache>
            </c:strRef>
          </c:tx>
          <c:spPr>
            <a:solidFill>
              <a:srgbClr val="91C4FF"/>
            </a:solidFill>
            <a:ln>
              <a:noFill/>
            </a:ln>
          </c:spPr>
          <c:invertIfNegative val="0"/>
          <c:dPt>
            <c:idx val="1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Прогноз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120000.0</c:v>
                </c:pt>
                <c:pt idx="1">
                  <c:v>254795.0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3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479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Выручка кофейни за 30 дней составляет 900 000 рублей. Из них 540 000 рублей приходится на кофе, 225 000 рублей — на десерты и выпечку, 135 000 рублей — на чай и другие напитки. Это соответствует структуре: кофе — 60%, десерты и выпечка — 25%, чай и другие напитки — 15%.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Ежемесячные расходы кофейни составляют 780 000 рублей. Наибольшую долю занимают расходы на продукты и упаковку (315 000 ₽) и зарплаты (270 000 ₽). Операционная прибыль составляет 120 000 рублей, или 13,3% от выручки.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 увеличении количества покупок до 115 в день и среднего чека до 330 рублей, месячная выручка составит 1 138 500 рублей, что на 238 500 рублей больше текущей.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 шестому месяцу операционная прибыль достигнет 254 795 рублей в месяц против текущих 120 000 рублей. Рост составит 112,3%, а рентабельность увеличится с 13,3% до 22,4%. Разовые вложения учитываются отдельно.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7" name="Google Shape;407;p43"/>
          <p:cNvSpPr txBox="1"/>
          <p:nvPr>
            <p:ph type="title"/>
          </p:nvPr>
        </p:nvSpPr>
        <p:spPr>
          <a:xfrm>
            <a:off x="581272" y="1544274"/>
            <a:ext cx="4082168" cy="1147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 sz="3600" b="0"/>
              <a:t>Кофейня</a:t>
            </a:r>
            <a:br>
              <a:rPr lang="en-US" sz="3600" b="0"/>
            </a:br>
            <a:r>
              <a:rPr lang="en-US" sz="3600" b="0"/>
              <a:t>«Точка кофе»</a:t>
            </a:r>
            <a:endParaRPr b="0"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581272" y="2851826"/>
            <a:ext cx="4082168" cy="62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 b="0">
                <a:solidFill>
                  <a:srgbClr val="FAFCFF"/>
                </a:solidFill>
              </a:rPr>
              <a:t>План увеличения прибыли за 6 месяцев</a:t>
            </a:r>
            <a:endParaRPr b="0">
              <a:solidFill>
                <a:srgbClr val="FAFCFF"/>
              </a:solidFill>
            </a:endParaRPr>
          </a:p>
        </p:txBody>
      </p:sp>
      <p:sp>
        <p:nvSpPr>
          <p:cNvPr id="414" name="Дата"/>
          <p:cNvSpPr txBox="1"/>
          <p:nvPr/>
        </p:nvSpPr>
        <p:spPr>
          <a:xfrm>
            <a:off x="581272" y="3784287"/>
            <a:ext cx="1452548" cy="334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322" b="0">
                <a:solidFill>
                  <a:srgbClr val="FAFCFF"/>
                </a:solidFill>
                <a:latin typeface="Play"/>
              </a:rPr>
              <a:t>Сентябрь 2026</a:t>
            </a:r>
            <a:endParaRPr b="0">
              <a:solidFill>
                <a:srgbClr val="FAFCFF"/>
              </a:solidFill>
              <a:latin typeface="Play"/>
            </a:endParaRPr>
          </a:p>
        </p:txBody>
      </p:sp>
      <p:sp>
        <p:nvSpPr>
          <p:cNvPr id="413" name="Сноска"/>
          <p:cNvSpPr txBox="1"/>
          <p:nvPr/>
        </p:nvSpPr>
        <p:spPr>
          <a:xfrm>
            <a:off x="581272" y="4219869"/>
            <a:ext cx="1529645" cy="275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000" b="0">
                <a:solidFill>
                  <a:srgbClr val="FAFCFF"/>
                </a:solidFill>
                <a:latin typeface="Play"/>
              </a:rPr>
              <a:t>Все цифры условные</a:t>
            </a:r>
            <a:endParaRPr b="0">
              <a:solidFill>
                <a:srgbClr val="FAFCFF"/>
              </a:solidFill>
              <a:latin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Выручка за 30 дней — 900 000 ₽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1553911" y="1000422"/>
          <a:ext cx="2811363" cy="28113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8" name="Legend title 1208"/>
          <p:cNvSpPr txBox="1"/>
          <p:nvPr/>
        </p:nvSpPr>
        <p:spPr>
          <a:xfrm>
            <a:off x="4804186" y="1736178"/>
            <a:ext cx="2751368" cy="3873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Доля в выручке</a:t>
            </a:r>
            <a:endParaRPr lang="ru-RU" sz="1500"/>
          </a:p>
        </p:txBody>
      </p:sp>
      <p:sp>
        <p:nvSpPr>
          <p:cNvPr id="1209" name="Swatch 1209"/>
          <p:cNvSpPr/>
          <p:nvPr/>
        </p:nvSpPr>
        <p:spPr>
          <a:xfrm>
            <a:off x="4804186" y="2169248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0" name="Legend 1210"/>
          <p:cNvSpPr txBox="1"/>
          <p:nvPr/>
        </p:nvSpPr>
        <p:spPr>
          <a:xfrm>
            <a:off x="5051074" y="2123528"/>
            <a:ext cx="2025253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Кофе</a:t>
            </a:r>
            <a:endParaRPr lang="ru-RU" sz="1500"/>
          </a:p>
        </p:txBody>
      </p:sp>
      <p:sp>
        <p:nvSpPr>
          <p:cNvPr id="1211" name="Share 1211"/>
          <p:cNvSpPr txBox="1"/>
          <p:nvPr/>
        </p:nvSpPr>
        <p:spPr>
          <a:xfrm>
            <a:off x="7076327" y="2123528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60%</a:t>
            </a:r>
            <a:endParaRPr lang="ru-RU" sz="1500"/>
          </a:p>
        </p:txBody>
      </p:sp>
      <p:sp>
        <p:nvSpPr>
          <p:cNvPr id="1212" name="Swatch 1212"/>
          <p:cNvSpPr/>
          <p:nvPr/>
        </p:nvSpPr>
        <p:spPr>
          <a:xfrm>
            <a:off x="4804186" y="2518498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68000"/>
            </a:srgbClr>
          </a:solidFill>
          <a:ln>
            <a:noFill/>
          </a:ln>
        </p:spPr>
      </p:sp>
      <p:sp>
        <p:nvSpPr>
          <p:cNvPr id="1213" name="Legend 1213"/>
          <p:cNvSpPr txBox="1"/>
          <p:nvPr/>
        </p:nvSpPr>
        <p:spPr>
          <a:xfrm>
            <a:off x="5051074" y="2472778"/>
            <a:ext cx="2025253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Десерты и выпечка</a:t>
            </a:r>
            <a:endParaRPr lang="ru-RU" sz="1500"/>
          </a:p>
        </p:txBody>
      </p:sp>
      <p:sp>
        <p:nvSpPr>
          <p:cNvPr id="1214" name="Share 1214"/>
          <p:cNvSpPr txBox="1"/>
          <p:nvPr/>
        </p:nvSpPr>
        <p:spPr>
          <a:xfrm>
            <a:off x="7076327" y="2472778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25%</a:t>
            </a:r>
            <a:endParaRPr lang="ru-RU" sz="1500"/>
          </a:p>
        </p:txBody>
      </p:sp>
      <p:sp>
        <p:nvSpPr>
          <p:cNvPr id="1215" name="Swatch 1215"/>
          <p:cNvSpPr/>
          <p:nvPr/>
        </p:nvSpPr>
        <p:spPr>
          <a:xfrm>
            <a:off x="4804186" y="2867748"/>
            <a:ext cx="137160" cy="137160"/>
          </a:xfrm>
          <a:prstGeom prst="roundRect">
            <a:avLst>
              <a:gd name="adj" fmla="val 25000"/>
            </a:avLst>
          </a:prstGeom>
          <a:solidFill>
            <a:srgbClr val="0077FF">
              <a:alpha val="32000"/>
            </a:srgbClr>
          </a:solidFill>
          <a:ln>
            <a:noFill/>
          </a:ln>
        </p:spPr>
      </p:sp>
      <p:sp>
        <p:nvSpPr>
          <p:cNvPr id="1216" name="Legend 1216"/>
          <p:cNvSpPr txBox="1"/>
          <p:nvPr/>
        </p:nvSpPr>
        <p:spPr>
          <a:xfrm>
            <a:off x="5051074" y="2822028"/>
            <a:ext cx="2025253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Чай и другие напитки</a:t>
            </a:r>
            <a:endParaRPr lang="ru-RU" sz="1500"/>
          </a:p>
        </p:txBody>
      </p:sp>
      <p:sp>
        <p:nvSpPr>
          <p:cNvPr id="1217" name="Share 1217"/>
          <p:cNvSpPr txBox="1"/>
          <p:nvPr/>
        </p:nvSpPr>
        <p:spPr>
          <a:xfrm>
            <a:off x="7076327" y="2822028"/>
            <a:ext cx="47922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15%</a:t>
            </a:r>
            <a:endParaRPr lang="ru-RU" sz="1500"/>
          </a:p>
        </p:txBody>
      </p:sp>
      <p:sp>
        <p:nvSpPr>
          <p:cNvPr id="1218" name="Conclusion bar 1218"/>
          <p:cNvSpPr/>
          <p:nvPr/>
        </p:nvSpPr>
        <p:spPr>
          <a:xfrm>
            <a:off x="248929" y="405067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9" name="Conclusion 1219"/>
          <p:cNvSpPr txBox="1"/>
          <p:nvPr/>
        </p:nvSpPr>
        <p:spPr>
          <a:xfrm>
            <a:off x="439429" y="4027812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Кофе составляет 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60%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 выручки</a:t>
            </a:r>
            <a:endParaRPr lang="ru-RU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8784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Ежемесячные расходы кофейни составляют 780 000 рублей</a:t>
            </a:r>
            <a:endParaRPr/>
          </a:p>
        </p:txBody>
      </p:sp>
      <p:graphicFrame>
        <p:nvGraphicFramePr>
          <p:cNvPr id="1208" name="Chart 1207"/>
          <p:cNvGraphicFramePr>
            <a:graphicFrameLocks noGrp="1"/>
          </p:cNvGraphicFramePr>
          <p:nvPr/>
        </p:nvGraphicFramePr>
        <p:xfrm>
          <a:off x="1675016" y="1366182"/>
          <a:ext cx="2224078" cy="222407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8" name="Legend title 1208"/>
          <p:cNvSpPr txBox="1"/>
          <p:nvPr/>
        </p:nvSpPr>
        <p:spPr>
          <a:xfrm>
            <a:off x="4338006" y="1413961"/>
            <a:ext cx="3096443" cy="497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Распределение ежемесячных расходов</a:t>
            </a:r>
            <a:endParaRPr lang="ru-RU" sz="1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200"/>
          </a:p>
        </p:txBody>
      </p:sp>
      <p:sp>
        <p:nvSpPr>
          <p:cNvPr id="1209" name="Swatch 1209"/>
          <p:cNvSpPr/>
          <p:nvPr/>
        </p:nvSpPr>
        <p:spPr>
          <a:xfrm>
            <a:off x="4338006" y="194837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0" name="Legend 1210"/>
          <p:cNvSpPr txBox="1"/>
          <p:nvPr/>
        </p:nvSpPr>
        <p:spPr>
          <a:xfrm>
            <a:off x="4535516" y="191180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Продукты и упаковка</a:t>
            </a:r>
            <a:endParaRPr lang="ru-RU" sz="1200"/>
          </a:p>
        </p:txBody>
      </p:sp>
      <p:sp>
        <p:nvSpPr>
          <p:cNvPr id="1211" name="Share 1211"/>
          <p:cNvSpPr txBox="1"/>
          <p:nvPr/>
        </p:nvSpPr>
        <p:spPr>
          <a:xfrm>
            <a:off x="6184293" y="191180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5EFF"/>
                </a:solidFill>
                <a:latin typeface="Play"/>
                <a:cs typeface="Play"/>
              </a:rPr>
              <a:t>315 000 ₽  ·  40%</a:t>
            </a:r>
            <a:endParaRPr lang="ru-RU" sz="1200"/>
          </a:p>
        </p:txBody>
      </p:sp>
      <p:sp>
        <p:nvSpPr>
          <p:cNvPr id="1212" name="Swatch 1212"/>
          <p:cNvSpPr/>
          <p:nvPr/>
        </p:nvSpPr>
        <p:spPr>
          <a:xfrm>
            <a:off x="4338006" y="223285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82000"/>
            </a:srgbClr>
          </a:solidFill>
          <a:ln>
            <a:noFill/>
          </a:ln>
        </p:spPr>
      </p:sp>
      <p:sp>
        <p:nvSpPr>
          <p:cNvPr id="1213" name="Legend 1213"/>
          <p:cNvSpPr txBox="1"/>
          <p:nvPr/>
        </p:nvSpPr>
        <p:spPr>
          <a:xfrm>
            <a:off x="4535516" y="219628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Зарплаты</a:t>
            </a:r>
            <a:endParaRPr lang="ru-RU" sz="1200"/>
          </a:p>
        </p:txBody>
      </p:sp>
      <p:sp>
        <p:nvSpPr>
          <p:cNvPr id="1214" name="Share 1214"/>
          <p:cNvSpPr txBox="1"/>
          <p:nvPr/>
        </p:nvSpPr>
        <p:spPr>
          <a:xfrm>
            <a:off x="6184293" y="219628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270 000 ₽  ·  35%</a:t>
            </a:r>
            <a:endParaRPr lang="ru-RU" sz="1200"/>
          </a:p>
        </p:txBody>
      </p:sp>
      <p:sp>
        <p:nvSpPr>
          <p:cNvPr id="1215" name="Swatch 1215"/>
          <p:cNvSpPr/>
          <p:nvPr/>
        </p:nvSpPr>
        <p:spPr>
          <a:xfrm>
            <a:off x="4338006" y="251733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64000"/>
            </a:srgbClr>
          </a:solidFill>
          <a:ln>
            <a:noFill/>
          </a:ln>
        </p:spPr>
      </p:sp>
      <p:sp>
        <p:nvSpPr>
          <p:cNvPr id="1216" name="Legend 1216"/>
          <p:cNvSpPr txBox="1"/>
          <p:nvPr/>
        </p:nvSpPr>
        <p:spPr>
          <a:xfrm>
            <a:off x="4535516" y="248076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Аренда</a:t>
            </a:r>
            <a:endParaRPr lang="ru-RU" sz="1200"/>
          </a:p>
        </p:txBody>
      </p:sp>
      <p:sp>
        <p:nvSpPr>
          <p:cNvPr id="1217" name="Share 1217"/>
          <p:cNvSpPr txBox="1"/>
          <p:nvPr/>
        </p:nvSpPr>
        <p:spPr>
          <a:xfrm>
            <a:off x="6184293" y="248076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120 000 ₽  ·  15%</a:t>
            </a:r>
            <a:endParaRPr lang="ru-RU" sz="1200"/>
          </a:p>
        </p:txBody>
      </p:sp>
      <p:sp>
        <p:nvSpPr>
          <p:cNvPr id="1218" name="Swatch 1218"/>
          <p:cNvSpPr/>
          <p:nvPr/>
        </p:nvSpPr>
        <p:spPr>
          <a:xfrm>
            <a:off x="4338006" y="280181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44000"/>
            </a:srgbClr>
          </a:solidFill>
          <a:ln>
            <a:noFill/>
          </a:ln>
        </p:spPr>
      </p:sp>
      <p:sp>
        <p:nvSpPr>
          <p:cNvPr id="1219" name="Legend 1219"/>
          <p:cNvSpPr txBox="1"/>
          <p:nvPr/>
        </p:nvSpPr>
        <p:spPr>
          <a:xfrm>
            <a:off x="4535516" y="276524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Коммунальные услуги</a:t>
            </a:r>
            <a:endParaRPr lang="ru-RU" sz="1200"/>
          </a:p>
        </p:txBody>
      </p:sp>
      <p:sp>
        <p:nvSpPr>
          <p:cNvPr id="1220" name="Share 1220"/>
          <p:cNvSpPr txBox="1"/>
          <p:nvPr/>
        </p:nvSpPr>
        <p:spPr>
          <a:xfrm>
            <a:off x="6184293" y="276524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25 000 ₽  ·  3%</a:t>
            </a:r>
            <a:endParaRPr lang="ru-RU" sz="1200"/>
          </a:p>
        </p:txBody>
      </p:sp>
      <p:sp>
        <p:nvSpPr>
          <p:cNvPr id="1221" name="Swatch 1221"/>
          <p:cNvSpPr/>
          <p:nvPr/>
        </p:nvSpPr>
        <p:spPr>
          <a:xfrm>
            <a:off x="4338006" y="308629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1222" name="Legend 1222"/>
          <p:cNvSpPr txBox="1"/>
          <p:nvPr/>
        </p:nvSpPr>
        <p:spPr>
          <a:xfrm>
            <a:off x="4535516" y="304972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Маркетинг</a:t>
            </a:r>
            <a:endParaRPr lang="ru-RU" sz="1200"/>
          </a:p>
        </p:txBody>
      </p:sp>
      <p:sp>
        <p:nvSpPr>
          <p:cNvPr id="1223" name="Share 1223"/>
          <p:cNvSpPr txBox="1"/>
          <p:nvPr/>
        </p:nvSpPr>
        <p:spPr>
          <a:xfrm>
            <a:off x="6184293" y="304972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20 000 ₽  ·  3%</a:t>
            </a:r>
            <a:endParaRPr lang="ru-RU" sz="1200"/>
          </a:p>
        </p:txBody>
      </p:sp>
      <p:sp>
        <p:nvSpPr>
          <p:cNvPr id="1224" name="Swatch 1224"/>
          <p:cNvSpPr/>
          <p:nvPr/>
        </p:nvSpPr>
        <p:spPr>
          <a:xfrm>
            <a:off x="4338006" y="3370777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</p:sp>
      <p:sp>
        <p:nvSpPr>
          <p:cNvPr id="1225" name="Legend 1225"/>
          <p:cNvSpPr txBox="1"/>
          <p:nvPr/>
        </p:nvSpPr>
        <p:spPr>
          <a:xfrm>
            <a:off x="4535516" y="3334201"/>
            <a:ext cx="1648777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Прочие расходы</a:t>
            </a:r>
            <a:endParaRPr lang="ru-RU" sz="1200"/>
          </a:p>
        </p:txBody>
      </p:sp>
      <p:sp>
        <p:nvSpPr>
          <p:cNvPr id="1226" name="Share 1226"/>
          <p:cNvSpPr txBox="1"/>
          <p:nvPr/>
        </p:nvSpPr>
        <p:spPr>
          <a:xfrm>
            <a:off x="6184293" y="3334201"/>
            <a:ext cx="1250156" cy="208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200" b="0" dirty="0">
                <a:solidFill>
                  <a:srgbClr val="000000"/>
                </a:solidFill>
                <a:latin typeface="Play"/>
                <a:cs typeface="Play"/>
              </a:rPr>
              <a:t>30 000 ₽  ·  4%</a:t>
            </a:r>
            <a:endParaRPr lang="ru-RU" sz="1200"/>
          </a:p>
        </p:txBody>
      </p:sp>
      <p:sp>
        <p:nvSpPr>
          <p:cNvPr id="1227" name="Conclusion bar 1227"/>
          <p:cNvSpPr/>
          <p:nvPr/>
        </p:nvSpPr>
        <p:spPr>
          <a:xfrm>
            <a:off x="248929" y="3829147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8" name="Conclusion 1228"/>
          <p:cNvSpPr txBox="1"/>
          <p:nvPr/>
        </p:nvSpPr>
        <p:spPr>
          <a:xfrm>
            <a:off x="439429" y="3806287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Операционная прибыль — 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13,3%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 выручки</a:t>
            </a:r>
            <a:endParaRPr lang="ru-RU" sz="1500"/>
          </a:p>
        </p:txBody>
      </p:sp>
      <p:sp>
        <p:nvSpPr>
          <p:cNvPr id="1229" name="Footnote 1229"/>
          <p:cNvSpPr txBox="1"/>
          <p:nvPr/>
        </p:nvSpPr>
        <p:spPr>
          <a:xfrm>
            <a:off x="248929" y="4346269"/>
            <a:ext cx="8611607" cy="1491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12" b="0" dirty="0">
                <a:solidFill>
                  <a:srgbClr val="000000"/>
                </a:solidFill>
                <a:latin typeface="Play"/>
                <a:cs typeface="Play"/>
              </a:rPr>
              <a:t>Налоги, проценты по кредитам и амортизация в расчет не включены</a:t>
            </a:r>
            <a:endParaRPr lang="ru-RU" sz="81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Выручка вырастет на 238 500 ₽</a:t>
            </a:r>
            <a:endParaRPr/>
          </a:p>
        </p:txBody>
      </p:sp>
      <p:sp>
        <p:nvSpPr>
          <p:cNvPr id="1208" name="Chart title 1208"/>
          <p:cNvSpPr txBox="1"/>
          <p:nvPr/>
        </p:nvSpPr>
        <p:spPr>
          <a:xfrm>
            <a:off x="248929" y="1000422"/>
            <a:ext cx="25945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Количество покупок</a:t>
            </a:r>
            <a:endParaRPr lang="ru-RU" sz="15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347005"/>
          <a:ext cx="2594597" cy="248064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Chart title 1209"/>
          <p:cNvSpPr txBox="1"/>
          <p:nvPr/>
        </p:nvSpPr>
        <p:spPr>
          <a:xfrm>
            <a:off x="3392166" y="1000422"/>
            <a:ext cx="259459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Средний чек</a:t>
            </a:r>
            <a:endParaRPr lang="ru-RU" sz="1500"/>
          </a:p>
        </p:txBody>
      </p:sp>
      <p:graphicFrame>
        <p:nvGraphicFramePr>
          <p:cNvPr id="1210" name="Chart 1209"/>
          <p:cNvGraphicFramePr>
            <a:graphicFrameLocks noGrp="1"/>
          </p:cNvGraphicFramePr>
          <p:nvPr/>
        </p:nvGraphicFramePr>
        <p:xfrm>
          <a:off x="3392166" y="1347005"/>
          <a:ext cx="2594597" cy="248064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1210" name="Line 1210"/>
          <p:cNvCxnSpPr/>
          <p:nvPr/>
        </p:nvCxnSpPr>
        <p:spPr>
          <a:xfrm>
            <a:off x="6261083" y="1000422"/>
            <a:ext cx="0" cy="159258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1" name="Chart note 1211"/>
          <p:cNvSpPr txBox="1"/>
          <p:nvPr/>
        </p:nvSpPr>
        <p:spPr>
          <a:xfrm>
            <a:off x="6535403" y="1000422"/>
            <a:ext cx="2325133" cy="1592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Комбо с напитками и выпечкой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Программа лояльности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Предложения для сотрудников ближайших офисов</a:t>
            </a:r>
            <a:endParaRPr lang="ru-RU" sz="1500"/>
          </a:p>
        </p:txBody>
      </p:sp>
      <p:sp>
        <p:nvSpPr>
          <p:cNvPr id="1212" name="Conclusion bar 1212"/>
          <p:cNvSpPr/>
          <p:nvPr/>
        </p:nvSpPr>
        <p:spPr>
          <a:xfrm>
            <a:off x="248929" y="4035678"/>
            <a:ext cx="38100" cy="4368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3" name="Conclusion 1213"/>
          <p:cNvSpPr txBox="1"/>
          <p:nvPr/>
        </p:nvSpPr>
        <p:spPr>
          <a:xfrm>
            <a:off x="439429" y="4012818"/>
            <a:ext cx="8421107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При достижении этих показателей месячная выручка составит 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1 138 500 рублей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 — на 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238 500 рублей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 больше текущей</a:t>
            </a:r>
            <a:endParaRPr lang="ru-RU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Выручка вырастет на 26,5% за 6 месяцев</a:t>
            </a:r>
            <a:endParaRPr/>
          </a:p>
        </p:txBody>
      </p:sp>
      <p:sp>
        <p:nvSpPr>
          <p:cNvPr id="1208" name="Chart title 1208"/>
          <p:cNvSpPr txBox="1"/>
          <p:nvPr/>
        </p:nvSpPr>
        <p:spPr>
          <a:xfrm>
            <a:off x="248929" y="1000422"/>
            <a:ext cx="483778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Прогноз выручки по месяцам</a:t>
            </a:r>
            <a:endParaRPr lang="ru-RU" sz="15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347005"/>
          <a:ext cx="4837780" cy="270924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09" name="Chart title 1209"/>
          <p:cNvSpPr txBox="1"/>
          <p:nvPr/>
        </p:nvSpPr>
        <p:spPr>
          <a:xfrm>
            <a:off x="5635349" y="1000422"/>
            <a:ext cx="322518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Распределение вложений</a:t>
            </a:r>
            <a:endParaRPr lang="ru-RU" sz="1500"/>
          </a:p>
        </p:txBody>
      </p:sp>
      <p:graphicFrame>
        <p:nvGraphicFramePr>
          <p:cNvPr id="1210" name="Chart 1209"/>
          <p:cNvGraphicFramePr>
            <a:graphicFrameLocks noGrp="1"/>
          </p:cNvGraphicFramePr>
          <p:nvPr/>
        </p:nvGraphicFramePr>
        <p:xfrm>
          <a:off x="5635349" y="1347005"/>
          <a:ext cx="1019512" cy="10195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10" name="Legend title 1210"/>
          <p:cNvSpPr txBox="1"/>
          <p:nvPr/>
        </p:nvSpPr>
        <p:spPr>
          <a:xfrm>
            <a:off x="5635349" y="2520822"/>
            <a:ext cx="3491067" cy="29083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100"/>
          </a:p>
        </p:txBody>
      </p:sp>
      <p:sp>
        <p:nvSpPr>
          <p:cNvPr id="1211" name="Swatch 1211"/>
          <p:cNvSpPr/>
          <p:nvPr/>
        </p:nvSpPr>
        <p:spPr>
          <a:xfrm>
            <a:off x="5635349" y="2845180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2" name="Legend 1212"/>
          <p:cNvSpPr txBox="1"/>
          <p:nvPr/>
        </p:nvSpPr>
        <p:spPr>
          <a:xfrm>
            <a:off x="5816400" y="2811652"/>
            <a:ext cx="2244804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Витрина для десертов</a:t>
            </a:r>
            <a:endParaRPr lang="ru-RU" sz="1100"/>
          </a:p>
        </p:txBody>
      </p:sp>
      <p:sp>
        <p:nvSpPr>
          <p:cNvPr id="1213" name="Share 1213"/>
          <p:cNvSpPr txBox="1"/>
          <p:nvPr/>
        </p:nvSpPr>
        <p:spPr>
          <a:xfrm>
            <a:off x="8061204" y="2811652"/>
            <a:ext cx="1065212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5EFF"/>
                </a:solidFill>
                <a:latin typeface="Play"/>
                <a:cs typeface="Play"/>
              </a:rPr>
              <a:t>70 000 ₽  ·  39%</a:t>
            </a:r>
            <a:endParaRPr lang="ru-RU" sz="1100"/>
          </a:p>
        </p:txBody>
      </p:sp>
      <p:sp>
        <p:nvSpPr>
          <p:cNvPr id="1214" name="Swatch 1214"/>
          <p:cNvSpPr/>
          <p:nvPr/>
        </p:nvSpPr>
        <p:spPr>
          <a:xfrm>
            <a:off x="5635349" y="3108070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0077FF">
              <a:alpha val="82000"/>
            </a:srgbClr>
          </a:solidFill>
          <a:ln>
            <a:noFill/>
          </a:ln>
        </p:spPr>
      </p:sp>
      <p:sp>
        <p:nvSpPr>
          <p:cNvPr id="1215" name="Legend 1215"/>
          <p:cNvSpPr txBox="1"/>
          <p:nvPr/>
        </p:nvSpPr>
        <p:spPr>
          <a:xfrm>
            <a:off x="5816400" y="3074542"/>
            <a:ext cx="2244804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Программа лояльности и учет</a:t>
            </a:r>
            <a:endParaRPr lang="ru-RU" sz="1100"/>
          </a:p>
        </p:txBody>
      </p:sp>
      <p:sp>
        <p:nvSpPr>
          <p:cNvPr id="1216" name="Share 1216"/>
          <p:cNvSpPr txBox="1"/>
          <p:nvPr/>
        </p:nvSpPr>
        <p:spPr>
          <a:xfrm>
            <a:off x="8061204" y="3074542"/>
            <a:ext cx="1065212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35 000 ₽  ·  19%</a:t>
            </a:r>
            <a:endParaRPr lang="ru-RU" sz="1100"/>
          </a:p>
        </p:txBody>
      </p:sp>
      <p:sp>
        <p:nvSpPr>
          <p:cNvPr id="1217" name="Swatch 1217"/>
          <p:cNvSpPr/>
          <p:nvPr/>
        </p:nvSpPr>
        <p:spPr>
          <a:xfrm>
            <a:off x="5635349" y="3370960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0077FF">
              <a:alpha val="44000"/>
            </a:srgbClr>
          </a:solidFill>
          <a:ln>
            <a:noFill/>
          </a:ln>
        </p:spPr>
      </p:sp>
      <p:sp>
        <p:nvSpPr>
          <p:cNvPr id="1218" name="Legend 1218"/>
          <p:cNvSpPr txBox="1"/>
          <p:nvPr/>
        </p:nvSpPr>
        <p:spPr>
          <a:xfrm>
            <a:off x="5816400" y="3337432"/>
            <a:ext cx="2244804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Обновление меню и фотографии</a:t>
            </a:r>
            <a:endParaRPr lang="ru-RU" sz="1100"/>
          </a:p>
        </p:txBody>
      </p:sp>
      <p:sp>
        <p:nvSpPr>
          <p:cNvPr id="1219" name="Share 1219"/>
          <p:cNvSpPr txBox="1"/>
          <p:nvPr/>
        </p:nvSpPr>
        <p:spPr>
          <a:xfrm>
            <a:off x="8061204" y="3337432"/>
            <a:ext cx="1065212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25 000 ₽  ·  14%</a:t>
            </a:r>
            <a:endParaRPr lang="ru-RU" sz="1100"/>
          </a:p>
        </p:txBody>
      </p:sp>
      <p:sp>
        <p:nvSpPr>
          <p:cNvPr id="1220" name="Swatch 1220"/>
          <p:cNvSpPr/>
          <p:nvPr/>
        </p:nvSpPr>
        <p:spPr>
          <a:xfrm>
            <a:off x="5635349" y="3633850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0077FF">
              <a:alpha val="26000"/>
            </a:srgbClr>
          </a:solidFill>
          <a:ln>
            <a:noFill/>
          </a:ln>
        </p:spPr>
      </p:sp>
      <p:sp>
        <p:nvSpPr>
          <p:cNvPr id="1221" name="Legend 1221"/>
          <p:cNvSpPr txBox="1"/>
          <p:nvPr/>
        </p:nvSpPr>
        <p:spPr>
          <a:xfrm>
            <a:off x="5816400" y="3600322"/>
            <a:ext cx="2244804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Обучение сотрудников</a:t>
            </a:r>
            <a:endParaRPr lang="ru-RU" sz="1100"/>
          </a:p>
        </p:txBody>
      </p:sp>
      <p:sp>
        <p:nvSpPr>
          <p:cNvPr id="1222" name="Share 1222"/>
          <p:cNvSpPr txBox="1"/>
          <p:nvPr/>
        </p:nvSpPr>
        <p:spPr>
          <a:xfrm>
            <a:off x="8061204" y="3600322"/>
            <a:ext cx="1065212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20 000 ₽  ·  11%</a:t>
            </a:r>
            <a:endParaRPr lang="ru-RU" sz="1100"/>
          </a:p>
        </p:txBody>
      </p:sp>
      <p:sp>
        <p:nvSpPr>
          <p:cNvPr id="1223" name="Swatch 1223"/>
          <p:cNvSpPr/>
          <p:nvPr/>
        </p:nvSpPr>
        <p:spPr>
          <a:xfrm>
            <a:off x="5635349" y="3896740"/>
            <a:ext cx="100584" cy="100584"/>
          </a:xfrm>
          <a:prstGeom prst="roundRect">
            <a:avLst>
              <a:gd name="adj" fmla="val 25000"/>
            </a:avLst>
          </a:prstGeom>
          <a:solidFill>
            <a:srgbClr val="0077FF">
              <a:alpha val="64000"/>
            </a:srgbClr>
          </a:solidFill>
          <a:ln>
            <a:noFill/>
          </a:ln>
        </p:spPr>
      </p:sp>
      <p:sp>
        <p:nvSpPr>
          <p:cNvPr id="1224" name="Legend 1224"/>
          <p:cNvSpPr txBox="1"/>
          <p:nvPr/>
        </p:nvSpPr>
        <p:spPr>
          <a:xfrm>
            <a:off x="5816400" y="3863212"/>
            <a:ext cx="2244804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Резерв</a:t>
            </a:r>
            <a:endParaRPr lang="ru-RU" sz="1100"/>
          </a:p>
        </p:txBody>
      </p:sp>
      <p:sp>
        <p:nvSpPr>
          <p:cNvPr id="1225" name="Share 1225"/>
          <p:cNvSpPr txBox="1"/>
          <p:nvPr/>
        </p:nvSpPr>
        <p:spPr>
          <a:xfrm>
            <a:off x="8061204" y="3863212"/>
            <a:ext cx="1065212" cy="193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100" b="0" dirty="0">
                <a:solidFill>
                  <a:srgbClr val="000000"/>
                </a:solidFill>
                <a:latin typeface="Play"/>
                <a:cs typeface="Play"/>
              </a:rPr>
              <a:t>30 000 ₽  ·  17%</a:t>
            </a:r>
            <a:endParaRPr lang="ru-RU" sz="1100"/>
          </a:p>
        </p:txBody>
      </p:sp>
      <p:sp>
        <p:nvSpPr>
          <p:cNvPr id="1226" name="Conclusion bar 1226"/>
          <p:cNvSpPr/>
          <p:nvPr/>
        </p:nvSpPr>
        <p:spPr>
          <a:xfrm>
            <a:off x="248929" y="426427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7" name="Conclusion 1227"/>
          <p:cNvSpPr txBox="1"/>
          <p:nvPr/>
        </p:nvSpPr>
        <p:spPr>
          <a:xfrm>
            <a:off x="439429" y="424141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Траектория роста выручки на 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26,5%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 за 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6 месяцев</a:t>
            </a:r>
            <a:endParaRPr lang="ru-RU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400"/>
              <a:t>Операционная прибыль вырастет на 112,3%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5511428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dirty="0">
                <a:solidFill>
                  <a:srgbClr val="000000"/>
                </a:solidFill>
                <a:latin typeface="Play"/>
                <a:cs typeface="Play"/>
              </a:rPr>
              <a:t>Месячная операционная прибыль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5511428" cy="2602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209" name="Line 1209"/>
          <p:cNvCxnSpPr/>
          <p:nvPr/>
        </p:nvCxnSpPr>
        <p:spPr>
          <a:xfrm>
            <a:off x="5979813" y="1866826"/>
            <a:ext cx="0" cy="58039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Takeaway 1210"/>
          <p:cNvSpPr txBox="1"/>
          <p:nvPr/>
        </p:nvSpPr>
        <p:spPr>
          <a:xfrm>
            <a:off x="6199269" y="1866826"/>
            <a:ext cx="2661267" cy="5803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120 000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77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254 795 рублей</a:t>
            </a:r>
            <a:endParaRPr lang="ru-RU" sz="1500"/>
          </a:p>
        </p:txBody>
      </p:sp>
      <p:sp>
        <p:nvSpPr>
          <p:cNvPr id="1211" name="Conclusion bar 1211"/>
          <p:cNvSpPr/>
          <p:nvPr/>
        </p:nvSpPr>
        <p:spPr>
          <a:xfrm>
            <a:off x="248929" y="405067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2" name="Conclusion 1212"/>
          <p:cNvSpPr txBox="1"/>
          <p:nvPr/>
        </p:nvSpPr>
        <p:spPr>
          <a:xfrm>
            <a:off x="439429" y="4027812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Прогноз: </a:t>
            </a:r>
            <a:r>
              <a:rPr lang="ru-RU" sz="1500" b="0" dirty="0">
                <a:solidFill>
                  <a:srgbClr val="005EFF"/>
                </a:solidFill>
                <a:latin typeface="Play"/>
                <a:cs typeface="Play"/>
              </a:rPr>
              <a:t>254 795 ₽</a:t>
            </a:r>
            <a:r>
              <a:rPr lang="ru-RU" sz="1500" b="0" dirty="0">
                <a:solidFill>
                  <a:srgbClr val="000000"/>
                </a:solidFill>
                <a:latin typeface="Play"/>
                <a:cs typeface="Play"/>
              </a:rPr>
              <a:t> в месяц</a:t>
            </a:r>
            <a:endParaRPr lang="ru-RU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