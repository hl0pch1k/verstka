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62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4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98"/>
          <c:y val="0.3690"/>
          <c:w val="0.9605"/>
          <c:h val="0.300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 покупок</c:v>
                </c:pt>
              </c:strCache>
            </c:strRef>
          </c:tx>
          <c:spPr>
            <a:solidFill>
              <a:srgbClr val="CFB303"/>
            </a:solidFill>
            <a:ln>
              <a:noFill/>
            </a:ln>
          </c:spPr>
          <c:invertIfNegative val="0"/>
          <c:dPt>
            <c:idx val="1"/>
            <c:spPr>
              <a:solidFill>
                <a:srgbClr val="FFFF00"/>
              </a:solidFill>
              <a:ln>
                <a:noFill/>
              </a:ln>
            </c:spPr>
          </c:dPt>
          <c:dLbls>
            <c:dLbl>
              <c:idx val="1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150" b="1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15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Сейчас</c:v>
                </c:pt>
                <c:pt idx="1">
                  <c:v>Цель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100.0</c:v>
                </c:pt>
                <c:pt idx="1">
                  <c:v>115.0</c:v>
                </c:pt>
              </c:numCache>
            </c:numRef>
          </c:val>
        </c:ser>
        <c:dLbls>
          <c:numFmt formatCode="#,##0&quot; покупок&quot;;&quot;−&quot;#,##0&quot; покупо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1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A06946"/>
            </a:solidFill>
          </a:ln>
        </c:spPr>
        <c:txPr>
          <a:bodyPr rot="0" vert="horz"/>
          <a:lstStyle/>
          <a:p>
            <a:pPr>
              <a:defRPr sz="2050" b="0">
                <a:solidFill>
                  <a:srgbClr val="D4BBAB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15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2400">
          <a:solidFill>
            <a:srgbClr val="FFFFFF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98"/>
          <c:y val="0.3690"/>
          <c:w val="0.9605"/>
          <c:h val="0.300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Средний чек</c:v>
                </c:pt>
              </c:strCache>
            </c:strRef>
          </c:tx>
          <c:spPr>
            <a:solidFill>
              <a:srgbClr val="CFB303"/>
            </a:solidFill>
            <a:ln>
              <a:noFill/>
            </a:ln>
          </c:spPr>
          <c:invertIfNegative val="0"/>
          <c:dPt>
            <c:idx val="1"/>
            <c:spPr>
              <a:solidFill>
                <a:srgbClr val="FFFF00"/>
              </a:solidFill>
              <a:ln>
                <a:noFill/>
              </a:ln>
            </c:spPr>
          </c:dPt>
          <c:dLbls>
            <c:dLbl>
              <c:idx val="1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150" b="1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15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Сейчас</c:v>
                </c:pt>
                <c:pt idx="1">
                  <c:v>Цель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300.0</c:v>
                </c:pt>
                <c:pt idx="1">
                  <c:v>330.0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150" b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A06946"/>
            </a:solidFill>
          </a:ln>
        </c:spPr>
        <c:txPr>
          <a:bodyPr rot="0" vert="horz"/>
          <a:lstStyle/>
          <a:p>
            <a:pPr>
              <a:defRPr sz="2050" b="0">
                <a:solidFill>
                  <a:srgbClr val="D4BBAB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330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2400">
          <a:solidFill>
            <a:srgbClr val="FFFFFF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Вывод: При достижении этих показателей месячная выручка составит 1 138 500 рублей — на 238 500 рублей больше текущей. При увеличении количества покупок до 115 в день и среднего чека до 330 рублей, месячная выручка составит 1 138 500 рублей, что на 238 500 рублей больше текущей.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u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240000" y="450000"/>
            <a:ext cx="360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ru-RU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900000" y="1440000"/>
            <a:ext cx="828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Aft>
                <a:spcPts val="1063"/>
              </a:spcAft>
              <a:buNone/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747122-B2EC-4956-B516-F8BD8652B1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13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60000">
            <a:off x="356400" y="140040"/>
            <a:ext cx="9435240" cy="5220000"/>
          </a:xfrm>
          <a:prstGeom prst="rect">
            <a:avLst/>
          </a:prstGeom>
          <a:solidFill>
            <a:srgbClr val="2A6099"/>
          </a:solidFill>
          <a:ln w="108000">
            <a:solidFill>
              <a:srgbClr val="FFFFFF"/>
            </a:solidFill>
            <a:miter/>
          </a:ln>
          <a:effectLst>
            <a:outerShdw dist="71785" dir="13500000" blurRad="50760" rotWithShape="0">
              <a:srgbClr val="111111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135000" tIns="90000" rIns="135000" bIns="90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540000" y="360000"/>
            <a:ext cx="9000000" cy="522000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FF8000"/>
              </a:gs>
            </a:gsLst>
            <a:path path="circle">
              <a:fillToRect l="50000" t="100000" r="50000" b="0"/>
            </a:path>
          </a:gradFill>
          <a:ln w="108000">
            <a:solidFill>
              <a:srgbClr val="FFFFFF"/>
            </a:solidFill>
            <a:miter/>
          </a:ln>
          <a:effectLst>
            <a:outerShdw dist="71785" dir="13500000" blurRad="50760" rotWithShape="0">
              <a:srgbClr val="111111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135000" tIns="90000" rIns="135000" bIns="90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240000" y="450000"/>
            <a:ext cx="360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lstStyle>
            <a:lvl1pPr indent="0" algn="ctr">
              <a:buNone/>
              <a:defRPr lang="ru-RU" sz="3300" b="1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900000" y="1440000"/>
            <a:ext cx="828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6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Aft>
                <a:spcPts val="106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1"/>
          </p:nvPr>
        </p:nvSpPr>
        <p:spPr>
          <a:xfrm>
            <a:off x="900000" y="5166000"/>
            <a:ext cx="216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2"/>
          </p:nvPr>
        </p:nvSpPr>
        <p:spPr>
          <a:xfrm>
            <a:off x="3240000" y="5166000"/>
            <a:ext cx="360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3"/>
          </p:nvPr>
        </p:nvSpPr>
        <p:spPr>
          <a:xfrm>
            <a:off x="7020000" y="5166000"/>
            <a:ext cx="216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72A9D41B-7939-48E3-86FE-6995AE34201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0" y="450000"/>
            <a:ext cx="10080360" cy="5670360"/>
          </a:xfrm>
          <a:custGeom>
            <a:avLst/>
            <a:gdLst/>
            <a:ahLst/>
            <a:rect l="0" t="0" r="r" b="b"/>
            <a:pathLst>
              <a:path w="28001" h="15751">
                <a:moveTo>
                  <a:pt x="1986" y="7323"/>
                </a:moveTo>
                <a:cubicBezTo>
                  <a:pt x="2092" y="7323"/>
                  <a:pt x="2195" y="7352"/>
                  <a:pt x="2286" y="7407"/>
                </a:cubicBezTo>
                <a:lnTo>
                  <a:pt x="10354" y="12327"/>
                </a:lnTo>
                <a:lnTo>
                  <a:pt x="3767" y="5373"/>
                </a:lnTo>
                <a:cubicBezTo>
                  <a:pt x="3692" y="5295"/>
                  <a:pt x="3639" y="5196"/>
                  <a:pt x="3611" y="5089"/>
                </a:cubicBezTo>
                <a:cubicBezTo>
                  <a:pt x="3584" y="4982"/>
                  <a:pt x="3584" y="4869"/>
                  <a:pt x="3611" y="4761"/>
                </a:cubicBezTo>
                <a:cubicBezTo>
                  <a:pt x="3639" y="4654"/>
                  <a:pt x="3692" y="4557"/>
                  <a:pt x="3767" y="4477"/>
                </a:cubicBezTo>
                <a:cubicBezTo>
                  <a:pt x="3841" y="4399"/>
                  <a:pt x="3934" y="4342"/>
                  <a:pt x="4036" y="4313"/>
                </a:cubicBezTo>
                <a:cubicBezTo>
                  <a:pt x="4137" y="4286"/>
                  <a:pt x="4245" y="4286"/>
                  <a:pt x="4346" y="4313"/>
                </a:cubicBezTo>
                <a:cubicBezTo>
                  <a:pt x="4448" y="4342"/>
                  <a:pt x="4541" y="4399"/>
                  <a:pt x="4615" y="4477"/>
                </a:cubicBezTo>
                <a:lnTo>
                  <a:pt x="11200" y="11427"/>
                </a:lnTo>
                <a:lnTo>
                  <a:pt x="6545" y="2913"/>
                </a:lnTo>
                <a:cubicBezTo>
                  <a:pt x="6491" y="2817"/>
                  <a:pt x="6464" y="2707"/>
                  <a:pt x="6464" y="2596"/>
                </a:cubicBezTo>
                <a:cubicBezTo>
                  <a:pt x="6464" y="2486"/>
                  <a:pt x="6491" y="2376"/>
                  <a:pt x="6545" y="2280"/>
                </a:cubicBezTo>
                <a:cubicBezTo>
                  <a:pt x="6597" y="2184"/>
                  <a:pt x="6673" y="2104"/>
                  <a:pt x="6763" y="2048"/>
                </a:cubicBezTo>
                <a:cubicBezTo>
                  <a:pt x="6855" y="1993"/>
                  <a:pt x="6958" y="1964"/>
                  <a:pt x="7064" y="1964"/>
                </a:cubicBezTo>
                <a:cubicBezTo>
                  <a:pt x="7169" y="1964"/>
                  <a:pt x="7273" y="1993"/>
                  <a:pt x="7364" y="2048"/>
                </a:cubicBezTo>
                <a:cubicBezTo>
                  <a:pt x="7455" y="2104"/>
                  <a:pt x="7531" y="2184"/>
                  <a:pt x="7584" y="2280"/>
                </a:cubicBezTo>
                <a:lnTo>
                  <a:pt x="12243" y="10803"/>
                </a:lnTo>
                <a:lnTo>
                  <a:pt x="9829" y="1295"/>
                </a:lnTo>
                <a:cubicBezTo>
                  <a:pt x="9802" y="1188"/>
                  <a:pt x="9802" y="1075"/>
                  <a:pt x="9829" y="967"/>
                </a:cubicBezTo>
                <a:cubicBezTo>
                  <a:pt x="9856" y="860"/>
                  <a:pt x="9910" y="763"/>
                  <a:pt x="9984" y="685"/>
                </a:cubicBezTo>
                <a:cubicBezTo>
                  <a:pt x="10059" y="605"/>
                  <a:pt x="10152" y="550"/>
                  <a:pt x="10253" y="521"/>
                </a:cubicBezTo>
                <a:cubicBezTo>
                  <a:pt x="10355" y="492"/>
                  <a:pt x="10462" y="492"/>
                  <a:pt x="10564" y="521"/>
                </a:cubicBezTo>
                <a:cubicBezTo>
                  <a:pt x="10666" y="550"/>
                  <a:pt x="10759" y="605"/>
                  <a:pt x="10833" y="685"/>
                </a:cubicBezTo>
                <a:cubicBezTo>
                  <a:pt x="10908" y="763"/>
                  <a:pt x="10961" y="860"/>
                  <a:pt x="10988" y="967"/>
                </a:cubicBezTo>
                <a:lnTo>
                  <a:pt x="13401" y="10475"/>
                </a:lnTo>
                <a:lnTo>
                  <a:pt x="13401" y="634"/>
                </a:lnTo>
                <a:cubicBezTo>
                  <a:pt x="13401" y="522"/>
                  <a:pt x="13430" y="413"/>
                  <a:pt x="13482" y="316"/>
                </a:cubicBezTo>
                <a:cubicBezTo>
                  <a:pt x="13535" y="221"/>
                  <a:pt x="13610" y="141"/>
                  <a:pt x="13702" y="84"/>
                </a:cubicBezTo>
                <a:cubicBezTo>
                  <a:pt x="13793" y="29"/>
                  <a:pt x="13897" y="0"/>
                  <a:pt x="14002" y="0"/>
                </a:cubicBezTo>
                <a:cubicBezTo>
                  <a:pt x="14107" y="0"/>
                  <a:pt x="14210" y="29"/>
                  <a:pt x="14301" y="84"/>
                </a:cubicBezTo>
                <a:cubicBezTo>
                  <a:pt x="14392" y="141"/>
                  <a:pt x="14469" y="221"/>
                  <a:pt x="14521" y="316"/>
                </a:cubicBezTo>
                <a:cubicBezTo>
                  <a:pt x="14574" y="413"/>
                  <a:pt x="14601" y="522"/>
                  <a:pt x="14601" y="634"/>
                </a:cubicBezTo>
                <a:lnTo>
                  <a:pt x="14601" y="10466"/>
                </a:lnTo>
                <a:lnTo>
                  <a:pt x="17011" y="972"/>
                </a:lnTo>
                <a:cubicBezTo>
                  <a:pt x="17039" y="865"/>
                  <a:pt x="17092" y="767"/>
                  <a:pt x="17167" y="688"/>
                </a:cubicBezTo>
                <a:cubicBezTo>
                  <a:pt x="17241" y="610"/>
                  <a:pt x="17334" y="553"/>
                  <a:pt x="17436" y="524"/>
                </a:cubicBezTo>
                <a:cubicBezTo>
                  <a:pt x="17538" y="495"/>
                  <a:pt x="17644" y="495"/>
                  <a:pt x="17745" y="524"/>
                </a:cubicBezTo>
                <a:cubicBezTo>
                  <a:pt x="17847" y="553"/>
                  <a:pt x="17940" y="610"/>
                  <a:pt x="18014" y="688"/>
                </a:cubicBezTo>
                <a:cubicBezTo>
                  <a:pt x="18089" y="767"/>
                  <a:pt x="18142" y="865"/>
                  <a:pt x="18170" y="972"/>
                </a:cubicBezTo>
                <a:cubicBezTo>
                  <a:pt x="18197" y="1079"/>
                  <a:pt x="18197" y="1193"/>
                  <a:pt x="18170" y="1300"/>
                </a:cubicBezTo>
                <a:lnTo>
                  <a:pt x="15758" y="10804"/>
                </a:lnTo>
                <a:lnTo>
                  <a:pt x="20419" y="2280"/>
                </a:lnTo>
                <a:cubicBezTo>
                  <a:pt x="20472" y="2184"/>
                  <a:pt x="20549" y="2104"/>
                  <a:pt x="20639" y="2048"/>
                </a:cubicBezTo>
                <a:cubicBezTo>
                  <a:pt x="20730" y="1993"/>
                  <a:pt x="20834" y="1964"/>
                  <a:pt x="20939" y="1964"/>
                </a:cubicBezTo>
                <a:cubicBezTo>
                  <a:pt x="21044" y="1964"/>
                  <a:pt x="21148" y="1993"/>
                  <a:pt x="21239" y="2048"/>
                </a:cubicBezTo>
                <a:cubicBezTo>
                  <a:pt x="21331" y="2104"/>
                  <a:pt x="21406" y="2184"/>
                  <a:pt x="21458" y="2280"/>
                </a:cubicBezTo>
                <a:cubicBezTo>
                  <a:pt x="21511" y="2376"/>
                  <a:pt x="21539" y="2486"/>
                  <a:pt x="21539" y="2596"/>
                </a:cubicBezTo>
                <a:cubicBezTo>
                  <a:pt x="21539" y="2708"/>
                  <a:pt x="21511" y="2817"/>
                  <a:pt x="21458" y="2914"/>
                </a:cubicBezTo>
                <a:lnTo>
                  <a:pt x="21458" y="2913"/>
                </a:lnTo>
                <a:lnTo>
                  <a:pt x="21458" y="2914"/>
                </a:lnTo>
                <a:lnTo>
                  <a:pt x="16803" y="11426"/>
                </a:lnTo>
                <a:lnTo>
                  <a:pt x="23386" y="4477"/>
                </a:lnTo>
                <a:cubicBezTo>
                  <a:pt x="23460" y="4399"/>
                  <a:pt x="23553" y="4342"/>
                  <a:pt x="23655" y="4313"/>
                </a:cubicBezTo>
                <a:cubicBezTo>
                  <a:pt x="23756" y="4284"/>
                  <a:pt x="23864" y="4284"/>
                  <a:pt x="23965" y="4313"/>
                </a:cubicBezTo>
                <a:cubicBezTo>
                  <a:pt x="24067" y="4342"/>
                  <a:pt x="24160" y="4399"/>
                  <a:pt x="24234" y="4477"/>
                </a:cubicBezTo>
                <a:cubicBezTo>
                  <a:pt x="24309" y="4556"/>
                  <a:pt x="24362" y="4654"/>
                  <a:pt x="24390" y="4761"/>
                </a:cubicBezTo>
                <a:cubicBezTo>
                  <a:pt x="24417" y="4869"/>
                  <a:pt x="24417" y="4982"/>
                  <a:pt x="24390" y="5089"/>
                </a:cubicBezTo>
                <a:cubicBezTo>
                  <a:pt x="24362" y="5196"/>
                  <a:pt x="24309" y="5293"/>
                  <a:pt x="24234" y="5372"/>
                </a:cubicBezTo>
                <a:lnTo>
                  <a:pt x="17643" y="12331"/>
                </a:lnTo>
                <a:lnTo>
                  <a:pt x="25716" y="7410"/>
                </a:lnTo>
                <a:cubicBezTo>
                  <a:pt x="25808" y="7354"/>
                  <a:pt x="25911" y="7325"/>
                  <a:pt x="26017" y="7325"/>
                </a:cubicBezTo>
                <a:cubicBezTo>
                  <a:pt x="26122" y="7325"/>
                  <a:pt x="26225" y="7354"/>
                  <a:pt x="26317" y="7410"/>
                </a:cubicBezTo>
                <a:cubicBezTo>
                  <a:pt x="26407" y="7465"/>
                  <a:pt x="26483" y="7546"/>
                  <a:pt x="26537" y="7642"/>
                </a:cubicBezTo>
                <a:cubicBezTo>
                  <a:pt x="26589" y="7738"/>
                  <a:pt x="26616" y="7847"/>
                  <a:pt x="26616" y="7958"/>
                </a:cubicBezTo>
                <a:cubicBezTo>
                  <a:pt x="26616" y="8070"/>
                  <a:pt x="26589" y="8179"/>
                  <a:pt x="26537" y="8276"/>
                </a:cubicBezTo>
                <a:cubicBezTo>
                  <a:pt x="26483" y="8371"/>
                  <a:pt x="26407" y="8451"/>
                  <a:pt x="26317" y="8506"/>
                </a:cubicBezTo>
                <a:lnTo>
                  <a:pt x="18253" y="13421"/>
                </a:lnTo>
                <a:lnTo>
                  <a:pt x="27245" y="10878"/>
                </a:lnTo>
                <a:cubicBezTo>
                  <a:pt x="27347" y="10849"/>
                  <a:pt x="27454" y="10849"/>
                  <a:pt x="27556" y="10878"/>
                </a:cubicBezTo>
                <a:cubicBezTo>
                  <a:pt x="27658" y="10907"/>
                  <a:pt x="27751" y="10963"/>
                  <a:pt x="27825" y="11042"/>
                </a:cubicBezTo>
                <a:cubicBezTo>
                  <a:pt x="27899" y="11120"/>
                  <a:pt x="27953" y="11218"/>
                  <a:pt x="27980" y="11326"/>
                </a:cubicBezTo>
                <a:cubicBezTo>
                  <a:pt x="28008" y="11433"/>
                  <a:pt x="28008" y="11546"/>
                  <a:pt x="27980" y="11654"/>
                </a:cubicBezTo>
                <a:cubicBezTo>
                  <a:pt x="27953" y="11761"/>
                  <a:pt x="27899" y="11859"/>
                  <a:pt x="27825" y="11938"/>
                </a:cubicBezTo>
                <a:cubicBezTo>
                  <a:pt x="27751" y="12016"/>
                  <a:pt x="27658" y="12073"/>
                  <a:pt x="27556" y="12102"/>
                </a:cubicBezTo>
                <a:lnTo>
                  <a:pt x="14732" y="15728"/>
                </a:lnTo>
                <a:cubicBezTo>
                  <a:pt x="14630" y="15757"/>
                  <a:pt x="14524" y="15757"/>
                  <a:pt x="14423" y="15728"/>
                </a:cubicBezTo>
                <a:cubicBezTo>
                  <a:pt x="14321" y="15699"/>
                  <a:pt x="14228" y="15642"/>
                  <a:pt x="14154" y="15564"/>
                </a:cubicBezTo>
                <a:cubicBezTo>
                  <a:pt x="14080" y="15488"/>
                  <a:pt x="14028" y="15393"/>
                  <a:pt x="14001" y="15289"/>
                </a:cubicBezTo>
                <a:cubicBezTo>
                  <a:pt x="13972" y="15393"/>
                  <a:pt x="13920" y="15489"/>
                  <a:pt x="13847" y="15565"/>
                </a:cubicBezTo>
                <a:cubicBezTo>
                  <a:pt x="13773" y="15644"/>
                  <a:pt x="13680" y="15700"/>
                  <a:pt x="13578" y="15729"/>
                </a:cubicBezTo>
                <a:cubicBezTo>
                  <a:pt x="13477" y="15758"/>
                  <a:pt x="13369" y="15758"/>
                  <a:pt x="13268" y="15729"/>
                </a:cubicBezTo>
                <a:lnTo>
                  <a:pt x="13267" y="15729"/>
                </a:lnTo>
                <a:lnTo>
                  <a:pt x="445" y="12103"/>
                </a:lnTo>
                <a:cubicBezTo>
                  <a:pt x="343" y="12074"/>
                  <a:pt x="250" y="12017"/>
                  <a:pt x="176" y="11939"/>
                </a:cubicBezTo>
                <a:cubicBezTo>
                  <a:pt x="102" y="11860"/>
                  <a:pt x="48" y="11762"/>
                  <a:pt x="21" y="11655"/>
                </a:cubicBezTo>
                <a:cubicBezTo>
                  <a:pt x="-7" y="11547"/>
                  <a:pt x="-7" y="11434"/>
                  <a:pt x="21" y="11327"/>
                </a:cubicBezTo>
                <a:cubicBezTo>
                  <a:pt x="48" y="11220"/>
                  <a:pt x="102" y="11121"/>
                  <a:pt x="176" y="11043"/>
                </a:cubicBezTo>
                <a:cubicBezTo>
                  <a:pt x="250" y="10964"/>
                  <a:pt x="343" y="10908"/>
                  <a:pt x="445" y="10879"/>
                </a:cubicBezTo>
                <a:cubicBezTo>
                  <a:pt x="547" y="10850"/>
                  <a:pt x="653" y="10850"/>
                  <a:pt x="755" y="10879"/>
                </a:cubicBezTo>
                <a:lnTo>
                  <a:pt x="9757" y="13425"/>
                </a:lnTo>
                <a:lnTo>
                  <a:pt x="1686" y="8504"/>
                </a:lnTo>
                <a:cubicBezTo>
                  <a:pt x="1595" y="8449"/>
                  <a:pt x="1519" y="8369"/>
                  <a:pt x="1467" y="8272"/>
                </a:cubicBezTo>
                <a:cubicBezTo>
                  <a:pt x="1414" y="8176"/>
                  <a:pt x="1387" y="8067"/>
                  <a:pt x="1387" y="7956"/>
                </a:cubicBezTo>
                <a:cubicBezTo>
                  <a:pt x="1387" y="7845"/>
                  <a:pt x="1414" y="7735"/>
                  <a:pt x="1467" y="7639"/>
                </a:cubicBezTo>
                <a:cubicBezTo>
                  <a:pt x="1519" y="7544"/>
                  <a:pt x="1596" y="7463"/>
                  <a:pt x="1686" y="7407"/>
                </a:cubicBezTo>
                <a:cubicBezTo>
                  <a:pt x="1777" y="7352"/>
                  <a:pt x="1881" y="7323"/>
                  <a:pt x="1986" y="7323"/>
                </a:cubicBezTo>
                <a:close/>
              </a:path>
            </a:pathLst>
          </a:custGeom>
          <a:gradFill rotWithShape="0">
            <a:gsLst>
              <a:gs pos="0">
                <a:srgbClr val="FFFFA6">
                  <a:alpha val="10000"/>
                </a:srgbClr>
              </a:gs>
              <a:gs pos="70000">
                <a:srgbClr val="FFFFA6">
                  <a:alpha val="0"/>
                </a:srgbClr>
              </a:gs>
            </a:gsLst>
            <a:path path="circle">
              <a:fillToRect l="50000" t="90000" r="50000" b="10000"/>
            </a:path>
          </a:gradFill>
          <a:ln w="18000">
            <a:noFill/>
          </a:ln>
        </p:spPr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" name=""/>
          <p:cNvGrpSpPr/>
          <p:nvPr/>
        </p:nvGrpSpPr>
        <p:grpSpPr>
          <a:xfrm>
            <a:off x="747720" y="866880"/>
            <a:ext cx="8584560" cy="119880"/>
            <a:chOff x="747720" y="866880"/>
            <a:chExt cx="8584560" cy="119880"/>
          </a:xfrm>
        </p:grpSpPr>
        <p:sp>
          <p:nvSpPr>
            <p:cNvPr id="11" name=""/>
            <p:cNvSpPr/>
            <p:nvPr/>
          </p:nvSpPr>
          <p:spPr>
            <a:xfrm>
              <a:off x="747720" y="866880"/>
              <a:ext cx="2466000" cy="288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25000"/>
              </a:srgbClr>
            </a:solidFill>
            <a:ln w="18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4120" rIns="90000" bIns="-2412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1005120" y="957960"/>
              <a:ext cx="2196000" cy="288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25000"/>
              </a:srgbClr>
            </a:solidFill>
            <a:ln w="18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4120" rIns="90000" bIns="-2412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 flipH="1">
              <a:off x="6866280" y="866880"/>
              <a:ext cx="2466000" cy="288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25000"/>
              </a:srgbClr>
            </a:solidFill>
            <a:ln w="18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4120" rIns="90000" bIns="-2412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 flipH="1">
              <a:off x="6878880" y="957960"/>
              <a:ext cx="2196000" cy="288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25000"/>
              </a:srgbClr>
            </a:solidFill>
            <a:ln w="18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4120" rIns="90000" bIns="-2412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75146"/>
            <a:ext cx="4100479" cy="1097280"/>
          </a:xfrm>
        </p:spPr>
        <p:txBody>
          <a:bodyPr/>
          <a:lstStyle/>
          <a:p>
            <a:r>
              <a:rPr lang="ru-RU" sz="3300"/>
              <a:t>Выручка вырастет на 238 500 ₽</a:t>
            </a:r>
          </a:p>
        </p:txBody>
      </p:sp>
      <p:sp>
        <p:nvSpPr>
          <p:cNvPr id="3" name="Chart title 3"/>
          <p:cNvSpPr txBox="1"/>
          <p:nvPr/>
        </p:nvSpPr>
        <p:spPr>
          <a:xfrm>
            <a:off x="3331440" y="1907706"/>
            <a:ext cx="642640" cy="14351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50" b="1" dirty="0">
                <a:solidFill>
                  <a:srgbClr val="FFFFFF"/>
                </a:solidFill>
                <a:latin typeface="Arial"/>
                <a:cs typeface="Arial"/>
              </a:rPr>
              <a:t>Количество покупок</a:t>
            </a:r>
            <a:endParaRPr lang="ru-RU" sz="1850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331440" y="3444875"/>
          <a:ext cx="642640" cy="113411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Chart title 4"/>
          <p:cNvSpPr txBox="1"/>
          <p:nvPr/>
        </p:nvSpPr>
        <p:spPr>
          <a:xfrm>
            <a:off x="4578917" y="1907706"/>
            <a:ext cx="642640" cy="8712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50" b="1" dirty="0">
                <a:solidFill>
                  <a:srgbClr val="FFFFFF"/>
                </a:solidFill>
                <a:latin typeface="Arial"/>
                <a:cs typeface="Arial"/>
              </a:rPr>
              <a:t>Средний чек</a:t>
            </a:r>
            <a:endParaRPr lang="ru-RU" sz="1850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8917" y="2880995"/>
          <a:ext cx="642640" cy="113411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5" name="Line 5"/>
          <p:cNvCxnSpPr/>
          <p:nvPr/>
        </p:nvCxnSpPr>
        <p:spPr>
          <a:xfrm>
            <a:off x="5523976" y="1907706"/>
            <a:ext cx="0" cy="1871776"/>
          </a:xfrm>
          <a:prstGeom prst="line">
            <a:avLst/>
          </a:prstGeom>
          <a:ln w="12700">
            <a:solidFill>
              <a:srgbClr val="0369A3"/>
            </a:solidFill>
          </a:ln>
        </p:spPr>
      </p:cxnSp>
      <p:sp>
        <p:nvSpPr>
          <p:cNvPr id="6" name="Chart note 6"/>
          <p:cNvSpPr txBox="1"/>
          <p:nvPr/>
        </p:nvSpPr>
        <p:spPr>
          <a:xfrm>
            <a:off x="5826394" y="1907706"/>
            <a:ext cx="922791" cy="187177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58445" indent="-258445">
              <a:lnSpc>
                <a:spcPct val="100000"/>
              </a:lnSpc>
              <a:spcAft>
                <a:spcPts val="1155"/>
              </a:spcAft>
              <a:buClr>
                <a:srgbClr val="FFFF00"/>
              </a:buClr>
              <a:buFont typeface="Arial"/>
              <a:buChar char="•"/>
            </a:pPr>
            <a:r>
              <a:rPr lang="ru-RU" sz="1850" b="0" dirty="0">
                <a:solidFill>
                  <a:srgbClr val="FFFFFF"/>
                </a:solidFill>
                <a:latin typeface="Arial"/>
                <a:cs typeface="Arial"/>
              </a:rPr>
              <a:t>Комбо с напитками и выпечкой</a:t>
            </a:r>
            <a:endParaRPr lang="ru-RU" sz="1850"/>
          </a:p>
          <a:p>
            <a:pPr algn="l" marL="258445" indent="-258445">
              <a:lnSpc>
                <a:spcPct val="100000"/>
              </a:lnSpc>
              <a:spcAft>
                <a:spcPts val="1155"/>
              </a:spcAft>
              <a:buClr>
                <a:srgbClr val="FFFF00"/>
              </a:buClr>
              <a:buFont typeface="Arial"/>
              <a:buChar char="•"/>
            </a:pPr>
            <a:r>
              <a:rPr lang="ru-RU" sz="1850" b="0" dirty="0">
                <a:solidFill>
                  <a:srgbClr val="FFFFFF"/>
                </a:solidFill>
                <a:latin typeface="Arial"/>
                <a:cs typeface="Arial"/>
              </a:rPr>
              <a:t>Программа лояльности</a:t>
            </a:r>
            <a:endParaRPr lang="ru-RU" sz="1850"/>
          </a:p>
          <a:p>
            <a:pPr algn="l" marL="258445" indent="-258445">
              <a:lnSpc>
                <a:spcPct val="100000"/>
              </a:lnSpc>
              <a:spcAft>
                <a:spcPts val="1155"/>
              </a:spcAft>
              <a:buClr>
                <a:srgbClr val="FFFF00"/>
              </a:buClr>
              <a:buFont typeface="Arial"/>
              <a:buChar char="•"/>
            </a:pPr>
            <a:r>
              <a:rPr lang="ru-RU" sz="1850" b="0" dirty="0">
                <a:solidFill>
                  <a:srgbClr val="FFFFFF"/>
                </a:solidFill>
                <a:latin typeface="Arial"/>
                <a:cs typeface="Arial"/>
              </a:rPr>
              <a:t>Предложения для сотрудников ближайших офисов</a:t>
            </a:r>
            <a:endParaRPr lang="ru-RU" sz="1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Sunset</Template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2026-09-27T15:01:19Z</dcterms:created>
  <dc:creator/>
  <dc:description>This work is licensed under a Creative Commons 0 License.
It makes use of the works of Alexander Wilms.</dc:description>
  <dc:language>ru-RU</dc:language>
  <cp:lastModifiedBy/>
  <cp:revision>1</cp:revision>
  <dc:subject/>
  <dc:title>Sunset</dc:title>
</cp:coreProperties>
</file>