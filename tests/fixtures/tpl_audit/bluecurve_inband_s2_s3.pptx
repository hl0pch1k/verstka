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9" r:id="rId8"/>
    <p:sldId id="260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5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88"/>
          <c:y val="0.0288"/>
          <c:w val="0.9425"/>
          <c:h val="0.942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 выручке</c:v>
                </c:pt>
              </c:strCache>
            </c:strRef>
          </c:tx>
          <c:dPt>
            <c:idx val="0"/>
            <c:spPr>
              <a:solidFill>
                <a:srgbClr val="77CAEE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95D6F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B0E0F5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Кофе</c:v>
                </c:pt>
                <c:pt idx="1">
                  <c:v>Десерты и выпечка</c:v>
                </c:pt>
                <c:pt idx="2">
                  <c:v>Чай и другие напитки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60.0</c:v>
                </c:pt>
                <c:pt idx="1">
                  <c:v>25.0</c:v>
                </c:pt>
                <c:pt idx="2">
                  <c:v>15.0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316"/>
          <c:y val="0.0316"/>
          <c:w val="0.9368"/>
          <c:h val="0.936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Расходы</c:v>
                </c:pt>
              </c:strCache>
            </c:strRef>
          </c:tx>
          <c:dPt>
            <c:idx val="0"/>
            <c:spPr>
              <a:solidFill>
                <a:srgbClr val="77CAEE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87D0F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95D6F2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3DBF3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B0E0F5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C7C7C7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5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5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Продукты и упаковка</c:v>
                </c:pt>
                <c:pt idx="1">
                  <c:v>Зарплаты</c:v>
                </c:pt>
                <c:pt idx="2">
                  <c:v>Аренда</c:v>
                </c:pt>
                <c:pt idx="3">
                  <c:v>Коммунальные услуги</c:v>
                </c:pt>
                <c:pt idx="4">
                  <c:v>Маркетинг</c:v>
                </c:pt>
                <c:pt idx="5">
                  <c:v>Прочие расходы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315000.0</c:v>
                </c:pt>
                <c:pt idx="1">
                  <c:v>270000.0</c:v>
                </c:pt>
                <c:pt idx="2">
                  <c:v>120000.0</c:v>
                </c:pt>
                <c:pt idx="3">
                  <c:v>25000.0</c:v>
                </c:pt>
                <c:pt idx="4">
                  <c:v>20000.0</c:v>
                </c:pt>
                <c:pt idx="5">
                  <c:v>30000.0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5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Выручка кофейни за 30 дней составляет 900 000 рублей. Из них 540 000 рублей приходится на кофе, 225 000 рублей — на десерты и выпечку, 135 000 рублей — на чай и другие напитки. Это соответствует структуре: кофе — 60%, десерты и выпечка — 25%, чай и другие напитки — 15%.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Ежемесячные расходы кофейни составляют 780 000 рублей. Наибольшую долю занимают расходы на продукты и упаковку (315 000 ₽) и зарплаты (270 000 ₽). Операционная прибыль составляет 120 000 рублей, или 13,3% от выручки.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5E1D29C-B4E3-4617-82BA-97DB873FEAF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0791E4BC-100B-4F13-B6DA-C47DC998E42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A346DDCA-6B82-4325-99CE-63A7E3EDB8F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8669337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rPr lang="ru-RU" sz="2500">
                <a:solidFill>
                  <a:srgbClr val="000000"/>
                </a:solidFill>
              </a:rPr>
              <a:t>Выручка за 30 дней — 900 000 ₽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</p:spPr>
        <p:txBody>
          <a:bodyPr/>
          <a:p>
            <a:fld id="{4B1E6ED8-8E5A-48A0-974E-7E235F9DD3B6}" type="slidenum">
              <a:t>2</a:t>
            </a:fld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1714883" y="1055280"/>
          <a:ext cx="3047842" cy="30478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Legend title 23"/>
          <p:cNvSpPr txBox="1"/>
          <p:nvPr/>
        </p:nvSpPr>
        <p:spPr>
          <a:xfrm>
            <a:off x="5246595" y="1868001"/>
            <a:ext cx="293479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Доля в выручке</a:t>
            </a:r>
            <a:endParaRPr lang="ru-RU" sz="1600"/>
          </a:p>
        </p:txBody>
      </p:sp>
      <p:sp>
        <p:nvSpPr>
          <p:cNvPr id="24" name="Swatch 24"/>
          <p:cNvSpPr/>
          <p:nvPr/>
        </p:nvSpPr>
        <p:spPr>
          <a:xfrm>
            <a:off x="5246595" y="2328249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7CAEE"/>
          </a:solidFill>
          <a:ln>
            <a:noFill/>
          </a:ln>
        </p:spPr>
      </p:sp>
      <p:sp>
        <p:nvSpPr>
          <p:cNvPr id="25" name="Legend 25"/>
          <p:cNvSpPr txBox="1"/>
          <p:nvPr/>
        </p:nvSpPr>
        <p:spPr>
          <a:xfrm>
            <a:off x="5509942" y="2279481"/>
            <a:ext cx="216027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Кофе</a:t>
            </a:r>
            <a:endParaRPr lang="ru-RU" sz="1600"/>
          </a:p>
        </p:txBody>
      </p:sp>
      <p:sp>
        <p:nvSpPr>
          <p:cNvPr id="26" name="Share 26"/>
          <p:cNvSpPr txBox="1"/>
          <p:nvPr/>
        </p:nvSpPr>
        <p:spPr>
          <a:xfrm>
            <a:off x="7670212" y="2279481"/>
            <a:ext cx="511175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9BDD"/>
                </a:solidFill>
                <a:latin typeface="Arial"/>
                <a:cs typeface="Arial"/>
              </a:rPr>
              <a:t>60%</a:t>
            </a:r>
            <a:endParaRPr lang="ru-RU" sz="1600"/>
          </a:p>
        </p:txBody>
      </p:sp>
      <p:sp>
        <p:nvSpPr>
          <p:cNvPr id="27" name="Swatch 27"/>
          <p:cNvSpPr/>
          <p:nvPr/>
        </p:nvSpPr>
        <p:spPr>
          <a:xfrm>
            <a:off x="5246595" y="2699089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7CAEE">
              <a:alpha val="78000"/>
            </a:srgbClr>
          </a:solidFill>
          <a:ln>
            <a:noFill/>
          </a:ln>
        </p:spPr>
      </p:sp>
      <p:sp>
        <p:nvSpPr>
          <p:cNvPr id="28" name="Legend 28"/>
          <p:cNvSpPr txBox="1"/>
          <p:nvPr/>
        </p:nvSpPr>
        <p:spPr>
          <a:xfrm>
            <a:off x="5509942" y="2650321"/>
            <a:ext cx="216027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Десерты и выпечка</a:t>
            </a:r>
            <a:endParaRPr lang="ru-RU" sz="1600"/>
          </a:p>
        </p:txBody>
      </p:sp>
      <p:sp>
        <p:nvSpPr>
          <p:cNvPr id="29" name="Share 29"/>
          <p:cNvSpPr txBox="1"/>
          <p:nvPr/>
        </p:nvSpPr>
        <p:spPr>
          <a:xfrm>
            <a:off x="7670212" y="2650321"/>
            <a:ext cx="511175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600"/>
          </a:p>
        </p:txBody>
      </p:sp>
      <p:sp>
        <p:nvSpPr>
          <p:cNvPr id="30" name="Swatch 30"/>
          <p:cNvSpPr/>
          <p:nvPr/>
        </p:nvSpPr>
        <p:spPr>
          <a:xfrm>
            <a:off x="5246595" y="3069929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7CAEE">
              <a:alpha val="58000"/>
            </a:srgbClr>
          </a:solidFill>
          <a:ln>
            <a:noFill/>
          </a:ln>
        </p:spPr>
      </p:sp>
      <p:sp>
        <p:nvSpPr>
          <p:cNvPr id="31" name="Legend 31"/>
          <p:cNvSpPr txBox="1"/>
          <p:nvPr/>
        </p:nvSpPr>
        <p:spPr>
          <a:xfrm>
            <a:off x="5509942" y="3021161"/>
            <a:ext cx="216027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Чай и другие напитки</a:t>
            </a:r>
            <a:endParaRPr lang="ru-RU" sz="1600"/>
          </a:p>
        </p:txBody>
      </p:sp>
      <p:sp>
        <p:nvSpPr>
          <p:cNvPr id="32" name="Share 32"/>
          <p:cNvSpPr txBox="1"/>
          <p:nvPr/>
        </p:nvSpPr>
        <p:spPr>
          <a:xfrm>
            <a:off x="7670212" y="3021161"/>
            <a:ext cx="511175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15%</a:t>
            </a:r>
            <a:endParaRPr lang="ru-RU" sz="1600"/>
          </a:p>
        </p:txBody>
      </p:sp>
      <p:sp>
        <p:nvSpPr>
          <p:cNvPr id="33" name="Conclusion bar 33"/>
          <p:cNvSpPr/>
          <p:nvPr/>
        </p:nvSpPr>
        <p:spPr>
          <a:xfrm>
            <a:off x="360000" y="4365668"/>
            <a:ext cx="38100" cy="220472"/>
          </a:xfrm>
          <a:prstGeom prst="rect">
            <a:avLst/>
          </a:prstGeom>
          <a:solidFill>
            <a:srgbClr val="77CAEE"/>
          </a:solidFill>
          <a:ln>
            <a:noFill/>
          </a:ln>
        </p:spPr>
      </p:sp>
      <p:sp>
        <p:nvSpPr>
          <p:cNvPr id="34" name="Conclusion 34"/>
          <p:cNvSpPr txBox="1"/>
          <p:nvPr/>
        </p:nvSpPr>
        <p:spPr>
          <a:xfrm>
            <a:off x="560660" y="4341284"/>
            <a:ext cx="897561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Кофе составляет </a:t>
            </a:r>
            <a:r>
              <a:rPr lang="ru-RU" sz="1600" b="0" cap="none" spc="0" baseline="0" dirty="0">
                <a:solidFill>
                  <a:srgbClr val="009BDD"/>
                </a:solidFill>
                <a:latin typeface="Arial"/>
                <a:cs typeface="Arial"/>
              </a:rPr>
              <a:t>60%</a:t>
            </a: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 выручки</a:t>
            </a:r>
            <a:endParaRPr lang="ru-RU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8669337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rPr lang="ru-RU" sz="2250">
                <a:solidFill>
                  <a:srgbClr val="000000"/>
                </a:solidFill>
              </a:rPr>
              <a:t>Ежемесячные расходы кофейни составляют 780 000 рублей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</p:spPr>
        <p:txBody>
          <a:bodyPr/>
          <a:p>
            <a:fld id="{4B1E6ED8-8E5A-48A0-974E-7E235F9DD3B6}" type="slidenum">
              <a:t>2</a:t>
            </a:fld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1513400" y="1055280"/>
          <a:ext cx="2773082" cy="277308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Legend title 23"/>
          <p:cNvSpPr txBox="1"/>
          <p:nvPr/>
        </p:nvSpPr>
        <p:spPr>
          <a:xfrm>
            <a:off x="4770352" y="1215001"/>
            <a:ext cx="3612518" cy="5765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Распределение ежемесячных расходов</a:t>
            </a:r>
            <a:endParaRPr lang="ru-RU" sz="14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сумма · доля от общей суммы</a:t>
            </a:r>
            <a:endParaRPr lang="ru-RU" sz="1400"/>
          </a:p>
        </p:txBody>
      </p:sp>
      <p:sp>
        <p:nvSpPr>
          <p:cNvPr id="24" name="Swatch 24"/>
          <p:cNvSpPr/>
          <p:nvPr/>
        </p:nvSpPr>
        <p:spPr>
          <a:xfrm>
            <a:off x="4770352" y="1834253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7CAEE"/>
          </a:solidFill>
          <a:ln>
            <a:noFill/>
          </a:ln>
        </p:spPr>
      </p:sp>
      <p:sp>
        <p:nvSpPr>
          <p:cNvPr id="25" name="Legend 25"/>
          <p:cNvSpPr txBox="1"/>
          <p:nvPr/>
        </p:nvSpPr>
        <p:spPr>
          <a:xfrm>
            <a:off x="5000780" y="1791581"/>
            <a:ext cx="19235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Продукты и упаковка</a:t>
            </a:r>
            <a:endParaRPr lang="ru-RU" sz="1400"/>
          </a:p>
        </p:txBody>
      </p:sp>
      <p:sp>
        <p:nvSpPr>
          <p:cNvPr id="26" name="Share 26"/>
          <p:cNvSpPr txBox="1"/>
          <p:nvPr/>
        </p:nvSpPr>
        <p:spPr>
          <a:xfrm>
            <a:off x="6924354" y="1791581"/>
            <a:ext cx="1458516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9BDD"/>
                </a:solidFill>
                <a:latin typeface="Arial"/>
                <a:cs typeface="Arial"/>
              </a:rPr>
              <a:t>315 000 ₽  ·  40%</a:t>
            </a:r>
            <a:endParaRPr lang="ru-RU" sz="1400"/>
          </a:p>
        </p:txBody>
      </p:sp>
      <p:sp>
        <p:nvSpPr>
          <p:cNvPr id="27" name="Swatch 27"/>
          <p:cNvSpPr/>
          <p:nvPr/>
        </p:nvSpPr>
        <p:spPr>
          <a:xfrm>
            <a:off x="4770352" y="2161913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7CAEE">
              <a:alpha val="88000"/>
            </a:srgbClr>
          </a:solidFill>
          <a:ln>
            <a:noFill/>
          </a:ln>
        </p:spPr>
      </p:sp>
      <p:sp>
        <p:nvSpPr>
          <p:cNvPr id="28" name="Legend 28"/>
          <p:cNvSpPr txBox="1"/>
          <p:nvPr/>
        </p:nvSpPr>
        <p:spPr>
          <a:xfrm>
            <a:off x="5000780" y="2119241"/>
            <a:ext cx="19235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Зарплаты</a:t>
            </a:r>
            <a:endParaRPr lang="ru-RU" sz="1400"/>
          </a:p>
        </p:txBody>
      </p:sp>
      <p:sp>
        <p:nvSpPr>
          <p:cNvPr id="29" name="Share 29"/>
          <p:cNvSpPr txBox="1"/>
          <p:nvPr/>
        </p:nvSpPr>
        <p:spPr>
          <a:xfrm>
            <a:off x="6924354" y="2119241"/>
            <a:ext cx="1458516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270 000 ₽  ·  35%</a:t>
            </a:r>
            <a:endParaRPr lang="ru-RU" sz="1400"/>
          </a:p>
        </p:txBody>
      </p:sp>
      <p:sp>
        <p:nvSpPr>
          <p:cNvPr id="30" name="Swatch 30"/>
          <p:cNvSpPr/>
          <p:nvPr/>
        </p:nvSpPr>
        <p:spPr>
          <a:xfrm>
            <a:off x="4770352" y="2489573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7CAEE">
              <a:alpha val="78000"/>
            </a:srgbClr>
          </a:solidFill>
          <a:ln>
            <a:noFill/>
          </a:ln>
        </p:spPr>
      </p:sp>
      <p:sp>
        <p:nvSpPr>
          <p:cNvPr id="31" name="Legend 31"/>
          <p:cNvSpPr txBox="1"/>
          <p:nvPr/>
        </p:nvSpPr>
        <p:spPr>
          <a:xfrm>
            <a:off x="5000780" y="2446901"/>
            <a:ext cx="19235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Аренда</a:t>
            </a:r>
            <a:endParaRPr lang="ru-RU" sz="1400"/>
          </a:p>
        </p:txBody>
      </p:sp>
      <p:sp>
        <p:nvSpPr>
          <p:cNvPr id="32" name="Share 32"/>
          <p:cNvSpPr txBox="1"/>
          <p:nvPr/>
        </p:nvSpPr>
        <p:spPr>
          <a:xfrm>
            <a:off x="6924354" y="2446901"/>
            <a:ext cx="1458516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120 000 ₽  ·  15%</a:t>
            </a:r>
            <a:endParaRPr lang="ru-RU" sz="1400"/>
          </a:p>
        </p:txBody>
      </p:sp>
      <p:sp>
        <p:nvSpPr>
          <p:cNvPr id="33" name="Swatch 33"/>
          <p:cNvSpPr/>
          <p:nvPr/>
        </p:nvSpPr>
        <p:spPr>
          <a:xfrm>
            <a:off x="4770352" y="2817233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7CAEE">
              <a:alpha val="68000"/>
            </a:srgbClr>
          </a:solidFill>
          <a:ln>
            <a:noFill/>
          </a:ln>
        </p:spPr>
      </p:sp>
      <p:sp>
        <p:nvSpPr>
          <p:cNvPr id="34" name="Legend 34"/>
          <p:cNvSpPr txBox="1"/>
          <p:nvPr/>
        </p:nvSpPr>
        <p:spPr>
          <a:xfrm>
            <a:off x="5000780" y="2774561"/>
            <a:ext cx="19235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Коммунальные услуги</a:t>
            </a:r>
            <a:endParaRPr lang="ru-RU" sz="1400"/>
          </a:p>
        </p:txBody>
      </p:sp>
      <p:sp>
        <p:nvSpPr>
          <p:cNvPr id="35" name="Share 35"/>
          <p:cNvSpPr txBox="1"/>
          <p:nvPr/>
        </p:nvSpPr>
        <p:spPr>
          <a:xfrm>
            <a:off x="6924354" y="2774561"/>
            <a:ext cx="1458516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25 000 ₽  ·  3%</a:t>
            </a:r>
            <a:endParaRPr lang="ru-RU" sz="1400"/>
          </a:p>
        </p:txBody>
      </p:sp>
      <p:sp>
        <p:nvSpPr>
          <p:cNvPr id="36" name="Swatch 36"/>
          <p:cNvSpPr/>
          <p:nvPr/>
        </p:nvSpPr>
        <p:spPr>
          <a:xfrm>
            <a:off x="4770352" y="3144893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77CAEE">
              <a:alpha val="58000"/>
            </a:srgbClr>
          </a:solidFill>
          <a:ln>
            <a:noFill/>
          </a:ln>
        </p:spPr>
      </p:sp>
      <p:sp>
        <p:nvSpPr>
          <p:cNvPr id="37" name="Legend 37"/>
          <p:cNvSpPr txBox="1"/>
          <p:nvPr/>
        </p:nvSpPr>
        <p:spPr>
          <a:xfrm>
            <a:off x="5000780" y="3102221"/>
            <a:ext cx="19235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400"/>
          </a:p>
        </p:txBody>
      </p:sp>
      <p:sp>
        <p:nvSpPr>
          <p:cNvPr id="38" name="Share 38"/>
          <p:cNvSpPr txBox="1"/>
          <p:nvPr/>
        </p:nvSpPr>
        <p:spPr>
          <a:xfrm>
            <a:off x="6924354" y="3102221"/>
            <a:ext cx="1458516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20 000 ₽  ·  3%</a:t>
            </a:r>
            <a:endParaRPr lang="ru-RU" sz="1400"/>
          </a:p>
        </p:txBody>
      </p:sp>
      <p:sp>
        <p:nvSpPr>
          <p:cNvPr id="39" name="Swatch 39"/>
          <p:cNvSpPr/>
          <p:nvPr/>
        </p:nvSpPr>
        <p:spPr>
          <a:xfrm>
            <a:off x="4770352" y="3472553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</p:sp>
      <p:sp>
        <p:nvSpPr>
          <p:cNvPr id="40" name="Legend 40"/>
          <p:cNvSpPr txBox="1"/>
          <p:nvPr/>
        </p:nvSpPr>
        <p:spPr>
          <a:xfrm>
            <a:off x="5000780" y="3429881"/>
            <a:ext cx="1923574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Прочие расходы</a:t>
            </a:r>
            <a:endParaRPr lang="ru-RU" sz="1400"/>
          </a:p>
        </p:txBody>
      </p:sp>
      <p:sp>
        <p:nvSpPr>
          <p:cNvPr id="41" name="Share 41"/>
          <p:cNvSpPr txBox="1"/>
          <p:nvPr/>
        </p:nvSpPr>
        <p:spPr>
          <a:xfrm>
            <a:off x="6924354" y="3429881"/>
            <a:ext cx="1458516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30 000 ₽  ·  4%</a:t>
            </a:r>
            <a:endParaRPr lang="ru-RU" sz="1400"/>
          </a:p>
        </p:txBody>
      </p:sp>
      <p:sp>
        <p:nvSpPr>
          <p:cNvPr id="42" name="Conclusion bar 42"/>
          <p:cNvSpPr/>
          <p:nvPr/>
        </p:nvSpPr>
        <p:spPr>
          <a:xfrm>
            <a:off x="360000" y="4090908"/>
            <a:ext cx="38100" cy="220472"/>
          </a:xfrm>
          <a:prstGeom prst="rect">
            <a:avLst/>
          </a:prstGeom>
          <a:solidFill>
            <a:srgbClr val="77CAEE"/>
          </a:solidFill>
          <a:ln>
            <a:noFill/>
          </a:ln>
        </p:spPr>
      </p:sp>
      <p:sp>
        <p:nvSpPr>
          <p:cNvPr id="43" name="Conclusion 43"/>
          <p:cNvSpPr txBox="1"/>
          <p:nvPr/>
        </p:nvSpPr>
        <p:spPr>
          <a:xfrm>
            <a:off x="560660" y="4066524"/>
            <a:ext cx="8975610" cy="269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Операционная прибыль — </a:t>
            </a:r>
            <a:r>
              <a:rPr lang="ru-RU" sz="1600" b="0" cap="none" spc="0" baseline="0" dirty="0">
                <a:solidFill>
                  <a:srgbClr val="009BDD"/>
                </a:solidFill>
                <a:latin typeface="Arial"/>
                <a:cs typeface="Arial"/>
              </a:rPr>
              <a:t>13,3%</a:t>
            </a:r>
            <a:r>
              <a:rPr lang="ru-RU" sz="16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 выручки</a:t>
            </a:r>
            <a:endParaRPr lang="ru-RU" sz="1600"/>
          </a:p>
        </p:txBody>
      </p:sp>
      <p:sp>
        <p:nvSpPr>
          <p:cNvPr id="44" name="Footnote 44"/>
          <p:cNvSpPr txBox="1"/>
          <p:nvPr/>
        </p:nvSpPr>
        <p:spPr>
          <a:xfrm>
            <a:off x="360000" y="4678971"/>
            <a:ext cx="9176270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Arial"/>
                <a:cs typeface="Arial"/>
              </a:rPr>
              <a:t>Налоги, проценты по кредитам и амортизация в расчет не включены</a:t>
            </a:r>
            <a:endParaRPr lang="ru-RU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Curve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2026-09-27T15:01:17Z</dcterms:created>
  <dc:creator/>
  <dc:description>This work is licensed under a Creative Commons 0 License.
It makes use of the works of kka_libo_design@ashisuto.co.jp.</dc:description>
  <dc:language>ru-RU</dc:language>
  <cp:lastModifiedBy/>
  <cp:revision>1</cp:revision>
  <dc:subject/>
  <dc:title>Blue Curve</dc:title>
</cp:coreProperties>
</file>