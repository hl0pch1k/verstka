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63" r:id="rId12"/>
    <p:sldId id="265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Вывод: Три направления роста: средний чек, гости в свободные часы, снижение потерь. По результатам четырех недель наблюдений: 65% покупок приходится на утренние часы с 08:00 до 11:00. Среди чеков еду покупают только 20%. После 15:00 занято в среднем 4 из 18 мест. Списания продуктов составляют 27 000 ₽ в месяц и уже учтены в расходах на продукты. Доля возвращающихся покупателей — 25%.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Вывод: Дополнительные 15 покупок в день дадут 148 500 рублей выручки за 30 дней. Цель — увеличить число покупок со 100 до 115 в день. Маркетинговый бюджет вырастет с 20 000 до 35 000 рублей в месяц. Дополнительные 15 покупок в день при среднем чеке 330 рублей дадут 148 500 рублей выручки за 30 дней. Не складывайте этот эффект с повторным расчетом роста среднего чека для новых покупателей.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CB51730-7555-4AC4-972C-35C14FC9F707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ctr">
              <a:spcAft>
                <a:spcPts val="1060"/>
              </a:spcAf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indent="0" algn="ctr">
              <a:spcAft>
                <a:spcPts val="848"/>
              </a:spcAf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indent="0" algn="ctr">
              <a:spcAft>
                <a:spcPts val="635"/>
              </a:spcAf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indent="0" algn="ctr">
              <a:spcAft>
                <a:spcPts val="422"/>
              </a:spcAf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indent="0" algn="ctr">
              <a:spcAft>
                <a:spcPts val="213"/>
              </a:spcAf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spcAft>
                <a:spcPts val="1060"/>
              </a:spcAf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3981F57-F37A-4285-A151-D71A31C269AF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ctr">
              <a:spcAft>
                <a:spcPts val="1060"/>
              </a:spcAf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indent="0" algn="ctr">
              <a:spcAft>
                <a:spcPts val="848"/>
              </a:spcAf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indent="0" algn="ctr">
              <a:spcAft>
                <a:spcPts val="635"/>
              </a:spcAf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indent="0" algn="ctr">
              <a:spcAft>
                <a:spcPts val="422"/>
              </a:spcAf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indent="0" algn="ctr">
              <a:spcAft>
                <a:spcPts val="213"/>
              </a:spcAf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spcAft>
                <a:spcPts val="1060"/>
              </a:spcAf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A4053EED-3ABC-4304-8058-9F894CD13313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5956110B-18D5-46CC-9809-B9AD43CAB7C6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EDA392E8-2962-4091-BB60-2CCB9FEDC07F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880000" y="900000"/>
            <a:ext cx="3088791" cy="17495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rPr lang="ru-RU" sz="2720"/>
              <a:t>Снижение потерь даст 27 000 ₽ в месяц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09BAE6-E7A8-4199-9161-289A0FFFF6F6}" type="slidenum">
              <a:t>2</a:t>
            </a:fld>
          </a:p>
        </p:txBody>
      </p:sp>
      <p:sp>
        <p:nvSpPr>
          <p:cNvPr id="58" name="Card 58"/>
          <p:cNvSpPr/>
          <p:nvPr/>
        </p:nvSpPr>
        <p:spPr>
          <a:xfrm>
            <a:off x="2880000" y="2974672"/>
            <a:ext cx="1278918" cy="2413078"/>
          </a:xfrm>
          <a:prstGeom prst="roundRect">
            <a:avLst>
              <a:gd name="adj" fmla="val 8579"/>
            </a:avLst>
          </a:prstGeom>
          <a:noFill/>
          <a:ln w="9525">
            <a:solidFill>
              <a:srgbClr val="E8A202"/>
            </a:solidFill>
          </a:ln>
        </p:spPr>
      </p:sp>
      <p:sp>
        <p:nvSpPr>
          <p:cNvPr id="59" name="Index 59"/>
          <p:cNvSpPr txBox="1"/>
          <p:nvPr/>
        </p:nvSpPr>
        <p:spPr>
          <a:xfrm>
            <a:off x="3027434" y="3122106"/>
            <a:ext cx="98405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dirty="0">
                <a:solidFill>
                  <a:srgbClr val="780373"/>
                </a:solidFill>
                <a:latin typeface="DejaVu Sans"/>
                <a:cs typeface="DejaVu Sans"/>
              </a:rPr>
              <a:t>01</a:t>
            </a:r>
            <a:endParaRPr lang="ru-RU" sz="2400"/>
          </a:p>
        </p:txBody>
      </p:sp>
      <p:sp>
        <p:nvSpPr>
          <p:cNvPr id="60" name="Card text 60"/>
          <p:cNvSpPr txBox="1"/>
          <p:nvPr/>
        </p:nvSpPr>
        <p:spPr>
          <a:xfrm>
            <a:off x="3027434" y="3547406"/>
            <a:ext cx="984050" cy="16929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lang="ru-RU" sz="1650" b="0" dirty="0">
                <a:solidFill>
                  <a:srgbClr val="333333"/>
                </a:solidFill>
                <a:latin typeface="DejaVu Sans"/>
                <a:cs typeface="DejaVu Sans"/>
              </a:rPr>
              <a:t>Средний чек</a:t>
            </a:r>
            <a:endParaRPr lang="ru-RU" sz="16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0369A3"/>
                </a:solidFill>
                <a:latin typeface="DejaVu Sans"/>
                <a:cs typeface="DejaVu Sans"/>
              </a:rPr>
              <a:t>Только 20% чеков содержат еду</a:t>
            </a:r>
            <a:endParaRPr lang="ru-RU" sz="1400"/>
          </a:p>
        </p:txBody>
      </p:sp>
      <p:sp>
        <p:nvSpPr>
          <p:cNvPr id="61" name="Card 61"/>
          <p:cNvSpPr/>
          <p:nvPr/>
        </p:nvSpPr>
        <p:spPr>
          <a:xfrm>
            <a:off x="4400853" y="2974672"/>
            <a:ext cx="1278918" cy="2413078"/>
          </a:xfrm>
          <a:prstGeom prst="roundRect">
            <a:avLst>
              <a:gd name="adj" fmla="val 8579"/>
            </a:avLst>
          </a:prstGeom>
          <a:noFill/>
          <a:ln w="9525">
            <a:solidFill>
              <a:srgbClr val="E8A202"/>
            </a:solidFill>
          </a:ln>
        </p:spPr>
      </p:sp>
      <p:sp>
        <p:nvSpPr>
          <p:cNvPr id="62" name="Index 62"/>
          <p:cNvSpPr txBox="1"/>
          <p:nvPr/>
        </p:nvSpPr>
        <p:spPr>
          <a:xfrm>
            <a:off x="4548287" y="3122106"/>
            <a:ext cx="98405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dirty="0">
                <a:solidFill>
                  <a:srgbClr val="780373"/>
                </a:solidFill>
                <a:latin typeface="DejaVu Sans"/>
                <a:cs typeface="DejaVu Sans"/>
              </a:rPr>
              <a:t>02</a:t>
            </a:r>
            <a:endParaRPr lang="ru-RU" sz="2400"/>
          </a:p>
        </p:txBody>
      </p:sp>
      <p:sp>
        <p:nvSpPr>
          <p:cNvPr id="63" name="Card text 63"/>
          <p:cNvSpPr txBox="1"/>
          <p:nvPr/>
        </p:nvSpPr>
        <p:spPr>
          <a:xfrm>
            <a:off x="4548287" y="3547406"/>
            <a:ext cx="984050" cy="16929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lang="ru-RU" sz="1650" b="0" dirty="0">
                <a:solidFill>
                  <a:srgbClr val="333333"/>
                </a:solidFill>
                <a:latin typeface="DejaVu Sans"/>
                <a:cs typeface="DejaVu Sans"/>
              </a:rPr>
              <a:t>Свободные часы</a:t>
            </a:r>
            <a:endParaRPr lang="ru-RU" sz="16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0369A3"/>
                </a:solidFill>
                <a:latin typeface="DejaVu Sans"/>
                <a:cs typeface="DejaVu Sans"/>
              </a:rPr>
              <a:t>4 из 18 мест заняты после 15:00</a:t>
            </a:r>
            <a:endParaRPr lang="ru-RU" sz="1400"/>
          </a:p>
        </p:txBody>
      </p:sp>
      <p:sp>
        <p:nvSpPr>
          <p:cNvPr id="64" name="Card 64"/>
          <p:cNvSpPr/>
          <p:nvPr/>
        </p:nvSpPr>
        <p:spPr>
          <a:xfrm>
            <a:off x="5921706" y="2974672"/>
            <a:ext cx="1278918" cy="2413078"/>
          </a:xfrm>
          <a:prstGeom prst="roundRect">
            <a:avLst>
              <a:gd name="adj" fmla="val 8579"/>
            </a:avLst>
          </a:prstGeom>
          <a:noFill/>
          <a:ln w="9525">
            <a:solidFill>
              <a:srgbClr val="E8A202"/>
            </a:solidFill>
          </a:ln>
        </p:spPr>
      </p:sp>
      <p:sp>
        <p:nvSpPr>
          <p:cNvPr id="65" name="Index 65"/>
          <p:cNvSpPr txBox="1"/>
          <p:nvPr/>
        </p:nvSpPr>
        <p:spPr>
          <a:xfrm>
            <a:off x="6069140" y="3122106"/>
            <a:ext cx="98405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dirty="0">
                <a:solidFill>
                  <a:srgbClr val="780373"/>
                </a:solidFill>
                <a:latin typeface="DejaVu Sans"/>
                <a:cs typeface="DejaVu Sans"/>
              </a:rPr>
              <a:t>03</a:t>
            </a:r>
            <a:endParaRPr lang="ru-RU" sz="2400"/>
          </a:p>
        </p:txBody>
      </p:sp>
      <p:sp>
        <p:nvSpPr>
          <p:cNvPr id="66" name="Card text 66"/>
          <p:cNvSpPr txBox="1"/>
          <p:nvPr/>
        </p:nvSpPr>
        <p:spPr>
          <a:xfrm>
            <a:off x="6069140" y="3547406"/>
            <a:ext cx="984050" cy="16929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lang="ru-RU" sz="1650" b="0" dirty="0">
                <a:solidFill>
                  <a:srgbClr val="333333"/>
                </a:solidFill>
                <a:latin typeface="DejaVu Sans"/>
                <a:cs typeface="DejaVu Sans"/>
              </a:rPr>
              <a:t>Потери</a:t>
            </a:r>
            <a:endParaRPr lang="ru-RU" sz="165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0369A3"/>
                </a:solidFill>
                <a:latin typeface="DejaVu Sans"/>
                <a:cs typeface="DejaVu Sans"/>
              </a:rPr>
              <a:t>Списания продуктов — 27 000 ₽ в месяц</a:t>
            </a:r>
            <a:endParaRPr lang="ru-RU" sz="1400"/>
          </a:p>
        </p:txBody>
      </p:sp>
      <p:sp>
        <p:nvSpPr>
          <p:cNvPr id="67" name="Note 67"/>
          <p:cNvSpPr txBox="1"/>
          <p:nvPr/>
        </p:nvSpPr>
        <p:spPr>
          <a:xfrm>
            <a:off x="2880000" y="5625912"/>
            <a:ext cx="3456500" cy="16389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30505" indent="-230505">
              <a:lnSpc>
                <a:spcPct val="100000"/>
              </a:lnSpc>
              <a:spcAft>
                <a:spcPts val="825"/>
              </a:spcAft>
              <a:buClr>
                <a:srgbClr val="780373"/>
              </a:buClr>
              <a:buFont typeface="Arial"/>
              <a:buChar char="•"/>
            </a:pPr>
            <a:r>
              <a:rPr lang="ru-RU" sz="1650" b="0" dirty="0">
                <a:solidFill>
                  <a:srgbClr val="333333"/>
                </a:solidFill>
                <a:latin typeface="DejaVu Sans"/>
                <a:cs typeface="DejaVu Sans"/>
              </a:rPr>
              <a:t>65% покупок приходится на утренние часы с 08:00 до 11:00</a:t>
            </a:r>
            <a:endParaRPr lang="ru-RU" sz="1650"/>
          </a:p>
          <a:p>
            <a:pPr algn="l" marL="230505" indent="-230505">
              <a:lnSpc>
                <a:spcPct val="100000"/>
              </a:lnSpc>
              <a:spcAft>
                <a:spcPts val="825"/>
              </a:spcAft>
              <a:buClr>
                <a:srgbClr val="780373"/>
              </a:buClr>
              <a:buFont typeface="Arial"/>
              <a:buChar char="•"/>
            </a:pPr>
            <a:r>
              <a:rPr lang="ru-RU" sz="1650" b="0" dirty="0">
                <a:solidFill>
                  <a:srgbClr val="333333"/>
                </a:solidFill>
                <a:latin typeface="DejaVu Sans"/>
                <a:cs typeface="DejaVu Sans"/>
              </a:rPr>
              <a:t>Доля покупателей, вернувшихся в течение 30 дней — 25%</a:t>
            </a:r>
            <a:endParaRPr lang="ru-RU" sz="1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880000" y="900000"/>
            <a:ext cx="3088791" cy="21640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rPr lang="ru-RU" sz="2720"/>
              <a:t>Цель — увеличить число покупок со 100 до 115 в день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09BAE6-E7A8-4199-9161-289A0FFFF6F6}" type="slidenum">
              <a:t>2</a:t>
            </a:fld>
          </a:p>
        </p:txBody>
      </p:sp>
      <p:sp>
        <p:nvSpPr>
          <p:cNvPr id="58" name="Marker 58"/>
          <p:cNvSpPr/>
          <p:nvPr/>
        </p:nvSpPr>
        <p:spPr>
          <a:xfrm>
            <a:off x="2880000" y="3462097"/>
            <a:ext cx="67564" cy="67564"/>
          </a:xfrm>
          <a:prstGeom prst="ellipse">
            <a:avLst/>
          </a:prstGeom>
          <a:solidFill>
            <a:srgbClr val="780373"/>
          </a:solidFill>
          <a:ln>
            <a:noFill/>
          </a:ln>
        </p:spPr>
      </p:sp>
      <p:sp>
        <p:nvSpPr>
          <p:cNvPr id="59" name="Item 59"/>
          <p:cNvSpPr txBox="1"/>
          <p:nvPr/>
        </p:nvSpPr>
        <p:spPr>
          <a:xfrm>
            <a:off x="3164480" y="3389199"/>
            <a:ext cx="3172020" cy="452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333333"/>
                </a:solidFill>
                <a:latin typeface="DejaVu Sans"/>
                <a:cs typeface="DejaVu Sans"/>
              </a:rPr>
              <a:t>Партнёрства с пятью ближайшими офисами</a:t>
            </a:r>
            <a:endParaRPr lang="ru-RU" sz="1400"/>
          </a:p>
        </p:txBody>
      </p:sp>
      <p:cxnSp>
        <p:nvCxnSpPr>
          <p:cNvPr id="60" name="Line 60"/>
          <p:cNvCxnSpPr/>
          <p:nvPr/>
        </p:nvCxnSpPr>
        <p:spPr>
          <a:xfrm>
            <a:off x="3164480" y="3974669"/>
            <a:ext cx="3172020" cy="0"/>
          </a:xfrm>
          <a:prstGeom prst="line">
            <a:avLst/>
          </a:prstGeom>
          <a:ln w="9525">
            <a:solidFill>
              <a:srgbClr val="E8A202"/>
            </a:solidFill>
          </a:ln>
        </p:spPr>
      </p:cxnSp>
      <p:sp>
        <p:nvSpPr>
          <p:cNvPr id="61" name="Marker 61"/>
          <p:cNvSpPr/>
          <p:nvPr/>
        </p:nvSpPr>
        <p:spPr>
          <a:xfrm>
            <a:off x="2880000" y="4180917"/>
            <a:ext cx="67564" cy="67564"/>
          </a:xfrm>
          <a:prstGeom prst="ellipse">
            <a:avLst/>
          </a:prstGeom>
          <a:solidFill>
            <a:srgbClr val="780373"/>
          </a:solidFill>
          <a:ln>
            <a:noFill/>
          </a:ln>
        </p:spPr>
      </p:sp>
      <p:sp>
        <p:nvSpPr>
          <p:cNvPr id="62" name="Item 62"/>
          <p:cNvSpPr txBox="1"/>
          <p:nvPr/>
        </p:nvSpPr>
        <p:spPr>
          <a:xfrm>
            <a:off x="3164480" y="4108019"/>
            <a:ext cx="3172020" cy="452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333333"/>
                </a:solidFill>
                <a:latin typeface="DejaVu Sans"/>
                <a:cs typeface="DejaVu Sans"/>
              </a:rPr>
              <a:t>Программа лояльности с понятными условиями</a:t>
            </a:r>
            <a:endParaRPr lang="ru-RU" sz="1400"/>
          </a:p>
        </p:txBody>
      </p:sp>
      <p:cxnSp>
        <p:nvCxnSpPr>
          <p:cNvPr id="63" name="Line 63"/>
          <p:cNvCxnSpPr/>
          <p:nvPr/>
        </p:nvCxnSpPr>
        <p:spPr>
          <a:xfrm>
            <a:off x="3164480" y="4693489"/>
            <a:ext cx="3172020" cy="0"/>
          </a:xfrm>
          <a:prstGeom prst="line">
            <a:avLst/>
          </a:prstGeom>
          <a:ln w="9525">
            <a:solidFill>
              <a:srgbClr val="E8A202"/>
            </a:solidFill>
          </a:ln>
        </p:spPr>
      </p:cxnSp>
      <p:sp>
        <p:nvSpPr>
          <p:cNvPr id="64" name="Marker 64"/>
          <p:cNvSpPr/>
          <p:nvPr/>
        </p:nvSpPr>
        <p:spPr>
          <a:xfrm>
            <a:off x="2880000" y="4899737"/>
            <a:ext cx="67564" cy="67564"/>
          </a:xfrm>
          <a:prstGeom prst="ellipse">
            <a:avLst/>
          </a:prstGeom>
          <a:solidFill>
            <a:srgbClr val="780373"/>
          </a:solidFill>
          <a:ln>
            <a:noFill/>
          </a:ln>
        </p:spPr>
      </p:sp>
      <p:sp>
        <p:nvSpPr>
          <p:cNvPr id="65" name="Item 65"/>
          <p:cNvSpPr txBox="1"/>
          <p:nvPr/>
        </p:nvSpPr>
        <p:spPr>
          <a:xfrm>
            <a:off x="3164480" y="4826839"/>
            <a:ext cx="3172020" cy="452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333333"/>
                </a:solidFill>
                <a:latin typeface="DejaVu Sans"/>
                <a:cs typeface="DejaVu Sans"/>
              </a:rPr>
              <a:t>Продвижение в районных сообществах</a:t>
            </a:r>
            <a:endParaRPr lang="ru-RU" sz="1400"/>
          </a:p>
        </p:txBody>
      </p:sp>
      <p:cxnSp>
        <p:nvCxnSpPr>
          <p:cNvPr id="66" name="Line 66"/>
          <p:cNvCxnSpPr/>
          <p:nvPr/>
        </p:nvCxnSpPr>
        <p:spPr>
          <a:xfrm>
            <a:off x="3164480" y="5412309"/>
            <a:ext cx="3172020" cy="0"/>
          </a:xfrm>
          <a:prstGeom prst="line">
            <a:avLst/>
          </a:prstGeom>
          <a:ln w="9525">
            <a:solidFill>
              <a:srgbClr val="E8A202"/>
            </a:solidFill>
          </a:ln>
        </p:spPr>
      </p:cxnSp>
      <p:sp>
        <p:nvSpPr>
          <p:cNvPr id="67" name="Marker 67"/>
          <p:cNvSpPr/>
          <p:nvPr/>
        </p:nvSpPr>
        <p:spPr>
          <a:xfrm>
            <a:off x="2880000" y="5618557"/>
            <a:ext cx="67564" cy="67564"/>
          </a:xfrm>
          <a:prstGeom prst="ellipse">
            <a:avLst/>
          </a:prstGeom>
          <a:solidFill>
            <a:srgbClr val="780373"/>
          </a:solidFill>
          <a:ln>
            <a:noFill/>
          </a:ln>
        </p:spPr>
      </p:sp>
      <p:sp>
        <p:nvSpPr>
          <p:cNvPr id="68" name="Item 68"/>
          <p:cNvSpPr txBox="1"/>
          <p:nvPr/>
        </p:nvSpPr>
        <p:spPr>
          <a:xfrm>
            <a:off x="3164480" y="5545659"/>
            <a:ext cx="3172020" cy="452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333333"/>
                </a:solidFill>
                <a:latin typeface="DejaVu Sans"/>
                <a:cs typeface="DejaVu Sans"/>
              </a:rPr>
              <a:t>Дневные предложения с 15:00 до 18:00</a:t>
            </a:r>
            <a:endParaRPr lang="ru-RU" sz="1400"/>
          </a:p>
        </p:txBody>
      </p:sp>
      <p:cxnSp>
        <p:nvCxnSpPr>
          <p:cNvPr id="69" name="Line 69"/>
          <p:cNvCxnSpPr/>
          <p:nvPr/>
        </p:nvCxnSpPr>
        <p:spPr>
          <a:xfrm>
            <a:off x="3164480" y="6131129"/>
            <a:ext cx="3172020" cy="0"/>
          </a:xfrm>
          <a:prstGeom prst="line">
            <a:avLst/>
          </a:prstGeom>
          <a:ln w="9525">
            <a:solidFill>
              <a:srgbClr val="E8A202"/>
            </a:solidFill>
          </a:ln>
        </p:spPr>
      </p:cxnSp>
      <p:sp>
        <p:nvSpPr>
          <p:cNvPr id="70" name="Marker 70"/>
          <p:cNvSpPr/>
          <p:nvPr/>
        </p:nvSpPr>
        <p:spPr>
          <a:xfrm>
            <a:off x="2880000" y="6337377"/>
            <a:ext cx="67564" cy="67564"/>
          </a:xfrm>
          <a:prstGeom prst="ellipse">
            <a:avLst/>
          </a:prstGeom>
          <a:solidFill>
            <a:srgbClr val="780373"/>
          </a:solidFill>
          <a:ln>
            <a:noFill/>
          </a:ln>
        </p:spPr>
      </p:sp>
      <p:sp>
        <p:nvSpPr>
          <p:cNvPr id="71" name="Item 71"/>
          <p:cNvSpPr txBox="1"/>
          <p:nvPr/>
        </p:nvSpPr>
        <p:spPr>
          <a:xfrm>
            <a:off x="3164480" y="6264479"/>
            <a:ext cx="3172020" cy="4521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dirty="0">
                <a:solidFill>
                  <a:srgbClr val="333333"/>
                </a:solidFill>
                <a:latin typeface="DejaVu Sans"/>
                <a:cs typeface="DejaVu Sans"/>
              </a:rPr>
              <a:t>Рост маркетингового бюджета до 35 000 рублей в месяц</a:t>
            </a:r>
            <a:endParaRPr lang="ru-RU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Focus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2026-09-27T15:01:12Z</dcterms:created>
  <dc:creator/>
  <dc:description>This work is licensed under a Creative Commons-0 licence.
It makes use of the works of Zirk.</dc:description>
  <dc:language>ru-RU</dc:language>
  <cp:lastModifiedBy/>
  <cp:revision>1</cp:revision>
  <dc:subject/>
  <dc:title>Focus</dc:title>
</cp:coreProperties>
</file>