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1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1626"/>
          <c:y val="0.1626"/>
          <c:w val="0.6748"/>
          <c:h val="0.674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</c:v>
                </c:pt>
              </c:strCache>
            </c:strRef>
          </c:tx>
          <c:dPt>
            <c:idx val="0"/>
            <c:spPr>
              <a:solidFill>
                <a:srgbClr val="1ABC9C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8C9B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6CD4C0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CDECE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A8E6D9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C7C7C7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1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Продукты, упаковка и списания</c:v>
                </c:pt>
                <c:pt idx="1">
                  <c:v>Зарплаты и связанные начисления</c:v>
                </c:pt>
                <c:pt idx="2">
                  <c:v>Аренда</c:v>
                </c:pt>
                <c:pt idx="3">
                  <c:v>Коммунальные услуги</c:v>
                </c:pt>
                <c:pt idx="4">
                  <c:v>Маркетинг</c:v>
                </c:pt>
                <c:pt idx="5">
                  <c:v>Другие операционные расходы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315000.0</c:v>
                </c:pt>
                <c:pt idx="1">
                  <c:v>270000.0</c:v>
                </c:pt>
                <c:pt idx="2">
                  <c:v>120000.0</c:v>
                </c:pt>
                <c:pt idx="3">
                  <c:v>25000.0</c:v>
                </c:pt>
                <c:pt idx="4">
                  <c:v>20000.0</c:v>
                </c:pt>
                <c:pt idx="5">
                  <c:v>30000.0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1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500">
          <a:solidFill>
            <a:srgbClr val="000000"/>
          </a:solidFill>
          <a:latin typeface="Noto Sans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Расходы на продукты, упаковку и списания — 315 000 рублей (35% от выручки). Зарплаты и связанные начисления — 270 000 рублей. Аренда — 120 000 рублей. Коммунальные услуги — 25 000 рублей. Маркетинг — 20 000 рублей. Другие операционные расходы — 30 000 рублей. Общие расходы — 780 000 рублей. Операционная прибыль — 120 000 рублей. Операционная рентабельность — 13,3%.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u-RU" sz="24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u-RU" sz="24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  <a:endParaRPr lang="ru-RU" sz="21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7D4BA1FA-47AA-4916-B25B-4F169663392C}" type="slidenum"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buNone/>
              <a:def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l">
              <a:spcAft>
                <a:spcPts val="65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indent="0" algn="l">
              <a:spcAft>
                <a:spcPts val="850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indent="0" algn="l">
              <a:spcAft>
                <a:spcPts val="63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indent="0" algn="l">
              <a:spcAft>
                <a:spcPts val="42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spcAft>
                <a:spcPts val="65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0" algn="l">
              <a:spcAft>
                <a:spcPts val="850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0" algn="l">
              <a:spcAft>
                <a:spcPts val="63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0" algn="l">
              <a:spcAft>
                <a:spcPts val="42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28EE6DD9-DE34-49F0-B65A-582CE63D2ECE}" type="slidenum"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buNone/>
              <a:def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l">
              <a:spcAft>
                <a:spcPts val="65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indent="0" algn="l">
              <a:spcAft>
                <a:spcPts val="850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indent="0" algn="l">
              <a:spcAft>
                <a:spcPts val="63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indent="0" algn="l">
              <a:spcAft>
                <a:spcPts val="42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spcAft>
                <a:spcPts val="65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0" algn="l">
              <a:spcAft>
                <a:spcPts val="850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0" algn="l">
              <a:spcAft>
                <a:spcPts val="63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0" algn="l">
              <a:spcAft>
                <a:spcPts val="42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6D9EB5A5-F7B8-45E3-9E8B-A2CE2E1BC545}" type="slidenum"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tIns="75600" rIns="120600" bIns="75600" anchor="ctr">
            <a:noAutofit/>
          </a:bodyPr>
          <a:p>
            <a:endParaRPr lang="ru-RU" sz="1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buNone/>
              <a:defRPr lang="ru-RU" sz="27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7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27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indent="0" algn="l">
              <a:spcAft>
                <a:spcPts val="65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indent="0" algn="l">
              <a:spcAft>
                <a:spcPts val="850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indent="0" algn="l">
              <a:spcAft>
                <a:spcPts val="63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indent="0" algn="l">
              <a:spcAft>
                <a:spcPts val="425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indent="0" algn="l">
              <a:spcAft>
                <a:spcPts val="213"/>
              </a:spcAft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spcAft>
                <a:spcPts val="65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0" algn="l">
              <a:spcAft>
                <a:spcPts val="850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0" algn="l">
              <a:spcAft>
                <a:spcPts val="63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0" algn="l">
              <a:spcAft>
                <a:spcPts val="425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0" algn="l">
              <a:spcAft>
                <a:spcPts val="213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2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D2980759-C14F-4393-8258-5E488DA0BA36}" type="slidenum"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ru-RU" sz="1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50104"/>
            <a:ext cx="56204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3200"/>
              <a:t>Операционная рентабельность — 13,3%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21E1E-6FC2-468A-AE67-2C853F7B0CD7}" type="slidenum">
              <a:t>2</a:t>
            </a:fld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2902" y="1642024"/>
          <a:ext cx="703037" cy="7030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Legend title 32"/>
          <p:cNvSpPr txBox="1"/>
          <p:nvPr/>
        </p:nvSpPr>
        <p:spPr>
          <a:xfrm>
            <a:off x="1549809" y="1642024"/>
            <a:ext cx="4812008" cy="6159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Структура расходов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доля от общей суммы</a:t>
            </a:r>
            <a:endParaRPr lang="ru-RU" sz="1500"/>
          </a:p>
        </p:txBody>
      </p:sp>
      <p:sp>
        <p:nvSpPr>
          <p:cNvPr id="33" name="Swatch 33"/>
          <p:cNvSpPr/>
          <p:nvPr/>
        </p:nvSpPr>
        <p:spPr>
          <a:xfrm>
            <a:off x="1549809" y="230369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1ABC9C"/>
          </a:solidFill>
          <a:ln>
            <a:noFill/>
          </a:ln>
        </p:spPr>
      </p:sp>
      <p:sp>
        <p:nvSpPr>
          <p:cNvPr id="34" name="Legend 34"/>
          <p:cNvSpPr txBox="1"/>
          <p:nvPr/>
        </p:nvSpPr>
        <p:spPr>
          <a:xfrm>
            <a:off x="1796697" y="2257974"/>
            <a:ext cx="1496771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Продукты, упаковка и списания</a:t>
            </a:r>
            <a:endParaRPr lang="ru-RU" sz="1500"/>
          </a:p>
        </p:txBody>
      </p:sp>
      <p:sp>
        <p:nvSpPr>
          <p:cNvPr id="35" name="Share 35"/>
          <p:cNvSpPr txBox="1"/>
          <p:nvPr/>
        </p:nvSpPr>
        <p:spPr>
          <a:xfrm>
            <a:off x="3293468" y="225797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0369A3"/>
                </a:solidFill>
                <a:latin typeface="Noto Sans"/>
                <a:cs typeface="Noto Sans"/>
              </a:rPr>
              <a:t>40%</a:t>
            </a:r>
            <a:endParaRPr lang="ru-RU" sz="1500"/>
          </a:p>
        </p:txBody>
      </p:sp>
      <p:sp>
        <p:nvSpPr>
          <p:cNvPr id="36" name="Swatch 36"/>
          <p:cNvSpPr/>
          <p:nvPr/>
        </p:nvSpPr>
        <p:spPr>
          <a:xfrm>
            <a:off x="1549809" y="311014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1ABC9C">
              <a:alpha val="80000"/>
            </a:srgbClr>
          </a:solidFill>
          <a:ln>
            <a:noFill/>
          </a:ln>
        </p:spPr>
      </p:sp>
      <p:sp>
        <p:nvSpPr>
          <p:cNvPr id="37" name="Legend 37"/>
          <p:cNvSpPr txBox="1"/>
          <p:nvPr/>
        </p:nvSpPr>
        <p:spPr>
          <a:xfrm>
            <a:off x="1796697" y="3064424"/>
            <a:ext cx="1496771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Зарплаты и связанные начисления</a:t>
            </a:r>
            <a:endParaRPr lang="ru-RU" sz="1500"/>
          </a:p>
        </p:txBody>
      </p:sp>
      <p:sp>
        <p:nvSpPr>
          <p:cNvPr id="38" name="Share 38"/>
          <p:cNvSpPr txBox="1"/>
          <p:nvPr/>
        </p:nvSpPr>
        <p:spPr>
          <a:xfrm>
            <a:off x="3293468" y="306442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2C3E50"/>
                </a:solidFill>
                <a:latin typeface="Noto Sans"/>
                <a:cs typeface="Noto Sans"/>
              </a:rPr>
              <a:t>35%</a:t>
            </a:r>
            <a:endParaRPr lang="ru-RU" sz="1500"/>
          </a:p>
        </p:txBody>
      </p:sp>
      <p:sp>
        <p:nvSpPr>
          <p:cNvPr id="39" name="Swatch 39"/>
          <p:cNvSpPr/>
          <p:nvPr/>
        </p:nvSpPr>
        <p:spPr>
          <a:xfrm>
            <a:off x="1549809" y="391659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1ABC9C">
              <a:alpha val="64000"/>
            </a:srgbClr>
          </a:solidFill>
          <a:ln>
            <a:noFill/>
          </a:ln>
        </p:spPr>
      </p:sp>
      <p:sp>
        <p:nvSpPr>
          <p:cNvPr id="40" name="Legend 40"/>
          <p:cNvSpPr txBox="1"/>
          <p:nvPr/>
        </p:nvSpPr>
        <p:spPr>
          <a:xfrm>
            <a:off x="1796697" y="3870874"/>
            <a:ext cx="1496771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Аренда</a:t>
            </a:r>
            <a:endParaRPr lang="ru-RU" sz="1500"/>
          </a:p>
        </p:txBody>
      </p:sp>
      <p:sp>
        <p:nvSpPr>
          <p:cNvPr id="41" name="Share 41"/>
          <p:cNvSpPr txBox="1"/>
          <p:nvPr/>
        </p:nvSpPr>
        <p:spPr>
          <a:xfrm>
            <a:off x="3293468" y="387087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2C3E50"/>
                </a:solidFill>
                <a:latin typeface="Noto Sans"/>
                <a:cs typeface="Noto Sans"/>
              </a:rPr>
              <a:t>15%</a:t>
            </a:r>
            <a:endParaRPr lang="ru-RU" sz="1500"/>
          </a:p>
        </p:txBody>
      </p:sp>
      <p:sp>
        <p:nvSpPr>
          <p:cNvPr id="42" name="Swatch 42"/>
          <p:cNvSpPr/>
          <p:nvPr/>
        </p:nvSpPr>
        <p:spPr>
          <a:xfrm>
            <a:off x="4108213" y="230369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1ABC9C">
              <a:alpha val="50000"/>
            </a:srgbClr>
          </a:solidFill>
          <a:ln>
            <a:noFill/>
          </a:ln>
        </p:spPr>
      </p:sp>
      <p:sp>
        <p:nvSpPr>
          <p:cNvPr id="43" name="Legend 43"/>
          <p:cNvSpPr txBox="1"/>
          <p:nvPr/>
        </p:nvSpPr>
        <p:spPr>
          <a:xfrm>
            <a:off x="4355101" y="2257974"/>
            <a:ext cx="1496771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Коммунальные услуги</a:t>
            </a:r>
            <a:endParaRPr lang="ru-RU" sz="1500"/>
          </a:p>
        </p:txBody>
      </p:sp>
      <p:sp>
        <p:nvSpPr>
          <p:cNvPr id="44" name="Share 44"/>
          <p:cNvSpPr txBox="1"/>
          <p:nvPr/>
        </p:nvSpPr>
        <p:spPr>
          <a:xfrm>
            <a:off x="5851872" y="225797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2C3E50"/>
                </a:solidFill>
                <a:latin typeface="Noto Sans"/>
                <a:cs typeface="Noto Sans"/>
              </a:rPr>
              <a:t>3%</a:t>
            </a:r>
            <a:endParaRPr lang="ru-RU" sz="1500"/>
          </a:p>
        </p:txBody>
      </p:sp>
      <p:sp>
        <p:nvSpPr>
          <p:cNvPr id="45" name="Swatch 45"/>
          <p:cNvSpPr/>
          <p:nvPr/>
        </p:nvSpPr>
        <p:spPr>
          <a:xfrm>
            <a:off x="4108213" y="288154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1ABC9C">
              <a:alpha val="38000"/>
            </a:srgbClr>
          </a:solidFill>
          <a:ln>
            <a:noFill/>
          </a:ln>
        </p:spPr>
      </p:sp>
      <p:sp>
        <p:nvSpPr>
          <p:cNvPr id="46" name="Legend 46"/>
          <p:cNvSpPr txBox="1"/>
          <p:nvPr/>
        </p:nvSpPr>
        <p:spPr>
          <a:xfrm>
            <a:off x="4355101" y="2835824"/>
            <a:ext cx="1496771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Маркетинг</a:t>
            </a:r>
            <a:endParaRPr lang="ru-RU" sz="1500"/>
          </a:p>
        </p:txBody>
      </p:sp>
      <p:sp>
        <p:nvSpPr>
          <p:cNvPr id="47" name="Share 47"/>
          <p:cNvSpPr txBox="1"/>
          <p:nvPr/>
        </p:nvSpPr>
        <p:spPr>
          <a:xfrm>
            <a:off x="5851872" y="283582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2C3E50"/>
                </a:solidFill>
                <a:latin typeface="Noto Sans"/>
                <a:cs typeface="Noto Sans"/>
              </a:rPr>
              <a:t>3%</a:t>
            </a:r>
            <a:endParaRPr lang="ru-RU" sz="1500"/>
          </a:p>
        </p:txBody>
      </p:sp>
      <p:sp>
        <p:nvSpPr>
          <p:cNvPr id="48" name="Swatch 48"/>
          <p:cNvSpPr/>
          <p:nvPr/>
        </p:nvSpPr>
        <p:spPr>
          <a:xfrm>
            <a:off x="4108213" y="323079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2C3E50">
              <a:alpha val="22000"/>
            </a:srgbClr>
          </a:solidFill>
          <a:ln>
            <a:noFill/>
          </a:ln>
        </p:spPr>
      </p:sp>
      <p:sp>
        <p:nvSpPr>
          <p:cNvPr id="49" name="Legend 49"/>
          <p:cNvSpPr txBox="1"/>
          <p:nvPr/>
        </p:nvSpPr>
        <p:spPr>
          <a:xfrm>
            <a:off x="4355101" y="3185074"/>
            <a:ext cx="1496771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2C3E50"/>
                </a:solidFill>
                <a:latin typeface="Noto Sans"/>
                <a:cs typeface="Noto Sans"/>
              </a:rPr>
              <a:t>Другие операционные расходы</a:t>
            </a:r>
            <a:endParaRPr lang="ru-RU" sz="1500"/>
          </a:p>
        </p:txBody>
      </p:sp>
      <p:sp>
        <p:nvSpPr>
          <p:cNvPr id="50" name="Share 50"/>
          <p:cNvSpPr txBox="1"/>
          <p:nvPr/>
        </p:nvSpPr>
        <p:spPr>
          <a:xfrm>
            <a:off x="5851872" y="3185074"/>
            <a:ext cx="50994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1" dirty="0">
                <a:solidFill>
                  <a:srgbClr val="2C3E50"/>
                </a:solidFill>
                <a:latin typeface="Noto Sans"/>
                <a:cs typeface="Noto Sans"/>
              </a:rPr>
              <a:t>4%</a:t>
            </a:r>
            <a:endParaRPr lang="ru-RU" sz="1500"/>
          </a:p>
        </p:txBody>
      </p:sp>
      <p:cxnSp>
        <p:nvCxnSpPr>
          <p:cNvPr id="51" name="Line 51"/>
          <p:cNvCxnSpPr/>
          <p:nvPr/>
        </p:nvCxnSpPr>
        <p:spPr>
          <a:xfrm>
            <a:off x="6591922" y="2115282"/>
            <a:ext cx="0" cy="1195070"/>
          </a:xfrm>
          <a:prstGeom prst="line">
            <a:avLst/>
          </a:prstGeom>
          <a:ln w="12700">
            <a:solidFill>
              <a:srgbClr val="1ABC9C"/>
            </a:solidFill>
          </a:ln>
        </p:spPr>
      </p:cxnSp>
      <p:sp>
        <p:nvSpPr>
          <p:cNvPr id="52" name="Takeaway 52"/>
          <p:cNvSpPr txBox="1"/>
          <p:nvPr/>
        </p:nvSpPr>
        <p:spPr>
          <a:xfrm>
            <a:off x="6833857" y="2115282"/>
            <a:ext cx="2883866" cy="119507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37490" indent="-237490">
              <a:lnSpc>
                <a:spcPct val="100000"/>
              </a:lnSpc>
              <a:spcAft>
                <a:spcPts val="1050"/>
              </a:spcAft>
              <a:buClr>
                <a:srgbClr val="18A303"/>
              </a:buClr>
              <a:buFont typeface="Arial"/>
              <a:buChar char="•"/>
            </a:pPr>
            <a:r>
              <a:rPr lang="ru-RU" sz="1700" b="0" dirty="0">
                <a:solidFill>
                  <a:srgbClr val="2C3E50"/>
                </a:solidFill>
                <a:latin typeface="Noto Sans"/>
                <a:cs typeface="Noto Sans"/>
              </a:rPr>
              <a:t>Общие расходы — 780 000 рублей</a:t>
            </a:r>
            <a:endParaRPr lang="ru-RU" sz="1700"/>
          </a:p>
          <a:p>
            <a:pPr algn="l" marL="237490" indent="-237490">
              <a:lnSpc>
                <a:spcPct val="100000"/>
              </a:lnSpc>
              <a:spcAft>
                <a:spcPts val="1050"/>
              </a:spcAft>
              <a:buClr>
                <a:srgbClr val="18A303"/>
              </a:buClr>
              <a:buFont typeface="Arial"/>
              <a:buChar char="•"/>
            </a:pPr>
            <a:r>
              <a:rPr lang="ru-RU" sz="1700" b="0" dirty="0">
                <a:solidFill>
                  <a:srgbClr val="2C3E50"/>
                </a:solidFill>
                <a:latin typeface="Noto Sans"/>
                <a:cs typeface="Noto Sans"/>
              </a:rPr>
              <a:t>Продукты и зарплаты — больше трети расходов</a:t>
            </a:r>
            <a:endParaRPr lang="ru-RU" sz="1700"/>
          </a:p>
        </p:txBody>
      </p:sp>
      <p:sp>
        <p:nvSpPr>
          <p:cNvPr id="53" name="Conclusion bar 53"/>
          <p:cNvSpPr/>
          <p:nvPr/>
        </p:nvSpPr>
        <p:spPr>
          <a:xfrm>
            <a:off x="362902" y="4388944"/>
            <a:ext cx="38100" cy="232664"/>
          </a:xfrm>
          <a:prstGeom prst="rect">
            <a:avLst/>
          </a:prstGeom>
          <a:solidFill>
            <a:srgbClr val="18A303"/>
          </a:solidFill>
          <a:ln>
            <a:noFill/>
          </a:ln>
        </p:spPr>
      </p:sp>
      <p:sp>
        <p:nvSpPr>
          <p:cNvPr id="54" name="Conclusion 54"/>
          <p:cNvSpPr txBox="1"/>
          <p:nvPr/>
        </p:nvSpPr>
        <p:spPr>
          <a:xfrm>
            <a:off x="573722" y="4363036"/>
            <a:ext cx="9144001" cy="284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00" b="1" dirty="0">
                <a:solidFill>
                  <a:srgbClr val="2C3E50"/>
                </a:solidFill>
                <a:latin typeface="Noto Sans"/>
                <a:cs typeface="Noto Sans"/>
              </a:rPr>
              <a:t>Операционная прибыль — </a:t>
            </a:r>
            <a:r>
              <a:rPr lang="ru-RU" sz="1700" b="1" dirty="0">
                <a:solidFill>
                  <a:srgbClr val="0369A3"/>
                </a:solidFill>
                <a:latin typeface="Noto Sans"/>
                <a:cs typeface="Noto Sans"/>
              </a:rPr>
              <a:t>120 000 рублей</a:t>
            </a:r>
            <a:endParaRPr lang="ru-RU" sz="1700"/>
          </a:p>
        </p:txBody>
      </p:sp>
      <p:sp>
        <p:nvSpPr>
          <p:cNvPr id="55" name="Footnote 55"/>
          <p:cNvSpPr txBox="1"/>
          <p:nvPr/>
        </p:nvSpPr>
        <p:spPr>
          <a:xfrm>
            <a:off x="362902" y="4813971"/>
            <a:ext cx="9354821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dirty="0">
                <a:solidFill>
                  <a:srgbClr val="2C3E50"/>
                </a:solidFill>
                <a:latin typeface="Noto Sans"/>
                <a:cs typeface="Noto Sans"/>
              </a:rPr>
              <a:t>Налоги, проценты по кредитам и амортизация в упрощенной модели не учитываются</a:t>
            </a:r>
            <a:endParaRPr lang="ru-RU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Midnightblue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2026-09-27T15:01:08Z</dcterms:created>
  <dc:creator/>
  <dc:description>This work is licensed under a Creative Commons 0 License.
It makes use of the works of Jun NOGATA.</dc:description>
  <dc:language>ru-RU</dc:language>
  <cp:lastModifiedBy/>
  <cp:revision>1</cp:revision>
  <dc:subject/>
  <dc:title>Midnightblue</dc:title>
</cp:coreProperties>
</file>