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0" r:id="rId19"/>
    <p:sldId id="268" r:id="rId25"/>
    <p:sldId id="372" r:id="rId14"/>
    <p:sldId id="371" r:id="rId17"/>
    <p:sldId id="261" r:id="rId20"/>
    <p:sldId id="262" r:id="rId21"/>
    <p:sldId id="263" r:id="rId22"/>
    <p:sldId id="266" r:id="rId23"/>
    <p:sldId id="264" r:id="rId24"/>
    <p:sldId id="326" r:id="rId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 — капитан и ML-инженер, отвечал за архитектуру и разработку сервиса. Ярослав 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каждую неделю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 — команда «Рекрут 2». Задача № 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 — Артём Воронин, ML-инженер. Нас двое, оба из «Газпром автоматизации», Москва. Суть решения: любой шаблон PowerPoint и текст на входе — три редактируемые презентации в стиле этого шаблона за одну-три минуты. Уникальность: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 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 — ручная работа. Модели хорошо пишут текст, но не соблюдают дизайн-систему. А сам шаблон — это десятки слайдов-образцов без инструкции, как строить новые.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прогон. Сначала шаблон VK Tech из датасета: три варианта за 85 секунд. Затем шаблон, которого сервис никогда не видел: загружаем файл, вставляем тот же текст — три варианта за 65 секунд, оценки качества 100 · 100 · 100. Видео этого прогона без монтажа и ускорения —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один и тот же текст фитнес-студии в трёх шаблонах VK и трёх вариантах вёрстки — девять презентаций. Содержание одно, подача разная: структурный, визуальный и компактный варианты. Все девять получили 100 из 100 по проверке качества.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Сорок одна детерминированная проверка работает по данным файла: координаты, размеры, цвета, шрифты. Две модельные — по картинке слайда и тексту презентации. Найденные проблемы исправляются автоматически с откатом, а пользователь видит замечания прямо на слайде и сам решает, что исправить.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Эффективность. Три варианта на шаблонах VK собираются за 113–175 секунд при лимите в 5 минут; на незнакомом шаблоне из видео — за 65 секунд. Все девять демо-презентаций получили 100 из 100, у проекта 2 035 автотестов, сервис принимает 12 форматов шаблонов.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правил: справа — один и тот же план в чужих шаблонах. Числа не выдумываются. Три варианта собираются за одну-три минуты.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 — конфигурация уже готова, добавляем генерацию изображений, развиваем второй сценарий — улучшение готовой презентации, и готовы к пилоту на шаблонах VK Tech и к интеграции через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 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  <a:ln>
            <a:noFill/>
          </a:ln>
          <a:effectLst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826.png"/><Relationship Id="rId4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4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835.jpg"/><Relationship Id="rId4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6.jpg"/><Relationship Id="rId4" Type="http://schemas.openxmlformats.org/officeDocument/2006/relationships/image" Target="../media/image837.jpg"/><Relationship Id="rId5" Type="http://schemas.openxmlformats.org/officeDocument/2006/relationships/image" Target="../media/image838.jpg"/><Relationship Id="rId6" Type="http://schemas.openxmlformats.org/officeDocument/2006/relationships/image" Target="../media/image839.jpg"/><Relationship Id="rId7" Type="http://schemas.openxmlformats.org/officeDocument/2006/relationships/image" Target="../media/image840.jpg"/><Relationship Id="rId8" Type="http://schemas.openxmlformats.org/officeDocument/2006/relationships/image" Target="../media/image841.jpg"/><Relationship Id="rId9" Type="http://schemas.openxmlformats.org/officeDocument/2006/relationships/image" Target="../media/image842.jpg"/><Relationship Id="rId10" Type="http://schemas.openxmlformats.org/officeDocument/2006/relationships/image" Target="../media/image843.jpg"/><Relationship Id="rId11" Type="http://schemas.openxmlformats.org/officeDocument/2006/relationships/image" Target="../media/image844.jpg"/><Relationship Id="rId1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image" Target="../media/image845.jpg"/><Relationship Id="rId5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831.jpg"/><Relationship Id="rId4" Type="http://schemas.openxmlformats.org/officeDocument/2006/relationships/image" Target="../media/image832.jpg"/><Relationship Id="rId5" Type="http://schemas.openxmlformats.org/officeDocument/2006/relationships/image" Target="../media/image833.jpg"/><Relationship Id="rId6" Type="http://schemas.openxmlformats.org/officeDocument/2006/relationships/notesSlide" Target="../notesSlides/notesSlide8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37F5FAA-C312-4795-96DC-2C14BF0B8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</a:t>
            </a:fld>
            <a:endParaRPr lang="ru-RU" dirty="0"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6DBDB-F473-4DB4-8034-C555ECD03C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100000" y="-38100000"/>
            <a:ext cx="2016723" cy="454025"/>
          </a:xfrm>
        </p:spPr>
        <p:txBody>
          <a:bodyPr/>
          <a:lstStyle/>
          <a:p/>
        </p:txBody>
      </p:sp>
      <p:pic>
        <p:nvPicPr>
          <p:cNvPr id="22" name="Picture 21" descr="logo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787400"/>
            <a:ext cx="3299908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800" y="19050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lang="ru-RU">
                <a:solidFill>
                  <a:srgbClr val="FFFFFF"/>
                </a:solidFill>
                <a:latin typeface="Montserrat Black"/>
              </a:rPr>
              <a:t>СПАСИБО!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" y="312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lang="ru-RU">
                <a:solidFill>
                  <a:srgbClr val="FFFFFF"/>
                </a:solidFill>
                <a:latin typeface="Montserrat"/>
              </a:rPr>
              <a:t>Verstka — цифровой дизайнер презентаций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900" y="3810000"/>
            <a:ext cx="4572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900" y="38100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lang="ru-RU">
                <a:solidFill>
                  <a:srgbClr val="520978"/>
                </a:solidFill>
                <a:latin typeface="Montserrat"/>
              </a:rPr>
              <a:t>github.com/hl0pch1k/verstka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900" y="4724400"/>
            <a:ext cx="965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Команда «Рекрут 2» · Артём Воронин · @hl0pch1k · +7 916 935 88 85</a:t>
            </a:r>
          </a:p>
          <a:p>
            <a:pPr algn="l">
              <a:lnSpc>
                <a:spcPct val="130000"/>
              </a:lnSpc>
            </a:pPr>
            <a:r>
              <a:rPr sz="1500" b="0" lang="ru-RU">
                <a:solidFill>
                  <a:srgbClr val="FFFFFF"/>
                </a:solidFill>
                <a:latin typeface="Montserrat"/>
              </a:rPr>
              <a:t>Код, документация, демо-презентации и видео — в репозитории</a:t>
            </a:r>
          </a:p>
        </p:txBody>
      </p:sp>
    </p:spTree>
    <p:extLst>
      <p:ext uri="{BB962C8B-B14F-4D97-AF65-F5344CB8AC3E}">
        <p14:creationId xmlns:p14="http://schemas.microsoft.com/office/powerpoint/2010/main" val="379205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 4 VK Tech «Цифровой дизайнер презентаций»</a:t>
            </a:r>
          </a:p>
          <a:p>
            <a:pPr indent="268288"/>
            <a:r>
              <a:rPr lang="ru-RU"/>
              <a:t>Решение 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" y="535493"/>
            <a:ext cx="3229680" cy="67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а не макетов. Ни одного выдуманного числа. Проверка качества встроена в пайплайн.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 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Verstka берёт любой шаблон PowerPoint и текст и меньше чем за 3 минуты собирает три редактируемые презентации в стиле этого шаблона.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04600" y="6350000"/>
            <a:ext cx="558800" cy="355600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  <a:latin typeface="Montserrat"/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  <a:latin typeface="Montserrat"/>
            </a:endParaRPr>
          </a:p>
        </p:txBody>
      </p:sp>
      <p:pic>
        <p:nvPicPr>
          <p:cNvPr id="19" name="Picture 18" descr="about_ban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4706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1935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1935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175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9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4034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4033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  <p:pic>
        <p:nvPicPr>
          <p:cNvPr id="59" name="Picture 58" descr="photo_art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71" y="1816054"/>
            <a:ext cx="1722566" cy="15529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pic>
        <p:nvPicPr>
          <p:cNvPr id="60" name="Picture 59" descr="photo_yarosla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141" y="1826554"/>
            <a:ext cx="1722566" cy="1542401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06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Мы работаем в «Газпром автоматизации» и каждую неделю готовим отчётные презентации: текст пишется за час, а оформление по фирменному шаблону съедает полдня. На ЛЦТ пришли сделать инструмент, которым будем пользоваться сами.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9906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В реальных шаблонах 95 % фигур — не плейсхолдеры, поэтому единицей разбора стал слайд-образец. Модели «дописывают» цифры — поэтому каждое число сверяем с текстом до и после вёрстки. Чтобы не подстроиться под датасет, каждую правку проверяем на 87 чужих шаблонах.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06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11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600" dirty="0">
                <a:solidFill>
                  <a:schemeClr val="tx1"/>
                </a:solidFill>
              </a:rPr>
              <a:t>Агент на открытых моделях до 35B: аналитик, дизайнер каждого слайда, критик и правка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6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6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Второй сценарий: проверить и улучшить готовую презентацию по правилам шаблона</a:t>
            </a:r>
          </a:p>
          <a:p>
            <a:r>
              <a:rPr lang="ru-RU" sz="16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600" dirty="0">
                <a:solidFill>
                  <a:schemeClr val="tx1"/>
                </a:solidFill>
              </a:rPr>
              <a:t>Пилот на шаблонах VK Tech, затем 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56067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13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4154271" cy="381000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4" name="Picture 23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  <a:latin typeface="Montserrat"/>
              </a:rPr>
              <a:pPr/>
              <a:t>16</a:t>
            </a:fld>
            <a:endParaRPr lang="ru-RU" dirty="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2284071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2284071" cy="2797928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233741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2337416" cy="2797928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2268537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2268537" cy="2797928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2263553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2263553" cy="2797928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20700" y="1168400"/>
            <a:ext cx="7747000" cy="48387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emo_bi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1270000"/>
            <a:ext cx="7543800" cy="4635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470900" y="11684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99500" y="1371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25 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9500" y="19304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шаблон VK Tech в видео: три варианта по 10 слайдов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0900" y="28448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9500" y="30480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 мин 5 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9500" y="36068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незнакомый шаблон SlidesCarnival: три варианта по 10 слайдов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70900" y="4521200"/>
            <a:ext cx="3200400" cy="1485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9500" y="47244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· 100 · 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9500" y="528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оценки проверки качества в обоих прогонах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700" y="6121400"/>
            <a:ext cx="774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FFFFFF"/>
                </a:solidFill>
                <a:latin typeface="Montserrat"/>
              </a:rPr>
              <a:t>Живой сервис, один дубль без монтажа и ускорения — видео в репозитории: docs/video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18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-38100000" y="-38100000"/>
            <a:ext cx="3866856" cy="423628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-38100000" y="-38100000"/>
            <a:ext cx="3866856" cy="403756"/>
          </a:xfrm>
        </p:spPr>
        <p:txBody>
          <a:bodyPr/>
          <a:lstStyle/>
          <a:p/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-38100000" y="-38100000"/>
            <a:ext cx="3866856" cy="403913"/>
          </a:xfrm>
        </p:spPr>
        <p:txBody>
          <a:bodyPr/>
          <a:lstStyle/>
          <a:p/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-38100000" y="-38100000"/>
            <a:ext cx="3866856" cy="672075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-38100000" y="-38100000"/>
            <a:ext cx="771003" cy="423628"/>
          </a:xfrm>
        </p:spPr>
        <p:txBody>
          <a:bodyPr/>
          <a:lstStyle/>
          <a:p/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-38100000" y="-38100000"/>
            <a:ext cx="771003" cy="403756"/>
          </a:xfrm>
        </p:spPr>
        <p:txBody>
          <a:bodyPr/>
          <a:lstStyle/>
          <a:p/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-38100000" y="-38100000"/>
            <a:ext cx="771003" cy="403913"/>
          </a:xfrm>
        </p:spPr>
        <p:txBody>
          <a:bodyPr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0700" y="11938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Оформление съедает больше времени, чем содержание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25400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1900" y="25146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Часы ручной работы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28448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подобрать макет, подвинуть блоки, перекрасить диаграмму в фирменный цвет</a:t>
            </a:r>
          </a:p>
        </p:txBody>
      </p:sp>
      <p:sp>
        <p:nvSpPr>
          <p:cNvPr id="28" name="Oval 27"/>
          <p:cNvSpPr/>
          <p:nvPr/>
        </p:nvSpPr>
        <p:spPr>
          <a:xfrm>
            <a:off x="520700" y="37846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1900" y="37592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ИИ не держит стиль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1900" y="40894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модели пишут текст, но ломают шрифты, палитру и сетку компании</a:t>
            </a:r>
          </a:p>
        </p:txBody>
      </p:sp>
      <p:sp>
        <p:nvSpPr>
          <p:cNvPr id="31" name="Oval 30"/>
          <p:cNvSpPr/>
          <p:nvPr/>
        </p:nvSpPr>
        <p:spPr>
          <a:xfrm>
            <a:off x="520700" y="5029200"/>
            <a:ext cx="508000" cy="5080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900" y="5003800"/>
            <a:ext cx="4191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Шаблон — не инструкция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1900" y="533400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в реальных шаблонах 95 % фигур — не плейсхолдеры: неясно, как строить слайд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9000" y="1320800"/>
            <a:ext cx="5702300" cy="4165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pl_grid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47800"/>
            <a:ext cx="5448300" cy="3911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69000" y="5638800"/>
            <a:ext cx="57023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lang="ru-RU">
                <a:solidFill>
                  <a:srgbClr val="5E5670"/>
                </a:solidFill>
                <a:latin typeface="Montserrat"/>
              </a:rPr>
              <a:t>Шаблон VK Tech: 54 слайда-образца — и ни одного правила, как собрать из них новый слайд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19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8100000" y="-38100000"/>
          </a:xfrm>
          <a:prstGeom prst="roundRect">
            <a:avLst>
              <a:gd name="adj" fmla="val 6127"/>
            </a:avLst>
          </a:prstGeo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38100000" y="-38100000"/>
          </a:xfrm>
          <a:prstGeom prst="roundRect">
            <a:avLst>
              <a:gd name="adj" fmla="val 11783"/>
            </a:avLst>
          </a:prstGeo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8100000" y="-38100000"/>
          </a:xfrm>
          <a:prstGeom prst="roundRect">
            <a:avLst>
              <a:gd name="adj" fmla="val 7254"/>
            </a:avLst>
          </a:prstGeom>
        </p:spPr>
        <p:txBody>
          <a:bodyPr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/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00" y="1066800"/>
            <a:ext cx="1115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lang="ru-RU">
                <a:solidFill>
                  <a:srgbClr val="310F53"/>
                </a:solidFill>
                <a:latin typeface="Montserrat"/>
              </a:rPr>
              <a:t>Один текст × три шаблона VK × три варианта = </a:t>
            </a:r>
            <a:r>
              <a:rPr sz="1500" b="1" lang="ru-RU">
                <a:solidFill>
                  <a:srgbClr val="FF0053"/>
                </a:solidFill>
                <a:latin typeface="Montserrat"/>
              </a:rPr>
              <a:t>9 презентаций</a:t>
            </a:r>
            <a:r>
              <a:rPr sz="1500" b="0" lang="ru-RU">
                <a:solidFill>
                  <a:srgbClr val="310F53"/>
                </a:solidFill>
                <a:latin typeface="Montserrat"/>
              </a:rPr>
              <a:t>, у всех — 100 из 100 по проверке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67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Структурный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99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Визуальный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1422400"/>
            <a:ext cx="2616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lang="ru-RU">
                <a:solidFill>
                  <a:srgbClr val="520978"/>
                </a:solidFill>
                <a:latin typeface="Montserrat"/>
              </a:rPr>
              <a:t>Компактный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0300" y="17272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Tech</a:t>
            </a:r>
          </a:p>
        </p:txBody>
      </p:sp>
      <p:pic>
        <p:nvPicPr>
          <p:cNvPr id="16" name="Picture 15" descr="g_vktech_structu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7" name="Picture 16" descr="g_vktech_visu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9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18" name="Picture 17" descr="g_vktech_compa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100" y="17272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1130300" y="33020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Education</a:t>
            </a:r>
          </a:p>
        </p:txBody>
      </p:sp>
      <p:pic>
        <p:nvPicPr>
          <p:cNvPr id="20" name="Picture 19" descr="g_education_structure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7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1" name="Picture 20" descr="g_education_visu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99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2" name="Picture 21" descr="g_education_compac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100" y="33020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1130300" y="4876800"/>
            <a:ext cx="1524000" cy="147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VK WorkSpace</a:t>
            </a:r>
          </a:p>
        </p:txBody>
      </p:sp>
      <p:pic>
        <p:nvPicPr>
          <p:cNvPr id="24" name="Picture 23" descr="g_workspace_structure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067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5" name="Picture 24" descr="g_workspace_visu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9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  <p:pic>
        <p:nvPicPr>
          <p:cNvPr id="26" name="Picture 25" descr="g_workspace_compac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3100" y="4876800"/>
            <a:ext cx="2616200" cy="1473200"/>
          </a:xfrm>
          <a:prstGeom prst="rect">
            <a:avLst/>
          </a:prstGeom>
          <a:ln w="9525">
            <a:solidFill>
              <a:srgbClr val="D8CDE6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38100000" y="-38100000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-38100000" y="-38100000"/>
            <a:ext cx="5460470" cy="600112"/>
          </a:xfrm>
          <a:noFill/>
          <a:ln>
            <a:noFill/>
          </a:ln>
        </p:spPr>
        <p:txBody>
          <a:bodyPr/>
          <a:lstStyle/>
          <a:p/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20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700" y="1193800"/>
            <a:ext cx="52070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500" y="14224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FF0053"/>
                </a:solidFill>
                <a:latin typeface="Montserrat Black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9500" y="15748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детерминированная проверка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координаты, размеры, цвета, шрифты, связь с макетами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2616200"/>
            <a:ext cx="1524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lang="ru-RU">
                <a:solidFill>
                  <a:srgbClr val="520978"/>
                </a:solidFill>
                <a:latin typeface="Montserrat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27686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ru-RU">
                <a:solidFill>
                  <a:srgbClr val="310F53"/>
                </a:solidFill>
                <a:latin typeface="Montserrat"/>
              </a:rPr>
              <a:t>модельные</a:t>
            </a:r>
          </a:p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11 вопросов ТЗ по картинке слайда и связность презентации</a:t>
            </a:r>
          </a:p>
        </p:txBody>
      </p:sp>
      <p:sp>
        <p:nvSpPr>
          <p:cNvPr id="20" name="Oval 19"/>
          <p:cNvSpPr/>
          <p:nvPr/>
        </p:nvSpPr>
        <p:spPr>
          <a:xfrm>
            <a:off x="825500" y="40386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640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Автоисправление до двух итераций, с откатом, если стало хуже</a:t>
            </a:r>
          </a:p>
        </p:txBody>
      </p:sp>
      <p:sp>
        <p:nvSpPr>
          <p:cNvPr id="22" name="Oval 21"/>
          <p:cNvSpPr/>
          <p:nvPr/>
        </p:nvSpPr>
        <p:spPr>
          <a:xfrm>
            <a:off x="825500" y="46990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7244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Замечания видны прямо на слайде</a:t>
            </a:r>
          </a:p>
        </p:txBody>
      </p:sp>
      <p:sp>
        <p:nvSpPr>
          <p:cNvPr id="24" name="Oval 23"/>
          <p:cNvSpPr/>
          <p:nvPr/>
        </p:nvSpPr>
        <p:spPr>
          <a:xfrm>
            <a:off x="825500" y="5359400"/>
            <a:ext cx="355600" cy="355600"/>
          </a:xfrm>
          <a:prstGeom prst="ellipse">
            <a:avLst/>
          </a:prstGeom>
          <a:solidFill>
            <a:srgbClr val="FF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0053"/>
                </a:solidFill>
                <a:latin typeface="Montserrat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384800"/>
            <a:ext cx="4191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ru-RU">
                <a:solidFill>
                  <a:srgbClr val="1C1D22"/>
                </a:solidFill>
                <a:latin typeface="Montserrat"/>
              </a:rPr>
              <a:t>Исправления — на выбор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1219200"/>
            <a:ext cx="5638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Проверки по категориям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2500" y="1676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Целостность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2500" y="2006600"/>
            <a:ext cx="2921000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0500" y="19304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2500" y="22606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заглушки, пустые и пропавшие слайды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2500" y="25908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Вёрстка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2500" y="2921000"/>
            <a:ext cx="2677583" cy="2032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7083" y="28448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2500" y="31750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выход за край, наложения, переполнение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2500" y="35052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Шаблон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2500" y="3835400"/>
            <a:ext cx="1703916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416" y="37592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2500" y="40894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шрифты, кегли, палитра, макет, контраст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2500" y="44196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Контент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2500" y="4749800"/>
            <a:ext cx="1460500" cy="203200"/>
          </a:xfrm>
          <a:prstGeom prst="roundRect">
            <a:avLst>
              <a:gd name="adj" fmla="val 50000"/>
            </a:avLst>
          </a:prstGeom>
          <a:solidFill>
            <a:srgbClr val="FF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0000" y="46736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2500" y="50038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каждое число сверено с текстом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2500" y="53340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lang="ru-RU">
                <a:solidFill>
                  <a:srgbClr val="310F53"/>
                </a:solidFill>
                <a:latin typeface="Montserrat"/>
              </a:rPr>
              <a:t>Плотность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2500" y="5664200"/>
            <a:ext cx="1217083" cy="2032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76583" y="5588000"/>
            <a:ext cx="63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lang="ru-RU">
                <a:solidFill>
                  <a:srgbClr val="310F53"/>
                </a:solidFill>
                <a:latin typeface="Montserrat Black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2500" y="5918200"/>
            <a:ext cx="5638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пункты, таблицы, заполнение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latin typeface="Montserrat"/>
              </a:rPr>
              <a:pPr/>
              <a:t>21</a:t>
            </a:fld>
            <a:endParaRPr lang="ru-RU" dirty="0"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779602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869021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848014"/>
          </a:xfrm>
        </p:spPr>
        <p:txBody>
          <a:bodyPr/>
          <a:lstStyle/>
          <a:p/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7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≤ 3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три варианта на шаблонах VK, лимит — 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28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60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100 из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проверка качества у всех 9 демо-презентаций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9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1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2 035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1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автотестов; запуск проверяется на Ubuntu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7000" y="1168400"/>
            <a:ext cx="26543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0200" y="1346200"/>
            <a:ext cx="22479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lang="ru-RU">
                <a:solidFill>
                  <a:srgbClr val="FF0053"/>
                </a:solidFill>
                <a:latin typeface="Montserrat Black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0" y="1879600"/>
            <a:ext cx="22479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форматов шаблонов: pptx, potx, ppt, odp, thmx…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2794000"/>
            <a:ext cx="11150600" cy="3429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2971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Время трёх вариантов от нажатия «Создать»,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500" y="3251200"/>
            <a:ext cx="812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lang="ru-RU">
                <a:solidFill>
                  <a:srgbClr val="5E5670"/>
                </a:solidFill>
                <a:latin typeface="Montserrat"/>
              </a:rPr>
              <a:t>шаблоны VK — демо-текст на 12 слайдов; незнакомый шаблон — прогон из видео, 10 слайдов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00" y="3632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Tech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9500" y="3683000"/>
            <a:ext cx="2678853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5353" y="3632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113 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" y="4203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Education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9500" y="4254500"/>
            <a:ext cx="34374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3966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145 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7752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lang="ru-RU">
                <a:solidFill>
                  <a:srgbClr val="1C1D22"/>
                </a:solidFill>
                <a:latin typeface="Montserrat"/>
              </a:rPr>
              <a:t>VK WorkSpace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9500" y="4826000"/>
            <a:ext cx="4148666" cy="254000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95166" y="47752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175 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500" y="5346700"/>
            <a:ext cx="2667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1" lang="ru-RU">
                <a:solidFill>
                  <a:srgbClr val="1C1D22"/>
                </a:solidFill>
                <a:latin typeface="Montserrat"/>
              </a:rPr>
              <a:t>Незнакомый шаблон (видео)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19500" y="5397500"/>
            <a:ext cx="1540933" cy="254000"/>
          </a:xfrm>
          <a:prstGeom prst="roundRect">
            <a:avLst>
              <a:gd name="adj" fmla="val 50000"/>
            </a:avLst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87433" y="5346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ru-RU">
                <a:solidFill>
                  <a:srgbClr val="310F53"/>
                </a:solidFill>
                <a:latin typeface="Montserrat Black"/>
              </a:rPr>
              <a:t>65 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731500" y="3403600"/>
            <a:ext cx="0" cy="2590800"/>
          </a:xfrm>
          <a:prstGeom prst="line">
            <a:avLst/>
          </a:prstGeom>
          <a:ln w="19050">
            <a:solidFill>
              <a:srgbClr val="5209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3009900"/>
            <a:ext cx="271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150" b="1" lang="ru-RU">
                <a:solidFill>
                  <a:srgbClr val="520978"/>
                </a:solidFill>
                <a:latin typeface="Montserrat"/>
              </a:rPr>
              <a:t>лимит — 300 с, 5 минут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  <a:latin typeface="Montserrat"/>
              </a:rPr>
              <a:pPr/>
              <a:t>22</a:t>
            </a:fld>
            <a:endParaRPr lang="ru-RU" dirty="0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6" name="Oval 15"/>
          <p:cNvSpPr/>
          <p:nvPr/>
        </p:nvSpPr>
        <p:spPr>
          <a:xfrm>
            <a:off x="520700" y="12446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1219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Любой шаблон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15621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87 чужих шаблонов в регрессионном корпусе, средняя оценка 99</a:t>
            </a:r>
          </a:p>
        </p:txBody>
      </p:sp>
      <p:sp>
        <p:nvSpPr>
          <p:cNvPr id="19" name="Oval 18"/>
          <p:cNvSpPr/>
          <p:nvPr/>
        </p:nvSpPr>
        <p:spPr>
          <a:xfrm>
            <a:off x="520700" y="24892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2463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Ни одного выдуманного числа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28067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каждое число сверено с текстом до и после вёрстки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20700" y="37338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6500" y="3708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Быстро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40513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три варианта меньше чем за 3 минуты при лимите 5 минут</a:t>
            </a:r>
          </a:p>
        </p:txBody>
      </p:sp>
      <p:sp>
        <p:nvSpPr>
          <p:cNvPr id="25" name="Oval 24"/>
          <p:cNvSpPr/>
          <p:nvPr/>
        </p:nvSpPr>
        <p:spPr>
          <a:xfrm>
            <a:off x="520700" y="4978400"/>
            <a:ext cx="482600" cy="482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>
                <a:solidFill>
                  <a:srgbClr val="FFFFFF"/>
                </a:solidFill>
                <a:latin typeface="Montserrat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6500" y="49530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Проверено и прозрачно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6500" y="5295900"/>
            <a:ext cx="431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lang="ru-RU">
                <a:solidFill>
                  <a:srgbClr val="5E5670"/>
                </a:solidFill>
                <a:latin typeface="Montserrat"/>
              </a:rPr>
              <a:t>41 + 2 проверки, «Почему так» для каждого слайда, 2 035 автотестов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69000" y="1625600"/>
            <a:ext cx="5702300" cy="37719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hird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752600"/>
            <a:ext cx="5448300" cy="3517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69000" y="5549900"/>
            <a:ext cx="5702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lang="ru-RU">
                <a:solidFill>
                  <a:srgbClr val="5E5670"/>
                </a:solidFill>
                <a:latin typeface="Montserrat"/>
              </a:rPr>
              <a:t>Один план в чужих шаблонах: таблица, место под фото, два графика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  <a:latin typeface="Montserrat"/>
              </a:rPr>
              <a:pPr/>
              <a:t>23</a:t>
            </a:fld>
            <a:endParaRPr lang="ru-RU" dirty="0">
              <a:solidFill>
                <a:schemeClr val="accent6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-38100000" y="-38100000"/>
            <a:ext cx="4790314" cy="642164"/>
          </a:xfrm>
        </p:spPr>
        <p:txBody>
          <a:bodyPr/>
          <a:lstStyle/>
          <a:p/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lang="ru-RU">
                <a:solidFill>
                  <a:srgbClr val="310F53"/>
                </a:solidFill>
                <a:latin typeface="Montserrat Black"/>
              </a:rPr>
              <a:t>Дальше — пилот на инфраструктуре VK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62100" y="2971800"/>
            <a:ext cx="9067800" cy="0"/>
          </a:xfrm>
          <a:prstGeom prst="line">
            <a:avLst/>
          </a:prstGeom>
          <a:ln w="317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573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5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Инференс VK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Qwen3.8-27B, конфигурация готова</a:t>
            </a:r>
          </a:p>
        </p:txBody>
      </p:sp>
      <p:sp>
        <p:nvSpPr>
          <p:cNvPr id="21" name="Oval 20"/>
          <p:cNvSpPr/>
          <p:nvPr/>
        </p:nvSpPr>
        <p:spPr>
          <a:xfrm>
            <a:off x="35242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76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654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Изображения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54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генерация внутри слайдов — задача со звёздочкой</a:t>
            </a:r>
          </a:p>
        </p:txBody>
      </p:sp>
      <p:sp>
        <p:nvSpPr>
          <p:cNvPr id="25" name="Oval 24"/>
          <p:cNvSpPr/>
          <p:nvPr/>
        </p:nvSpPr>
        <p:spPr>
          <a:xfrm>
            <a:off x="57912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546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24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Готовые презентации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24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проверка и улучшение по правилам шаблона</a:t>
            </a:r>
          </a:p>
        </p:txBody>
      </p:sp>
      <p:sp>
        <p:nvSpPr>
          <p:cNvPr id="29" name="Oval 28"/>
          <p:cNvSpPr/>
          <p:nvPr/>
        </p:nvSpPr>
        <p:spPr>
          <a:xfrm>
            <a:off x="805815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155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935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Пилот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935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шаблоны и сценарии VK Tech</a:t>
            </a:r>
          </a:p>
        </p:txBody>
      </p:sp>
      <p:sp>
        <p:nvSpPr>
          <p:cNvPr id="33" name="Oval 32"/>
          <p:cNvSpPr/>
          <p:nvPr/>
        </p:nvSpPr>
        <p:spPr>
          <a:xfrm>
            <a:off x="10325100" y="2667000"/>
            <a:ext cx="609600" cy="609600"/>
          </a:xfrm>
          <a:prstGeom prst="ellipse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Montserrat Black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8500" y="3606800"/>
            <a:ext cx="2082800" cy="22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6300" y="3911600"/>
            <a:ext cx="1727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lang="ru-RU">
                <a:solidFill>
                  <a:srgbClr val="310F53"/>
                </a:solidFill>
                <a:latin typeface="Montserrat"/>
              </a:rPr>
              <a:t>Интеграции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6300" y="4648200"/>
            <a:ext cx="17272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lang="ru-RU">
                <a:solidFill>
                  <a:srgbClr val="5E5670"/>
                </a:solidFill>
                <a:latin typeface="Montserrat"/>
              </a:rPr>
              <a:t>API для корпоративных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4600" y="6350000"/>
            <a:ext cx="558800" cy="355600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rgbClr val="FFFFFF"/>
                </a:solidFill>
                <a:latin typeface="Montserrat"/>
              </a:rPr>
              <a:pPr/>
              <a:t>24</a:t>
            </a:fld>
            <a:endParaRPr lang="ru-RU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-38100000" y="-38100000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/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700" y="1193800"/>
            <a:ext cx="11150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lang="ru-RU">
                <a:solidFill>
                  <a:srgbClr val="FFFFFF"/>
                </a:solidFill>
                <a:latin typeface="Montserrat Black"/>
              </a:rPr>
              <a:t>Шаблон — набор правил. По ним агент собирает слайды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7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roach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239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Разбор шаблона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палитра с ролями цветов, шрифты, сетка, логотипы и образцы слайдов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53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roach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3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5085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81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Агент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85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открытые модели: аналитик, дизайнер каждого слайда, критик; каждое число — только из текста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9900" y="2133600"/>
            <a:ext cx="3581400" cy="4089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63500" dir="5400000" algn="t" rotWithShape="0">
              <a:srgbClr val="310F5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roach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260600"/>
            <a:ext cx="3327400" cy="2235200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8293100" y="46736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lang="ru-RU">
                <a:solidFill>
                  <a:srgbClr val="FF0053"/>
                </a:solidFill>
                <a:latin typeface="Montserrat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2700" y="4724400"/>
            <a:ext cx="2565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ru-RU">
                <a:solidFill>
                  <a:srgbClr val="310F53"/>
                </a:solidFill>
                <a:latin typeface="Montserrat"/>
              </a:rPr>
              <a:t>Вёрстка и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100" y="5156200"/>
            <a:ext cx="3175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ru-RU">
                <a:solidFill>
                  <a:srgbClr val="5E5670"/>
                </a:solidFill>
                <a:latin typeface="Montserrat"/>
              </a:rPr>
              <a:t>три варианта по правилам шаблона и 41 + 2 проверки качества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