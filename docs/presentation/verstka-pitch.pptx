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0" r:id="rId19"/>
    <p:sldId id="268" r:id="rId25"/>
    <p:sldId id="372" r:id="rId14"/>
    <p:sldId id="371" r:id="rId17"/>
    <p:sldId id="261" r:id="rId20"/>
    <p:sldId id="262" r:id="rId21"/>
    <p:sldId id="263" r:id="rId22"/>
    <p:sldId id="266" r:id="rId23"/>
    <p:sldId id="264" r:id="rId24"/>
    <p:sldId id="326" r:id="rId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Артём — капитан и ML-инженер, отвечал за архитектуру и разработку сервиса. Ярослав — тестирование и обратная связь по результатам.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сами каждую неделю делаем отчётные презентации, поэтому задача VK Tech попала в точку. Главные трудности: шаблоны почти не используют плейсхолдеры, модели склонны выдумывать цифры, и легко подогнать решение под три шаблона. На каждую ответили инженерно: разбор по слайдам-образцам, сверка чисел, корпус из 87 шаблонов.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 — команда «Рекрут 2». Задача № 4 от VK Tech: цифровой дизайнер презентаций. Наше решение называется Verstka.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Капитан — Артём Воронин, ML-инженер. Нас двое, оба из «Газпром автоматизации», Москва. Суть решения: любой шаблон PowerPoint и текст на входе — три редактируемые презентации в стиле этого шаблона за одну-три минуты. Уникальность: шаблон читается как набор правил, числа не выдумываются, проверка качества встроена в пайплайн.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Технически: разбираем шаблон в дизайн-систему, агент на открытых моделях планирует слайды, компилятор сверяет числа, вёрстка собирает нативные объекты PowerPoint, аудит проверяет результат. С точки зрения бизнеса — это минуты вместо часов на каждую презентацию и путь к пилоту на инференсе VK.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неделю в компании десятки презентаций. Текст пишет автор, а оформление по шаблону — ручная работа. Модели хорошо пишут текст, но не соблюдают дизайн-систему. А сам шаблон — это десятки слайдов-образцов без инструкции, как строить новые.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подход в трёх шагах. Сначала читаем шаблон как набор правил. Затем агент из открытых моделей планирует каждый слайд, опираясь только на текст пользователя. И наконец вёрстка по дизайн-системе шаблона с проверкой качества внутри пайплайна.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Пайплайн из трёх частей. Разбор шаблона выполняется один раз и кэшируется: получаем manifest.json с дизайн-системой. План: агент читает бриф и манифест, компилятор сверяет каждое число. Сборка: подбор макета с объяснимым баллом, вёрстка, проверка качества и экспорт. Каждый шаг оставляет файл, который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прогон. Сначала шаблон VK Tech из датасета: три варианта за 101 секунд. Затем шаблон, которого сервис никогда не видел: загружаем файл, вставляем тот же текст — три варианта за 87 секунд, оценки качества 100 · 100 · 100. Видео этого прогона без монтажа и ускорения —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на данных кейса: один и тот же текст фитнес-студии в трёх шаблонах VK и трёх вариантах вёрстки — девять презентаций. Содержание одно, подача разная: структурный, визуальный и компактный варианты. Все девять получили 100 из 100 по проверке качества.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 встроен в пайплайн. Сорок одна детерминированная проверка работает по данным файла: координаты, размеры, цвета, шрифты. Две модельные — по картинке слайда и тексту презентации. Найденные проблемы исправляются автоматически с откатом, а пользователь видит замечания прямо на слайде и сам решает, что исправить.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Эффективность. Три варианта на шаблонах VK собираются за 113–175 секунд при лимите в 5 минут; на незнакомом шаблоне из видео — за 87 секунд. Все девять демо-презентаций получили 100 из 100, у проекта 2 035 автотестов, сервис принимает 12 форматов шаблонов.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Выводы. Verstka работает с любым шаблоном, потому что читает его как набор правил: справа — один и тот же план в чужих шаблонах. Числа не выдумываются. Три варианта собираются за одну-три минуты. Всё проверено: проверки внутри пайплайна, объяснение каждого решения, больше двух тысяч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Дальше: переходим на инференс VK — конфигурация уже готова, добавляем генерацию изображений, развиваем второй сценарий — улучшение готовой презентации, и готовы к пилоту на шаблонах VK Tech и к интеграции через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Код, документация, девять демо-презентаций и видео прогона — в открытом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826.png"/><Relationship Id="rId4" Type="http://schemas.openxmlformats.org/officeDocument/2006/relationships/notesSlide" Target="../notesSlides/notes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8.jpg"/><Relationship Id="rId5" Type="http://schemas.openxmlformats.org/officeDocument/2006/relationships/image" Target="../media/image8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4.png"/><Relationship Id="rId4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835.jpg"/><Relationship Id="rId4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830.jpg"/><Relationship Id="rId4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836.jpg"/><Relationship Id="rId4" Type="http://schemas.openxmlformats.org/officeDocument/2006/relationships/image" Target="../media/image837.jpg"/><Relationship Id="rId5" Type="http://schemas.openxmlformats.org/officeDocument/2006/relationships/image" Target="../media/image838.jpg"/><Relationship Id="rId6" Type="http://schemas.openxmlformats.org/officeDocument/2006/relationships/image" Target="../media/image839.jpg"/><Relationship Id="rId7" Type="http://schemas.openxmlformats.org/officeDocument/2006/relationships/image" Target="../media/image840.jpg"/><Relationship Id="rId8" Type="http://schemas.openxmlformats.org/officeDocument/2006/relationships/image" Target="../media/image841.jpg"/><Relationship Id="rId9" Type="http://schemas.openxmlformats.org/officeDocument/2006/relationships/image" Target="../media/image842.jpg"/><Relationship Id="rId10" Type="http://schemas.openxmlformats.org/officeDocument/2006/relationships/image" Target="../media/image843.jpg"/><Relationship Id="rId11" Type="http://schemas.openxmlformats.org/officeDocument/2006/relationships/image" Target="../media/image844.jpg"/><Relationship Id="rId1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image" Target="../media/image845.jpg"/><Relationship Id="rId5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831.jpg"/><Relationship Id="rId4" Type="http://schemas.openxmlformats.org/officeDocument/2006/relationships/image" Target="../media/image832.jpg"/><Relationship Id="rId5" Type="http://schemas.openxmlformats.org/officeDocument/2006/relationships/image" Target="../media/image833.jpg"/><Relationship Id="rId6" Type="http://schemas.openxmlformats.org/officeDocument/2006/relationships/notesSlide" Target="../notesSlides/notesSlide8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37F5FAA-C312-4795-96DC-2C14BF0B86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latin typeface="Montserrat"/>
              </a:rPr>
              <a:pPr/>
              <a:t>2</a:t>
            </a:fld>
            <a:endParaRPr lang="ru-RU" dirty="0">
              <a:latin typeface="Montserra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6DBDB-F473-4DB4-8034-C555ECD03C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100000" y="-38100000"/>
            <a:ext cx="2016723" cy="454025"/>
          </a:xfrm>
        </p:spPr>
        <p:txBody>
          <a:bodyPr/>
          <a:lstStyle/>
          <a:p/>
        </p:txBody>
      </p:sp>
      <p:pic>
        <p:nvPicPr>
          <p:cNvPr id="22" name="Picture 21" descr="logo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787400"/>
            <a:ext cx="3299908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800" y="1905000"/>
            <a:ext cx="889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000" b="0" lang="ru-RU">
                <a:solidFill>
                  <a:srgbClr val="FFFFFF"/>
                </a:solidFill>
                <a:latin typeface="Montserrat Black"/>
              </a:rPr>
              <a:t>СПАСИБО!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900" y="3124200"/>
            <a:ext cx="889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lang="ru-RU">
                <a:solidFill>
                  <a:srgbClr val="FFFFFF"/>
                </a:solidFill>
                <a:latin typeface="Montserrat"/>
              </a:rPr>
              <a:t>Verstka — цифровой дизайнер презентаций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900" y="3810000"/>
            <a:ext cx="4572000" cy="609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900" y="38100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 lang="ru-RU">
                <a:solidFill>
                  <a:srgbClr val="520978"/>
                </a:solidFill>
                <a:latin typeface="Montserrat"/>
              </a:rPr>
              <a:t>github.com/hl0pch1k/verstka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900" y="4724400"/>
            <a:ext cx="965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Команда «Рекрут 2» · Артём Воронин · @hl0pch1k · +7 916 935 88 85</a:t>
            </a:r>
          </a:p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Код, документация, демо-презентации и видео — в репозитории</a:t>
            </a:r>
          </a:p>
        </p:txBody>
      </p:sp>
    </p:spTree>
    <p:extLst>
      <p:ext uri="{BB962C8B-B14F-4D97-AF65-F5344CB8AC3E}">
        <p14:creationId xmlns:p14="http://schemas.microsoft.com/office/powerpoint/2010/main" val="379205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РЕКРУТ 2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№ 4 VK Tech «Цифровой дизайнер презентаций»</a:t>
            </a:r>
          </a:p>
          <a:p>
            <a:pPr indent="268288"/>
            <a:r>
              <a:rPr lang="ru-RU"/>
              <a:t>Решение — Verstka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" y="535493"/>
            <a:ext cx="3229680" cy="67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Шаблон читается как набор правил, а не макетов. Ни одного выдуманного числа. Проверка качества встроена в пайплайн.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Воронин Артём Тимофеевич, ML-инженер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коллеги из «Газпром автоматизации». Делаем инструмент, которого сами ждали в работе: презентация в фирменном стиле за минуты вместо часов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Verstka берёт любой шаблон PowerPoint и текст и меньше чем за 3 минуты собирает три редактируемые презентации в стиле этого шаблона.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04600" y="6350000"/>
            <a:ext cx="558800" cy="355600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  <a:latin typeface="Montserrat"/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  <a:latin typeface="Montserrat"/>
            </a:endParaRPr>
          </a:p>
        </p:txBody>
      </p:sp>
      <p:pic>
        <p:nvPicPr>
          <p:cNvPr id="19" name="Picture 18" descr="about_ban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47068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19352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Участник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 и обратная связь по результатам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@Y_murik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+7 916 543 20 60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19351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Ярослав Мурехин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175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9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4034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ML-инженер: архитектура и разработка Verstka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@hl0pch1k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+7 916 935 88 85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4033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Артём Воронин</a:t>
            </a:r>
          </a:p>
        </p:txBody>
      </p:sp>
      <p:pic>
        <p:nvPicPr>
          <p:cNvPr id="59" name="Picture 58" descr="photo_art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071" y="1816054"/>
            <a:ext cx="1722566" cy="1552901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pic>
        <p:nvPicPr>
          <p:cNvPr id="60" name="Picture 59" descr="photo_yarosla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141" y="1826554"/>
            <a:ext cx="1722566" cy="1542401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10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99060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Мы работаем в «Газпром автоматизации» и каждую неделю готовим отчётные презентации: текст пишется за час, а оформление по фирменному шаблону съедает полдня. На ЛЦТ пришли сделать инструмент, которым будем пользоваться сами.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9906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В реальных шаблонах 95 % фигур — не плейсхолдеры, поэтому единицей разбора стал слайд-образец. Модели «дописывают» цифры — поэтому каждое число сверяем с текстом до и после вёрстки. Чтобы не подстроиться под датасет, каждую правку проверяем на 87 чужих шаблонах.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06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Это редкая задача, где ИИ должен не писать текст, а соблюдать чужую дизайн-систему. Зацепил инженерный вызов: прочитать любой шаблон как набор правил и не придумать ни одного числа.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11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Разбор шаблона в manifest.json: палитра с ролями цветов, шкала кеглей, сетка и поля, логотипы и колонтитулы, образцы слайдов</a:t>
            </a:r>
          </a:p>
          <a:p>
            <a:r>
              <a:rPr lang="ru-RU" sz="1600" dirty="0">
                <a:solidFill>
                  <a:schemeClr val="tx1"/>
                </a:solidFill>
              </a:rPr>
              <a:t>Агент на открытых моделях до 35B: аналитик, дизайнер каждого слайда, критик и правка</a:t>
            </a:r>
          </a:p>
          <a:p>
            <a:r>
              <a:rPr lang="ru-RU" sz="1600" dirty="0">
                <a:solidFill>
                  <a:schemeClr val="tx1"/>
                </a:solidFill>
              </a:rPr>
              <a:t>Каждое число сверяется с текстом до и после вёрстки</a:t>
            </a:r>
          </a:p>
          <a:p>
            <a:r>
              <a:rPr lang="ru-RU" sz="1600" dirty="0">
                <a:solidFill>
                  <a:schemeClr val="tx1"/>
                </a:solidFill>
              </a:rPr>
              <a:t>Нативные объекты PowerPoint: диаграммы, таблицы, карточки из фигур шаблона; экспорт в PPTX, PDF, HTML</a:t>
            </a:r>
          </a:p>
          <a:p>
            <a:r>
              <a:rPr lang="ru-RU" sz="1600" dirty="0">
                <a:solidFill>
                  <a:schemeClr val="tx1"/>
                </a:solidFill>
              </a:rPr>
              <a:t>41 + 2 проверки качества внутри пайплайна, автоисправление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Презентация в фирменном стиле за минуты вместо часов ручной вёрстки</a:t>
            </a:r>
          </a:p>
          <a:p>
            <a:r>
              <a:rPr lang="ru-RU" sz="1600" dirty="0">
                <a:solidFill>
                  <a:schemeClr val="tx1"/>
                </a:solidFill>
              </a:rPr>
              <a:t>Питчи, отчёты и коммерческие предложения строго по корпоративному шаблону</a:t>
            </a:r>
          </a:p>
          <a:p>
            <a:r>
              <a:rPr lang="ru-RU" sz="1600" dirty="0">
                <a:solidFill>
                  <a:schemeClr val="tx1"/>
                </a:solidFill>
              </a:rPr>
              <a:t>Второй сценарий: проверить и улучшить готовую презентацию по правилам шаблона</a:t>
            </a:r>
          </a:p>
          <a:p>
            <a:r>
              <a:rPr lang="ru-RU" sz="1600" dirty="0">
                <a:solidFill>
                  <a:schemeClr val="tx1"/>
                </a:solidFill>
              </a:rPr>
              <a:t>Внедрение на инференсе VK: API для корпоративных систем, интеграция в рабочие сервисы</a:t>
            </a:r>
          </a:p>
          <a:p>
            <a:r>
              <a:rPr lang="ru-RU" sz="1600" dirty="0">
                <a:solidFill>
                  <a:schemeClr val="tx1"/>
                </a:solidFill>
              </a:rPr>
              <a:t>Пилот на шаблонах VK Tech, затем — на шаблонах клиентов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56067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13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19100"/>
            <a:ext cx="4154271" cy="381000"/>
          </a:xfrm>
        </p:spPr>
        <p:txBody>
          <a:bodyPr wrap="none">
            <a:noAutofit/>
          </a:bodyPr>
          <a:lstStyle/>
          <a:p>
            <a:r>
              <a:rPr/>
              <a:t>АРХИТЕКТУРА ПАЙПЛАЙНА</a:t>
            </a:r>
          </a:p>
        </p:txBody>
      </p:sp>
      <p:pic>
        <p:nvPicPr>
          <p:cNvPr id="24" name="Picture 23" descr="pipeline_p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404" y="1456656"/>
            <a:ext cx="8901191" cy="474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16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2284071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2284071" cy="2797928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233741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2337416" cy="2797928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2268537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2268537" cy="2797928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2263553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2263553" cy="2797928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ДЕМО-ПРОГОН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20700" y="1168400"/>
            <a:ext cx="7747000" cy="48387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emo_bi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1270000"/>
            <a:ext cx="7543800" cy="4635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470900" y="11684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99500" y="1371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41 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9500" y="19304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шаблон VK Tech в видео: три варианта по 10 слайдов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0900" y="28448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9500" y="30480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27 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99500" y="36068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незнакомый шаблон SlidesCarnival: три варианта по 10 слайдов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70900" y="45212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9500" y="47244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· 100 · 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9500" y="528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оценки проверки качества в обоих прогонах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0700" y="6121400"/>
            <a:ext cx="774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FFFFFF"/>
                </a:solidFill>
                <a:latin typeface="Montserrat"/>
              </a:rPr>
              <a:t>Живой сервис, один дубль без монтажа и ускорения — видео в репозитории: docs/video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ПРОБЛЕМА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0700" y="11938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Оформление съедает больше времени, чем содержание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25400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1900" y="25146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Часы ручной работы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1900" y="28448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подобрать макет, подвинуть блоки, перекрасить диаграмму в фирменный цвет</a:t>
            </a:r>
          </a:p>
        </p:txBody>
      </p:sp>
      <p:sp>
        <p:nvSpPr>
          <p:cNvPr id="28" name="Oval 27"/>
          <p:cNvSpPr/>
          <p:nvPr/>
        </p:nvSpPr>
        <p:spPr>
          <a:xfrm>
            <a:off x="520700" y="37846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1900" y="37592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ИИ не держит стиль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1900" y="40894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модели пишут текст, но ломают шрифты, палитру и сетку компании</a:t>
            </a:r>
          </a:p>
        </p:txBody>
      </p:sp>
      <p:sp>
        <p:nvSpPr>
          <p:cNvPr id="31" name="Oval 30"/>
          <p:cNvSpPr/>
          <p:nvPr/>
        </p:nvSpPr>
        <p:spPr>
          <a:xfrm>
            <a:off x="520700" y="50292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1900" y="50038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Шаблон — не инструкция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1900" y="53340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в реальных шаблонах 95 % фигур — не плейсхолдеры: неясно, как строить слайд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69000" y="1320800"/>
            <a:ext cx="5702300" cy="4165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pl_grid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47800"/>
            <a:ext cx="5448300" cy="3911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969000" y="5638800"/>
            <a:ext cx="57023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lang="ru-RU">
                <a:solidFill>
                  <a:srgbClr val="5E5670"/>
                </a:solidFill>
                <a:latin typeface="Montserrat"/>
              </a:rPr>
              <a:t>Шаблон VK Tech: 54 слайда-образца — и ни одного правила, как собрать из них новый слайд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19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8100000" y="-38100000"/>
          </a:xfrm>
          <a:prstGeom prst="roundRect">
            <a:avLst>
              <a:gd name="adj" fmla="val 6127"/>
            </a:avLst>
          </a:prstGeo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38100000" y="-38100000"/>
          </a:xfrm>
          <a:prstGeom prst="roundRect">
            <a:avLst>
              <a:gd name="adj" fmla="val 11783"/>
            </a:avLst>
          </a:prstGeo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38100000" y="-38100000"/>
          </a:xfrm>
          <a:prstGeom prst="roundRect">
            <a:avLst>
              <a:gd name="adj" fmla="val 7254"/>
            </a:avLst>
          </a:prstGeom>
        </p:spPr>
        <p:txBody>
          <a:bodyPr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/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700" y="1066800"/>
            <a:ext cx="1115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lang="ru-RU">
                <a:solidFill>
                  <a:srgbClr val="310F53"/>
                </a:solidFill>
                <a:latin typeface="Montserrat"/>
              </a:rPr>
              <a:t>Один текст × три шаблона VK × три варианта = </a:t>
            </a:r>
            <a:r>
              <a:rPr sz="1500" b="1" lang="ru-RU">
                <a:solidFill>
                  <a:srgbClr val="FF0053"/>
                </a:solidFill>
                <a:latin typeface="Montserrat"/>
              </a:rPr>
              <a:t>9 презентаций</a:t>
            </a:r>
            <a:r>
              <a:rPr sz="1500" b="0" lang="ru-RU">
                <a:solidFill>
                  <a:srgbClr val="310F53"/>
                </a:solidFill>
                <a:latin typeface="Montserrat"/>
              </a:rPr>
              <a:t>, у всех — 100 из 100 по проверке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67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Структурный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99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Визуальный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1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Компактный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0300" y="17272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Tech</a:t>
            </a:r>
          </a:p>
        </p:txBody>
      </p:sp>
      <p:pic>
        <p:nvPicPr>
          <p:cNvPr id="16" name="Picture 15" descr="g_vktech_structu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7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7" name="Picture 16" descr="g_vktech_visu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9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8" name="Picture 17" descr="g_vktech_compac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31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1130300" y="33020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Education</a:t>
            </a:r>
          </a:p>
        </p:txBody>
      </p:sp>
      <p:pic>
        <p:nvPicPr>
          <p:cNvPr id="20" name="Picture 19" descr="g_education_structure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67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1" name="Picture 20" descr="g_education_visu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99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2" name="Picture 21" descr="g_education_compac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31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1130300" y="48768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WorkSpace</a:t>
            </a:r>
          </a:p>
        </p:txBody>
      </p:sp>
      <p:pic>
        <p:nvPicPr>
          <p:cNvPr id="24" name="Picture 23" descr="g_workspace_structured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067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5" name="Picture 24" descr="g_workspace_visua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9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6" name="Picture 25" descr="g_workspace_compact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31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7944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20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3473043" cy="376138"/>
          </a:xfrm>
        </p:spPr>
        <p:txBody>
          <a:bodyPr wrap="none">
            <a:noAutofit/>
          </a:bodyPr>
          <a:lstStyle/>
          <a:p>
            <a:r>
              <a:rPr/>
              <a:t>АРХИТЕКТУРА АУДИТА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700" y="1193800"/>
            <a:ext cx="52070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00" y="14224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FF0053"/>
                </a:solidFill>
                <a:latin typeface="Montserrat Black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9500" y="15748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детерминированная проверка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координаты, размеры, цвета, шрифты, связь с макетами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26162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520978"/>
                </a:solidFill>
                <a:latin typeface="Montserrat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9500" y="27686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модельные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11 вопросов ТЗ по картинке слайда и связность презентации</a:t>
            </a:r>
          </a:p>
        </p:txBody>
      </p:sp>
      <p:sp>
        <p:nvSpPr>
          <p:cNvPr id="20" name="Oval 19"/>
          <p:cNvSpPr/>
          <p:nvPr/>
        </p:nvSpPr>
        <p:spPr>
          <a:xfrm>
            <a:off x="825500" y="40386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40640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Автоисправление до двух итераций, с откатом, если стало хуже</a:t>
            </a:r>
          </a:p>
        </p:txBody>
      </p:sp>
      <p:sp>
        <p:nvSpPr>
          <p:cNvPr id="22" name="Oval 21"/>
          <p:cNvSpPr/>
          <p:nvPr/>
        </p:nvSpPr>
        <p:spPr>
          <a:xfrm>
            <a:off x="825500" y="46990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47244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Замечания видны прямо на слайде</a:t>
            </a:r>
          </a:p>
        </p:txBody>
      </p:sp>
      <p:sp>
        <p:nvSpPr>
          <p:cNvPr id="24" name="Oval 23"/>
          <p:cNvSpPr/>
          <p:nvPr/>
        </p:nvSpPr>
        <p:spPr>
          <a:xfrm>
            <a:off x="825500" y="53594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3848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Исправления — на выбор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2500" y="1219200"/>
            <a:ext cx="5638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Проверки по категориям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2500" y="16764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Целостность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2500" y="2006600"/>
            <a:ext cx="2921000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0500" y="19304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2500" y="22606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заглушки, пустые и пропавшие слайды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2500" y="25908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Вёрстка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2500" y="2921000"/>
            <a:ext cx="2677583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7083" y="28448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2500" y="31750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выход за край, наложения, переполнение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2500" y="35052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Шаблон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2500" y="3835400"/>
            <a:ext cx="1703916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416" y="37592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2500" y="40894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шрифты, кегли, палитра, макет, контраст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2500" y="44196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Контент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2500" y="4749800"/>
            <a:ext cx="1460500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20000" y="46736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2500" y="50038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каждое число сверено с текстом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2500" y="53340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Плотность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2500" y="5664200"/>
            <a:ext cx="1217083" cy="2032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76583" y="55880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2500" y="59182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пункты, таблицы, заполнение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2125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latin typeface="Montserrat"/>
              </a:rPr>
              <a:pPr/>
              <a:t>21</a:t>
            </a:fld>
            <a:endParaRPr lang="ru-RU" dirty="0"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779602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869021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848014"/>
          </a:xfrm>
        </p:spPr>
        <p:txBody>
          <a:bodyPr/>
          <a:lstStyle/>
          <a:p/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14853" cy="376138"/>
          </a:xfrm>
        </p:spPr>
        <p:txBody>
          <a:bodyPr wrap="none">
            <a:noAutofit/>
          </a:bodyPr>
          <a:lstStyle/>
          <a:p>
            <a:r>
              <a:rPr/>
              <a:t>ЭФФЕКТИВНОСТЬ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07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≤ 3 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три варианта на шаблонах VK, лимит — 5 минут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28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60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из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проверка качества у всех 9 демо-презентаций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49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81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2 035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81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автотестов; запуск проверяется на Ubuntu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70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02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02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форматов шаблонов: pptx, potx, ppt, odp, thmx…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0700" y="2794000"/>
            <a:ext cx="11150600" cy="3429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500" y="2971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Время трёх вариантов от нажатия «Создать», секунды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500" y="3251200"/>
            <a:ext cx="812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шаблоны VK — демо-текст на 12 слайдов; незнакомый шаблон — прогон из видео, 10 слайдов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00" y="36322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Tech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19500" y="3683000"/>
            <a:ext cx="2678853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5353" y="36322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113 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" y="42037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Education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19500" y="4254500"/>
            <a:ext cx="34374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3966" y="4203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145 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" y="47752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WorkSpace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9500" y="4826000"/>
            <a:ext cx="41486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95166" y="47752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175 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500" y="53467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1C1D22"/>
                </a:solidFill>
                <a:latin typeface="Montserrat"/>
              </a:rPr>
              <a:t>Незнакомый шаблон (видео)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19500" y="5397500"/>
            <a:ext cx="2062480" cy="2540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8980" y="5346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87 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731500" y="3403600"/>
            <a:ext cx="0" cy="2590800"/>
          </a:xfrm>
          <a:prstGeom prst="line">
            <a:avLst/>
          </a:prstGeom>
          <a:ln w="19050">
            <a:solidFill>
              <a:srgbClr val="5209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37500" y="3009900"/>
            <a:ext cx="271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150" b="1" lang="ru-RU">
                <a:solidFill>
                  <a:srgbClr val="520978"/>
                </a:solidFill>
                <a:latin typeface="Montserrat"/>
              </a:rPr>
              <a:t>лимит — 300 с, 5 минут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22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ВЫВОДЫ</a:t>
            </a:r>
          </a:p>
        </p:txBody>
      </p:sp>
      <p:sp>
        <p:nvSpPr>
          <p:cNvPr id="16" name="Oval 15"/>
          <p:cNvSpPr/>
          <p:nvPr/>
        </p:nvSpPr>
        <p:spPr>
          <a:xfrm>
            <a:off x="520700" y="12446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12192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Любой шаблон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6500" y="15621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87 чужих шаблонов в регрессионном корпусе, средняя оценка 99</a:t>
            </a:r>
          </a:p>
        </p:txBody>
      </p:sp>
      <p:sp>
        <p:nvSpPr>
          <p:cNvPr id="19" name="Oval 18"/>
          <p:cNvSpPr/>
          <p:nvPr/>
        </p:nvSpPr>
        <p:spPr>
          <a:xfrm>
            <a:off x="520700" y="24892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24638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Ни одного выдуманного числа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28067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каждое число сверено с текстом до и после вёрстки</a:t>
            </a:r>
          </a:p>
        </p:txBody>
      </p:sp>
      <p:sp>
        <p:nvSpPr>
          <p:cNvPr id="22" name="Oval 21"/>
          <p:cNvSpPr/>
          <p:nvPr/>
        </p:nvSpPr>
        <p:spPr>
          <a:xfrm>
            <a:off x="520700" y="37338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6500" y="37084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Быстро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40513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три варианта меньше чем за 3 минуты при лимите 5 минут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49784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6500" y="49530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Проверено и прозрачно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6500" y="52959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41 + 2 проверки, «Почему так» для каждого слайда, 2 035 автотестов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69000" y="1625600"/>
            <a:ext cx="5702300" cy="37719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hird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752600"/>
            <a:ext cx="5448300" cy="3517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69000" y="5549900"/>
            <a:ext cx="5702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lang="ru-RU">
                <a:solidFill>
                  <a:srgbClr val="5E5670"/>
                </a:solidFill>
                <a:latin typeface="Montserrat"/>
              </a:rPr>
              <a:t>Один план в чужих шаблонах: таблица, место под фото, два графика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  <a:latin typeface="Montserrat"/>
              </a:rPr>
              <a:pPr/>
              <a:t>23</a:t>
            </a:fld>
            <a:endParaRPr lang="ru-RU" dirty="0">
              <a:solidFill>
                <a:schemeClr val="accent6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ПЛАНЫ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Дальше — пилот на инфраструктуре VK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62100" y="2971800"/>
            <a:ext cx="9067800" cy="0"/>
          </a:xfrm>
          <a:prstGeom prst="line">
            <a:avLst/>
          </a:prstGeom>
          <a:ln w="317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573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7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5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Инференс VK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Qwen3.8-27B, конфигурация готова</a:t>
            </a:r>
          </a:p>
        </p:txBody>
      </p:sp>
      <p:sp>
        <p:nvSpPr>
          <p:cNvPr id="21" name="Oval 20"/>
          <p:cNvSpPr/>
          <p:nvPr/>
        </p:nvSpPr>
        <p:spPr>
          <a:xfrm>
            <a:off x="352425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765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6545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Изображения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545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генерация внутри слайдов — задача со звёздочкой</a:t>
            </a:r>
          </a:p>
        </p:txBody>
      </p:sp>
      <p:sp>
        <p:nvSpPr>
          <p:cNvPr id="25" name="Oval 24"/>
          <p:cNvSpPr/>
          <p:nvPr/>
        </p:nvSpPr>
        <p:spPr>
          <a:xfrm>
            <a:off x="57912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546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24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Готовые презентации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24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проверка и улучшение по правилам шаблона</a:t>
            </a:r>
          </a:p>
        </p:txBody>
      </p:sp>
      <p:sp>
        <p:nvSpPr>
          <p:cNvPr id="29" name="Oval 28"/>
          <p:cNvSpPr/>
          <p:nvPr/>
        </p:nvSpPr>
        <p:spPr>
          <a:xfrm>
            <a:off x="805815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2155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935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Пилот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935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шаблоны и сценарии VK Tech</a:t>
            </a:r>
          </a:p>
        </p:txBody>
      </p:sp>
      <p:sp>
        <p:nvSpPr>
          <p:cNvPr id="33" name="Oval 32"/>
          <p:cNvSpPr/>
          <p:nvPr/>
        </p:nvSpPr>
        <p:spPr>
          <a:xfrm>
            <a:off x="103251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85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663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Интеграции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63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API для корпоративных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rgbClr val="FFFFFF"/>
                </a:solidFill>
                <a:latin typeface="Montserrat"/>
              </a:rPr>
              <a:pPr/>
              <a:t>24</a:t>
            </a:fld>
            <a:endParaRPr lang="ru-RU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ПОДХОД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lang="ru-RU">
                <a:solidFill>
                  <a:srgbClr val="FFFFFF"/>
                </a:solidFill>
                <a:latin typeface="Montserrat Black"/>
              </a:rPr>
              <a:t>Шаблон — набор правил. По ним агент собирает слайды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7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pproach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239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Разбор шаблона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палитра с ролями цветов, шрифты, сетка, логотипы и образцы слайдов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53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roach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23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45085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81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Агент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85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открытые модели: аналитик, дизайнер каждого слайда, критик; каждое число — только из текста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99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pproach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82931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27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Вёрстка и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1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три варианта по правилам шаблона и 41 + 2 проверки качества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