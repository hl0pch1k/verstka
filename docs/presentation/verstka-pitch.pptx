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76" r:id="rId18"/>
    <p:sldId id="377" r:id="rId16"/>
    <p:sldId id="378" r:id="rId1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26" r:id="rId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8" Type="http://schemas.openxmlformats.org/officeDocument/2006/relationships/slide" Target="slides/slide6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Нас двое: Артём Воронин — капитан, архитектура и разработка; Ярослав Мурехин — тестирование и обратная связь.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каждую неделю готовим отчётные презентации и знаем изнутри, сколько времени уходит на оформление. Задача VK Tech — презентация, которая объясняет данные в фирменном стиле, и мы хотим развивать такой сервис вместе с VK.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73 проверки делает программа, из них 15 — для слайдов с данными, ещё 3 — модель по картинке слайда. Ошибки исправляются автоматически, не больше двух кругов, и правка откатывается, если стало хуже.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Мы — команда «Рекрут 2», решение Verstka, кейс № 4 VK Tech. На второй ступени главное — интерпретация данных: сервис не просто вставляет графики, а объясняет, что в 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Verstka собирает из шаблона, текста и файлов с данными три готовые презентации PowerPoint. График выбран по данным, в заголовке — главный вывод с числом, каждое число сверено с файлом.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 входе — шаблон, текст и данные. Система сама выбирает графики и пишет выводы, качество держат 76 проверок, работает на открытых моделях на инфраструктуре VK. Для бизнеса это часы, сэкономленные на каждом отчёте.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Обычно таблица попадает на слайд целиком, заголовок называет тему, а не вывод, оформление расходится с брендом, а на сборку уходят часы. Сверху — как бывает, снизу — тот же файл у Verstka: вывод с числом, оси, единицы,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Verstka сначала разбирается в данных, решает, что и каким графиком показать, и только потом оформляет слайд и проверяет его. Модель понимает текст и пишет выводы, а числа считает и проверяет программа.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Восемь шагов: читает, планирует, сверяет, анализирует, верстает, рисует, проверяет, выгружает. Розовые точки — работа модели, фиолетовые — программы. Правка меняет только нужный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каждого слайда есть окно «Почему так»: что в файле и какие графики подходят, с причинами. Лучший вариант — первым, другой — одной кнопкой. Просьба из текста меняет выбор, большие таблицы сводятся к топ-10.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Семь файлов разной природы из ТЗ: динамика, сравнение, доли, разброс, справочник на 240 строк, ряд с пропусками и текст со встроенной таблицей. Каждый получил свой график и заголовок-вывод.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Одни и те же данные на четырёх разных шаблонах дают тот же вид графика — меняется только стиль: цвета, шрифты и оси берутся из шаблона.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Брендбук принимается в любом виде — PDF, токены, Figma, файл .fig, папка или ZIP. Если бренд и шаблон расходятся, побеждает бренд. База знаний даёт факты: цель — из меморандума, факт — из таблицы.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Готовые презентации на шаблонах VK, ЛЦТ и сторонних; PDF и исходные данные лежат в репозитории, слайды без правок руками.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Правки — словами. Попросили «на слайде 6 добавь картинку: инженеры в серверной» — Помощник перестроил слайд и добавил картинку. Так же работают «покажи таблицей», «короче» и кнопка «Исправить слайд».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Спасибо! Код, примеры и наборы данных — по QR-коду. Готовы ответить на 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варианта презентации с данными собираются за 26–80 секунд при лимите ТЗ 5 минут. 6 098 автотестов, 523 запроса к модели на VK без сбоев, только открытые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Verstka делает презентации, которые объясняют данные: подходит любой шаблон и брендбук, всё быстро, прозрачно и на открытых моделях.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Дальше — пилот в VK Tech, интеграция по API, своя модель картинок VK, ответы на сложные вопросы к данным и разные тексты у вариантов. Хотим развивать Verstka вместе с VK.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/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/>
            </a:r>
          </a:p>
          <a:p>
            <a:pPr lvl="1"/>
            <a:r>
              <a:rPr lang="ru-RU" dirty="0"/>
              <a:t/>
            </a:r>
          </a:p>
          <a:p>
            <a:pPr lvl="2"/>
            <a:r>
              <a:rPr lang="ru-RU" dirty="0"/>
              <a:t/>
            </a:r>
          </a:p>
          <a:p>
            <a:pPr lvl="3"/>
            <a:r>
              <a:rPr lang="ru-RU" dirty="0"/>
              <a:t/>
            </a:r>
          </a:p>
          <a:p>
            <a:pPr lvl="4"/>
            <a:r>
              <a:rPr lang="ru-RU" dirty="0"/>
              <a:t/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6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27.jpg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28.jpg"/><Relationship Id="rId5" Type="http://schemas.openxmlformats.org/officeDocument/2006/relationships/image" Target="../media/image82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Relationship Id="rId10" Type="http://schemas.openxmlformats.org/officeDocument/2006/relationships/image" Target="../media/image21.jpg"/><Relationship Id="rId11" Type="http://schemas.openxmlformats.org/officeDocument/2006/relationships/image" Target="../media/image22.jpg"/><Relationship Id="rId12" Type="http://schemas.openxmlformats.org/officeDocument/2006/relationships/image" Target="../media/image23.jpg"/><Relationship Id="rId13" Type="http://schemas.openxmlformats.org/officeDocument/2006/relationships/image" Target="../media/image24.jpg"/><Relationship Id="rId14" Type="http://schemas.openxmlformats.org/officeDocument/2006/relationships/image" Target="../media/image25.jpg"/><Relationship Id="rId15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Relationship Id="rId10" Type="http://schemas.openxmlformats.org/officeDocument/2006/relationships/image" Target="../media/image37.jpg"/><Relationship Id="rId11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826.png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3.png"/><Relationship Id="rId6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/>
              <a:t>РЕКРУТ 2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/>
              <a:t>Задача № 4 VK Tech «Цифровой дизайнер презентаций»</a:t>
            </a:r>
          </a:p>
          <a:p>
            <a:pPr indent="268288"/>
            <a:r>
              <a:rPr lang="ru-RU"/>
              <a:t>Решение — Verstka · вторая ступень: интерпретация данных</a:t>
            </a:r>
          </a:p>
        </p:txBody>
      </p:sp>
      <p:sp>
        <p:nvSpPr>
          <p:cNvPr id="5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logo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86" y="535493"/>
            <a:ext cx="2576243" cy="671205"/>
          </a:xfrm>
          <a:prstGeom prst="rect">
            <a:avLst/>
          </a:prstGeom>
        </p:spPr>
      </p:pic>
      <p:sp>
        <p:nvSpPr>
          <p:cNvPr id="7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FFFFFF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FFFFF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Сервис понимает данные, а не вставляет таблицы: каждое число сверяется с исходным файлом. Брендбук — в любом виде, даже файлом .fig. Только открытые модели на инфраструктуре VK.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b="0" dirty="0">
                <a:solidFill>
                  <a:schemeClr val="tx1"/>
                </a:solidFill>
              </a:rPr>
              <a:t>Воронин Артём Тимофеевич, ML-инженер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b="0" dirty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r>
              <a:rPr lang="ru-RU" b="0" dirty="0">
                <a:solidFill>
                  <a:schemeClr val="tx1"/>
                </a:solidFill>
              </a:rPr>
              <a:t>коллеги из «Газпром автоматизации». Делаем инструмент, которого сами ждали в работе: презентация в фирменном стиле за минуты вместо часов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b="0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Verstka собирает из шаблона, текста и файлов с данными три готовые презентации PowerPoint. График на каждом слайде выбран по данным, а в заголовке — главный вывод с числом.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02568" y="6345936"/>
            <a:ext cx="557784" cy="356616"/>
          </a:xfrm>
          <a:prstGeom prst="rect">
            <a:avLst/>
          </a:prstGeom>
        </p:spPr>
        <p:txBody>
          <a:bodyPr anchor="ctr" lIns="91440" rIns="91440" tIns="45720" bIns="45720"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2DCC5B9-D646-4B76-891F-6FF4E74E9CB4}" type="slidenum">
              <a:rPr lang="ru-RU" sz="1200" smtClean="0">
                <a:solidFill>
                  <a:srgbClr val="520977"/>
                </a:solidFill>
                <a:latin typeface="Montserrat"/>
              </a:rPr>
              <a:pPr algn="ctr"/>
              <a:t>8</a:t>
            </a:fld>
            <a:endParaRPr lang="ru-RU" sz="1200" dirty="0">
              <a:solidFill>
                <a:srgbClr val="520977"/>
              </a:solidFill>
              <a:latin typeface="Montserrat"/>
            </a:endParaRPr>
          </a:p>
        </p:txBody>
      </p:sp>
      <p:pic>
        <p:nvPicPr>
          <p:cNvPr id="19" name="Picture 18" descr="about_bann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" y="502920"/>
            <a:ext cx="6035040" cy="241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6147068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6319352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Участник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Тестирование и обратная связь по результатам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@Y_murik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+7 916 543 20 60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Газпром автоматизация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6319351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Ярослав Мурехин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841750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FFFFFF"/>
                </a:solidFill>
                <a:latin typeface="Montserrat"/>
              </a:rPr>
              <a:pPr/>
              <a:t>9</a:t>
            </a:fld>
            <a:endParaRPr lang="ru-RU" dirty="0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952656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14034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ML-инженер: архитектура и разработка Verstka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@hl0pch1k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+7 916 935 88 85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Газпром автоматизация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4014033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Артём Воронин</a:t>
            </a:r>
          </a:p>
        </p:txBody>
      </p:sp>
      <p:pic>
        <p:nvPicPr>
          <p:cNvPr id="59" name="Picture 58" descr="photo_art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071" y="1816054"/>
            <a:ext cx="1722566" cy="1552901"/>
          </a:xfrm>
          <a:prstGeom prst="rect">
            <a:avLst/>
          </a:prstGeom>
          <a:ln w="9525">
            <a:solidFill>
              <a:srgbClr val="E4D9EE"/>
            </a:solidFill>
          </a:ln>
        </p:spPr>
      </p:pic>
      <p:pic>
        <p:nvPicPr>
          <p:cNvPr id="60" name="Picture 59" descr="photo_yaroslav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141" y="1826554"/>
            <a:ext cx="1722566" cy="1542401"/>
          </a:xfrm>
          <a:prstGeom prst="rect">
            <a:avLst/>
          </a:prstGeom>
          <a:ln w="9525">
            <a:solidFill>
              <a:srgbClr val="E4D9EE"/>
            </a:solidFill>
          </a:ln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520977"/>
                </a:solidFill>
                <a:latin typeface="Montserrat"/>
              </a:rPr>
              <a:pPr/>
              <a:t>10</a:t>
            </a:fld>
            <a:endParaRPr lang="ru-RU" dirty="0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952656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ИСТОРИЯ КОМАНДЫ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990600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Мы инженеры «Газпром автоматизации» и каждую неделю готовим отчётные презентации, поэтому знаем изнутри, сколько часов уходит на оформление. На ЛЦТ пришли решить эту задачу для пользователей и клиентов VK.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990600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В реальных шаблонах 95 % фигур — не плейсхолдеры, поэтому шаблон разбирается по образцам слайдов. На второй ступени главным стало понимание данных: график и вывод выбираются по самим данным, а каждое число сверяется с таблицей.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990600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Задача VK Tech — не просто написать текст, а собрать презентацию, которая объясняет данные и соблюдает фирменный стиль. Такой сервис экономит часы каждому, кто готовит отчёты, и мы хотим развивать его вместе с VK.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FFFFFF"/>
                </a:solidFill>
                <a:latin typeface="Montserrat"/>
              </a:rPr>
              <a:pPr/>
              <a:t>11</a:t>
            </a:fld>
            <a:endParaRPr lang="ru-RU" dirty="0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chemeClr val="tx1"/>
                </a:solidFill>
              </a:rPr>
              <a:t>На входе — любой шаблон PowerPoint, текст или план, файлы с данными и по желанию брендбук</a:t>
            </a:r>
          </a:p>
          <a:p>
            <a:r>
              <a:rPr lang="ru-RU" sz="1600" dirty="0">
                <a:solidFill>
                  <a:schemeClr val="tx1"/>
                </a:solidFill>
              </a:rPr>
              <a:t>Система разбирает шаблон, сама выбирает график для каждого набора данных и пишет вывод с числом</a:t>
            </a:r>
          </a:p>
          <a:p>
            <a:r>
              <a:rPr lang="ru-RU" sz="1600" dirty="0">
                <a:solidFill>
                  <a:schemeClr val="tx1"/>
                </a:solidFill>
              </a:rPr>
              <a:t>Качество гарантируют 76 автоматических проверок: каждое число сверяется с исходным файлом, ошибки исправляются</a:t>
            </a:r>
          </a:p>
          <a:p>
            <a:r>
              <a:rPr lang="ru-RU" sz="1600" dirty="0">
                <a:solidFill>
                  <a:schemeClr val="tx1"/>
                </a:solidFill>
              </a:rPr>
              <a:t>Работает только на открытых моделях на инференсе VK; результат — файлы PPTX, PDF и HTML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chemeClr val="tx1"/>
                </a:solidFill>
              </a:rPr>
              <a:t>Для аналитиков, менеджеров и всех, кто регулярно готовит отчёты и питчи в корпоративном стиле</a:t>
            </a:r>
          </a:p>
          <a:p>
            <a:r>
              <a:rPr lang="ru-RU" sz="1600" dirty="0">
                <a:solidFill>
                  <a:schemeClr val="tx1"/>
                </a:solidFill>
              </a:rPr>
              <a:t>Снимает часы ручной работы: подбор графиков, сверку чисел и оформление по шаблону</a:t>
            </a:r>
          </a:p>
          <a:p>
            <a:r>
              <a:rPr lang="ru-RU" sz="1600" dirty="0">
                <a:solidFill>
                  <a:schemeClr val="tx1"/>
                </a:solidFill>
              </a:rPr>
              <a:t>Результат — три готовые редактируемые презентации за минуты, с выводами, понятными руководству</a:t>
            </a:r>
          </a:p>
          <a:p>
            <a:r>
              <a:rPr lang="ru-RU" sz="1600" dirty="0">
                <a:solidFill>
                  <a:schemeClr val="tx1"/>
                </a:solidFill>
              </a:rPr>
              <a:t>Внедряется через веб-интерфейс и API на инфраструктуре VK, начиная с пилота на шаблонах VK Tech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750912" cy="620919"/>
          </a:xfrm>
        </p:spPr>
        <p:txBody>
          <a:bodyPr anchor="ctr" wrap="none" lIns="0" rIns="0" tIns="0" bIns="0"/>
          <a:lstStyle/>
          <a:p>
            <a:pPr algn="ctr"/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108960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ПРОБЛЕМА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520977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Слайд должен объяснять данные, а не только показывать</a:t>
            </a:r>
          </a:p>
        </p:txBody>
      </p:sp>
      <p:sp>
        <p:nvSpPr>
          <p:cNvPr id="7" name="Oval 6"/>
          <p:cNvSpPr/>
          <p:nvPr/>
        </p:nvSpPr>
        <p:spPr>
          <a:xfrm>
            <a:off x="521208" y="1920240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975104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Таблица целиком не читается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322576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240 строк на экране — зритель сам ищет главное</a:t>
            </a:r>
          </a:p>
        </p:txBody>
      </p:sp>
      <p:sp>
        <p:nvSpPr>
          <p:cNvPr id="10" name="Oval 9"/>
          <p:cNvSpPr/>
          <p:nvPr/>
        </p:nvSpPr>
        <p:spPr>
          <a:xfrm>
            <a:off x="521208" y="3017520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072384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Заголовок не говорит главного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419856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«Выручка по месяцам» — это тема, а не вывод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" y="4114800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169664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Оформление не по бренду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517136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цвета, шрифты и графики — не из брендбука компании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" y="5212080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5266944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Сборка отнимает часы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5614416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подобрать график, сверить числа и оформить по шаблону — вручную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965960"/>
            <a:ext cx="188366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5E5670"/>
                </a:solidFill>
                <a:latin typeface="Montserrat"/>
              </a:rPr>
              <a:t>Как обычно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304288"/>
            <a:ext cx="1883664" cy="4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таблица вставлена целиком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308538"/>
            <a:ext cx="188366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FF0053"/>
                </a:solidFill>
                <a:latin typeface="Montserrat"/>
              </a:rPr>
              <a:t>Verstka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646866"/>
            <a:ext cx="1883664" cy="719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вывод в заголовке, оси, единицы и источник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5864" y="1920240"/>
            <a:ext cx="3611880" cy="2031683"/>
          </a:xfrm>
          <a:prstGeom prst="rect">
            <a:avLst/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2066544"/>
            <a:ext cx="3246120" cy="22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lang="ru-RU">
                <a:solidFill>
                  <a:srgbClr val="444444"/>
                </a:solidFill>
                <a:latin typeface="Montserrat"/>
              </a:rPr>
              <a:t>Выручка по месяцам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237744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lang="ru-RU">
                <a:solidFill>
                  <a:srgbClr val="555555"/>
                </a:solidFill>
                <a:latin typeface="Montserrat"/>
              </a:rPr>
              <a:t>Месяц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37744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lang="ru-RU">
                <a:solidFill>
                  <a:srgbClr val="555555"/>
                </a:solidFill>
                <a:latin typeface="Montserrat"/>
              </a:rPr>
              <a:t>Выручка, млн 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4472" y="237744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lang="ru-RU">
                <a:solidFill>
                  <a:srgbClr val="555555"/>
                </a:solidFill>
                <a:latin typeface="Montserrat"/>
              </a:rPr>
              <a:t>Клиентов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57032" y="2560320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57032" y="255117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2025-01-01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255117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4472" y="2551176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2610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57032" y="2734056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57032" y="27249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2025-02-01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27249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301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4472" y="272491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2648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57032" y="2907792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57032" y="2898648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2025-03-01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5752" y="2898648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312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34472" y="28986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2702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57032" y="3081528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57032" y="307238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2025-04-01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5752" y="307238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309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34472" y="30723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2741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57032" y="3255264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257032" y="324612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2025-05-01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45752" y="324612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315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34472" y="324612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2786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257032" y="3429000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257032" y="341985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2025-06-01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5752" y="341985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322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34472" y="3419856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2830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57032" y="3677603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999999"/>
                </a:solidFill>
                <a:latin typeface="Montserrat"/>
              </a:rPr>
              <a:t>ещё 15 строк</a:t>
            </a:r>
          </a:p>
        </p:txBody>
      </p:sp>
      <p:pic>
        <p:nvPicPr>
          <p:cNvPr id="53" name="Picture 52" descr="d01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4262818"/>
            <a:ext cx="3611880" cy="2031683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cxnSp>
        <p:nvCxnSpPr>
          <p:cNvPr id="54" name="Connector 53"/>
          <p:cNvCxnSpPr/>
          <p:nvPr/>
        </p:nvCxnSpPr>
        <p:spPr>
          <a:xfrm>
            <a:off x="9861804" y="3988499"/>
            <a:ext cx="0" cy="237743"/>
          </a:xfrm>
          <a:prstGeom prst="line">
            <a:avLst/>
          </a:prstGeom>
          <a:ln w="25400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108960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ПОДХОД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FFFFFF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Verstka сначала понимает данные, потом оформляет слайд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828800"/>
            <a:ext cx="3584448" cy="3493008"/>
          </a:xfrm>
          <a:prstGeom prst="roundRect">
            <a:avLst>
              <a:gd name="adj" fmla="val 471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4389120"/>
            <a:ext cx="3218688" cy="749808"/>
          </a:xfrm>
          <a:prstGeom prst="roundRect">
            <a:avLst>
              <a:gd name="adj" fmla="val 14634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389120"/>
            <a:ext cx="294436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Пример</a:t>
            </a:r>
          </a:p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файл с выручкой за 21 месяц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2252" y="1828800"/>
            <a:ext cx="3584448" cy="3493008"/>
          </a:xfrm>
          <a:prstGeom prst="roundRect">
            <a:avLst>
              <a:gd name="adj" fmla="val 471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5132" y="4389120"/>
            <a:ext cx="3218688" cy="749808"/>
          </a:xfrm>
          <a:prstGeom prst="roundRect">
            <a:avLst>
              <a:gd name="adj" fmla="val 14634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2292" y="4389120"/>
            <a:ext cx="294436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Пример</a:t>
            </a:r>
          </a:p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рост по месяцам — линейный график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28800"/>
            <a:ext cx="3584448" cy="3493008"/>
          </a:xfrm>
          <a:prstGeom prst="roundRect">
            <a:avLst>
              <a:gd name="adj" fmla="val 471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6176" y="4389120"/>
            <a:ext cx="3218688" cy="749808"/>
          </a:xfrm>
          <a:prstGeom prst="roundRect">
            <a:avLst>
              <a:gd name="adj" fmla="val 14634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4389120"/>
            <a:ext cx="294436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Пример</a:t>
            </a:r>
          </a:p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«Выручка: с 296 до 423 млн ₽ в месяц»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239251"/>
            <a:ext cx="3218688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0" lang="ru-RU">
                <a:solidFill>
                  <a:srgbClr val="FF0053"/>
                </a:solidFill>
                <a:latin typeface="Montserrat Black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888475"/>
            <a:ext cx="3218688" cy="278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lang="ru-RU">
                <a:solidFill>
                  <a:srgbClr val="310F53"/>
                </a:solidFill>
                <a:latin typeface="Montserrat"/>
              </a:rPr>
              <a:t>Разобраться в данных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295383"/>
            <a:ext cx="3218688" cy="6832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какие колонки, есть ли даты, что измеряется, где пропуски и выбросы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5132" y="2239251"/>
            <a:ext cx="3218688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0" lang="ru-RU">
                <a:solidFill>
                  <a:srgbClr val="FF0053"/>
                </a:solidFill>
                <a:latin typeface="Montserrat Black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5132" y="2888475"/>
            <a:ext cx="3218688" cy="278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lang="ru-RU">
                <a:solidFill>
                  <a:srgbClr val="310F53"/>
                </a:solidFill>
                <a:latin typeface="Montserrat"/>
              </a:rPr>
              <a:t>Решить, что показать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5132" y="3295383"/>
            <a:ext cx="3218688" cy="6832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рост, сравнение, доли или разброс — и какой график покажет это лучше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239251"/>
            <a:ext cx="3218688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0" lang="ru-RU">
                <a:solidFill>
                  <a:srgbClr val="FF0053"/>
                </a:solidFill>
                <a:latin typeface="Montserrat Black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2888475"/>
            <a:ext cx="3218688" cy="278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lang="ru-RU">
                <a:solidFill>
                  <a:srgbClr val="310F53"/>
                </a:solidFill>
                <a:latin typeface="Montserrat"/>
              </a:rPr>
              <a:t>Оформить и проверить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3295383"/>
            <a:ext cx="3218688" cy="6832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график в стиле шаблона и бренда, вывод с числом в заголовке, затем проверка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" y="5486400"/>
            <a:ext cx="11146536" cy="658368"/>
          </a:xfrm>
          <a:prstGeom prst="roundRect">
            <a:avLst>
              <a:gd name="adj" fmla="val 22222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5486400"/>
            <a:ext cx="1114653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lang="ru-RU">
                <a:solidFill>
                  <a:srgbClr val="FFFFFF"/>
                </a:solidFill>
                <a:latin typeface="Montserrat"/>
              </a:rPr>
              <a:t>Модель понимает текст и пишет выводы, а числа считает и проверяет программа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49948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499485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КАК ЭТО РАБОТАЕТ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FFFFFF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Как Verstka собирает презентацию: 8 шагов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828800"/>
            <a:ext cx="11146536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057400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80360" y="2194560"/>
            <a:ext cx="128016" cy="128016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97480" y="2194560"/>
            <a:ext cx="128016" cy="128016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172968" y="2843784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20440" y="2057400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50992" y="2194560"/>
            <a:ext cx="128016" cy="128016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0" y="2843784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91072" y="2057400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21624" y="2194560"/>
            <a:ext cx="128016" cy="128016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714232" y="2843784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61704" y="2057400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92256" y="2194560"/>
            <a:ext cx="128016" cy="128016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09376" y="2194560"/>
            <a:ext cx="128016" cy="128016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4087368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880360" y="4224528"/>
            <a:ext cx="128016" cy="128016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172968" y="4873752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520440" y="4087368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50992" y="4224528"/>
            <a:ext cx="128016" cy="128016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943600" y="4873752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91072" y="4087368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21624" y="4224528"/>
            <a:ext cx="128016" cy="128016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38744" y="4224528"/>
            <a:ext cx="128016" cy="128016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714232" y="4873752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61704" y="4087368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310F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92256" y="4224528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2259965"/>
            <a:ext cx="2048256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513457"/>
            <a:ext cx="2048256" cy="26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Читает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850007"/>
            <a:ext cx="2048256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шаблон, брендбук, текст и файлы с данными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5032" y="2259965"/>
            <a:ext cx="2048256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85032" y="2513457"/>
            <a:ext cx="2048256" cy="26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Планирует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5032" y="2850007"/>
            <a:ext cx="2048256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какие слайды нужны и в каком порядке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2259965"/>
            <a:ext cx="2048256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2513457"/>
            <a:ext cx="2048256" cy="26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Сверяет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2850007"/>
            <a:ext cx="2048256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каждое число — с исходными файлами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26296" y="2259965"/>
            <a:ext cx="2048256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6296" y="2513457"/>
            <a:ext cx="2048256" cy="26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Анализирует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6296" y="2850007"/>
            <a:ext cx="2048256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данные: выбирает график и пишет вывод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289933"/>
            <a:ext cx="2048256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543425"/>
            <a:ext cx="2048256" cy="26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Верстает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4879975"/>
            <a:ext cx="2048256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по образцам слайдов шаблона и бренда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85032" y="4289933"/>
            <a:ext cx="2048256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85032" y="4543425"/>
            <a:ext cx="2048256" cy="26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Рисует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85032" y="4879975"/>
            <a:ext cx="2048256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картинки по смыслу слайда, без надписей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55664" y="4289933"/>
            <a:ext cx="2048256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55664" y="4543425"/>
            <a:ext cx="2048256" cy="26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Проверяет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5664" y="4879975"/>
            <a:ext cx="2048256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76 проверок и автоисправление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26296" y="4289933"/>
            <a:ext cx="2048256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26296" y="4543425"/>
            <a:ext cx="2048256" cy="263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lang="ru-RU">
                <a:solidFill>
                  <a:srgbClr val="FFFFFF"/>
                </a:solidFill>
                <a:latin typeface="Montserrat Black"/>
              </a:rPr>
              <a:t>Выгружает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6296" y="4879975"/>
            <a:ext cx="2048256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E9E4F5"/>
                </a:solidFill>
                <a:latin typeface="Montserrat"/>
              </a:rPr>
              <a:t>PPTX, PDF и HTML — всё редактируется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250424" y="3657600"/>
            <a:ext cx="0" cy="201168"/>
          </a:xfrm>
          <a:prstGeom prst="line">
            <a:avLst/>
          </a:prstGeom>
          <a:ln w="19050">
            <a:solidFill>
              <a:srgbClr val="8A83D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938528" y="3858768"/>
            <a:ext cx="8311896" cy="0"/>
          </a:xfrm>
          <a:prstGeom prst="line">
            <a:avLst/>
          </a:prstGeom>
          <a:ln w="19050">
            <a:solidFill>
              <a:srgbClr val="8A83D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38528" y="3858768"/>
            <a:ext cx="0" cy="201168"/>
          </a:xfrm>
          <a:prstGeom prst="line">
            <a:avLst/>
          </a:prstGeom>
          <a:ln w="19050">
            <a:solidFill>
              <a:srgbClr val="8A83D1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754380" y="5911596"/>
            <a:ext cx="137160" cy="13716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8408" y="5843016"/>
            <a:ext cx="27336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модель: понимает и пишет</a:t>
            </a:r>
          </a:p>
        </p:txBody>
      </p:sp>
      <p:sp>
        <p:nvSpPr>
          <p:cNvPr id="62" name="Oval 61"/>
          <p:cNvSpPr/>
          <p:nvPr/>
        </p:nvSpPr>
        <p:spPr>
          <a:xfrm>
            <a:off x="4188650" y="5911596"/>
            <a:ext cx="137160" cy="137160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12678" y="5843016"/>
            <a:ext cx="31083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программа: считает и верстает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92999" y="5843016"/>
            <a:ext cx="34918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правка меняет только нужный слайд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9087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190874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ВЫБОР ГРАФИКА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520977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Verstka выбирает график по данным и объясняет почему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965960"/>
            <a:ext cx="6720840" cy="3245200"/>
          </a:xfrm>
          <a:prstGeom prst="roundRect">
            <a:avLst>
              <a:gd name="adj" fmla="val 3381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ui-w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57400"/>
            <a:ext cx="6537960" cy="3062320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21208" y="5339176"/>
            <a:ext cx="6720840" cy="264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Окно «Почему так»: что в файле и какие графики подходят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2039112"/>
            <a:ext cx="128016" cy="12801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965960"/>
            <a:ext cx="380390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Смотрит на 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76856"/>
            <a:ext cx="3803904" cy="4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какие колонки, есть ли даты, сколько строк, где пропуски и выбросы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061564"/>
            <a:ext cx="128016" cy="12801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988412"/>
            <a:ext cx="380390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Предлагает 2–3 варианта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299308"/>
            <a:ext cx="3803904" cy="4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с причинами: лучший — первым, другой — одной кнопкой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084015"/>
            <a:ext cx="128016" cy="12801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010863"/>
            <a:ext cx="380390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Учитывает просьбу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321759"/>
            <a:ext cx="3803904" cy="4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«покажи рост» или «есть ли связь» меняют выбор графика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5106467"/>
            <a:ext cx="128016" cy="12801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5033315"/>
            <a:ext cx="380390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Справляется со сложным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344211"/>
            <a:ext cx="3803904" cy="719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240 строк сводит к топ-10, пропуски показывает разрывами, файл без чисел — таблицей с пояснением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23469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234690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РАЗНЫЕ ДАННЫЕ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FFFFFF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Семь разных наборов данных — семь разных графиков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783080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d01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12648" y="3332099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Динамика по месяцам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567303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линейный график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800" y="1783080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d01-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952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444240" y="3332099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Сравнение регионов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4240" y="3567303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полосы по убыванию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4392" y="1783080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d01-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544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275832" y="3332099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Доли каналов продаж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5832" y="3567303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кольцевая диаграмма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783080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d01-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9107424" y="3332099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Разброс значений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567303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гистограмма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" y="3997071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d01-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070223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612648" y="5546090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Справочник, 240 строк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781294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топ-10 и «остальные»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2800" y="3997071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d01-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5952" y="4070223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3444240" y="5546090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Ряд с пропусками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4240" y="5781294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линия с разрывами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4392" y="3997071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d01-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7544" y="4070223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6275832" y="5546090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Текст с таблицей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5832" y="5781294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карточки с числами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3997071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8864" y="4405719"/>
            <a:ext cx="2286000" cy="24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ru-RU">
                <a:solidFill>
                  <a:srgbClr val="FFFFFF"/>
                </a:solidFill>
                <a:latin typeface="Montserrat"/>
              </a:rPr>
              <a:t>Что было на входе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4763351"/>
            <a:ext cx="2286000" cy="911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FFFFFF"/>
                </a:solidFill>
                <a:latin typeface="Montserrat"/>
              </a:rPr>
              <a:t>бриф для правления, 7 файлов CSV, XLSX, JSON и TXT, брендбук VK Cloud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2737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127374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ЛЮБОЙ ШАБЛОН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520977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Одни данные — один и тот же график на любом шаблоне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9736" y="1901952"/>
            <a:ext cx="22128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1456" y="1901952"/>
            <a:ext cx="22128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Growing Liberty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3176" y="1901952"/>
            <a:ext cx="22128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Midnightblue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4896" y="1901952"/>
            <a:ext cx="22128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634044"/>
            <a:ext cx="17282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Доли</a:t>
            </a:r>
          </a:p>
          <a:p>
            <a:pPr algn="l">
              <a:lnSpc>
                <a:spcPct val="100000"/>
              </a:lnSpc>
            </a:pPr>
            <a:r>
              <a:rPr sz="1600" b="0" lang="ru-RU">
                <a:solidFill>
                  <a:srgbClr val="FF0053"/>
                </a:solidFill>
                <a:latin typeface="Montserrat"/>
              </a:rPr>
              <a:t>кольцо</a:t>
            </a:r>
          </a:p>
        </p:txBody>
      </p:sp>
      <p:pic>
        <p:nvPicPr>
          <p:cNvPr id="12" name="Picture 11" descr="cmp-vkedu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2286000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13" name="Picture 12" descr="cmp-gl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286000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14" name="Picture 13" descr="cmp-midnight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2286000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15" name="Picture 14" descr="cmp-lights-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896" y="2286000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21208" y="3997642"/>
            <a:ext cx="17282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Динамика</a:t>
            </a:r>
          </a:p>
          <a:p>
            <a:pPr algn="l">
              <a:lnSpc>
                <a:spcPct val="100000"/>
              </a:lnSpc>
            </a:pPr>
            <a:r>
              <a:rPr sz="1600" b="0" lang="ru-RU">
                <a:solidFill>
                  <a:srgbClr val="FF0053"/>
                </a:solidFill>
                <a:latin typeface="Montserrat"/>
              </a:rPr>
              <a:t>линия</a:t>
            </a:r>
          </a:p>
        </p:txBody>
      </p:sp>
      <p:pic>
        <p:nvPicPr>
          <p:cNvPr id="17" name="Picture 16" descr="cmp-vkedu-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9736" y="3649599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18" name="Picture 17" descr="cmp-gl-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3649599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19" name="Picture 18" descr="cmp-midnight-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3176" y="3649599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20" name="Picture 19" descr="cmp-lights-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4896" y="3649599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21208" y="5361242"/>
            <a:ext cx="17282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Сравнение</a:t>
            </a:r>
          </a:p>
          <a:p>
            <a:pPr algn="l">
              <a:lnSpc>
                <a:spcPct val="100000"/>
              </a:lnSpc>
            </a:pPr>
            <a:r>
              <a:rPr sz="1600" b="0" lang="ru-RU">
                <a:solidFill>
                  <a:srgbClr val="FF0053"/>
                </a:solidFill>
                <a:latin typeface="Montserrat"/>
              </a:rPr>
              <a:t>полосы</a:t>
            </a:r>
          </a:p>
        </p:txBody>
      </p:sp>
      <p:pic>
        <p:nvPicPr>
          <p:cNvPr id="22" name="Picture 21" descr="cmp-vkedu-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9736" y="5013198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23" name="Picture 22" descr="cmp-gl-3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1456" y="5013198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24" name="Picture 23" descr="cmp-midnight-3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23176" y="5013198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25" name="Picture 24" descr="cmp-lights-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54896" y="5013198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63931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4639310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БРЕНДБУК И БАЗА ЗНАНИЙ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FFFFFF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Стиль — из брендбука, факты — из ваших документов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828800"/>
            <a:ext cx="6675120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38528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lang="ru-RU">
                <a:solidFill>
                  <a:srgbClr val="310F53"/>
                </a:solidFill>
                <a:latin typeface="Montserrat Black"/>
              </a:rPr>
              <a:t>Брендбук в любом виде</a:t>
            </a:r>
          </a:p>
        </p:txBody>
      </p:sp>
      <p:pic>
        <p:nvPicPr>
          <p:cNvPr id="9" name="Picture 8" descr="ui-brand-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23160"/>
            <a:ext cx="6217920" cy="2472874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49808" y="5078914"/>
            <a:ext cx="701421" cy="365760"/>
          </a:xfrm>
          <a:prstGeom prst="roundRect">
            <a:avLst>
              <a:gd name="adj" fmla="val 50000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078914"/>
            <a:ext cx="70142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80928" y="5078914"/>
            <a:ext cx="1580261" cy="365760"/>
          </a:xfrm>
          <a:prstGeom prst="roundRect">
            <a:avLst>
              <a:gd name="adj" fmla="val 50000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0928" y="5078914"/>
            <a:ext cx="158026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токены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0887" y="5078914"/>
            <a:ext cx="898906" cy="365760"/>
          </a:xfrm>
          <a:prstGeom prst="roundRect">
            <a:avLst>
              <a:gd name="adj" fmla="val 50000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0887" y="5078914"/>
            <a:ext cx="8989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Figma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9492" y="5078914"/>
            <a:ext cx="1156716" cy="365760"/>
          </a:xfrm>
          <a:prstGeom prst="roundRect">
            <a:avLst>
              <a:gd name="adj" fmla="val 50000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9492" y="5078914"/>
            <a:ext cx="11567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файл .fig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5907" y="5078914"/>
            <a:ext cx="1361821" cy="365760"/>
          </a:xfrm>
          <a:prstGeom prst="roundRect">
            <a:avLst>
              <a:gd name="adj" fmla="val 50000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5907" y="5078914"/>
            <a:ext cx="136182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папка / ZIP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17826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Если бренд и шаблон расходятся, побеждает бренд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9208" y="1828800"/>
            <a:ext cx="4288536" cy="4389120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1938528"/>
            <a:ext cx="3831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lang="ru-RU">
                <a:solidFill>
                  <a:srgbClr val="310F53"/>
                </a:solidFill>
                <a:latin typeface="Montserrat Black"/>
              </a:rPr>
              <a:t>База знаний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2395728"/>
            <a:ext cx="3831336" cy="719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Агент пишет текст по вашим документам и ссылкам, источник — в заметках к слайду</a:t>
            </a:r>
          </a:p>
        </p:txBody>
      </p:sp>
      <p:pic>
        <p:nvPicPr>
          <p:cNvPr id="24" name="Picture 23" descr="d02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3261893"/>
            <a:ext cx="3831336" cy="2155126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7607808" y="5471884"/>
            <a:ext cx="3831336" cy="654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Цель — из меморандума,</a:t>
            </a:r>
          </a:p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факт — из таблицы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108960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ДЕМО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520977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Готовые презентации — без единой правки руками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783080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d03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12648" y="3332099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567303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текст → 15 слайдов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800" y="1783080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d04-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952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444240" y="3332099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4240" y="3567303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доклад → 15 слайдов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4392" y="1783080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d06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544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275832" y="3332099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5832" y="3567303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план урока → 12 слайдов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783080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d07-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9107424" y="3332099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Незнакомый шаблон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567303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бизнес-план, 13 слайдов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" y="3997071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d01-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070223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612648" y="5546090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Tech + VK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781294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данные + брендбук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2800" y="3997071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d01lct-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5952" y="4070223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3444240" y="5546090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ЛЦТ + бренд VK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4240" y="5781294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те же данные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4392" y="3997071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d02-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7544" y="4070223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6275832" y="5546090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ЛЦТ + база знаний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5832" y="5781294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таблица и меморандум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3997071"/>
            <a:ext cx="2651760" cy="2085975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cmp-glvis-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9136" y="4070223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9107424" y="5546090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Growing Liberty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5781294"/>
            <a:ext cx="2468880" cy="216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сторонний шаблон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3756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375660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ПРАВКИ СЛОВАМИ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FFFFFF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Попросили картинку словами — Помощник её добавил</a:t>
            </a:r>
          </a:p>
        </p:txBody>
      </p:sp>
      <p:pic>
        <p:nvPicPr>
          <p:cNvPr id="7" name="Picture 6" descr="helper-2-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1783080"/>
            <a:ext cx="9692640" cy="368320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7077" y="5649163"/>
            <a:ext cx="22987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077" y="5649163"/>
            <a:ext cx="22987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«покажи таблицей»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2081" y="5649163"/>
            <a:ext cx="1264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2081" y="5649163"/>
            <a:ext cx="1264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«короче»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3305" y="5649163"/>
            <a:ext cx="3014345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3305" y="5649163"/>
            <a:ext cx="301434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«итог Q3 к Q2 в процентах»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63954" y="5649163"/>
            <a:ext cx="3677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63954" y="5649163"/>
            <a:ext cx="3677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«Исправить слайд» по замечанию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81190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811905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ПРОВЕРКА КАЧЕСТВА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520977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76 проверок, ошибки исправляются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847088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 lang="ru-RU">
                <a:solidFill>
                  <a:srgbClr val="FF0053"/>
                </a:solidFill>
                <a:latin typeface="Montserrat Black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938528"/>
            <a:ext cx="365760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проверки программой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267712"/>
            <a:ext cx="3657600" cy="4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вёрстка, шаблон, тексты и числа; 15 из них — для слайдов с данными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3218688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 lang="ru-RU">
                <a:solidFill>
                  <a:srgbClr val="FF0053"/>
                </a:solidFill>
                <a:latin typeface="Montserrat Blac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310128"/>
            <a:ext cx="365760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проверки моделью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639312"/>
            <a:ext cx="3657600" cy="719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смотрит на картинку слайда: 11 вопросов ТЗ, связность колоды, взгляд дизайнера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874520"/>
            <a:ext cx="5678424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56816"/>
            <a:ext cx="51297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Проверки программой по темам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3230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Содержание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478024"/>
            <a:ext cx="3026664" cy="18288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73384" y="243230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437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Целостность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2889504"/>
            <a:ext cx="2723998" cy="18288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70718" y="28437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2552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Вёрстка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300984"/>
            <a:ext cx="2421331" cy="18288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8051" y="3255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66674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Шаблон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3712464"/>
            <a:ext cx="2118665" cy="18288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65385" y="36667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07822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Плотность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4123944"/>
            <a:ext cx="756666" cy="18288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03386" y="407822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" y="4892040"/>
            <a:ext cx="1120775" cy="457200"/>
          </a:xfrm>
          <a:prstGeom prst="roundRect">
            <a:avLst>
              <a:gd name="adj" fmla="val 50000"/>
            </a:avLst>
          </a:prstGeom>
          <a:solidFill>
            <a:srgbClr val="F4F1FA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4892040"/>
            <a:ext cx="1120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Сборка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96847" y="5120640"/>
            <a:ext cx="347885" cy="0"/>
          </a:xfrm>
          <a:prstGeom prst="line">
            <a:avLst/>
          </a:prstGeom>
          <a:ln w="19050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099596" y="4892040"/>
            <a:ext cx="1364615" cy="457200"/>
          </a:xfrm>
          <a:prstGeom prst="roundRect">
            <a:avLst>
              <a:gd name="adj" fmla="val 50000"/>
            </a:avLst>
          </a:prstGeom>
          <a:solidFill>
            <a:srgbClr val="F4F1FA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99596" y="4892040"/>
            <a:ext cx="1364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Проверка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19075" y="5120640"/>
            <a:ext cx="347885" cy="0"/>
          </a:xfrm>
          <a:prstGeom prst="line">
            <a:avLst/>
          </a:prstGeom>
          <a:ln w="19050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921823" y="4892040"/>
            <a:ext cx="1722120" cy="457200"/>
          </a:xfrm>
          <a:prstGeom prst="roundRect">
            <a:avLst>
              <a:gd name="adj" fmla="val 50000"/>
            </a:avLst>
          </a:prstGeom>
          <a:solidFill>
            <a:srgbClr val="F4F1FA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1823" y="4892040"/>
            <a:ext cx="1722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Исправление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98807" y="5120640"/>
            <a:ext cx="347885" cy="0"/>
          </a:xfrm>
          <a:prstGeom prst="line">
            <a:avLst/>
          </a:prstGeom>
          <a:ln w="19050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101556" y="4892040"/>
            <a:ext cx="2440305" cy="457200"/>
          </a:xfrm>
          <a:prstGeom prst="roundRect">
            <a:avLst>
              <a:gd name="adj" fmla="val 50000"/>
            </a:avLst>
          </a:prstGeom>
          <a:solidFill>
            <a:srgbClr val="F4F1FA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01556" y="4892040"/>
            <a:ext cx="244030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Повторная проверка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596725" y="5120640"/>
            <a:ext cx="347885" cy="0"/>
          </a:xfrm>
          <a:prstGeom prst="line">
            <a:avLst/>
          </a:prstGeom>
          <a:ln w="19050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999474" y="4892040"/>
            <a:ext cx="2668270" cy="4572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99474" y="4892040"/>
            <a:ext cx="266827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FFFF"/>
                </a:solidFill>
                <a:latin typeface="Montserrat"/>
              </a:rPr>
              <a:t>Откат, если стало хуже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" y="5577840"/>
            <a:ext cx="11146536" cy="5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Оценка колоды = 100 − 10 за ошибку − 3 за предупреждение − 2 за замечание модели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Не больше двух кругов исправления; числа на слайдах с данными сверяются с файлом ещё до вёрстки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60565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4605655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СКОРОСТЬ И НАДЁЖНОСТЬ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FFFFFF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Три варианта презентации с данными — за 26–80 секунд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78308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52800" y="178308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4392" y="178308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15984" y="178308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82470"/>
            <a:ext cx="2286000" cy="433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 lang="ru-RU">
                <a:solidFill>
                  <a:srgbClr val="FF0053"/>
                </a:solidFill>
                <a:latin typeface="Montserrat Black"/>
              </a:rPr>
              <a:t>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71166"/>
            <a:ext cx="2286000" cy="455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проверок качества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5680" y="1882470"/>
            <a:ext cx="2286000" cy="433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 lang="ru-RU">
                <a:solidFill>
                  <a:srgbClr val="FF0053"/>
                </a:solidFill>
                <a:latin typeface="Montserrat Black"/>
              </a:rPr>
              <a:t>6 098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680" y="2371166"/>
            <a:ext cx="2286000" cy="455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автотестов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7272" y="1882470"/>
            <a:ext cx="2286000" cy="433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 lang="ru-RU">
                <a:solidFill>
                  <a:srgbClr val="FF0053"/>
                </a:solidFill>
                <a:latin typeface="Montserrat Black"/>
              </a:rPr>
              <a:t>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7272" y="2371166"/>
            <a:ext cx="2286000" cy="455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запроса к модели — ни одного сбоя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1882470"/>
            <a:ext cx="2286000" cy="433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 lang="ru-RU">
                <a:solidFill>
                  <a:srgbClr val="FF0053"/>
                </a:solidFill>
                <a:latin typeface="Montserrat Black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2371166"/>
            <a:ext cx="2286000" cy="455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закрытых моделей — только открытые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" y="3090672"/>
            <a:ext cx="11146536" cy="312724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200400"/>
            <a:ext cx="10597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Время сборки трёх вариантов, секунды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493008"/>
            <a:ext cx="10597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Замеры 20.10, модель на инференсе VK; свой текст без переписывания — 33–52 с, через интерфейс — 26 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82758" y="3849624"/>
            <a:ext cx="274320" cy="155448"/>
          </a:xfrm>
          <a:prstGeom prst="roundRect">
            <a:avLst>
              <a:gd name="adj" fmla="val 47058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8518" y="3785616"/>
            <a:ext cx="17468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только данные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6844" y="3849624"/>
            <a:ext cx="274320" cy="155448"/>
          </a:xfrm>
          <a:prstGeom prst="roundRect">
            <a:avLst>
              <a:gd name="adj" fmla="val 47058"/>
            </a:avLst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2604" y="3785616"/>
            <a:ext cx="24193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данные + база знаний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206240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Tech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4206240"/>
            <a:ext cx="2328672" cy="18288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4712" y="41696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80 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4600" y="4443984"/>
            <a:ext cx="2066696" cy="182880"/>
          </a:xfrm>
          <a:prstGeom prst="roundRect">
            <a:avLst>
              <a:gd name="adj" fmla="val 50000"/>
            </a:avLst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2736" y="44074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71 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663440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WorkSpace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4663440"/>
            <a:ext cx="1397203" cy="18288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3243" y="46268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48 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4600" y="4901184"/>
            <a:ext cx="1979371" cy="182880"/>
          </a:xfrm>
          <a:prstGeom prst="roundRect">
            <a:avLst>
              <a:gd name="adj" fmla="val 50000"/>
            </a:avLst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85411" y="48646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68 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5120640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Education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14600" y="5120640"/>
            <a:ext cx="1397203" cy="18288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3243" y="50840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48 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14600" y="5358384"/>
            <a:ext cx="1455420" cy="182880"/>
          </a:xfrm>
          <a:prstGeom prst="roundRect">
            <a:avLst>
              <a:gd name="adj" fmla="val 50000"/>
            </a:avLst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1460" y="53218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50 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5577840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ЛЦТ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5577840"/>
            <a:ext cx="1571854" cy="18288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77894" y="554126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54 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14600" y="5815584"/>
            <a:ext cx="2270455" cy="182880"/>
          </a:xfrm>
          <a:prstGeom prst="roundRect">
            <a:avLst>
              <a:gd name="adj" fmla="val 50000"/>
            </a:avLst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6495" y="57790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78 с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247120" y="4169664"/>
            <a:ext cx="0" cy="1883664"/>
          </a:xfrm>
          <a:prstGeom prst="line">
            <a:avLst/>
          </a:prstGeom>
          <a:ln w="15875">
            <a:solidFill>
              <a:srgbClr val="FF005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732520" y="4169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лимит ТЗ — 300 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108960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ВЫВОДЫ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520977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Verstka делает презентации, которые объясняют данные</a:t>
            </a:r>
          </a:p>
        </p:txBody>
      </p:sp>
      <p:sp>
        <p:nvSpPr>
          <p:cNvPr id="7" name="Oval 6"/>
          <p:cNvSpPr/>
          <p:nvPr/>
        </p:nvSpPr>
        <p:spPr>
          <a:xfrm>
            <a:off x="521208" y="1965960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93392"/>
            <a:ext cx="466344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Данные превращаются в выводы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13432"/>
            <a:ext cx="4663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график выбран по данным, в заголовке — вывод с числом, числа сверены с файлом</a:t>
            </a:r>
          </a:p>
        </p:txBody>
      </p:sp>
      <p:sp>
        <p:nvSpPr>
          <p:cNvPr id="10" name="Oval 9"/>
          <p:cNvSpPr/>
          <p:nvPr/>
        </p:nvSpPr>
        <p:spPr>
          <a:xfrm>
            <a:off x="521208" y="3044952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72384"/>
            <a:ext cx="466344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Любой шаблон и брендбук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92424"/>
            <a:ext cx="4663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PDF, токены, Figma, .fig; если бренд и шаблон спорят, побеждает бренд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" y="4123944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51376"/>
            <a:ext cx="466344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Быстро и на открытых моделях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71416"/>
            <a:ext cx="4663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три варианта за 26–80 с; Qwen3.8-27B и Z-Image на инференсе VK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" y="5202936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30368"/>
            <a:ext cx="466344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Всё прозрачно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50408"/>
            <a:ext cx="4663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у каждого слайда есть «Почему так», 76 проверок, правки словами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965960"/>
            <a:ext cx="5495544" cy="3171254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d01-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57400"/>
            <a:ext cx="5312664" cy="2988374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172200" y="5274374"/>
            <a:ext cx="5495544" cy="264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Вывод с числом, подписи осей, единицы и источник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108960" cy="620919"/>
          </a:xfrm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/>
              <a:t>ПЛАНЫ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520977"/>
                </a:solidFill>
                <a:latin typeface="Montserrat"/>
              </a:rPr>
              <a:pPr/>
              <a:t>18</a:t>
            </a:fld>
            <a:endParaRPr lang="ru-RU" dirty="0" sz="1200">
              <a:solidFill>
                <a:srgbClr val="520977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Дальше — развивать Verstka вместе с VK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920240"/>
            <a:ext cx="11146536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057400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20240"/>
            <a:ext cx="35661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Пилот в VK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920240"/>
            <a:ext cx="64922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отчёты и питчи на шаблонах VK, модель на инференсе VK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" y="2743200"/>
            <a:ext cx="11146536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880360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43200"/>
            <a:ext cx="35661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Интеграция по 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743200"/>
            <a:ext cx="64922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сборка презентаций из рабочих сервисов и корпоративных систем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" y="3566160"/>
            <a:ext cx="11146536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703320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66160"/>
            <a:ext cx="35661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Своя модель картинок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566160"/>
            <a:ext cx="64922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модель изображений VK вместо Z-Image, подключение готово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" y="4389120"/>
            <a:ext cx="11146536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4526280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389120"/>
            <a:ext cx="35661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Сложные вопросы к данным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389120"/>
            <a:ext cx="64922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ответы, для которых нужно несколько расчётов по файлам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" y="5212080"/>
            <a:ext cx="11146536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5349240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212080"/>
            <a:ext cx="35661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Разные тексты вариантов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5212080"/>
            <a:ext cx="64922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три варианта колоды с данными — не только разная вёрстка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0">
            <a:extLst>
              <a:ext uri="{FF2B5EF4-FFF2-40B4-BE49-F238E27FC236}">
                <a16:creationId xmlns:a16="http://schemas.microsoft.com/office/drawing/2014/main" id="{E37F5FAA-C312-4795-96DC-2C14BF0B8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2568" y="6345936"/>
            <a:ext cx="557784" cy="356616"/>
          </a:xfrm>
        </p:spPr>
        <p:txBody>
          <a:bodyPr anchor="ctr" lIns="91440" rIns="91440" tIns="45720" bIns="45720"/>
          <a:lstStyle/>
          <a:p>
            <a:pPr algn="r"/>
            <a:fld id="{52DCC5B9-D646-4B76-891F-6FF4E74E9CB4}" type="slidenum">
              <a:rPr lang="ru-RU" smtClean="0" sz="1200">
                <a:solidFill>
                  <a:srgbClr val="FFFFFF"/>
                </a:solidFill>
                <a:latin typeface="Montserrat"/>
              </a:rPr>
              <a:pPr/>
              <a:t>2</a:t>
            </a:fld>
            <a:endParaRPr lang="ru-RU" dirty="0" sz="12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FD6DBDB-F473-4DB4-8034-C555ECD03C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38100000" y="-38100000"/>
            <a:ext cx="2016723" cy="454025"/>
          </a:xfrm>
        </p:spPr>
        <p:txBody>
          <a:bodyPr/>
          <a:lstStyle/>
          <a:p/>
        </p:txBody>
      </p:sp>
      <p:pic>
        <p:nvPicPr>
          <p:cNvPr id="5" name="Picture 21" descr="logo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787400"/>
            <a:ext cx="2632262" cy="685800"/>
          </a:xfrm>
          <a:prstGeom prst="rect">
            <a:avLst/>
          </a:prstGeom>
        </p:spPr>
      </p:pic>
      <p:sp>
        <p:nvSpPr>
          <p:cNvPr id="6" name="TextBox 22"/>
          <p:cNvSpPr txBox="1"/>
          <p:nvPr/>
        </p:nvSpPr>
        <p:spPr>
          <a:xfrm>
            <a:off x="812800" y="1905000"/>
            <a:ext cx="889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lang="ru-RU">
                <a:solidFill>
                  <a:srgbClr val="FFFFFF"/>
                </a:solidFill>
                <a:latin typeface="Montserrat Black"/>
              </a:rPr>
              <a:t>СПАСИБО!</a:t>
            </a:r>
          </a:p>
        </p:txBody>
      </p:sp>
      <p:sp>
        <p:nvSpPr>
          <p:cNvPr id="7" name="TextBox 23"/>
          <p:cNvSpPr txBox="1"/>
          <p:nvPr/>
        </p:nvSpPr>
        <p:spPr>
          <a:xfrm>
            <a:off x="850900" y="31242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lang="ru-RU">
                <a:solidFill>
                  <a:srgbClr val="FFFFFF"/>
                </a:solidFill>
                <a:latin typeface="Montserrat"/>
              </a:rPr>
              <a:t>Verstka — цифровой дизайнер презентаций</a:t>
            </a:r>
          </a:p>
        </p:txBody>
      </p:sp>
      <p:sp>
        <p:nvSpPr>
          <p:cNvPr id="8" name="Rounded Rectangle 24"/>
          <p:cNvSpPr/>
          <p:nvPr/>
        </p:nvSpPr>
        <p:spPr>
          <a:xfrm>
            <a:off x="850900" y="3810000"/>
            <a:ext cx="45720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25"/>
          <p:cNvSpPr txBox="1"/>
          <p:nvPr/>
        </p:nvSpPr>
        <p:spPr>
          <a:xfrm>
            <a:off x="850900" y="38100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lang="ru-RU">
                <a:solidFill>
                  <a:srgbClr val="520978"/>
                </a:solidFill>
                <a:latin typeface="Montserrat"/>
              </a:rPr>
              <a:t>github.com/hl0pch1k/verstka</a:t>
            </a:r>
          </a:p>
        </p:txBody>
      </p:sp>
      <p:sp>
        <p:nvSpPr>
          <p:cNvPr id="10" name="TextBox 26"/>
          <p:cNvSpPr txBox="1"/>
          <p:nvPr/>
        </p:nvSpPr>
        <p:spPr>
          <a:xfrm>
            <a:off x="850900" y="4724400"/>
            <a:ext cx="965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lang="ru-RU">
                <a:solidFill>
                  <a:srgbClr val="FFFFFF"/>
                </a:solidFill>
                <a:latin typeface="Montserrat"/>
              </a:rPr>
              <a:t>Команда «Рекрут 2» · Артём Воронин · @hl0pch1k · +7 916 935 88 85</a:t>
            </a:r>
          </a:p>
          <a:p>
            <a:pPr algn="l">
              <a:lnSpc>
                <a:spcPct val="130000"/>
              </a:lnSpc>
            </a:pPr>
            <a:r>
              <a:rPr sz="1500" b="0" lang="ru-RU">
                <a:solidFill>
                  <a:srgbClr val="FFFFFF"/>
                </a:solidFill>
                <a:latin typeface="Montserrat"/>
              </a:rPr>
              <a:t>Код, примеры колод, наборы данных, брендбук и видео — в репозитории</a:t>
            </a:r>
          </a:p>
        </p:txBody>
      </p:sp>
      <p:sp>
        <p:nvSpPr>
          <p:cNvPr id="11" name="Rounded Rectangle 27"/>
          <p:cNvSpPr/>
          <p:nvPr/>
        </p:nvSpPr>
        <p:spPr>
          <a:xfrm>
            <a:off x="9189720" y="3154680"/>
            <a:ext cx="2103120" cy="210312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28" descr="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3291840"/>
            <a:ext cx="1828800" cy="1828800"/>
          </a:xfrm>
          <a:prstGeom prst="rect">
            <a:avLst/>
          </a:prstGeom>
        </p:spPr>
      </p:pic>
      <p:sp>
        <p:nvSpPr>
          <p:cNvPr id="13" name="TextBox 29"/>
          <p:cNvSpPr txBox="1"/>
          <p:nvPr/>
        </p:nvSpPr>
        <p:spPr>
          <a:xfrm>
            <a:off x="9189720" y="532180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FFFF"/>
                </a:solidFill>
                <a:latin typeface="Montserrat"/>
              </a:rPr>
              <a:t>код и примеры</a:t>
            </a:r>
          </a:p>
        </p:txBody>
      </p:sp>
    </p:spTree>
    <p:extLst>
      <p:ext uri="{BB962C8B-B14F-4D97-AF65-F5344CB8AC3E}">
        <p14:creationId xmlns:p14="http://schemas.microsoft.com/office/powerpoint/2010/main" val="3792051765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