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376" r:id="rId18"/>
    <p:sldId id="377" r:id="rId16"/>
    <p:sldId id="378" r:id="rId15"/>
    <p:sldId id="379" r:id="rId26"/>
    <p:sldId id="380" r:id="rId27"/>
    <p:sldId id="381" r:id="rId28"/>
    <p:sldId id="382" r:id="rId29"/>
    <p:sldId id="383" r:id="rId30"/>
    <p:sldId id="384" r:id="rId31"/>
    <p:sldId id="385" r:id="rId32"/>
    <p:sldId id="386" r:id="rId33"/>
    <p:sldId id="387" r:id="rId34"/>
    <p:sldId id="388" r:id="rId35"/>
    <p:sldId id="326" r:id="rId3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6" Type="http://schemas.openxmlformats.org/officeDocument/2006/relationships/slide" Target="slides/slide7.xml"/><Relationship Id="rId18" Type="http://schemas.openxmlformats.org/officeDocument/2006/relationships/slide" Target="slides/slide6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Нас двое: Артём Воронин — капитан, архитектура и разработка; Ярослав Мурехин — тестирование и обратная связь.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каждую неделю готовим отчётные презентации и делаем инструмент для себя. Главный вызов второй ступени — модели путали метрики и дописывали цифры, поэтому числа считает код, а модель формулирует вывод.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73 детерминированные проверки, из них 15 — для слайдов с данными, и 3 модельные. Автоисправление делает не больше двух итераций и откатывает правку, если стало хуже.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Здравствуйте! Мы — команда «Рекрут 2», решение Verstka, кейс № 4 VK Tech. На второй ступени главное — интерпретация данных: сервис не просто вставляет графики, а объясняет, что в 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Verstka превращает шаблон, текст и файлы с данными в три редактируемые презентации PowerPoint. Вид каждого графика выбран по данным, заголовок — вывод с числом, каждое число сверено с таблицей.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Технически — разбор шаблона и брендбука, слой данных, открытые модели на инференсе VK и 76 проверок. Для бизнеса — отчёт по данным в фирменном стиле за минуты, выводы с числами и правки словами.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Обычно данные попадают в слайд таблицей «как есть» с заголовком-темой: вывод зритель ищет сам, стиль расходится с брендбуком, модели дописывают цифры. Сверху — как бывает, снизу — тот же файл у Verstka: вывод с числом, оси, единицы, источник.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Сначала смысл — профиль файла, задача, вывод, — и только потом вёрстка. Модель понимает и пишет, а считает, сверяет и верстает код, поэтому числа не выдумываются.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Восемь шагов: чтение, план, смысл, данные, вёрстка, картинки, аудит, экспорт. Розовые точки — шаги модели, фиолетовые — кода. Правка уходит агенту и пересобирает только нужный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каждого слайда есть «Почему так»: профиль файла — типы колонок, измерения, метрики — и два-три варианта визуализации с причинами; другой вариант — одной кнопкой. Цель из текста меняет задачу, 240 строк сводятся к топ-10, пропуски показаны разрывами.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Семь файлов разной природы из ТЗ: временной ряд, категории, доли, распределение, справочник на 240 строк, данные с пропусками, текст со встроенной таблицей. Каждый получил свой вид и заголовок-вывод.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Один и тот же набор данных на четырёх шаблонах даёт тот же вид графика — меняется только стиль: палитра, шрифты и оси берутся из разобранного шаблона.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Брендбук принимается в любой форме — PDF, токены, Figma, файл .fig, папка или ZIP. При расхождении побеждает бренд, без брендбука работаем по шаблону. База знаний даёт факты: цель — из меморандума, факт — из таблицы.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Готовые колоды на шаблонах VK, ЛЦТ и сторонних; PDF и исходные данные лежат в репозитории, слайды без правок руками.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Замечание «Взгляда дизайнера» видно прямо на слайде, кнопка «Исправить слайд» чинит его. Помощник понимает правки словами и объясняет, почему слайд такой.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Спасибо! Код, примеры и наборы данных — по QR-коду. Готовы ответить на 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варианта колоды с данными собираются за 26–80 секунд при лимите ТЗ 5 минут. 6 098 тестов, 523 вызова модели на VK без сбоев, ни одного закрытого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Verstka делает презентацию, которая объясняет: данные превращаются в выводы, подходит любой шаблон и брендбук, всё быстро, прозрачно и на открытых моделях.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Дальше — разные тексты у вариантов, ответы на сложные вопросы к данным, проверка браузеров, пилот и интеграции на инфраструктуре VK.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/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/>
            </a:r>
          </a:p>
          <a:p>
            <a:pPr lvl="1"/>
            <a:r>
              <a:rPr lang="ru-RU" dirty="0"/>
              <a:t/>
            </a:r>
          </a:p>
          <a:p>
            <a:pPr lvl="2"/>
            <a:r>
              <a:rPr lang="ru-RU" dirty="0"/>
              <a:t/>
            </a:r>
          </a:p>
          <a:p>
            <a:pPr lvl="3"/>
            <a:r>
              <a:rPr lang="ru-RU" dirty="0"/>
              <a:t/>
            </a:r>
          </a:p>
          <a:p>
            <a:pPr lvl="4"/>
            <a:r>
              <a:rPr lang="ru-RU" dirty="0"/>
              <a:t/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/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26.png"/><Relationship Id="rId3" Type="http://schemas.openxmlformats.org/officeDocument/2006/relationships/notesSlide" Target="../notesSlides/notesSlide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827.jpg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28.jpg"/><Relationship Id="rId5" Type="http://schemas.openxmlformats.org/officeDocument/2006/relationships/image" Target="../media/image82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Relationship Id="rId9" Type="http://schemas.openxmlformats.org/officeDocument/2006/relationships/image" Target="../media/image12.jpg"/><Relationship Id="rId10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Relationship Id="rId9" Type="http://schemas.openxmlformats.org/officeDocument/2006/relationships/image" Target="../media/image19.jpg"/><Relationship Id="rId10" Type="http://schemas.openxmlformats.org/officeDocument/2006/relationships/image" Target="../media/image20.jpg"/><Relationship Id="rId11" Type="http://schemas.openxmlformats.org/officeDocument/2006/relationships/image" Target="../media/image21.jpg"/><Relationship Id="rId12" Type="http://schemas.openxmlformats.org/officeDocument/2006/relationships/image" Target="../media/image22.jpg"/><Relationship Id="rId13" Type="http://schemas.openxmlformats.org/officeDocument/2006/relationships/image" Target="../media/image23.jpg"/><Relationship Id="rId14" Type="http://schemas.openxmlformats.org/officeDocument/2006/relationships/image" Target="../media/image24.jpg"/><Relationship Id="rId15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Relationship Id="rId8" Type="http://schemas.openxmlformats.org/officeDocument/2006/relationships/image" Target="../media/image34.jpg"/><Relationship Id="rId9" Type="http://schemas.openxmlformats.org/officeDocument/2006/relationships/image" Target="../media/image35.jpg"/><Relationship Id="rId10" Type="http://schemas.openxmlformats.org/officeDocument/2006/relationships/image" Target="../media/image36.jpg"/><Relationship Id="rId11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826.png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/>
              <a:t>РЕКРУТ 2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rPr lang="ru-RU"/>
              <a:t>Задача № 4 VK Tech «Цифровой дизайнер презентаций»</a:t>
            </a:r>
          </a:p>
          <a:p>
            <a:pPr indent="268288"/>
            <a:r>
              <a:rPr lang="ru-RU"/>
              <a:t>Решение — Verstka · вторая ступень: интерпретация данных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Picture 5" descr="logo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" y="535493"/>
            <a:ext cx="3229680" cy="67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Вид графика решают данные, а не формат файла; каждое число сверено с таблицей. Брендбук в любой форме, даже файл .fig, важнее шаблона. Только открытые модели на инференсе VK.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b="0" dirty="0">
                <a:solidFill>
                  <a:schemeClr val="tx1"/>
                </a:solidFill>
              </a:rPr>
              <a:t>Воронин Артём Тимофеевич, ML-инженер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b="0" dirty="0">
                <a:solidFill>
                  <a:schemeClr val="tx1"/>
                </a:solidFill>
              </a:rPr>
              <a:t>2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r>
              <a:rPr lang="ru-RU" b="0" dirty="0">
                <a:solidFill>
                  <a:schemeClr val="tx1"/>
                </a:solidFill>
              </a:rPr>
              <a:t>коллеги из «Газпром автоматизации». Делаем инструмент, которого сами ждали в работе: презентация в фирменном стиле за минуты вместо часов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b="0" dirty="0">
                <a:solidFill>
                  <a:schemeClr val="tx1"/>
                </a:solidFill>
              </a:rPr>
              <a:t>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Verstka превращает шаблон, текст и файлы с данными в три редактируемые презентации PowerPoint: вид каждого графика выбран по данным, а заголовок слайда — вывод с числом.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04600" y="6350000"/>
            <a:ext cx="558800" cy="355600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  <a:latin typeface="Montserrat"/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  <a:latin typeface="Montserrat"/>
            </a:endParaRPr>
          </a:p>
        </p:txBody>
      </p:sp>
      <p:pic>
        <p:nvPicPr>
          <p:cNvPr id="19" name="Picture 18" descr="about_bann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35267"/>
            <a:ext cx="6456363" cy="297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6147068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6319352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Участник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Тестирование и обратная связь по результатам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@Y_murik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+7 916 543 20 60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Газпром автоматизация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6319351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Ярослав Мурехин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841750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  <a:latin typeface="Montserrat"/>
              </a:rPr>
              <a:pPr/>
              <a:t>9</a:t>
            </a:fld>
            <a:endParaRPr lang="ru-RU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49787"/>
            <a:ext cx="3546256" cy="376138"/>
          </a:xfrm>
        </p:spPr>
        <p:txBody>
          <a:bodyPr wrap="none">
            <a:noAutofit/>
          </a:bodyPr>
          <a:lstStyle/>
          <a:p>
            <a:r>
              <a:rPr/>
              <a:t>КОМАНДА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14034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Капитан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ML-инженер: архитектура и разработка Verstka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@hl0pch1k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+7 916 935 88 85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Газпром автоматизация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4014033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Артём Воронин</a:t>
            </a:r>
          </a:p>
        </p:txBody>
      </p:sp>
      <p:pic>
        <p:nvPicPr>
          <p:cNvPr id="59" name="Picture 58" descr="photo_arte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071" y="1816054"/>
            <a:ext cx="1722566" cy="1552901"/>
          </a:xfrm>
          <a:prstGeom prst="rect">
            <a:avLst/>
          </a:prstGeom>
          <a:ln w="9525">
            <a:solidFill>
              <a:srgbClr val="E4D9EE"/>
            </a:solidFill>
          </a:ln>
        </p:spPr>
      </p:pic>
      <p:pic>
        <p:nvPicPr>
          <p:cNvPr id="60" name="Picture 59" descr="photo_yaroslav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141" y="1826554"/>
            <a:ext cx="1722566" cy="1542401"/>
          </a:xfrm>
          <a:prstGeom prst="rect">
            <a:avLst/>
          </a:prstGeom>
          <a:ln w="9525">
            <a:solidFill>
              <a:srgbClr val="E4D9EE"/>
            </a:solidFill>
          </a:ln>
        </p:spPr>
      </p:pic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  <a:latin typeface="Montserrat"/>
              </a:rPr>
              <a:pPr/>
              <a:t>10</a:t>
            </a:fld>
            <a:endParaRPr lang="ru-RU" dirty="0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49787"/>
            <a:ext cx="3546256" cy="376138"/>
          </a:xfrm>
        </p:spPr>
        <p:txBody>
          <a:bodyPr wrap="none">
            <a:noAutofit/>
          </a:bodyPr>
          <a:lstStyle/>
          <a:p>
            <a:r>
              <a:rPr/>
              <a:t>ИСТОРИЯ КОМАНДЫ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9906000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 sz="1400">
                <a:solidFill>
                  <a:schemeClr val="tx1"/>
                </a:solidFill>
              </a:rPr>
              <a:t>Мы работаем в «Газпром автоматизации» и каждую неделю готовим отчётные презентации: текст пишется за час, а оформление по фирменному шаблону съедает полдня. На ЛЦТ пришли сделать инструмент, которым будем пользоваться сами.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9906000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sz="1400">
                <a:solidFill>
                  <a:schemeClr val="tx1"/>
                </a:solidFill>
              </a:rPr>
              <a:t>В реальных шаблонах 95 % фигур — не плейсхолдеры, поэтому единицей разбора стал слайд-образец. На второй ступени модели путали метрики и «дописывали» цифры — теперь профиль данных и числа считает код, а модель формулирует вывод, который сверяется с таблицей.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990600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sz="1400">
                <a:solidFill>
                  <a:schemeClr val="tx1"/>
                </a:solidFill>
              </a:rPr>
              <a:t>Это редкая задача, где ИИ должен не писать текст, а соблюдать чужую дизайн-систему. Зацепил инженерный вызов: прочитать любой шаблон как набор правил и не придумать ни одного числа.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  <a:latin typeface="Montserrat"/>
              </a:rPr>
              <a:pPr/>
              <a:t>11</a:t>
            </a:fld>
            <a:endParaRPr lang="ru-RU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600" dirty="0">
                <a:solidFill>
                  <a:schemeClr val="tx1"/>
                </a:solidFill>
              </a:rPr>
              <a:t>Разбор шаблона и брендбука (PDF, токены, Figma, .fig, ZIP) в единые правила: палитра, шрифты, сетка, логотипы</a:t>
            </a:r>
          </a:p>
          <a:p>
            <a:r>
              <a:rPr lang="ru-RU" sz="1600" dirty="0">
                <a:solidFill>
                  <a:schemeClr val="tx1"/>
                </a:solidFill>
              </a:rPr>
              <a:t>Слой данных: профиль файла → аналитическая задача → 2–3 вида с причинами → заголовок-вывод с числом</a:t>
            </a:r>
          </a:p>
          <a:p>
            <a:r>
              <a:rPr lang="ru-RU" sz="1600" dirty="0">
                <a:solidFill>
                  <a:schemeClr val="tx1"/>
                </a:solidFill>
              </a:rPr>
              <a:t>Каждое число пересчитывается по исходной таблице до и после вёрстки</a:t>
            </a:r>
          </a:p>
          <a:p>
            <a:r>
              <a:rPr lang="ru-RU" sz="1600" dirty="0">
                <a:solidFill>
                  <a:schemeClr val="tx1"/>
                </a:solidFill>
              </a:rPr>
              <a:t>Агент на открытых моделях Qwen3.8-27B (инференс VK) и Z-Image; нативные диаграммы и таблицы, экспорт PPTX, PDF, HTML</a:t>
            </a:r>
          </a:p>
          <a:p>
            <a:r>
              <a:rPr lang="ru-RU" sz="1600" dirty="0">
                <a:solidFill>
                  <a:schemeClr val="tx1"/>
                </a:solidFill>
              </a:rPr>
              <a:t>73 + 3 проверки качества с автоисправлением, три варианта за ≤ 5 минут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600" dirty="0">
                <a:solidFill>
                  <a:schemeClr val="tx1"/>
                </a:solidFill>
              </a:rPr>
              <a:t>Отчёт по данным в фирменном стиле за минуты вместо часов ручной работы аналитика и дизайнера</a:t>
            </a:r>
          </a:p>
          <a:p>
            <a:r>
              <a:rPr lang="ru-RU" sz="1600" dirty="0">
                <a:solidFill>
                  <a:schemeClr val="tx1"/>
                </a:solidFill>
              </a:rPr>
              <a:t>Правлению и заказчику — выводы с числами, а не таблицы «как есть»</a:t>
            </a:r>
          </a:p>
          <a:p>
            <a:r>
              <a:rPr lang="ru-RU" sz="1600" dirty="0">
                <a:solidFill>
                  <a:schemeClr val="tx1"/>
                </a:solidFill>
              </a:rPr>
              <a:t>Один сервис для любого шаблона и брендбука компании</a:t>
            </a:r>
          </a:p>
          <a:p>
            <a:r>
              <a:rPr lang="ru-RU" sz="1600" dirty="0">
                <a:solidFill>
                  <a:schemeClr val="tx1"/>
                </a:solidFill>
              </a:rPr>
              <a:t>Правки словами: «покажи таблицей», «короче», «почему слайд такой»</a:t>
            </a:r>
          </a:p>
          <a:p>
            <a:r>
              <a:rPr lang="ru-RU" sz="1600" dirty="0">
                <a:solidFill>
                  <a:schemeClr val="tx1"/>
                </a:solidFill>
              </a:rPr>
              <a:t>Пилот на шаблонах VK Tech, затем — шаблоны клиентов и интеграция по API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2834640" cy="376138"/>
          </a:xfrm>
        </p:spPr>
        <p:txBody>
          <a:bodyPr wrap="none">
            <a:noAutofit/>
          </a:bodyPr>
          <a:lstStyle/>
          <a:p>
            <a:r>
              <a:rPr/>
              <a:t>ПРОБЛЕМА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  <a:latin typeface="Montserrat"/>
              </a:rPr>
              <a:pPr/>
              <a:t>18</a:t>
            </a:fld>
            <a:endParaRPr lang="ru-RU" dirty="0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310F53"/>
                </a:solidFill>
                <a:latin typeface="Montserrat Black"/>
              </a:rPr>
              <a:t>Слайд с данными должен объяснять, а не показывать</a:t>
            </a:r>
          </a:p>
        </p:txBody>
      </p:sp>
      <p:sp>
        <p:nvSpPr>
          <p:cNvPr id="7" name="Oval 6"/>
          <p:cNvSpPr/>
          <p:nvPr/>
        </p:nvSpPr>
        <p:spPr>
          <a:xfrm>
            <a:off x="521208" y="1920240"/>
            <a:ext cx="457200" cy="4572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975104"/>
            <a:ext cx="4343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Таблица «как есть»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322576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240 строк клиентов с экрана не прочитать — вывод ищет сам зритель</a:t>
            </a:r>
          </a:p>
        </p:txBody>
      </p:sp>
      <p:sp>
        <p:nvSpPr>
          <p:cNvPr id="10" name="Oval 9"/>
          <p:cNvSpPr/>
          <p:nvPr/>
        </p:nvSpPr>
        <p:spPr>
          <a:xfrm>
            <a:off x="521208" y="3017520"/>
            <a:ext cx="457200" cy="4572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3072384"/>
            <a:ext cx="4343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Заголовок-тема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419856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«Выручка по месяцам» ничего не утверждает, главное число теряется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" y="4114800"/>
            <a:ext cx="457200" cy="4572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169664"/>
            <a:ext cx="4343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Стиль вразнобой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4517136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брендбук в PDF или Figma, шаблон в PPTX, цвета графиков — по умолчанию библиотеки</a:t>
            </a:r>
          </a:p>
        </p:txBody>
      </p:sp>
      <p:sp>
        <p:nvSpPr>
          <p:cNvPr id="16" name="Oval 15"/>
          <p:cNvSpPr/>
          <p:nvPr/>
        </p:nvSpPr>
        <p:spPr>
          <a:xfrm>
            <a:off x="521208" y="5212080"/>
            <a:ext cx="457200" cy="45720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5266944"/>
            <a:ext cx="4343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Выдуманные числа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5614416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модель «дописывает» цифры, которых нет в исходной таблице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965960"/>
            <a:ext cx="1883664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5E5670"/>
                </a:solidFill>
                <a:latin typeface="Montserrat"/>
              </a:rPr>
              <a:t>Как обычно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304288"/>
            <a:ext cx="1883664" cy="4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файл вставлен в слайд целиком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308538"/>
            <a:ext cx="1883664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FF0053"/>
                </a:solidFill>
                <a:latin typeface="Montserrat"/>
              </a:rPr>
              <a:t>Verstka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646866"/>
            <a:ext cx="1883664" cy="719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вывод с числом, оси, единицы и источник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55864" y="1920240"/>
            <a:ext cx="3611880" cy="2031683"/>
          </a:xfrm>
          <a:prstGeom prst="rect">
            <a:avLst/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2" y="2066544"/>
            <a:ext cx="3246120" cy="222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lang="ru-RU">
                <a:solidFill>
                  <a:srgbClr val="444444"/>
                </a:solidFill>
                <a:latin typeface="Montserrat"/>
              </a:rPr>
              <a:t>Выручка по месяцам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237744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lang="ru-RU">
                <a:solidFill>
                  <a:srgbClr val="555555"/>
                </a:solidFill>
                <a:latin typeface="Montserrat"/>
              </a:rPr>
              <a:t>Месяц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237744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lang="ru-RU">
                <a:solidFill>
                  <a:srgbClr val="555555"/>
                </a:solidFill>
                <a:latin typeface="Montserrat"/>
              </a:rPr>
              <a:t>Выручка, млн 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4472" y="2377440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lang="ru-RU">
                <a:solidFill>
                  <a:srgbClr val="555555"/>
                </a:solidFill>
                <a:latin typeface="Montserrat"/>
              </a:rPr>
              <a:t>Клиентов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57032" y="2560320"/>
            <a:ext cx="3209544" cy="0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57032" y="255117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2025-01-01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5752" y="255117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296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34472" y="2551176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2610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57032" y="2734056"/>
            <a:ext cx="3209544" cy="0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57032" y="272491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2025-02-01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5752" y="272491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301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34472" y="272491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2648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57032" y="2907792"/>
            <a:ext cx="3209544" cy="0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57032" y="2898648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2025-03-01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45752" y="2898648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312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34472" y="289864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2702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257032" y="3081528"/>
            <a:ext cx="3209544" cy="0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257032" y="3072384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2025-04-01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5752" y="3072384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309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34472" y="307238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2741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257032" y="3255264"/>
            <a:ext cx="3209544" cy="0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257032" y="324612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2025-05-01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45752" y="324612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315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34472" y="3246120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2786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257032" y="3429000"/>
            <a:ext cx="3209544" cy="0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257032" y="341985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2025-06-01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45752" y="341985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322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34472" y="3419856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555555"/>
                </a:solidFill>
                <a:latin typeface="Montserrat"/>
              </a:rPr>
              <a:t>2830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57032" y="3677603"/>
            <a:ext cx="3246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ru-RU">
                <a:solidFill>
                  <a:srgbClr val="999999"/>
                </a:solidFill>
                <a:latin typeface="Montserrat"/>
              </a:rPr>
              <a:t>ещё 15 строк</a:t>
            </a:r>
          </a:p>
        </p:txBody>
      </p:sp>
      <p:pic>
        <p:nvPicPr>
          <p:cNvPr id="53" name="Picture 52" descr="d01-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4262818"/>
            <a:ext cx="3611880" cy="2031683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cxnSp>
        <p:nvCxnSpPr>
          <p:cNvPr id="54" name="Connector 53"/>
          <p:cNvCxnSpPr/>
          <p:nvPr/>
        </p:nvCxnSpPr>
        <p:spPr>
          <a:xfrm>
            <a:off x="9861804" y="3988499"/>
            <a:ext cx="0" cy="237743"/>
          </a:xfrm>
          <a:prstGeom prst="line">
            <a:avLst/>
          </a:prstGeom>
          <a:ln w="25400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2834640" cy="376138"/>
          </a:xfrm>
        </p:spPr>
        <p:txBody>
          <a:bodyPr wrap="none">
            <a:noAutofit/>
          </a:bodyPr>
          <a:lstStyle/>
          <a:p>
            <a:r>
              <a:rPr/>
              <a:t>ПОДХОД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  <a:latin typeface="Montserrat"/>
              </a:rPr>
              <a:pPr/>
              <a:t>18</a:t>
            </a:fld>
            <a:endParaRPr lang="ru-RU" dirty="0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FFFFFF"/>
                </a:solidFill>
                <a:latin typeface="Montserrat Black"/>
              </a:rPr>
              <a:t>Сначала смысл, потом вёрстка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" y="1828800"/>
            <a:ext cx="3584448" cy="3493008"/>
          </a:xfrm>
          <a:prstGeom prst="roundRect">
            <a:avLst>
              <a:gd name="adj" fmla="val 471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029968"/>
            <a:ext cx="1371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lang="ru-RU">
                <a:solidFill>
                  <a:srgbClr val="FF0053"/>
                </a:solidFill>
                <a:latin typeface="Montserrat Blac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24912"/>
            <a:ext cx="303580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lang="ru-RU">
                <a:solidFill>
                  <a:srgbClr val="310F53"/>
                </a:solidFill>
                <a:latin typeface="Montserrat"/>
              </a:rPr>
              <a:t>Понять данные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127248"/>
            <a:ext cx="303580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Профиль файла: типы колонок, ось времени, измерения и метрики, пропуски, выбросы, размер таблицы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4389120"/>
            <a:ext cx="3218688" cy="749808"/>
          </a:xfrm>
          <a:prstGeom prst="roundRect">
            <a:avLst>
              <a:gd name="adj" fmla="val 14634"/>
            </a:avLst>
          </a:prstGeom>
          <a:solidFill>
            <a:srgbClr val="FF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389120"/>
            <a:ext cx="288950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FF0053"/>
                </a:solidFill>
                <a:latin typeface="Montserrat"/>
              </a:rPr>
              <a:t>Пример: </a:t>
            </a:r>
            <a:r>
              <a:rPr sz="1400" b="0" lang="ru-RU">
                <a:solidFill>
                  <a:srgbClr val="310F53"/>
                </a:solidFill>
                <a:latin typeface="Montserrat"/>
              </a:rPr>
              <a:t>дата и две метрики, 21 строка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2252" y="1828800"/>
            <a:ext cx="3584448" cy="3493008"/>
          </a:xfrm>
          <a:prstGeom prst="roundRect">
            <a:avLst>
              <a:gd name="adj" fmla="val 471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6572" y="2029968"/>
            <a:ext cx="1371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lang="ru-RU">
                <a:solidFill>
                  <a:srgbClr val="FF0053"/>
                </a:solidFill>
                <a:latin typeface="Montserrat Black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6572" y="2724912"/>
            <a:ext cx="303580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lang="ru-RU">
                <a:solidFill>
                  <a:srgbClr val="310F53"/>
                </a:solidFill>
                <a:latin typeface="Montserrat"/>
              </a:rPr>
              <a:t>Решить, что сказать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6572" y="3127248"/>
            <a:ext cx="303580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Задача: динамика, сравнение, доли, распределение, связь или справка. Цель из текста влияет на выбор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5132" y="4389120"/>
            <a:ext cx="3218688" cy="749808"/>
          </a:xfrm>
          <a:prstGeom prst="roundRect">
            <a:avLst>
              <a:gd name="adj" fmla="val 14634"/>
            </a:avLst>
          </a:prstGeom>
          <a:solidFill>
            <a:srgbClr val="FF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9724" y="4389120"/>
            <a:ext cx="288950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FF0053"/>
                </a:solidFill>
                <a:latin typeface="Montserrat"/>
              </a:rPr>
              <a:t>Пример: </a:t>
            </a:r>
            <a:r>
              <a:rPr sz="1400" b="0" lang="ru-RU">
                <a:solidFill>
                  <a:srgbClr val="310F53"/>
                </a:solidFill>
                <a:latin typeface="Montserrat"/>
              </a:rPr>
              <a:t>динамика → линия, а не таблица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828800"/>
            <a:ext cx="3584448" cy="3493008"/>
          </a:xfrm>
          <a:prstGeom prst="roundRect">
            <a:avLst>
              <a:gd name="adj" fmla="val 471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6" y="2029968"/>
            <a:ext cx="1371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lang="ru-RU">
                <a:solidFill>
                  <a:srgbClr val="FF0053"/>
                </a:solidFill>
                <a:latin typeface="Montserrat Black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2724912"/>
            <a:ext cx="303580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lang="ru-RU">
                <a:solidFill>
                  <a:srgbClr val="310F53"/>
                </a:solidFill>
                <a:latin typeface="Montserrat"/>
              </a:rPr>
              <a:t>Показать и проверить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3127248"/>
            <a:ext cx="303580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Вид в стиле шаблона и брендбука, заголовок-вывод с числом, оси, единицы, источник — и 73 + 3 проверки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66176" y="4389120"/>
            <a:ext cx="3218688" cy="749808"/>
          </a:xfrm>
          <a:prstGeom prst="roundRect">
            <a:avLst>
              <a:gd name="adj" fmla="val 14634"/>
            </a:avLst>
          </a:prstGeom>
          <a:solidFill>
            <a:srgbClr val="FF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4389120"/>
            <a:ext cx="288950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FF0053"/>
                </a:solidFill>
                <a:latin typeface="Montserrat"/>
              </a:rPr>
              <a:t>Пример: </a:t>
            </a:r>
            <a:r>
              <a:rPr sz="1400" b="0" lang="ru-RU">
                <a:solidFill>
                  <a:srgbClr val="310F53"/>
                </a:solidFill>
                <a:latin typeface="Montserrat"/>
              </a:rPr>
              <a:t>«Выручка: с 296 до 423 млн ₽ в месяц»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" y="5486400"/>
            <a:ext cx="11146536" cy="658368"/>
          </a:xfrm>
          <a:prstGeom prst="roundRect">
            <a:avLst>
              <a:gd name="adj" fmla="val 22222"/>
            </a:avLst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" y="5486400"/>
            <a:ext cx="11146536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lang="ru-RU">
                <a:solidFill>
                  <a:srgbClr val="FFFFFF"/>
                </a:solidFill>
                <a:latin typeface="Montserrat"/>
              </a:rPr>
              <a:t>Модель понимает и пишет — код считает, сверяет и верстает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451980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4245483" cy="376138"/>
          </a:xfrm>
        </p:spPr>
        <p:txBody>
          <a:bodyPr wrap="none">
            <a:noAutofit/>
          </a:bodyPr>
          <a:lstStyle/>
          <a:p>
            <a:r>
              <a:rPr/>
              <a:t>АРХИТЕКТУРА КОНВЕЙЕРА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  <a:latin typeface="Montserrat"/>
              </a:rPr>
              <a:pPr/>
              <a:t>18</a:t>
            </a:fld>
            <a:endParaRPr lang="ru-RU" dirty="0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FFFFFF"/>
                </a:solidFill>
                <a:latin typeface="Montserrat Black"/>
              </a:rPr>
              <a:t>Восемь шагов от файлов до готовой колоды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" y="1828800"/>
            <a:ext cx="11146536" cy="43891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2057400"/>
            <a:ext cx="2377440" cy="1572768"/>
          </a:xfrm>
          <a:prstGeom prst="roundRect">
            <a:avLst>
              <a:gd name="adj" fmla="val 8139"/>
            </a:avLst>
          </a:prstGeom>
          <a:solidFill>
            <a:srgbClr val="F4F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03704"/>
            <a:ext cx="914400" cy="253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 Blac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68880"/>
            <a:ext cx="2011680" cy="299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lang="ru-RU">
                <a:solidFill>
                  <a:srgbClr val="310F53"/>
                </a:solidFill>
                <a:latin typeface="Montserrat Black"/>
              </a:rPr>
              <a:t>Чтение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25496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шаблон и брендбук → правила; текст, документы, данные</a:t>
            </a:r>
          </a:p>
        </p:txBody>
      </p:sp>
      <p:sp>
        <p:nvSpPr>
          <p:cNvPr id="12" name="Oval 11"/>
          <p:cNvSpPr/>
          <p:nvPr/>
        </p:nvSpPr>
        <p:spPr>
          <a:xfrm>
            <a:off x="2857500" y="2235708"/>
            <a:ext cx="137160" cy="13716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56332" y="2235708"/>
            <a:ext cx="137160" cy="137160"/>
          </a:xfrm>
          <a:prstGeom prst="ellipse">
            <a:avLst/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3172968" y="2843784"/>
            <a:ext cx="301752" cy="0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20440" y="2057400"/>
            <a:ext cx="2377440" cy="1572768"/>
          </a:xfrm>
          <a:prstGeom prst="roundRect">
            <a:avLst>
              <a:gd name="adj" fmla="val 8139"/>
            </a:avLst>
          </a:prstGeom>
          <a:solidFill>
            <a:srgbClr val="F4F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2203704"/>
            <a:ext cx="914400" cy="253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 Black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468880"/>
            <a:ext cx="2011680" cy="299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lang="ru-RU">
                <a:solidFill>
                  <a:srgbClr val="310F53"/>
                </a:solidFill>
                <a:latin typeface="Montserrat Black"/>
              </a:rPr>
              <a:t>План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825496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агент: аналитик, дизайнер, критик</a:t>
            </a:r>
          </a:p>
        </p:txBody>
      </p:sp>
      <p:sp>
        <p:nvSpPr>
          <p:cNvPr id="19" name="Oval 18"/>
          <p:cNvSpPr/>
          <p:nvPr/>
        </p:nvSpPr>
        <p:spPr>
          <a:xfrm>
            <a:off x="5628132" y="2235708"/>
            <a:ext cx="137160" cy="13716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943600" y="2843784"/>
            <a:ext cx="301752" cy="0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91072" y="2057400"/>
            <a:ext cx="2377440" cy="1572768"/>
          </a:xfrm>
          <a:prstGeom prst="roundRect">
            <a:avLst>
              <a:gd name="adj" fmla="val 8139"/>
            </a:avLst>
          </a:prstGeom>
          <a:solidFill>
            <a:srgbClr val="F4F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203704"/>
            <a:ext cx="914400" cy="253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 Black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468880"/>
            <a:ext cx="2011680" cy="299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lang="ru-RU">
                <a:solidFill>
                  <a:srgbClr val="310F53"/>
                </a:solidFill>
                <a:latin typeface="Montserrat Black"/>
              </a:rPr>
              <a:t>Смысл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825496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каждое число и доля сверены со входом</a:t>
            </a:r>
          </a:p>
        </p:txBody>
      </p:sp>
      <p:sp>
        <p:nvSpPr>
          <p:cNvPr id="25" name="Oval 24"/>
          <p:cNvSpPr/>
          <p:nvPr/>
        </p:nvSpPr>
        <p:spPr>
          <a:xfrm>
            <a:off x="8398764" y="2235708"/>
            <a:ext cx="137160" cy="137160"/>
          </a:xfrm>
          <a:prstGeom prst="ellipse">
            <a:avLst/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8714232" y="2843784"/>
            <a:ext cx="301752" cy="0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61704" y="2057400"/>
            <a:ext cx="2377440" cy="1572768"/>
          </a:xfrm>
          <a:prstGeom prst="roundRect">
            <a:avLst>
              <a:gd name="adj" fmla="val 8139"/>
            </a:avLst>
          </a:prstGeom>
          <a:solidFill>
            <a:srgbClr val="F4F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4584" y="2203704"/>
            <a:ext cx="914400" cy="253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 Black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2468880"/>
            <a:ext cx="2011680" cy="299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lang="ru-RU">
                <a:solidFill>
                  <a:srgbClr val="310F53"/>
                </a:solidFill>
                <a:latin typeface="Montserrat Black"/>
              </a:rPr>
              <a:t>Данные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2825496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профиль → задача → вид → вывод с числом</a:t>
            </a:r>
          </a:p>
        </p:txBody>
      </p:sp>
      <p:sp>
        <p:nvSpPr>
          <p:cNvPr id="31" name="Oval 30"/>
          <p:cNvSpPr/>
          <p:nvPr/>
        </p:nvSpPr>
        <p:spPr>
          <a:xfrm>
            <a:off x="11169396" y="2235708"/>
            <a:ext cx="137160" cy="13716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68228" y="2235708"/>
            <a:ext cx="137160" cy="137160"/>
          </a:xfrm>
          <a:prstGeom prst="ellipse">
            <a:avLst/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9808" y="4087368"/>
            <a:ext cx="2377440" cy="1572768"/>
          </a:xfrm>
          <a:prstGeom prst="roundRect">
            <a:avLst>
              <a:gd name="adj" fmla="val 8139"/>
            </a:avLst>
          </a:prstGeom>
          <a:solidFill>
            <a:srgbClr val="F4F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4233672"/>
            <a:ext cx="914400" cy="253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 Black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4498848"/>
            <a:ext cx="2011680" cy="299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lang="ru-RU">
                <a:solidFill>
                  <a:srgbClr val="310F53"/>
                </a:solidFill>
                <a:latin typeface="Montserrat Black"/>
              </a:rPr>
              <a:t>Вёрстка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4855464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на слайды-образцы шаблона и бренда</a:t>
            </a:r>
          </a:p>
        </p:txBody>
      </p:sp>
      <p:sp>
        <p:nvSpPr>
          <p:cNvPr id="37" name="Oval 36"/>
          <p:cNvSpPr/>
          <p:nvPr/>
        </p:nvSpPr>
        <p:spPr>
          <a:xfrm>
            <a:off x="2857500" y="4265676"/>
            <a:ext cx="137160" cy="137160"/>
          </a:xfrm>
          <a:prstGeom prst="ellipse">
            <a:avLst/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3172968" y="4873752"/>
            <a:ext cx="301752" cy="0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520440" y="4087368"/>
            <a:ext cx="2377440" cy="1572768"/>
          </a:xfrm>
          <a:prstGeom prst="roundRect">
            <a:avLst>
              <a:gd name="adj" fmla="val 8139"/>
            </a:avLst>
          </a:prstGeom>
          <a:solidFill>
            <a:srgbClr val="F4F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03320" y="4233672"/>
            <a:ext cx="914400" cy="253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 Black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3320" y="4498848"/>
            <a:ext cx="2011680" cy="299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lang="ru-RU">
                <a:solidFill>
                  <a:srgbClr val="310F53"/>
                </a:solidFill>
                <a:latin typeface="Montserrat Black"/>
              </a:rPr>
              <a:t>Картинки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4855464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Z-Image без надписей, проверка зрением</a:t>
            </a:r>
          </a:p>
        </p:txBody>
      </p:sp>
      <p:sp>
        <p:nvSpPr>
          <p:cNvPr id="43" name="Oval 42"/>
          <p:cNvSpPr/>
          <p:nvPr/>
        </p:nvSpPr>
        <p:spPr>
          <a:xfrm>
            <a:off x="5628132" y="4265676"/>
            <a:ext cx="137160" cy="13716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5943600" y="4873752"/>
            <a:ext cx="301752" cy="0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291072" y="4087368"/>
            <a:ext cx="2377440" cy="1572768"/>
          </a:xfrm>
          <a:prstGeom prst="roundRect">
            <a:avLst>
              <a:gd name="adj" fmla="val 8139"/>
            </a:avLst>
          </a:prstGeom>
          <a:solidFill>
            <a:srgbClr val="F4F1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73952" y="4233672"/>
            <a:ext cx="914400" cy="253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 Black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4498848"/>
            <a:ext cx="2011680" cy="299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lang="ru-RU">
                <a:solidFill>
                  <a:srgbClr val="310F53"/>
                </a:solidFill>
                <a:latin typeface="Montserrat Black"/>
              </a:rPr>
              <a:t>Аудит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3952" y="4855464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73 + 3 проверки, автоисправление</a:t>
            </a:r>
          </a:p>
        </p:txBody>
      </p:sp>
      <p:sp>
        <p:nvSpPr>
          <p:cNvPr id="49" name="Oval 48"/>
          <p:cNvSpPr/>
          <p:nvPr/>
        </p:nvSpPr>
        <p:spPr>
          <a:xfrm>
            <a:off x="8398764" y="4265676"/>
            <a:ext cx="137160" cy="13716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197596" y="4265676"/>
            <a:ext cx="137160" cy="137160"/>
          </a:xfrm>
          <a:prstGeom prst="ellipse">
            <a:avLst/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8714232" y="4873752"/>
            <a:ext cx="301752" cy="0"/>
          </a:xfrm>
          <a:prstGeom prst="line">
            <a:avLst/>
          </a:prstGeom>
          <a:ln w="22225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061704" y="4087368"/>
            <a:ext cx="2377440" cy="1572768"/>
          </a:xfrm>
          <a:prstGeom prst="roundRect">
            <a:avLst>
              <a:gd name="adj" fmla="val 8139"/>
            </a:avLst>
          </a:prstGeom>
          <a:solidFill>
            <a:srgbClr val="310F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44584" y="4233672"/>
            <a:ext cx="914400" cy="253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 Black"/>
              </a:rPr>
              <a:t>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44584" y="4498848"/>
            <a:ext cx="2011680" cy="299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lang="ru-RU">
                <a:solidFill>
                  <a:srgbClr val="FFFFFF"/>
                </a:solidFill>
                <a:latin typeface="Montserrat Black"/>
              </a:rPr>
              <a:t>Экспорт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44584" y="4855464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E9E4F5"/>
                </a:solidFill>
                <a:latin typeface="Montserrat"/>
              </a:rPr>
              <a:t>PPTX с нативными объектами, PDF, HTML</a:t>
            </a:r>
          </a:p>
        </p:txBody>
      </p:sp>
      <p:sp>
        <p:nvSpPr>
          <p:cNvPr id="56" name="Oval 55"/>
          <p:cNvSpPr/>
          <p:nvPr/>
        </p:nvSpPr>
        <p:spPr>
          <a:xfrm>
            <a:off x="11169396" y="4265676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10250424" y="3657600"/>
            <a:ext cx="0" cy="201168"/>
          </a:xfrm>
          <a:prstGeom prst="line">
            <a:avLst/>
          </a:prstGeom>
          <a:ln w="19050">
            <a:solidFill>
              <a:srgbClr val="8A83D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1938528" y="3858768"/>
            <a:ext cx="8311896" cy="0"/>
          </a:xfrm>
          <a:prstGeom prst="line">
            <a:avLst/>
          </a:prstGeom>
          <a:ln w="19050">
            <a:solidFill>
              <a:srgbClr val="8A83D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938528" y="3858768"/>
            <a:ext cx="0" cy="201168"/>
          </a:xfrm>
          <a:prstGeom prst="line">
            <a:avLst/>
          </a:prstGeom>
          <a:ln w="19050">
            <a:solidFill>
              <a:srgbClr val="8A83D1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772668" y="5902452"/>
            <a:ext cx="137160" cy="13716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7552" y="5843016"/>
            <a:ext cx="3657600" cy="253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модель: понимает и пишет</a:t>
            </a:r>
          </a:p>
        </p:txBody>
      </p:sp>
      <p:sp>
        <p:nvSpPr>
          <p:cNvPr id="62" name="Oval 61"/>
          <p:cNvSpPr/>
          <p:nvPr/>
        </p:nvSpPr>
        <p:spPr>
          <a:xfrm>
            <a:off x="3790188" y="5902452"/>
            <a:ext cx="137160" cy="137160"/>
          </a:xfrm>
          <a:prstGeom prst="ellipse">
            <a:avLst/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05072" y="5843016"/>
            <a:ext cx="3657600" cy="253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код: считает, сверяет, верстает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32320" y="5843016"/>
            <a:ext cx="4306824" cy="253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правка → агенту, только нужный слайд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51777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3243453" cy="376138"/>
          </a:xfrm>
        </p:spPr>
        <p:txBody>
          <a:bodyPr wrap="none">
            <a:noAutofit/>
          </a:bodyPr>
          <a:lstStyle/>
          <a:p>
            <a:r>
              <a:rPr/>
              <a:t>ДАННЫЕ → ВЫВОДЫ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  <a:latin typeface="Montserrat"/>
              </a:rPr>
              <a:pPr/>
              <a:t>18</a:t>
            </a:fld>
            <a:endParaRPr lang="ru-RU" dirty="0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310F53"/>
                </a:solidFill>
                <a:latin typeface="Montserrat Black"/>
              </a:rPr>
              <a:t>Вид графика выбирают данные, а не формат файла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" y="1965960"/>
            <a:ext cx="6720840" cy="3245200"/>
          </a:xfrm>
          <a:prstGeom prst="roundRect">
            <a:avLst>
              <a:gd name="adj" fmla="val 3381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ui-wh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057400"/>
            <a:ext cx="6537960" cy="3062320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21208" y="5339176"/>
            <a:ext cx="6720840" cy="4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«Почему так» у каждого слайда: профиль файла и три варианта визуализации с причинами, лучший по данным — первым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2039112"/>
            <a:ext cx="128016" cy="128016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965960"/>
            <a:ext cx="3803904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Профиль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276856"/>
            <a:ext cx="3803904" cy="719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типы колонок, измерения и метрики, ось времени, пропуски, выбросы, размер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3289325"/>
            <a:ext cx="128016" cy="128016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3216173"/>
            <a:ext cx="3803904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2–3 варианта с причинами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527069"/>
            <a:ext cx="3803904" cy="4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другой вид — кнопкой «Пересобрать слайд так»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4311777"/>
            <a:ext cx="128016" cy="128016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238625"/>
            <a:ext cx="3803904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Цель из текста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549521"/>
            <a:ext cx="3803904" cy="4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«покажи рост», «есть ли связь» меняют задачу и вид графика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5334229"/>
            <a:ext cx="128016" cy="128016"/>
          </a:xfrm>
          <a:prstGeom prst="rect">
            <a:avLst/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5261077"/>
            <a:ext cx="3803904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Сложные случаи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571973"/>
            <a:ext cx="3803904" cy="719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240 строк → топ-10 и «остальные 230»; пропуск — разрыв линии; без чисел — сообщение и таблица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447471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4200398" cy="376138"/>
          </a:xfrm>
        </p:spPr>
        <p:txBody>
          <a:bodyPr wrap="none">
            <a:noAutofit/>
          </a:bodyPr>
          <a:lstStyle/>
          <a:p>
            <a:r>
              <a:rPr/>
              <a:t>ИНТЕРПРЕТАЦИЯ ДАННЫХ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  <a:latin typeface="Montserrat"/>
              </a:rPr>
              <a:pPr/>
              <a:t>18</a:t>
            </a:fld>
            <a:endParaRPr lang="ru-RU" dirty="0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FFFFFF"/>
                </a:solidFill>
                <a:latin typeface="Montserrat Black"/>
              </a:rPr>
              <a:t>Семь наборов данных — семь разных решений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" y="1783080"/>
            <a:ext cx="2651760" cy="2159127"/>
          </a:xfrm>
          <a:prstGeom prst="roundRect">
            <a:avLst>
              <a:gd name="adj" fmla="val 592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d01-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56232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49224" y="3356991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Временной ряд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3603879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"/>
              </a:rPr>
              <a:t>→ линейный график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800" y="1783080"/>
            <a:ext cx="2651760" cy="2159127"/>
          </a:xfrm>
          <a:prstGeom prst="roundRect">
            <a:avLst>
              <a:gd name="adj" fmla="val 592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d01-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5952" y="1856232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3480816" y="3356991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Сравнение категорий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816" y="3603879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"/>
              </a:rPr>
              <a:t>→ полосы по убыванию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4392" y="1783080"/>
            <a:ext cx="2651760" cy="2159127"/>
          </a:xfrm>
          <a:prstGeom prst="roundRect">
            <a:avLst>
              <a:gd name="adj" fmla="val 592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d01-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544" y="1856232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312408" y="3356991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Структура долей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2408" y="3603879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"/>
              </a:rPr>
              <a:t>→ кольцевая диаграмма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5984" y="1783080"/>
            <a:ext cx="2651760" cy="2159127"/>
          </a:xfrm>
          <a:prstGeom prst="roundRect">
            <a:avLst>
              <a:gd name="adj" fmla="val 592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d01-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36" y="1856232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9144000" y="3356991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Распределение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603879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"/>
              </a:rPr>
              <a:t>→ гистограмма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" y="4051935"/>
            <a:ext cx="2651760" cy="2159127"/>
          </a:xfrm>
          <a:prstGeom prst="roundRect">
            <a:avLst>
              <a:gd name="adj" fmla="val 592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d01-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125087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649224" y="5625846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Справочник, 240 строк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5872734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"/>
              </a:rPr>
              <a:t>→ топ-10 и «остальные»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52800" y="4051935"/>
            <a:ext cx="2651760" cy="2159127"/>
          </a:xfrm>
          <a:prstGeom prst="roundRect">
            <a:avLst>
              <a:gd name="adj" fmla="val 592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d01-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5952" y="4125087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3480816" y="5625846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Данные с пропусками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0816" y="5872734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"/>
              </a:rPr>
              <a:t>→ линия с разрывами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4392" y="4051935"/>
            <a:ext cx="2651760" cy="2159127"/>
          </a:xfrm>
          <a:prstGeom prst="roundRect">
            <a:avLst>
              <a:gd name="adj" fmla="val 592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d01-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7544" y="4125087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6312408" y="5625846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Текст с таблицей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2408" y="5872734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FF0053"/>
                </a:solidFill>
                <a:latin typeface="Montserrat"/>
              </a:rPr>
              <a:t>→ карточки показателей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15984" y="4051935"/>
            <a:ext cx="2651760" cy="2159127"/>
          </a:xfrm>
          <a:prstGeom prst="roundRect">
            <a:avLst>
              <a:gd name="adj" fmla="val 5929"/>
            </a:avLst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17152" y="4234815"/>
            <a:ext cx="2249424" cy="17933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lang="ru-RU">
                <a:solidFill>
                  <a:srgbClr val="FFFFFF"/>
                </a:solidFill>
                <a:latin typeface="Montserrat"/>
              </a:rPr>
              <a:t>Вход</a:t>
            </a:r>
          </a:p>
          <a:p>
            <a:pPr algn="l">
              <a:lnSpc>
                <a:spcPct val="108000"/>
              </a:lnSpc>
            </a:pPr>
            <a:r>
              <a:rPr sz="1400" b="0" lang="ru-RU">
                <a:solidFill>
                  <a:srgbClr val="FFFFFF"/>
                </a:solidFill>
                <a:latin typeface="Montserrat"/>
              </a:rPr>
              <a:t>бриф правлению, 7 файлов CSV, XLSX, JSON и TXT, брендбук VK Cloud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578980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5515483" cy="376138"/>
          </a:xfrm>
        </p:spPr>
        <p:txBody>
          <a:bodyPr wrap="none">
            <a:noAutofit/>
          </a:bodyPr>
          <a:lstStyle/>
          <a:p>
            <a:r>
              <a:rPr/>
              <a:t>ОДИН НАБОР — РАЗНЫЕ ШАБЛОНЫ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  <a:latin typeface="Montserrat"/>
              </a:rPr>
              <a:pPr/>
              <a:t>18</a:t>
            </a:fld>
            <a:endParaRPr lang="ru-RU" dirty="0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310F53"/>
                </a:solidFill>
                <a:latin typeface="Montserrat Black"/>
              </a:rPr>
              <a:t>Один набор данных — один вид графика на любом шаблоне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9736" y="190195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VK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91456" y="190195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Growing Liberty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3176" y="190195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Midnightblue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54896" y="190195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634044"/>
            <a:ext cx="172821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Доли</a:t>
            </a:r>
          </a:p>
          <a:p>
            <a:pPr algn="l">
              <a:lnSpc>
                <a:spcPct val="100000"/>
              </a:lnSpc>
            </a:pPr>
            <a:r>
              <a:rPr sz="1600" b="0" lang="ru-RU">
                <a:solidFill>
                  <a:srgbClr val="FF0053"/>
                </a:solidFill>
                <a:latin typeface="Montserrat"/>
              </a:rPr>
              <a:t>→ кольцо</a:t>
            </a:r>
          </a:p>
        </p:txBody>
      </p:sp>
      <p:pic>
        <p:nvPicPr>
          <p:cNvPr id="12" name="Picture 11" descr="cmp-vkedu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36" y="2286000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pic>
        <p:nvPicPr>
          <p:cNvPr id="13" name="Picture 12" descr="cmp-gl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286000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pic>
        <p:nvPicPr>
          <p:cNvPr id="14" name="Picture 13" descr="cmp-midnight-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176" y="2286000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pic>
        <p:nvPicPr>
          <p:cNvPr id="15" name="Picture 14" descr="cmp-lights-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4896" y="2286000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521208" y="3997642"/>
            <a:ext cx="172821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Динамика</a:t>
            </a:r>
          </a:p>
          <a:p>
            <a:pPr algn="l">
              <a:lnSpc>
                <a:spcPct val="100000"/>
              </a:lnSpc>
            </a:pPr>
            <a:r>
              <a:rPr sz="1600" b="0" lang="ru-RU">
                <a:solidFill>
                  <a:srgbClr val="FF0053"/>
                </a:solidFill>
                <a:latin typeface="Montserrat"/>
              </a:rPr>
              <a:t>→ линия</a:t>
            </a:r>
          </a:p>
        </p:txBody>
      </p:sp>
      <p:pic>
        <p:nvPicPr>
          <p:cNvPr id="17" name="Picture 16" descr="cmp-vkedu-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9736" y="3649599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pic>
        <p:nvPicPr>
          <p:cNvPr id="18" name="Picture 17" descr="cmp-gl-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1456" y="3649599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pic>
        <p:nvPicPr>
          <p:cNvPr id="19" name="Picture 18" descr="cmp-midnight-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3176" y="3649599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pic>
        <p:nvPicPr>
          <p:cNvPr id="20" name="Picture 19" descr="cmp-lights-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54896" y="3649599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21208" y="5361242"/>
            <a:ext cx="172821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Сравнение</a:t>
            </a:r>
          </a:p>
          <a:p>
            <a:pPr algn="l">
              <a:lnSpc>
                <a:spcPct val="100000"/>
              </a:lnSpc>
            </a:pPr>
            <a:r>
              <a:rPr sz="1600" b="0" lang="ru-RU">
                <a:solidFill>
                  <a:srgbClr val="FF0053"/>
                </a:solidFill>
                <a:latin typeface="Montserrat"/>
              </a:rPr>
              <a:t>→ полосы</a:t>
            </a:r>
          </a:p>
        </p:txBody>
      </p:sp>
      <p:pic>
        <p:nvPicPr>
          <p:cNvPr id="22" name="Picture 21" descr="cmp-vkedu-3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9736" y="5013198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pic>
        <p:nvPicPr>
          <p:cNvPr id="23" name="Picture 22" descr="cmp-gl-3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91456" y="5013198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pic>
        <p:nvPicPr>
          <p:cNvPr id="24" name="Picture 23" descr="cmp-midnight-3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23176" y="5013198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pic>
        <p:nvPicPr>
          <p:cNvPr id="25" name="Picture 24" descr="cmp-lights-3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54896" y="5013198"/>
            <a:ext cx="2212848" cy="1244727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456615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4291838" cy="376138"/>
          </a:xfrm>
        </p:spPr>
        <p:txBody>
          <a:bodyPr wrap="none">
            <a:noAutofit/>
          </a:bodyPr>
          <a:lstStyle/>
          <a:p>
            <a:r>
              <a:rPr/>
              <a:t>БРЕНДБУК И БАЗА ЗНАНИЙ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  <a:latin typeface="Montserrat"/>
              </a:rPr>
              <a:pPr/>
              <a:t>18</a:t>
            </a:fld>
            <a:endParaRPr lang="ru-RU" dirty="0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FFFFFF"/>
                </a:solidFill>
                <a:latin typeface="Montserrat Black"/>
              </a:rPr>
              <a:t>Бренд важнее шаблона, факты — из базы знаний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" y="1828800"/>
            <a:ext cx="6675120" cy="43891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11680"/>
            <a:ext cx="6217920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lang="ru-RU">
                <a:solidFill>
                  <a:srgbClr val="310F53"/>
                </a:solidFill>
                <a:latin typeface="Montserrat Black"/>
              </a:rPr>
              <a:t>Брендбук в любой форме</a:t>
            </a:r>
          </a:p>
        </p:txBody>
      </p:sp>
      <p:pic>
        <p:nvPicPr>
          <p:cNvPr id="9" name="Picture 8" descr="ui-brand-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423160"/>
            <a:ext cx="6217920" cy="2472874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49808" y="5097202"/>
            <a:ext cx="701421" cy="347472"/>
          </a:xfrm>
          <a:prstGeom prst="roundRect">
            <a:avLst>
              <a:gd name="adj" fmla="val 50000"/>
            </a:avLst>
          </a:prstGeom>
          <a:solidFill>
            <a:srgbClr val="FF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097202"/>
            <a:ext cx="70142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FF0053"/>
                </a:solidFill>
                <a:latin typeface="Montserrat"/>
              </a:rPr>
              <a:t>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42669" y="5097202"/>
            <a:ext cx="1580261" cy="347472"/>
          </a:xfrm>
          <a:prstGeom prst="roundRect">
            <a:avLst>
              <a:gd name="adj" fmla="val 50000"/>
            </a:avLst>
          </a:prstGeom>
          <a:solidFill>
            <a:srgbClr val="FF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42669" y="5097202"/>
            <a:ext cx="158026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FF0053"/>
                </a:solidFill>
                <a:latin typeface="Montserrat"/>
              </a:rPr>
              <a:t>токены 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4370" y="5097202"/>
            <a:ext cx="898906" cy="347472"/>
          </a:xfrm>
          <a:prstGeom prst="roundRect">
            <a:avLst>
              <a:gd name="adj" fmla="val 50000"/>
            </a:avLst>
          </a:prstGeom>
          <a:solidFill>
            <a:srgbClr val="FF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4370" y="5097202"/>
            <a:ext cx="89890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FF0053"/>
                </a:solidFill>
                <a:latin typeface="Montserrat"/>
              </a:rPr>
              <a:t>Figma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4716" y="5097202"/>
            <a:ext cx="1156716" cy="347472"/>
          </a:xfrm>
          <a:prstGeom prst="roundRect">
            <a:avLst>
              <a:gd name="adj" fmla="val 50000"/>
            </a:avLst>
          </a:prstGeom>
          <a:solidFill>
            <a:srgbClr val="FF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4716" y="5097202"/>
            <a:ext cx="11567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FF0053"/>
                </a:solidFill>
                <a:latin typeface="Montserrat"/>
              </a:rPr>
              <a:t>файл .fig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52872" y="5097202"/>
            <a:ext cx="1361821" cy="347472"/>
          </a:xfrm>
          <a:prstGeom prst="roundRect">
            <a:avLst>
              <a:gd name="adj" fmla="val 50000"/>
            </a:avLst>
          </a:prstGeom>
          <a:solidFill>
            <a:srgbClr val="FF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2872" y="5097202"/>
            <a:ext cx="136182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FF0053"/>
                </a:solidFill>
                <a:latin typeface="Montserrat"/>
              </a:rPr>
              <a:t>папка / ZIP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572690"/>
            <a:ext cx="6217920" cy="253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Бренд побеждает шаблон; без брендбука — только шаблон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79208" y="1828800"/>
            <a:ext cx="4288536" cy="4389120"/>
          </a:xfrm>
          <a:prstGeom prst="roundRect">
            <a:avLst>
              <a:gd name="adj" fmla="val 38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7808" y="2011680"/>
            <a:ext cx="3831336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lang="ru-RU">
                <a:solidFill>
                  <a:srgbClr val="310F53"/>
                </a:solidFill>
                <a:latin typeface="Montserrat Black"/>
              </a:rPr>
              <a:t>База знаний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2423160"/>
            <a:ext cx="3831336" cy="719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Документы и ссылки: по ним агент пишет текст и сверяет факты, источник — в заметках к слайду</a:t>
            </a:r>
          </a:p>
        </p:txBody>
      </p:sp>
      <p:pic>
        <p:nvPicPr>
          <p:cNvPr id="24" name="Picture 23" descr="d02-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3307613"/>
            <a:ext cx="3831336" cy="2155126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7607808" y="5590756"/>
            <a:ext cx="3831336" cy="470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Цель — из меморандума,</a:t>
            </a:r>
          </a:p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факт — из таблицы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2834640" cy="376138"/>
          </a:xfrm>
        </p:spPr>
        <p:txBody>
          <a:bodyPr wrap="none">
            <a:noAutofit/>
          </a:bodyPr>
          <a:lstStyle/>
          <a:p>
            <a:r>
              <a:rPr/>
              <a:t>ДЕМО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  <a:latin typeface="Montserrat"/>
              </a:rPr>
              <a:pPr/>
              <a:t>18</a:t>
            </a:fld>
            <a:endParaRPr lang="ru-RU" dirty="0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310F53"/>
                </a:solidFill>
                <a:latin typeface="Montserrat Black"/>
              </a:rPr>
              <a:t>Готовые колоды — слайды без правок руками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" y="1783080"/>
            <a:ext cx="2651760" cy="2159127"/>
          </a:xfrm>
          <a:prstGeom prst="roundRect">
            <a:avLst>
              <a:gd name="adj" fmla="val 5929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d03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56232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49224" y="3356991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VK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3603879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текст → 15 слайдов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800" y="1783080"/>
            <a:ext cx="2651760" cy="2159127"/>
          </a:xfrm>
          <a:prstGeom prst="roundRect">
            <a:avLst>
              <a:gd name="adj" fmla="val 5929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d04-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5952" y="1856232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3480816" y="3356991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VK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816" y="3603879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доклад → 15 слайдов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4392" y="1783080"/>
            <a:ext cx="2651760" cy="2159127"/>
          </a:xfrm>
          <a:prstGeom prst="roundRect">
            <a:avLst>
              <a:gd name="adj" fmla="val 5929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d06-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544" y="1856232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312408" y="3356991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VK Education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2408" y="3603879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план урока → 12 слайдов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5984" y="1783080"/>
            <a:ext cx="2651760" cy="2159127"/>
          </a:xfrm>
          <a:prstGeom prst="roundRect">
            <a:avLst>
              <a:gd name="adj" fmla="val 5929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d07-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36" y="1856232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9144000" y="3356991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Незнакомый шаблон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603879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бизнес-план, 13 слайдов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" y="4051935"/>
            <a:ext cx="2651760" cy="2159127"/>
          </a:xfrm>
          <a:prstGeom prst="roundRect">
            <a:avLst>
              <a:gd name="adj" fmla="val 5929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d01-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125087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649224" y="5625846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VK Tech + VK 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5872734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данные + брендбук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52800" y="4051935"/>
            <a:ext cx="2651760" cy="2159127"/>
          </a:xfrm>
          <a:prstGeom prst="roundRect">
            <a:avLst>
              <a:gd name="adj" fmla="val 5929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d01lct-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5952" y="4125087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3480816" y="5625846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ЛЦТ + бренд VK Cloud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0816" y="5872734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те же данные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4392" y="4051935"/>
            <a:ext cx="2651760" cy="2159127"/>
          </a:xfrm>
          <a:prstGeom prst="roundRect">
            <a:avLst>
              <a:gd name="adj" fmla="val 5929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d02-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7544" y="4125087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6312408" y="5625846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ЛЦТ + база знаний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2408" y="5872734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таблица и меморандум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15984" y="4051935"/>
            <a:ext cx="2651760" cy="2159127"/>
          </a:xfrm>
          <a:prstGeom prst="roundRect">
            <a:avLst>
              <a:gd name="adj" fmla="val 5929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cmp-glvis-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9136" y="4125087"/>
            <a:ext cx="2505456" cy="1409319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9144000" y="5625846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Growing Liberty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872734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сторонний шаблон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21868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2944368" cy="376138"/>
          </a:xfrm>
        </p:spPr>
        <p:txBody>
          <a:bodyPr wrap="none">
            <a:noAutofit/>
          </a:bodyPr>
          <a:lstStyle/>
          <a:p>
            <a:r>
              <a:rPr/>
              <a:t>ПРАВКИ АГЕНТОМ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  <a:latin typeface="Montserrat"/>
              </a:rPr>
              <a:pPr/>
              <a:t>18</a:t>
            </a:fld>
            <a:endParaRPr lang="ru-RU" dirty="0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FFFFFF"/>
                </a:solidFill>
                <a:latin typeface="Montserrat Black"/>
              </a:rPr>
              <a:t>Правки словами — агент меняет только нужный слайд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" y="1828800"/>
            <a:ext cx="5481828" cy="43891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ui-remarks-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11680"/>
            <a:ext cx="5024628" cy="3140392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49808" y="5298376"/>
            <a:ext cx="5024628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«Исправить слайд»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609272"/>
            <a:ext cx="5024628" cy="4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замечание «Взгляда дизайнера» видно прямо на слайде, правка — одной кнопкой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5916" y="1828800"/>
            <a:ext cx="5481828" cy="43891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ui-chat-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516" y="2011680"/>
            <a:ext cx="5024628" cy="3140392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414516" y="5298376"/>
            <a:ext cx="5024628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Помощник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4516" y="5609272"/>
            <a:ext cx="5024628" cy="4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«покажи таблицей», «короче», «почему слайд 4 такой?» — ответ и правка в чате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98767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3713353" cy="376138"/>
          </a:xfrm>
        </p:spPr>
        <p:txBody>
          <a:bodyPr wrap="none">
            <a:noAutofit/>
          </a:bodyPr>
          <a:lstStyle/>
          <a:p>
            <a:r>
              <a:rPr/>
              <a:t>АРХИТЕКТУРА АУДИТА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  <a:latin typeface="Montserrat"/>
              </a:rPr>
              <a:pPr/>
              <a:t>18</a:t>
            </a:fld>
            <a:endParaRPr lang="ru-RU" dirty="0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310F53"/>
                </a:solidFill>
                <a:latin typeface="Montserrat Black"/>
              </a:rPr>
              <a:t>76 проверок качества и автоисправление с откатом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847088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0" lang="ru-RU">
                <a:solidFill>
                  <a:srgbClr val="FF0053"/>
                </a:solidFill>
                <a:latin typeface="Montserrat Black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938528"/>
            <a:ext cx="3566160" cy="299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детерминированные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267712"/>
            <a:ext cx="3566160" cy="719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по XML, метрикам шрифта и исходным файлам; 15 из них — для слайдов с данными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3218688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0" lang="ru-RU">
                <a:solidFill>
                  <a:srgbClr val="FF0053"/>
                </a:solidFill>
                <a:latin typeface="Montserrat Blac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310128"/>
            <a:ext cx="3566160" cy="299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модельные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639312"/>
            <a:ext cx="3566160" cy="719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11 вопросов ТЗ по картинке слайда, связность колоды, «Взгляд дизайнера»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874520"/>
            <a:ext cx="5678424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029968"/>
            <a:ext cx="5129784" cy="253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Детерминированные проверки по категориям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45059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310F53"/>
                </a:solidFill>
                <a:latin typeface="Montserrat"/>
              </a:rPr>
              <a:t>Контент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505456"/>
            <a:ext cx="3118104" cy="18288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73384" y="24505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86207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310F53"/>
                </a:solidFill>
                <a:latin typeface="Montserrat"/>
              </a:rPr>
              <a:t>Целостность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2916936"/>
            <a:ext cx="2806294" cy="182880"/>
          </a:xfrm>
          <a:prstGeom prst="roundRect">
            <a:avLst>
              <a:gd name="adj" fmla="val 50000"/>
            </a:avLst>
          </a:prstGeom>
          <a:solidFill>
            <a:srgbClr val="8A83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61574" y="28620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27355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310F53"/>
                </a:solidFill>
                <a:latin typeface="Montserrat"/>
              </a:rPr>
              <a:t>Вёрстка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328416"/>
            <a:ext cx="2494483" cy="182880"/>
          </a:xfrm>
          <a:prstGeom prst="roundRect">
            <a:avLst>
              <a:gd name="adj" fmla="val 50000"/>
            </a:avLst>
          </a:prstGeom>
          <a:solidFill>
            <a:srgbClr val="8A83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49763" y="32735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6850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310F53"/>
                </a:solidFill>
                <a:latin typeface="Montserrat"/>
              </a:rPr>
              <a:t>Шаблон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3739896"/>
            <a:ext cx="2182673" cy="182880"/>
          </a:xfrm>
          <a:prstGeom prst="roundRect">
            <a:avLst>
              <a:gd name="adj" fmla="val 50000"/>
            </a:avLst>
          </a:prstGeom>
          <a:solidFill>
            <a:srgbClr val="8A83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37953" y="3685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0965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310F53"/>
                </a:solidFill>
                <a:latin typeface="Montserrat"/>
              </a:rPr>
              <a:t>Плотность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151376"/>
            <a:ext cx="779526" cy="182880"/>
          </a:xfrm>
          <a:prstGeom prst="roundRect">
            <a:avLst>
              <a:gd name="adj" fmla="val 50000"/>
            </a:avLst>
          </a:prstGeom>
          <a:solidFill>
            <a:srgbClr val="8A83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34806" y="4096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1208" y="4892040"/>
            <a:ext cx="1139825" cy="457200"/>
          </a:xfrm>
          <a:prstGeom prst="roundRect">
            <a:avLst>
              <a:gd name="adj" fmla="val 50000"/>
            </a:avLst>
          </a:prstGeom>
          <a:solidFill>
            <a:srgbClr val="F4F1FA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" y="4892040"/>
            <a:ext cx="113982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Рендер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715897" y="5120640"/>
            <a:ext cx="546005" cy="0"/>
          </a:xfrm>
          <a:prstGeom prst="line">
            <a:avLst/>
          </a:prstGeom>
          <a:ln w="19050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316766" y="4892040"/>
            <a:ext cx="1009015" cy="457200"/>
          </a:xfrm>
          <a:prstGeom prst="roundRect">
            <a:avLst>
              <a:gd name="adj" fmla="val 50000"/>
            </a:avLst>
          </a:prstGeom>
          <a:solidFill>
            <a:srgbClr val="F4F1FA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16766" y="4892040"/>
            <a:ext cx="10090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Аудит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380645" y="5120640"/>
            <a:ext cx="546005" cy="0"/>
          </a:xfrm>
          <a:prstGeom prst="line">
            <a:avLst/>
          </a:prstGeom>
          <a:ln w="19050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981513" y="4892040"/>
            <a:ext cx="2166620" cy="457200"/>
          </a:xfrm>
          <a:prstGeom prst="roundRect">
            <a:avLst>
              <a:gd name="adj" fmla="val 50000"/>
            </a:avLst>
          </a:prstGeom>
          <a:solidFill>
            <a:srgbClr val="F4F1FA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81513" y="4892040"/>
            <a:ext cx="21666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Автоисправление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202997" y="5120640"/>
            <a:ext cx="546005" cy="0"/>
          </a:xfrm>
          <a:prstGeom prst="line">
            <a:avLst/>
          </a:prstGeom>
          <a:ln w="19050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803866" y="4892040"/>
            <a:ext cx="2132330" cy="457200"/>
          </a:xfrm>
          <a:prstGeom prst="roundRect">
            <a:avLst>
              <a:gd name="adj" fmla="val 50000"/>
            </a:avLst>
          </a:prstGeom>
          <a:solidFill>
            <a:srgbClr val="F4F1FA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03866" y="4892040"/>
            <a:ext cx="213233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Повторный аудит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991060" y="5120640"/>
            <a:ext cx="546005" cy="0"/>
          </a:xfrm>
          <a:prstGeom prst="line">
            <a:avLst/>
          </a:prstGeom>
          <a:ln w="19050">
            <a:solidFill>
              <a:srgbClr val="8A83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591929" y="4892040"/>
            <a:ext cx="2075815" cy="45720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91929" y="4892040"/>
            <a:ext cx="20758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lang="ru-RU">
                <a:solidFill>
                  <a:srgbClr val="FFFFFF"/>
                </a:solidFill>
                <a:latin typeface="Montserrat"/>
              </a:rPr>
              <a:t>Откат, если хуже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" y="5577840"/>
            <a:ext cx="11146536" cy="5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Оценка = 100 − 10 × ошибки − 3 × предупреждения − 2 × замечания модели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Не больше двух итераций; числа слайдов с данными пересчитываются по сырым строкам файла ещё до вёрстки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4629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2871978" cy="376138"/>
          </a:xfrm>
        </p:spPr>
        <p:txBody>
          <a:bodyPr wrap="none">
            <a:noAutofit/>
          </a:bodyPr>
          <a:lstStyle/>
          <a:p>
            <a:r>
              <a:rPr/>
              <a:t>ЭФФЕКТИВНОСТЬ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  <a:latin typeface="Montserrat"/>
              </a:rPr>
              <a:pPr/>
              <a:t>18</a:t>
            </a:fld>
            <a:endParaRPr lang="ru-RU" dirty="0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FFFFFF"/>
                </a:solidFill>
                <a:latin typeface="Montserrat Black"/>
              </a:rPr>
              <a:t>Три варианта колоды с данными — за 26–80 секунд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" y="1783080"/>
            <a:ext cx="2651760" cy="1298448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883664"/>
            <a:ext cx="2286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lang="ru-RU">
                <a:solidFill>
                  <a:srgbClr val="FF0053"/>
                </a:solidFill>
                <a:latin typeface="Montserrat Black"/>
              </a:rPr>
              <a:t>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414016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проверок качества: 73 кодом и 3 моделью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2800" y="1783080"/>
            <a:ext cx="2651760" cy="1298448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3968" y="1883664"/>
            <a:ext cx="2286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lang="ru-RU">
                <a:solidFill>
                  <a:srgbClr val="FF0053"/>
                </a:solidFill>
                <a:latin typeface="Montserrat Black"/>
              </a:rPr>
              <a:t>6 098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968" y="2414016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тестов: 5 294 + 48 + 756 интерфейса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4392" y="1783080"/>
            <a:ext cx="2651760" cy="1298448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5560" y="1883664"/>
            <a:ext cx="2286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lang="ru-RU">
                <a:solidFill>
                  <a:srgbClr val="FF0053"/>
                </a:solidFill>
                <a:latin typeface="Montserrat Black"/>
              </a:rPr>
              <a:t>523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5560" y="2414016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вызова модели — ни одного сбоя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5984" y="1783080"/>
            <a:ext cx="2651760" cy="1298448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1883664"/>
            <a:ext cx="2286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lang="ru-RU">
                <a:solidFill>
                  <a:srgbClr val="FF0053"/>
                </a:solidFill>
                <a:latin typeface="Montserrat Black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2414016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закрытых API: только открытые веса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" y="3246120"/>
            <a:ext cx="11146536" cy="29718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4015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Время сборки трёх вариантов, секунды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7124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Замеры 20.10 через API на инференсе VK; дословный режим — 33–52 с, интерфейс — 26 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3474720"/>
            <a:ext cx="274320" cy="164592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34198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данные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3474720"/>
            <a:ext cx="274320" cy="164592"/>
          </a:xfrm>
          <a:prstGeom prst="roundRect">
            <a:avLst>
              <a:gd name="adj" fmla="val 50000"/>
            </a:avLst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341985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данные + база знаний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16052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VK Tech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4600" y="4160520"/>
            <a:ext cx="2316480" cy="18288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22520" y="412394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80 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14600" y="4389120"/>
            <a:ext cx="2055876" cy="182880"/>
          </a:xfrm>
          <a:prstGeom prst="roundRect">
            <a:avLst>
              <a:gd name="adj" fmla="val 50000"/>
            </a:avLst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1916" y="435254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71 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4672584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VK WorkSpace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4672584"/>
            <a:ext cx="1389888" cy="18288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95928" y="463600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48 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14600" y="4901184"/>
            <a:ext cx="1969008" cy="182880"/>
          </a:xfrm>
          <a:prstGeom prst="roundRect">
            <a:avLst>
              <a:gd name="adj" fmla="val 50000"/>
            </a:avLst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5048" y="486460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68 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" y="5184648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VK Education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14600" y="5184648"/>
            <a:ext cx="1389888" cy="18288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95928" y="514807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48 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14600" y="5413248"/>
            <a:ext cx="1447800" cy="182880"/>
          </a:xfrm>
          <a:prstGeom prst="roundRect">
            <a:avLst>
              <a:gd name="adj" fmla="val 50000"/>
            </a:avLst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53840" y="537667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50 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" y="5696712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ЛЦТ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14600" y="5696712"/>
            <a:ext cx="1563624" cy="18288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69664" y="566013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54 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14600" y="5925312"/>
            <a:ext cx="2258568" cy="182880"/>
          </a:xfrm>
          <a:prstGeom prst="roundRect">
            <a:avLst>
              <a:gd name="adj" fmla="val 50000"/>
            </a:avLst>
          </a:prstGeom>
          <a:solidFill>
            <a:srgbClr val="5209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64608" y="588873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lang="ru-RU">
                <a:solidFill>
                  <a:srgbClr val="310F53"/>
                </a:solidFill>
                <a:latin typeface="Montserrat"/>
              </a:rPr>
              <a:t>78 с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1201400" y="4114800"/>
            <a:ext cx="0" cy="1938528"/>
          </a:xfrm>
          <a:prstGeom prst="line">
            <a:avLst/>
          </a:prstGeom>
          <a:ln w="15875">
            <a:solidFill>
              <a:srgbClr val="FF005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686800" y="57607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lang="ru-RU">
                <a:solidFill>
                  <a:srgbClr val="FF0053"/>
                </a:solidFill>
                <a:latin typeface="Montserrat"/>
              </a:rPr>
              <a:t>лимит ТЗ — 300 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2834640" cy="376138"/>
          </a:xfrm>
        </p:spPr>
        <p:txBody>
          <a:bodyPr wrap="none">
            <a:noAutofit/>
          </a:bodyPr>
          <a:lstStyle/>
          <a:p>
            <a:r>
              <a:rPr/>
              <a:t>ВЫВОДЫ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  <a:latin typeface="Montserrat"/>
              </a:rPr>
              <a:pPr/>
              <a:t>18</a:t>
            </a:fld>
            <a:endParaRPr lang="ru-RU" dirty="0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310F53"/>
                </a:solidFill>
                <a:latin typeface="Montserrat Black"/>
              </a:rPr>
              <a:t>Verstka собирает презентацию, которая объясняет</a:t>
            </a:r>
          </a:p>
        </p:txBody>
      </p:sp>
      <p:sp>
        <p:nvSpPr>
          <p:cNvPr id="7" name="Oval 6"/>
          <p:cNvSpPr/>
          <p:nvPr/>
        </p:nvSpPr>
        <p:spPr>
          <a:xfrm>
            <a:off x="521208" y="1965960"/>
            <a:ext cx="420624" cy="420624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993392"/>
            <a:ext cx="4572000" cy="299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Данные → выводы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13432"/>
            <a:ext cx="4572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вид графика по профилю данных, заголовок — вывод с числом, числа сверены с файлом</a:t>
            </a:r>
          </a:p>
        </p:txBody>
      </p:sp>
      <p:sp>
        <p:nvSpPr>
          <p:cNvPr id="10" name="Oval 9"/>
          <p:cNvSpPr/>
          <p:nvPr/>
        </p:nvSpPr>
        <p:spPr>
          <a:xfrm>
            <a:off x="521208" y="3044952"/>
            <a:ext cx="420624" cy="420624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72384"/>
            <a:ext cx="4572000" cy="299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Любой шаблон и брендбук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92424"/>
            <a:ext cx="4572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PDF, токены, Figma, .fig; бренд важнее шаблона, без брендбука — по шаблону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" y="4123944"/>
            <a:ext cx="420624" cy="420624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51376"/>
            <a:ext cx="4572000" cy="299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Быстро и на открытых моделях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71416"/>
            <a:ext cx="4572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три варианта за 26–80 с; Qwen3.8-27B и Z-Image на инференсе VK</a:t>
            </a:r>
          </a:p>
        </p:txBody>
      </p:sp>
      <p:sp>
        <p:nvSpPr>
          <p:cNvPr id="16" name="Oval 15"/>
          <p:cNvSpPr/>
          <p:nvPr/>
        </p:nvSpPr>
        <p:spPr>
          <a:xfrm>
            <a:off x="521208" y="5202936"/>
            <a:ext cx="420624" cy="420624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FFFFFF"/>
                </a:solidFill>
                <a:latin typeface="Montserrat Black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230368"/>
            <a:ext cx="4572000" cy="299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10F53"/>
                </a:solidFill>
                <a:latin typeface="Montserrat"/>
              </a:rPr>
              <a:t>Прозрачно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550408"/>
            <a:ext cx="4572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«Почему так» у каждого слайда, 76 проверок, правки словами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965960"/>
            <a:ext cx="5495544" cy="3171254"/>
          </a:xfrm>
          <a:prstGeom prst="roundRect">
            <a:avLst>
              <a:gd name="adj" fmla="val 3460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d01-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57400"/>
            <a:ext cx="5312664" cy="2988374"/>
          </a:xfrm>
          <a:prstGeom prst="rect">
            <a:avLst/>
          </a:prstGeom>
          <a:ln w="9525">
            <a:solidFill>
              <a:srgbClr val="DCD5E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6172200" y="5274374"/>
            <a:ext cx="5495544" cy="2643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Заголовок-вывод с числом, оси, единицы и источник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/>
      <p:sp>
        <p:nvSpPr>
          <p:cNvPr id="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089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421226"/>
            <a:ext cx="2834640" cy="376138"/>
          </a:xfrm>
        </p:spPr>
        <p:txBody>
          <a:bodyPr wrap="none">
            <a:noAutofit/>
          </a:bodyPr>
          <a:lstStyle/>
          <a:p>
            <a:r>
              <a:rPr/>
              <a:t>ПЛАНЫ</a:t>
            </a:r>
          </a:p>
        </p:txBody>
      </p:sp>
      <p:sp>
        <p:nvSpPr>
          <p:cNvPr id="5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  <a:latin typeface="Montserrat"/>
              </a:rPr>
              <a:pPr/>
              <a:t>18</a:t>
            </a:fld>
            <a:endParaRPr lang="ru-RU" dirty="0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" y="1115568"/>
            <a:ext cx="11146536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lang="ru-RU">
                <a:solidFill>
                  <a:srgbClr val="310F53"/>
                </a:solidFill>
                <a:latin typeface="Montserrat Black"/>
              </a:rPr>
              <a:t>Дальше — пилот на инфраструктуре VK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72768" y="2788920"/>
            <a:ext cx="9043416" cy="0"/>
          </a:xfrm>
          <a:prstGeom prst="line">
            <a:avLst/>
          </a:prstGeom>
          <a:ln w="25400">
            <a:solidFill>
              <a:srgbClr val="FF0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298448" y="2514600"/>
            <a:ext cx="548640" cy="54864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FFFF"/>
                </a:solidFill>
                <a:latin typeface="Montserrat Black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" y="3429000"/>
            <a:ext cx="2103120" cy="228600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657600"/>
            <a:ext cx="1828800" cy="49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Разные тексты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290568"/>
            <a:ext cx="18288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у трёх вариантов колоды с данными</a:t>
            </a:r>
          </a:p>
        </p:txBody>
      </p:sp>
      <p:sp>
        <p:nvSpPr>
          <p:cNvPr id="12" name="Oval 11"/>
          <p:cNvSpPr/>
          <p:nvPr/>
        </p:nvSpPr>
        <p:spPr>
          <a:xfrm>
            <a:off x="3559302" y="2514600"/>
            <a:ext cx="548640" cy="54864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FFFF"/>
                </a:solidFill>
                <a:latin typeface="Montserrat Black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2062" y="3429000"/>
            <a:ext cx="2103120" cy="228600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9222" y="3657600"/>
            <a:ext cx="1828800" cy="49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Вопросы к данным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9222" y="4290568"/>
            <a:ext cx="18288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на сложный вопрос — ответ, а не «в данных этого нет»</a:t>
            </a:r>
          </a:p>
        </p:txBody>
      </p:sp>
      <p:sp>
        <p:nvSpPr>
          <p:cNvPr id="16" name="Oval 15"/>
          <p:cNvSpPr/>
          <p:nvPr/>
        </p:nvSpPr>
        <p:spPr>
          <a:xfrm>
            <a:off x="5820156" y="2514600"/>
            <a:ext cx="548640" cy="54864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FFFF"/>
                </a:solidFill>
                <a:latin typeface="Montserrat Black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2916" y="3429000"/>
            <a:ext cx="2103120" cy="228600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0076" y="3657600"/>
            <a:ext cx="1828800" cy="49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Браузеры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0076" y="4290568"/>
            <a:ext cx="18288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проверка в Firefox и Яндекс Браузере</a:t>
            </a:r>
          </a:p>
        </p:txBody>
      </p:sp>
      <p:sp>
        <p:nvSpPr>
          <p:cNvPr id="20" name="Oval 19"/>
          <p:cNvSpPr/>
          <p:nvPr/>
        </p:nvSpPr>
        <p:spPr>
          <a:xfrm>
            <a:off x="8081010" y="2514600"/>
            <a:ext cx="548640" cy="54864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FFFF"/>
                </a:solidFill>
                <a:latin typeface="Montserrat Black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03770" y="3429000"/>
            <a:ext cx="2103120" cy="228600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0930" y="3657600"/>
            <a:ext cx="1828800" cy="49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Пилот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0930" y="4290568"/>
            <a:ext cx="18288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шаблоны и отчёты VK Tech на инференсе VK</a:t>
            </a:r>
          </a:p>
        </p:txBody>
      </p:sp>
      <p:sp>
        <p:nvSpPr>
          <p:cNvPr id="24" name="Oval 23"/>
          <p:cNvSpPr/>
          <p:nvPr/>
        </p:nvSpPr>
        <p:spPr>
          <a:xfrm>
            <a:off x="10341864" y="2514600"/>
            <a:ext cx="548640" cy="548640"/>
          </a:xfrm>
          <a:prstGeom prst="ellipse">
            <a:avLst/>
          </a:prstGeom>
          <a:solidFill>
            <a:srgbClr val="FF005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FFFF"/>
                </a:solidFill>
                <a:latin typeface="Montserrat Black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64624" y="3429000"/>
            <a:ext cx="2103120" cy="228600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DCD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01784" y="3657600"/>
            <a:ext cx="1828800" cy="49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lang="ru-RU">
                <a:solidFill>
                  <a:srgbClr val="310F53"/>
                </a:solidFill>
                <a:latin typeface="Montserrat"/>
              </a:rPr>
              <a:t>Интеграции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1784" y="4290568"/>
            <a:ext cx="18288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lang="ru-RU">
                <a:solidFill>
                  <a:srgbClr val="5E5670"/>
                </a:solidFill>
                <a:latin typeface="Montserrat"/>
              </a:rPr>
              <a:t>API для корпоративных систем и модель картинок VK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0">
            <a:extLst>
              <a:ext uri="{FF2B5EF4-FFF2-40B4-BE49-F238E27FC236}">
                <a16:creationId xmlns:a16="http://schemas.microsoft.com/office/drawing/2014/main" id="{E37F5FAA-C312-4795-96DC-2C14BF0B8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4600" y="6350000"/>
            <a:ext cx="558800" cy="355600"/>
          </a:xfrm>
        </p:spPr>
        <p:txBody>
          <a:bodyPr/>
          <a:lstStyle/>
          <a:p>
            <a:fld id="{52DCC5B9-D646-4B76-891F-6FF4E74E9CB4}" type="slidenum">
              <a:rPr lang="ru-RU" smtClean="0">
                <a:latin typeface="Montserrat"/>
              </a:rPr>
              <a:pPr/>
              <a:t>2</a:t>
            </a:fld>
            <a:endParaRPr lang="ru-RU" dirty="0">
              <a:latin typeface="Montserrat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FD6DBDB-F473-4DB4-8034-C555ECD03C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38100000" y="-38100000"/>
            <a:ext cx="2016723" cy="454025"/>
          </a:xfrm>
        </p:spPr>
        <p:txBody>
          <a:bodyPr/>
          <a:lstStyle/>
          <a:p/>
        </p:txBody>
      </p:sp>
      <p:pic>
        <p:nvPicPr>
          <p:cNvPr id="5" name="Picture 21" descr="logo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0" y="787400"/>
            <a:ext cx="3299908" cy="685800"/>
          </a:xfrm>
          <a:prstGeom prst="rect">
            <a:avLst/>
          </a:prstGeom>
        </p:spPr>
      </p:pic>
      <p:sp>
        <p:nvSpPr>
          <p:cNvPr id="6" name="TextBox 22"/>
          <p:cNvSpPr txBox="1"/>
          <p:nvPr/>
        </p:nvSpPr>
        <p:spPr>
          <a:xfrm>
            <a:off x="812800" y="1905000"/>
            <a:ext cx="889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000" b="0" lang="ru-RU">
                <a:solidFill>
                  <a:srgbClr val="FFFFFF"/>
                </a:solidFill>
                <a:latin typeface="Montserrat Black"/>
              </a:rPr>
              <a:t>СПАСИБО!</a:t>
            </a:r>
          </a:p>
        </p:txBody>
      </p:sp>
      <p:sp>
        <p:nvSpPr>
          <p:cNvPr id="7" name="TextBox 23"/>
          <p:cNvSpPr txBox="1"/>
          <p:nvPr/>
        </p:nvSpPr>
        <p:spPr>
          <a:xfrm>
            <a:off x="850900" y="31242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lang="ru-RU">
                <a:solidFill>
                  <a:srgbClr val="FFFFFF"/>
                </a:solidFill>
                <a:latin typeface="Montserrat"/>
              </a:rPr>
              <a:t>Verstka — цифровой дизайнер презентаций</a:t>
            </a:r>
          </a:p>
        </p:txBody>
      </p:sp>
      <p:sp>
        <p:nvSpPr>
          <p:cNvPr id="8" name="Rounded Rectangle 24"/>
          <p:cNvSpPr/>
          <p:nvPr/>
        </p:nvSpPr>
        <p:spPr>
          <a:xfrm>
            <a:off x="850900" y="3810000"/>
            <a:ext cx="45720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25"/>
          <p:cNvSpPr txBox="1"/>
          <p:nvPr/>
        </p:nvSpPr>
        <p:spPr>
          <a:xfrm>
            <a:off x="850900" y="3810000"/>
            <a:ext cx="4572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lang="ru-RU">
                <a:solidFill>
                  <a:srgbClr val="520978"/>
                </a:solidFill>
                <a:latin typeface="Montserrat"/>
              </a:rPr>
              <a:t>github.com/hl0pch1k/verstka</a:t>
            </a:r>
          </a:p>
        </p:txBody>
      </p:sp>
      <p:sp>
        <p:nvSpPr>
          <p:cNvPr id="10" name="TextBox 26"/>
          <p:cNvSpPr txBox="1"/>
          <p:nvPr/>
        </p:nvSpPr>
        <p:spPr>
          <a:xfrm>
            <a:off x="850900" y="4724400"/>
            <a:ext cx="965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lang="ru-RU">
                <a:solidFill>
                  <a:srgbClr val="FFFFFF"/>
                </a:solidFill>
                <a:latin typeface="Montserrat"/>
              </a:rPr>
              <a:t>Команда «Рекрут 2» · Артём Воронин · @hl0pch1k · +7 916 935 88 85</a:t>
            </a:r>
          </a:p>
          <a:p>
            <a:pPr algn="l">
              <a:lnSpc>
                <a:spcPct val="130000"/>
              </a:lnSpc>
            </a:pPr>
            <a:r>
              <a:rPr sz="1500" b="0" lang="ru-RU">
                <a:solidFill>
                  <a:srgbClr val="FFFFFF"/>
                </a:solidFill>
                <a:latin typeface="Montserrat"/>
              </a:rPr>
              <a:t>Код, примеры колод, наборы данных, брендбук и видео — в репозитории</a:t>
            </a:r>
          </a:p>
        </p:txBody>
      </p:sp>
      <p:sp>
        <p:nvSpPr>
          <p:cNvPr id="11" name="Rounded Rectangle 27"/>
          <p:cNvSpPr/>
          <p:nvPr/>
        </p:nvSpPr>
        <p:spPr>
          <a:xfrm>
            <a:off x="9189720" y="3154680"/>
            <a:ext cx="2103120" cy="210312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28" descr="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3291840"/>
            <a:ext cx="1828800" cy="1828800"/>
          </a:xfrm>
          <a:prstGeom prst="rect">
            <a:avLst/>
          </a:prstGeom>
        </p:spPr>
      </p:pic>
      <p:sp>
        <p:nvSpPr>
          <p:cNvPr id="13" name="TextBox 29"/>
          <p:cNvSpPr txBox="1"/>
          <p:nvPr/>
        </p:nvSpPr>
        <p:spPr>
          <a:xfrm>
            <a:off x="9189720" y="53766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lang="ru-RU">
                <a:solidFill>
                  <a:srgbClr val="FFFFFF"/>
                </a:solidFill>
                <a:latin typeface="Montserrat"/>
              </a:rPr>
              <a:t>код и примеры</a:t>
            </a:r>
          </a:p>
        </p:txBody>
      </p:sp>
    </p:spTree>
    <p:extLst>
      <p:ext uri="{BB962C8B-B14F-4D97-AF65-F5344CB8AC3E}">
        <p14:creationId xmlns:p14="http://schemas.microsoft.com/office/powerpoint/2010/main" val="3792051765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