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млн руб.</c:v>
                </c:pt>
              </c:strCache>
            </c:strRef>
          </c:tx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11.2</c:v>
                </c:pt>
                <c:pt idx="1">
                  <c:v>11.9</c:v>
                </c:pt>
                <c:pt idx="2">
                  <c:v>12.4</c:v>
                </c:pt>
                <c:pt idx="3">
                  <c:v>12.8</c:v>
                </c:pt>
                <c:pt idx="4">
                  <c:v>13.6</c:v>
                </c:pt>
                <c:pt idx="5">
                  <c:v>14.8</c:v>
                </c:pt>
                <c:pt idx="6">
                  <c:v>15.1</c:v>
                </c:pt>
                <c:pt idx="7">
                  <c:v>16.0</c:v>
                </c:pt>
                <c:pt idx="8">
                  <c:v>17.5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Отчёт отдела продаж за III квартал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ООО «Северный ветер» · подготовил отдел продаж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квартала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Arial"/>
              </a:rPr>
              <a:t>Выручка за квартал составила 48,6 млн рублей, это на 18% больше, чем во втором квартале, и на 31% больше, чем год назад</a:t>
            </a:r>
          </a:p>
          <a:p>
            <a:r>
              <a:rPr sz="2000">
                <a:latin typeface="Times New Roman"/>
              </a:rPr>
              <a:t>Количество клиентов выросло с 1 240 до 1 610</a:t>
            </a:r>
          </a:p>
          <a:p>
            <a:r>
              <a:rPr sz="2000">
                <a:latin typeface="Arial"/>
              </a:rPr>
              <a:t>Средний чек увеличился с 27 400 до 30 200 рублей</a:t>
            </a:r>
          </a:p>
          <a:p>
            <a:r>
              <a:rPr sz="2400">
                <a:latin typeface="Times New Roman"/>
              </a:rPr>
              <a:t>Доля повторных покупок — 46%</a:t>
            </a:r>
          </a:p>
          <a:p>
            <a:r>
              <a:rPr sz="2000">
                <a:latin typeface="Arial"/>
              </a:rPr>
              <a:t>Открыли новый офис в Казани</a:t>
            </a:r>
          </a:p>
          <a:p>
            <a:r>
              <a:rPr sz="2000">
                <a:latin typeface="Times New Roman"/>
              </a:rPr>
              <a:t>Запустили онлайн-заказ для корпоративных клиентов</a:t>
            </a:r>
          </a:p>
          <a:p>
            <a:r>
              <a:rPr sz="2400">
                <a:latin typeface="Arial"/>
              </a:rPr>
              <a:t>Отток клиентов снизился с 9% до 6%</a:t>
            </a:r>
          </a:p>
          <a:p>
            <a:r>
              <a:rPr sz="2000">
                <a:latin typeface="Times New Roman"/>
              </a:rPr>
              <a:t>Маркетинговый бюджет — 3,9 млн рублей</a:t>
            </a:r>
          </a:p>
          <a:p>
            <a:r>
              <a:rPr sz="2000">
                <a:latin typeface="Arial"/>
              </a:rPr>
              <a:t>Стоимость привлечения клиента снизилась с 4 100 до 3 200 рублей</a:t>
            </a:r>
          </a:p>
          <a:p>
            <a:r>
              <a:rPr sz="2400">
                <a:latin typeface="Times New Roman"/>
              </a:rPr>
              <a:t>План на IV квартал — 55 млн рублей выручки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Выручка по месяцам, млн руб.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00000"/>
          <a:ext cx="8229600" cy="4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Продажи по регионам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0000" y="1450000"/>
          <a:ext cx="85000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000"/>
                <a:gridCol w="2125000"/>
                <a:gridCol w="2125000"/>
                <a:gridCol w="2125000"/>
              </a:tblGrid>
              <a:tr h="416666">
                <a:tc>
                  <a:txBody>
                    <a:bodyPr/>
                    <a:lstStyle/>
                    <a:p>
                      <a:r>
                        <a:rPr sz="1400"/>
                        <a:t>Регион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Выручка, млн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Клиенты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Средний чек, руб.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Москва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32 800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Санкт-Петербург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29 400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Казань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25 600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Екатеринбург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27 100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Новосибирск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26 700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Нижний Новгород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27 400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Самара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26 300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Краснодар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25 300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Ростов-на-Дону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25 000</a:t>
                      </a:r>
                    </a:p>
                  </a:txBody>
                  <a:tcPr/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400"/>
                        <a:t>Пермь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22 900</a:t>
                      </a:r>
                    </a:p>
                  </a:txBody>
                  <a:tcPr/>
                </a:tc>
              </a:tr>
              <a:tr h="416674">
                <a:tc>
                  <a:txBody>
                    <a:bodyPr/>
                    <a:lstStyle/>
                    <a:p>
                      <a:r>
                        <a:rPr sz="1400"/>
                        <a:t>Остальные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14 300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Новый офис в Казани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0" y="1700000"/>
            <a:ext cx="3900000" cy="24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000" y="1700000"/>
            <a:ext cx="4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999999"/>
                </a:solidFill>
              </a:rPr>
              <a:t>Офис открылся 4 сентября. За первый месяц в нём оформили 41 договор на 4,1 млн рублей. Команда — 6 менеджеров и руководитель направления. Окупаемость офиса ожидаем через 7 месяцев.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Планы на IV квартал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Выручка — 55 млн рублей</a:t>
            </a:r>
          </a:p>
          <a:p>
            <a:r>
              <a:t>Открыть офис в Екатеринбурге</a:t>
            </a:r>
          </a:p>
          <a:p>
            <a:r>
              <a:t>Запустить программу лояльности</a:t>
            </a:r>
          </a:p>
          <a:p>
            <a:r>
              <a:t>Довести долю повторных покупок до 50%</a:t>
            </a:r>
          </a:p>
          <a:p>
            <a:r>
              <a:t>Снизить отток до 5%</a:t>
            </a:r>
          </a:p>
          <a:p>
            <a:r>
              <a:t>Нанять 8 менеджеров</a:t>
            </a:r>
          </a:p>
          <a:p>
            <a:r>
              <a:t>Обновить CRM</a:t>
            </a:r>
          </a:p>
          <a:p>
            <a:r>
              <a:t>Провести 3 отраслевых мероприятия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