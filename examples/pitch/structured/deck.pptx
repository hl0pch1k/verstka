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брифу сервис собирает три визуально разных варианта в стиле шаблона, проверяет их аудитом и отдаёт PPTX из нативных объектов, PDF и HTML.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3600" dirty="0"/>
              <a:t>Verstka — цифровой дизайнер презентаций</a:t>
            </a:r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buNone/>
            </a:pPr>
            <a:r>
              <a:rPr lang="ru-RU" dirty="0"/>
              <a:t>жюри хакатона «Лидеры цифровой трансформации 2026»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62A1A2C2-4953-253D-515A-D3677D5C4285}"/>
              </a:ext>
            </a:extLst>
          </p:cNvPr>
          <p:cNvSpPr/>
          <p:nvPr/>
        </p:nvSpPr>
        <p:spPr>
          <a:xfrm>
            <a:off x="947738" y="1264039"/>
            <a:ext cx="2093138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F9B71A-3347-46CD-867A-DBEB65FD7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AC3C2D-E267-43DC-AFBF-42224BD722D2}"/>
              </a:ext>
            </a:extLst>
          </p:cNvPr>
          <p:cNvSpPr/>
          <p:nvPr/>
        </p:nvSpPr>
        <p:spPr>
          <a:xfrm>
            <a:off x="1145193" y="2328089"/>
            <a:ext cx="1747651" cy="276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Проблема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Решение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B8BA05E1-781F-8CAE-D0B8-285AA1B9F46F}"/>
              </a:ext>
            </a:extLst>
          </p:cNvPr>
          <p:cNvSpPr/>
          <p:nvPr/>
        </p:nvSpPr>
        <p:spPr>
          <a:xfrm>
            <a:off x="3427550" y="1264039"/>
            <a:ext cx="2091858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31FB879-5AFB-5061-388B-DE8C985D51EF}"/>
              </a:ext>
            </a:extLst>
          </p:cNvPr>
          <p:cNvSpPr/>
          <p:nvPr/>
        </p:nvSpPr>
        <p:spPr>
          <a:xfrm>
            <a:off x="3646089" y="2328089"/>
            <a:ext cx="1746582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Как это работает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Результаты на датасете</a:t>
            </a:r>
          </a:p>
        </p:txBody>
      </p:sp>
      <p:sp>
        <p:nvSpPr>
          <p:cNvPr id="41" name="Скругленный прямоугольник 20">
            <a:extLst>
              <a:ext uri="{FF2B5EF4-FFF2-40B4-BE49-F238E27FC236}">
                <a16:creationId xmlns:a16="http://schemas.microsoft.com/office/drawing/2014/main" id="{B8BA05E1-781F-8CAE-D0B8-285AA1B9F46F}"/>
              </a:ext>
            </a:extLst>
          </p:cNvPr>
          <p:cNvSpPr/>
          <p:nvPr/>
        </p:nvSpPr>
        <p:spPr>
          <a:xfrm>
            <a:off x="5907362" y="1264039"/>
            <a:ext cx="2091858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2" name="Прямоугольник 21">
            <a:extLst>
              <a:ext uri="{FF2B5EF4-FFF2-40B4-BE49-F238E27FC236}">
                <a16:creationId xmlns:a16="http://schemas.microsoft.com/office/drawing/2014/main" id="{FCE3E81C-6FD9-5A03-1E7C-4D36C9F1DD8D}"/>
              </a:ext>
            </a:extLst>
          </p:cNvPr>
          <p:cNvSpPr/>
          <p:nvPr/>
        </p:nvSpPr>
        <p:spPr>
          <a:xfrm>
            <a:off x="6105989" y="1573919"/>
            <a:ext cx="16983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43" name="Прямоугольник 22">
            <a:extLst>
              <a:ext uri="{FF2B5EF4-FFF2-40B4-BE49-F238E27FC236}">
                <a16:creationId xmlns:a16="http://schemas.microsoft.com/office/drawing/2014/main" id="{431FB879-5AFB-5061-388B-DE8C985D51EF}"/>
              </a:ext>
            </a:extLst>
          </p:cNvPr>
          <p:cNvSpPr/>
          <p:nvPr/>
        </p:nvSpPr>
        <p:spPr>
          <a:xfrm>
            <a:off x="6125901" y="2328089"/>
            <a:ext cx="1746582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Невиданный шаблон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Три варианта вёрстки</a:t>
            </a:r>
          </a:p>
        </p:txBody>
      </p:sp>
      <p:sp>
        <p:nvSpPr>
          <p:cNvPr id="44" name="Заголовок 1">
            <a:extLst>
              <a:ext uri="{FF2B5EF4-FFF2-40B4-BE49-F238E27FC236}">
                <a16:creationId xmlns:a16="http://schemas.microsoft.com/office/drawing/2014/main" id="{EDDAA9EE-0B85-F95D-0AB4-B435841099A7}"/>
              </a:ext>
            </a:extLst>
          </p:cNvPr>
          <p:cNvSpPr txBox="1">
            <a:spLocks/>
          </p:cNvSpPr>
          <p:nvPr/>
        </p:nvSpPr>
        <p:spPr>
          <a:xfrm>
            <a:off x="6090769" y="5543212"/>
            <a:ext cx="1929635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i="1" dirty="0">
                <a:solidFill>
                  <a:schemeClr val="accent2"/>
                </a:solidFill>
                <a:latin typeface="+mn-lt"/>
              </a:rPr>
              <a:t/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A7F47D6-5BE9-319E-424B-7E4E9369E497}"/>
              </a:ext>
            </a:extLst>
          </p:cNvPr>
          <p:cNvSpPr/>
          <p:nvPr/>
        </p:nvSpPr>
        <p:spPr>
          <a:xfrm>
            <a:off x="947738" y="407926"/>
            <a:ext cx="514826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06BD268-186E-1073-E872-91B8D768773B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455804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О чём поговорим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6329045" cy="742621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112855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713984"/>
            <a:ext cx="5905293" cy="112855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4061545"/>
            <a:ext cx="5905293" cy="112855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79157"/>
            <a:ext cx="5460470" cy="855486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dirty="0" sz="1452">
                <a:solidFill>
                  <a:schemeClr val="tx1"/>
                </a:solidFill>
              </a:rPr>
              <a:t>Команды тратят часы на то, чтобы уложить готовый текст в фирменный шаблон</a:t>
            </a:r>
            <a:endParaRPr lang="ru-RU" dirty="0" sz="1452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850519"/>
            <a:ext cx="5460470" cy="855486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sz="1452">
                <a:solidFill>
                  <a:schemeClr val="tx1"/>
                </a:solidFill>
              </a:rPr>
              <a:t>Шаблоны живут как набор примеров, а не как правила</a:t>
            </a:r>
            <a:endParaRPr lang="ru-RU" sz="1452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4201472"/>
            <a:ext cx="5460470" cy="855486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sz="1452">
                <a:solidFill>
                  <a:schemeClr val="tx1"/>
                </a:solidFill>
              </a:rPr>
              <a:t>Генераторы презентаций рисуют «похоже», но не в стиле компании и без редактируемых объектов</a:t>
            </a:r>
            <a:endParaRPr lang="ru-RU" sz="1452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6149303" cy="497840"/>
          </a:xfrm>
        </p:spPr>
        <p:txBody>
          <a:bodyPr/>
          <a:lstStyle/>
          <a:p>
            <a:r>
              <a:rPr lang="ru-RU" dirty="0" sz="1600"/>
              <a:t>Команды тратят часы на то, чтобы уложить готовый текст в фирменный шаблон</a:t>
            </a:r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267174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409268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Шкалу кеглей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188273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4330367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Сетку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6109371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6251465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Хром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8030470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8172564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Паттерны слайдов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632904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40162" y="1816054"/>
            <a:ext cx="1420727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461056" y="1826554"/>
            <a:ext cx="1420727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382154" y="1809238"/>
            <a:ext cx="1420728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322308" y="1809238"/>
            <a:ext cx="1420728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8224352" y="1809238"/>
            <a:ext cx="1420727" cy="1559717"/>
          </a:xfrm>
        </p:spPr>
      </p:sp>
      <p:sp>
        <p:nvSpPr>
          <p:cNvPr id="68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951568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0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10093662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Компоненты и ассеты</a:t>
            </a:r>
          </a:p>
        </p:txBody>
      </p:sp>
      <p:sp>
        <p:nvSpPr>
          <p:cNvPr id="71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0145450" y="1809238"/>
            <a:ext cx="1420727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6156761" cy="376138"/>
          </a:xfrm>
        </p:spPr>
        <p:txBody>
          <a:bodyPr/>
          <a:lstStyle/>
          <a:p>
            <a:r>
              <a:rPr lang="ru-RU" dirty="0" sz="1600">
                <a:latin typeface="+mn-lt"/>
              </a:rPr>
              <a:t>Verstka читает любой PPTX как набор правил</a:t>
            </a:r>
            <a:endParaRPr lang="ru-RU" dirty="0">
              <a:latin typeface="+mn-lt"/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488170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Палитру с ролями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Бриф превращается в реестр фактов и план колоды с заголовками-выводами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План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Образец клонируется внутри пакета шаблона или слайд синтезируется из токенов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Вёрстка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27 детерминированных проверок и 11 вопросов модели по картинке слайда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Аудит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PPTX, PDF и HTML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Экспорт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3682836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Как это работает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934046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sz="940" dirty="0">
                <a:solidFill>
                  <a:schemeClr val="tx1"/>
                </a:solidFill>
              </a:rPr>
              <a:t>Сервис находит паттерны на слайдах-образцах, группы карточек и роли слотов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Разбор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1200" dirty="0">
                <a:solidFill>
                  <a:schemeClr val="accent5"/>
                </a:solidFill>
              </a:rPr>
              <a:t>Девять демо-колод собраны без единой ошибки аудита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7444" y="958177"/>
            <a:ext cx="1610546" cy="2429635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1008"/>
              </a:spcAft>
            </a:pPr>
            <a:r>
              <a:rPr sz="2880" b="1">
                <a:solidFill>
                  <a:srgbClr val="FE095F"/>
                </a:solidFill>
                <a:latin typeface="Montserrat"/>
              </a:rPr>
              <a:t>8–25 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444" y="3495795"/>
            <a:ext cx="1610546" cy="188971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три варианта с аудитом, автофиксом и экспортом собираются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3750" y="958177"/>
            <a:ext cx="1610546" cy="2429635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FE095F"/>
                </a:solidFill>
                <a:latin typeface="Montserrat"/>
              </a:rPr>
              <a:t>88–100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3750" y="3495795"/>
            <a:ext cx="1610546" cy="188971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оценка аудита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056" y="958177"/>
            <a:ext cx="1610546" cy="2429635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1008"/>
              </a:spcAft>
            </a:pPr>
            <a:r>
              <a:rPr sz="2880" b="1">
                <a:solidFill>
                  <a:srgbClr val="FE095F"/>
                </a:solidFill>
                <a:latin typeface="Montserrat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056" y="3495795"/>
            <a:ext cx="1610546" cy="188971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все 15 контрольных колод проходят проверку схемы OOXML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2000" dirty="0">
                <a:solidFill>
                  <a:schemeClr val="accent5"/>
                </a:solidFill>
              </a:rPr>
              <a:t>Результаты на датасете: сравнение</a:t>
            </a:r>
            <a:endParaRPr lang="ru-RU" sz="2000" dirty="0">
              <a:solidFill>
                <a:schemeClr val="accent5"/>
              </a:solidFill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1133" y="1263123"/>
          <a:ext cx="5574868" cy="1849120"/>
        </p:xfrm>
        <a:graphic>
          <a:graphicData uri="http://schemas.openxmlformats.org/drawingml/2006/table">
            <a:tbl>
              <a:tblPr firstRow="1" bandRow="0"/>
              <a:tblGrid>
                <a:gridCol w="1284038"/>
                <a:gridCol w="1508745"/>
                <a:gridCol w="1391041"/>
                <a:gridCol w="1391044"/>
              </a:tblGrid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Шаблон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0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Структурный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0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Визуальный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0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Компактный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095F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VK WorkSpace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91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VK Education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88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88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94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VK Tech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91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3227723" y="1522006"/>
            <a:ext cx="276904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3445289" y="4250028"/>
            <a:ext cx="2392262" cy="188876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Превращаем в места для текста, таблиц и диаграмм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3445288" y="3622118"/>
            <a:ext cx="217532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Пустые рамки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6109371" y="1522006"/>
            <a:ext cx="276904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6326937" y="4250028"/>
            <a:ext cx="2392262" cy="188876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Листы иконок, палитры и ссылок не используем как макеты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6326936" y="3622118"/>
            <a:ext cx="217532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Справочные слайды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8991019" y="1522006"/>
            <a:ext cx="276904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9208585" y="4250028"/>
            <a:ext cx="2392262" cy="188876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Рисуем на чистом слайде-образце, сохраняя фон и хром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9208584" y="3622118"/>
            <a:ext cx="217532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Синтез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76904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43248" y="1816054"/>
            <a:ext cx="2175322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3524582" y="1826554"/>
            <a:ext cx="2175322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406228" y="1809238"/>
            <a:ext cx="2175323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317054" y="1809238"/>
            <a:ext cx="2175323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3682836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Невиданный шаблон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3642" y="4250028"/>
            <a:ext cx="2392262" cy="1888764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</a:rPr>
              <a:t>Находим даже зашитые в фоновую картинку и не ставим на них текст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63641" y="3622118"/>
            <a:ext cx="217532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Логотипы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188273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4481311" y="4250028"/>
            <a:ext cx="3222112" cy="18320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Ключевая цифра первым слайдом, карточки и диаграммы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4481309" y="3622118"/>
            <a:ext cx="292991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Визуальный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8030470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8323508" y="4250028"/>
            <a:ext cx="3222112" cy="18320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Соседние разделы в две колонки, сравнения таблицами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8323506" y="3622118"/>
            <a:ext cx="292991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Компактный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46334" y="1816054"/>
            <a:ext cx="2929917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588109" y="1826554"/>
            <a:ext cx="2929917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8430304" y="1809238"/>
            <a:ext cx="2929919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3682836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Три варианта вёрстки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9114" y="4250028"/>
            <a:ext cx="3222112" cy="1832010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</a:rPr>
              <a:t>Повестка, одна мысль на слайд, точные таблицы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639112" y="3622118"/>
            <a:ext cx="292991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Структурный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6329045" cy="84345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1583336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3168762"/>
            <a:ext cx="5905293" cy="1583336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524587"/>
            <a:ext cx="5460470" cy="1200224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dirty="0" sz="1600">
                <a:solidFill>
                  <a:schemeClr val="tx1"/>
                </a:solidFill>
              </a:rPr>
              <a:t>Смена на инференс VK — одна строка в конфиге</a:t>
            </a:r>
            <a:endParaRPr lang="ru-RU" dirty="0" sz="160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3360318"/>
            <a:ext cx="5460470" cy="1200224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chemeClr val="tx1"/>
                </a:solidFill>
              </a:rPr>
              <a:t>Без модели сервис работает полностью: детерминированный разбор, планировщик и аудит</a:t>
            </a:r>
            <a:endParaRPr lang="ru-RU" sz="160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6149303" cy="598678"/>
          </a:xfrm>
        </p:spPr>
        <p:txBody>
          <a:bodyPr/>
          <a:lstStyle/>
          <a:p>
            <a:r>
              <a:rPr lang="ru-RU" dirty="0"/>
              <a:t>Qwen3.8-27B под лицензией Apache 2.0 для текста и картинок</a:t>
            </a:r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62A1A2C2-4953-253D-515A-D3677D5C4285}"/>
              </a:ext>
            </a:extLst>
          </p:cNvPr>
          <p:cNvSpPr/>
          <p:nvPr/>
        </p:nvSpPr>
        <p:spPr>
          <a:xfrm>
            <a:off x="947738" y="1264039"/>
            <a:ext cx="2093138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F9B71A-3347-46CD-867A-DBEB65FD7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0F95A9E-70DF-49F7-939B-D92FC097FBFD}"/>
              </a:ext>
            </a:extLst>
          </p:cNvPr>
          <p:cNvSpPr/>
          <p:nvPr/>
        </p:nvSpPr>
        <p:spPr>
          <a:xfrm>
            <a:off x="1145193" y="1573919"/>
            <a:ext cx="1552849" cy="671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z="1141">
                <a:solidFill>
                  <a:schemeClr val="bg1"/>
                </a:solidFill>
              </a:rPr>
              <a:t>Этап 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AC3C2D-E267-43DC-AFBF-42224BD722D2}"/>
              </a:ext>
            </a:extLst>
          </p:cNvPr>
          <p:cNvSpPr/>
          <p:nvPr/>
        </p:nvSpPr>
        <p:spPr>
          <a:xfrm>
            <a:off x="1145193" y="2328089"/>
            <a:ext cx="1747651" cy="276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None/>
            </a:pPr>
            <a:r>
              <a:rPr lang="ru-RU" sz="1400" dirty="0">
                <a:solidFill>
                  <a:schemeClr val="bg1"/>
                </a:solidFill>
              </a:rPr>
              <a:t>Подключение к инференсу VK и прогон на невиданных шаблонах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B8BA05E1-781F-8CAE-D0B8-285AA1B9F46F}"/>
              </a:ext>
            </a:extLst>
          </p:cNvPr>
          <p:cNvSpPr/>
          <p:nvPr/>
        </p:nvSpPr>
        <p:spPr>
          <a:xfrm>
            <a:off x="3427550" y="1264039"/>
            <a:ext cx="2091858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CE3E81C-6FD9-5A03-1E7C-4D36C9F1DD8D}"/>
              </a:ext>
            </a:extLst>
          </p:cNvPr>
          <p:cNvSpPr/>
          <p:nvPr/>
        </p:nvSpPr>
        <p:spPr>
          <a:xfrm>
            <a:off x="3626177" y="1573919"/>
            <a:ext cx="16983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z="1141">
                <a:solidFill>
                  <a:schemeClr val="bg1"/>
                </a:solidFill>
              </a:rPr>
              <a:t>Этап 2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31FB879-5AFB-5061-388B-DE8C985D51EF}"/>
              </a:ext>
            </a:extLst>
          </p:cNvPr>
          <p:cNvSpPr/>
          <p:nvPr/>
        </p:nvSpPr>
        <p:spPr>
          <a:xfrm>
            <a:off x="3646089" y="2328089"/>
            <a:ext cx="1746582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None/>
            </a:pPr>
            <a:r>
              <a:rPr lang="ru-RU" sz="1400" dirty="0">
                <a:solidFill>
                  <a:schemeClr val="bg1"/>
                </a:solidFill>
              </a:rPr>
              <a:t>Генерация иллюстраций открытой моделью в стиле шаблона</a:t>
            </a:r>
          </a:p>
        </p:txBody>
      </p:sp>
      <p:sp>
        <p:nvSpPr>
          <p:cNvPr id="41" name="Скругленный прямоугольник 20">
            <a:extLst>
              <a:ext uri="{FF2B5EF4-FFF2-40B4-BE49-F238E27FC236}">
                <a16:creationId xmlns:a16="http://schemas.microsoft.com/office/drawing/2014/main" id="{B8BA05E1-781F-8CAE-D0B8-285AA1B9F46F}"/>
              </a:ext>
            </a:extLst>
          </p:cNvPr>
          <p:cNvSpPr/>
          <p:nvPr/>
        </p:nvSpPr>
        <p:spPr>
          <a:xfrm>
            <a:off x="5907362" y="1264039"/>
            <a:ext cx="2091858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2" name="Прямоугольник 21">
            <a:extLst>
              <a:ext uri="{FF2B5EF4-FFF2-40B4-BE49-F238E27FC236}">
                <a16:creationId xmlns:a16="http://schemas.microsoft.com/office/drawing/2014/main" id="{FCE3E81C-6FD9-5A03-1E7C-4D36C9F1DD8D}"/>
              </a:ext>
            </a:extLst>
          </p:cNvPr>
          <p:cNvSpPr/>
          <p:nvPr/>
        </p:nvSpPr>
        <p:spPr>
          <a:xfrm>
            <a:off x="6105989" y="1573919"/>
            <a:ext cx="16983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z="1141">
                <a:solidFill>
                  <a:schemeClr val="bg1"/>
                </a:solidFill>
              </a:rPr>
              <a:t>Этап 3</a:t>
            </a:r>
          </a:p>
        </p:txBody>
      </p:sp>
      <p:sp>
        <p:nvSpPr>
          <p:cNvPr id="43" name="Прямоугольник 22">
            <a:extLst>
              <a:ext uri="{FF2B5EF4-FFF2-40B4-BE49-F238E27FC236}">
                <a16:creationId xmlns:a16="http://schemas.microsoft.com/office/drawing/2014/main" id="{431FB879-5AFB-5061-388B-DE8C985D51EF}"/>
              </a:ext>
            </a:extLst>
          </p:cNvPr>
          <p:cNvSpPr/>
          <p:nvPr/>
        </p:nvSpPr>
        <p:spPr>
          <a:xfrm>
            <a:off x="6125901" y="2328089"/>
            <a:ext cx="1746582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None/>
            </a:pPr>
            <a:r>
              <a:rPr lang="ru-RU" sz="1400" dirty="0">
                <a:solidFill>
                  <a:schemeClr val="bg1"/>
                </a:solidFill>
              </a:rPr>
              <a:t>Плагин для PowerPoint и командный режим с общими шаблонами</a:t>
            </a:r>
          </a:p>
        </p:txBody>
      </p:sp>
      <p:sp>
        <p:nvSpPr>
          <p:cNvPr id="44" name="Заголовок 1">
            <a:extLst>
              <a:ext uri="{FF2B5EF4-FFF2-40B4-BE49-F238E27FC236}">
                <a16:creationId xmlns:a16="http://schemas.microsoft.com/office/drawing/2014/main" id="{EDDAA9EE-0B85-F95D-0AB4-B435841099A7}"/>
              </a:ext>
            </a:extLst>
          </p:cNvPr>
          <p:cNvSpPr txBox="1">
            <a:spLocks/>
          </p:cNvSpPr>
          <p:nvPr/>
        </p:nvSpPr>
        <p:spPr>
          <a:xfrm>
            <a:off x="6090769" y="5543212"/>
            <a:ext cx="1929635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i="1" dirty="0">
                <a:solidFill>
                  <a:schemeClr val="accent2"/>
                </a:solidFill>
                <a:latin typeface="+mn-lt"/>
              </a:rPr>
              <a:t/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A7F47D6-5BE9-319E-424B-7E4E9369E497}"/>
              </a:ext>
            </a:extLst>
          </p:cNvPr>
          <p:cNvSpPr/>
          <p:nvPr/>
        </p:nvSpPr>
        <p:spPr>
          <a:xfrm>
            <a:off x="947738" y="407926"/>
            <a:ext cx="514826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06BD268-186E-1073-E872-91B8D768773B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455804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Дорожная карта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buNone/>
            </a:pPr>
            <a:r>
              <a:rPr lang="ru-RU" dirty="0" sz="1600">
                <a:solidFill>
                  <a:schemeClr val="tx1"/>
                </a:solidFill>
              </a:rPr>
              <a:t>Просим пропустить проект в финал и дать доступ к инференсу VK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1400" dirty="0">
                <a:solidFill>
                  <a:schemeClr val="accent5"/>
                </a:solidFill>
              </a:rPr>
              <a:t>Verstka превращает шаблон компании в правила, а бриф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 dirty="0"/>
              <a:t>Спасибо за внимание</a:t>
            </a:r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