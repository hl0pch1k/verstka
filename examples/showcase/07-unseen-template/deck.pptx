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9" r:id="rId9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0080625" cy="5670550"/>
  <p:notesSz cx="7559675" cy="10691813"/>
  <p:embeddedFontLst>
    <p:embeddedFont>
      <p:font typeface="IBM Plex Sans" panose="020B0503050203000203" pitchFamily="34" charset="0"/>
      <p:regular r:id="rIdFont1"/>
      <p:bold r:id="rIdFont2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4410"/>
          <c:y val="0.0146"/>
          <c:w val="0.4523"/>
          <c:h val="0.970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solidFill>
              <a:srgbClr val="1A82BF"/>
            </a:solidFill>
            <a:ln>
              <a:noFill/>
            </a:ln>
          </c:spPr>
          <c:invertIfNegative val="0"/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50" b="0">
                      <a:solidFill>
                        <a:srgbClr val="04617B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50" b="0">
                    <a:solidFill>
                      <a:srgbClr val="04617B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Жители района</c:v>
                </c:pt>
                <c:pt idx="1">
                  <c:v>Выбранная возрастная аудитория</c:v>
                </c:pt>
                <c:pt idx="2">
                  <c:v>Потенциально заинтересованные</c:v>
                </c:pt>
                <c:pt idx="3">
                  <c:v>Целевое количество клиентов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18000.0</c:v>
                </c:pt>
                <c:pt idx="1">
                  <c:v>8000.0</c:v>
                </c:pt>
                <c:pt idx="2">
                  <c:v>1200.0</c:v>
                </c:pt>
                <c:pt idx="3">
                  <c:v>250.0</c:v>
                </c:pt>
              </c:numCache>
            </c:numRef>
          </c:val>
        </c:ser>
        <c:dLbls>
          <c:numFmt formatCode="#,##0&quot; чел.&quot;;&quot;−&quot;#,##0&quot; чел.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50" b="0">
                  <a:solidFill>
                    <a:srgbClr val="04617B"/>
                  </a:solidFill>
                  <a:latin typeface="IBM Plex Sans"/>
                  <a:ea typeface="IBM Plex Sans"/>
                  <a:cs typeface="IBM Plex San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04617B"/>
                </a:solidFill>
                <a:latin typeface="IBM Plex Sans"/>
                <a:ea typeface="IBM Plex Sans"/>
                <a:cs typeface="IBM Plex Sans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80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max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04617B"/>
          </a:solidFill>
          <a:latin typeface="IBM Plex Sans"/>
          <a:ea typeface="IBM Plex Sans"/>
          <a:cs typeface="IBM Plex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305"/>
          <c:y val="0.0305"/>
          <c:w val="0.9390"/>
          <c:h val="0.9390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spPr>
              <a:solidFill>
                <a:srgbClr val="1A82BF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62030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ADAEC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04E73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6AAED5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0&quot;%&quot;;&quot;−&quot;0&quot;%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50" b="0">
                    <a:solidFill>
                      <a:srgbClr val="04617B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Близость к дому</c:v>
                </c:pt>
                <c:pt idx="1">
                  <c:v>Расписание</c:v>
                </c:pt>
                <c:pt idx="2">
                  <c:v>Стоимость</c:v>
                </c:pt>
                <c:pt idx="3">
                  <c:v>Тренеры</c:v>
                </c:pt>
                <c:pt idx="4">
                  <c:v>Атмосфера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35.0</c:v>
                </c:pt>
                <c:pt idx="1">
                  <c:v>25.0</c:v>
                </c:pt>
                <c:pt idx="2">
                  <c:v>20.0</c:v>
                </c:pt>
                <c:pt idx="3">
                  <c:v>12.5</c:v>
                </c:pt>
                <c:pt idx="4">
                  <c:v>7.5</c:v>
                </c:pt>
              </c:numCache>
            </c:numRef>
          </c:val>
        </c:ser>
        <c:dLbls>
          <c:numFmt formatCode="0&quot;%&quot;;&quot;−&quot;0&quot;%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50" b="0">
                  <a:solidFill>
                    <a:srgbClr val="04617B"/>
                  </a:solidFill>
                  <a:latin typeface="IBM Plex Sans"/>
                  <a:ea typeface="IBM Plex Sans"/>
                  <a:cs typeface="IBM Plex San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04617B"/>
          </a:solidFill>
          <a:latin typeface="IBM Plex Sans"/>
          <a:ea typeface="IBM Plex Sans"/>
          <a:cs typeface="IBM Plex San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4410"/>
          <c:y val="0.0156"/>
          <c:w val="0.3160"/>
          <c:h val="0.968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spPr>
            <a:solidFill>
              <a:srgbClr val="1A82BF"/>
            </a:solidFill>
            <a:ln>
              <a:noFill/>
            </a:ln>
          </c:spPr>
          <c:invertIfNegative val="0"/>
          <c:dLbls>
            <c:dLbl>
              <c:idx val="0"/>
              <c:numFmt formatCode="#,##0&quot; посещений&quot;;&quot;−&quot;#,##0&quot; посещений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50" b="0">
                      <a:solidFill>
                        <a:srgbClr val="04617B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посещений&quot;;&quot;−&quot;#,##0&quot; посещений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50" b="0">
                    <a:solidFill>
                      <a:srgbClr val="04617B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Месячная вместимость</c:v>
                </c:pt>
                <c:pt idx="1">
                  <c:v>Ожидаемое количество посещений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2700.0</c:v>
                </c:pt>
                <c:pt idx="1">
                  <c:v>2000.0</c:v>
                </c:pt>
              </c:numCache>
            </c:numRef>
          </c:val>
        </c:ser>
        <c:dLbls>
          <c:numFmt formatCode="#,##0&quot; посещений&quot;;&quot;−&quot;#,##0&quot; посещений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50" b="0">
                  <a:solidFill>
                    <a:srgbClr val="04617B"/>
                  </a:solidFill>
                  <a:latin typeface="IBM Plex Sans"/>
                  <a:ea typeface="IBM Plex Sans"/>
                  <a:cs typeface="IBM Plex San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35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04617B"/>
                </a:solidFill>
                <a:latin typeface="IBM Plex Sans"/>
                <a:ea typeface="IBM Plex Sans"/>
                <a:cs typeface="IBM Plex Sans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7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max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04617B"/>
          </a:solidFill>
          <a:latin typeface="IBM Plex Sans"/>
          <a:ea typeface="IBM Plex Sans"/>
          <a:cs typeface="IBM Plex San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505"/>
          <c:y val="0.0505"/>
          <c:w val="0.8989"/>
          <c:h val="0.8989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</c:v>
                </c:pt>
              </c:strCache>
            </c:strRef>
          </c:tx>
          <c:dPt>
            <c:idx val="0"/>
            <c:spPr>
              <a:solidFill>
                <a:srgbClr val="1A82BF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56A2D0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8CC0DF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BFDCED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50" b="0">
                    <a:solidFill>
                      <a:srgbClr val="04617B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Оплата работы тренеров</c:v>
                </c:pt>
                <c:pt idx="1">
                  <c:v>Администраторов</c:v>
                </c:pt>
                <c:pt idx="2">
                  <c:v>Уборки</c:v>
                </c:pt>
                <c:pt idx="3">
                  <c:v>Резерв на замены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260000.0</c:v>
                </c:pt>
                <c:pt idx="1">
                  <c:v>110000.0</c:v>
                </c:pt>
                <c:pt idx="2">
                  <c:v>30000.0</c:v>
                </c:pt>
                <c:pt idx="3">
                  <c:v>20000.0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50" b="0">
                  <a:solidFill>
                    <a:srgbClr val="04617B"/>
                  </a:solidFill>
                  <a:latin typeface="IBM Plex Sans"/>
                  <a:ea typeface="IBM Plex Sans"/>
                  <a:cs typeface="IBM Plex San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04617B"/>
          </a:solidFill>
          <a:latin typeface="IBM Plex Sans"/>
          <a:ea typeface="IBM Plex Sans"/>
          <a:cs typeface="IBM Plex San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547"/>
          <c:y val="0.0547"/>
          <c:w val="0.8906"/>
          <c:h val="0.890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Сумма</c:v>
                </c:pt>
              </c:strCache>
            </c:strRef>
          </c:tx>
          <c:dPt>
            <c:idx val="0"/>
            <c:spPr>
              <a:solidFill>
                <a:srgbClr val="1A82BF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62030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ADAEC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04E73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6AAED5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3465A4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50" b="0">
                    <a:solidFill>
                      <a:srgbClr val="04617B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Ремонт и подготовка помещения</c:v>
                </c:pt>
                <c:pt idx="1">
                  <c:v>Оборотный резерв</c:v>
                </c:pt>
                <c:pt idx="2">
                  <c:v>Оборудование и инвентарь</c:v>
                </c:pt>
                <c:pt idx="3">
                  <c:v>Мебель и обустройство раздевалок</c:v>
                </c:pt>
                <c:pt idx="4">
                  <c:v>Обеспечительный платеж по аренде</c:v>
                </c:pt>
                <c:pt idx="5">
                  <c:v>Сайт и система записи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900000.0</c:v>
                </c:pt>
                <c:pt idx="1">
                  <c:v>850000.0</c:v>
                </c:pt>
                <c:pt idx="2">
                  <c:v>650000.0</c:v>
                </c:pt>
                <c:pt idx="3">
                  <c:v>300000.0</c:v>
                </c:pt>
                <c:pt idx="4">
                  <c:v>180000.0</c:v>
                </c:pt>
                <c:pt idx="5">
                  <c:v>120000.0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50" b="0">
                  <a:solidFill>
                    <a:srgbClr val="04617B"/>
                  </a:solidFill>
                  <a:latin typeface="IBM Plex Sans"/>
                  <a:ea typeface="IBM Plex Sans"/>
                  <a:cs typeface="IBM Plex San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04617B"/>
          </a:solidFill>
          <a:latin typeface="IBM Plex Sans"/>
          <a:ea typeface="IBM Plex Sans"/>
          <a:cs typeface="IBM Plex San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3171"/>
          <c:y val="0.0172"/>
          <c:w val="0.5138"/>
          <c:h val="0.965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Сумма</c:v>
                </c:pt>
              </c:strCache>
            </c:strRef>
          </c:tx>
          <c:spPr>
            <a:solidFill>
              <a:srgbClr val="1A82BF"/>
            </a:solidFill>
            <a:ln>
              <a:noFill/>
            </a:ln>
          </c:spPr>
          <c:invertIfNegative val="0"/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50" b="0">
                      <a:solidFill>
                        <a:srgbClr val="04617B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50" b="0">
                    <a:solidFill>
                      <a:srgbClr val="04617B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Выручка</c:v>
                </c:pt>
                <c:pt idx="1">
                  <c:v>Расходы</c:v>
                </c:pt>
                <c:pt idx="2">
                  <c:v>Операционная прибыль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1262500.0</c:v>
                </c:pt>
                <c:pt idx="1">
                  <c:v>1038125.0</c:v>
                </c:pt>
                <c:pt idx="2">
                  <c:v>224375.0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50" b="0">
                  <a:solidFill>
                    <a:srgbClr val="04617B"/>
                  </a:solidFill>
                  <a:latin typeface="IBM Plex Sans"/>
                  <a:ea typeface="IBM Plex Sans"/>
                  <a:cs typeface="IBM Plex San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2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04617B"/>
                </a:solidFill>
                <a:latin typeface="IBM Plex Sans"/>
                <a:ea typeface="IBM Plex Sans"/>
                <a:cs typeface="IBM Plex Sans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625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max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04617B"/>
          </a:solidFill>
          <a:latin typeface="IBM Plex Sans"/>
          <a:ea typeface="IBM Plex Sans"/>
          <a:cs typeface="IBM Plex Sans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47"/>
          <c:y val="0.1355"/>
          <c:w val="0.9906"/>
          <c:h val="0.681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Активные клиенты</c:v>
                </c:pt>
              </c:strCache>
            </c:strRef>
          </c:tx>
          <c:spPr>
            <a:ln w="28575">
              <a:solidFill>
                <a:srgbClr val="1A82BF"/>
              </a:solidFill>
            </a:ln>
          </c:spPr>
          <c:marker>
            <c:symbol val="circle"/>
            <c:size val="8"/>
            <c:spPr>
              <a:solidFill>
                <a:srgbClr val="1A82BF"/>
              </a:solidFill>
              <a:ln w="19050">
                <a:solidFill>
                  <a:srgbClr val="FFFFFF"/>
                </a:solidFill>
              </a:ln>
            </c:spPr>
          </c:marker>
          <c:dPt>
            <c:idx val="5"/>
            <c:marker>
              <c:symbol val="circle"/>
              <c:size val="11"/>
              <c:spPr>
                <a:solidFill>
                  <a:srgbClr val="1A82BF"/>
                </a:solidFill>
                <a:ln w="25400">
                  <a:solidFill>
                    <a:srgbClr val="FFFFFF"/>
                  </a:solidFill>
                </a:ln>
              </c:spPr>
            </c:marker>
          </c:dPt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50" b="0">
                      <a:solidFill>
                        <a:srgbClr val="04617B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0.0808"/>
                  <c:y val="0.0000"/>
                </c:manualLayout>
              </c:layout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50" b="0">
                      <a:solidFill>
                        <a:srgbClr val="04617B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0.0808"/>
                  <c:y val="0.0000"/>
                </c:manualLayout>
              </c:layout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50" b="0">
                      <a:solidFill>
                        <a:srgbClr val="04617B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0.0808"/>
                  <c:y val="0.0000"/>
                </c:manualLayout>
              </c:layout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50" b="0">
                      <a:solidFill>
                        <a:srgbClr val="04617B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50" b="0">
                      <a:solidFill>
                        <a:srgbClr val="04617B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b="0">
                      <a:solidFill>
                        <a:srgbClr val="1A82BF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50" b="0">
                    <a:solidFill>
                      <a:srgbClr val="04617B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1-й мес.</c:v>
                </c:pt>
                <c:pt idx="1">
                  <c:v>2-й мес.</c:v>
                </c:pt>
                <c:pt idx="2">
                  <c:v>3-й мес.</c:v>
                </c:pt>
                <c:pt idx="3">
                  <c:v>4-й мес.</c:v>
                </c:pt>
                <c:pt idx="4">
                  <c:v>5-й мес.</c:v>
                </c:pt>
                <c:pt idx="5">
                  <c:v>6-й мес.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80.0</c:v>
                </c:pt>
                <c:pt idx="1">
                  <c:v>120.0</c:v>
                </c:pt>
                <c:pt idx="2">
                  <c:v>160.0</c:v>
                </c:pt>
                <c:pt idx="3">
                  <c:v>195.0</c:v>
                </c:pt>
                <c:pt idx="4">
                  <c:v>225.0</c:v>
                </c:pt>
                <c:pt idx="5">
                  <c:v>250.0</c:v>
                </c:pt>
              </c:numCache>
            </c:numRef>
          </c:val>
          <c:smooth val="0"/>
        </c:ser>
        <c:dLbls>
          <c:numFmt formatCode="#,##0&quot; чел.&quot;;&quot;−&quot;#,##0&quot; чел.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50" b="0">
                  <a:solidFill>
                    <a:srgbClr val="04617B"/>
                  </a:solidFill>
                  <a:latin typeface="IBM Plex Sans"/>
                  <a:ea typeface="IBM Plex Sans"/>
                  <a:cs typeface="IBM Plex San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510000001"/>
        <c:axId val="510000002"/>
      </c:line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C8DCE2"/>
            </a:solidFill>
          </a:ln>
        </c:spPr>
        <c:txPr>
          <a:bodyPr rot="0" vert="horz"/>
          <a:lstStyle/>
          <a:p>
            <a:pPr>
              <a:defRPr sz="1200" b="0">
                <a:solidFill>
                  <a:srgbClr val="04617B"/>
                </a:solidFill>
                <a:latin typeface="IBM Plex Sans"/>
                <a:ea typeface="IBM Plex Sans"/>
                <a:cs typeface="IBM Plex Sans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50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04617B"/>
          </a:solidFill>
          <a:latin typeface="IBM Plex Sans"/>
          <a:ea typeface="IBM Plex Sans"/>
          <a:cs typeface="IBM Plex Sans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3209"/>
          <c:y val="0.0532"/>
          <c:w val="0.3886"/>
          <c:h val="0.83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Операционный результат</c:v>
                </c:pt>
              </c:strCache>
            </c:strRef>
          </c:tx>
          <c:spPr>
            <a:ln w="28575">
              <a:solidFill>
                <a:srgbClr val="1A82BF"/>
              </a:solidFill>
            </a:ln>
          </c:spPr>
          <c:marker>
            <c:symbol val="circle"/>
            <c:size val="8"/>
            <c:spPr>
              <a:solidFill>
                <a:srgbClr val="1A82BF"/>
              </a:solidFill>
              <a:ln w="19050">
                <a:solidFill>
                  <a:srgbClr val="FFFFFF"/>
                </a:solidFill>
              </a:ln>
            </c:spPr>
          </c:marker>
          <c:dPt>
            <c:idx val="5"/>
            <c:marker>
              <c:symbol val="circle"/>
              <c:size val="11"/>
              <c:spPr>
                <a:solidFill>
                  <a:srgbClr val="1A82BF"/>
                </a:solidFill>
                <a:ln w="25400">
                  <a:solidFill>
                    <a:srgbClr val="FFFFFF"/>
                  </a:solidFill>
                </a:ln>
              </c:spPr>
            </c:marker>
          </c:dPt>
          <c:dLbls>
            <c:dLbl>
              <c:idx val="5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50" b="0">
                      <a:solidFill>
                        <a:srgbClr val="1A82BF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1A82BF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 мес.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6 мес.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-591200.0</c:v>
                </c:pt>
                <c:pt idx="1">
                  <c:v>-399300.0</c:v>
                </c:pt>
                <c:pt idx="2">
                  <c:v>-207400.0</c:v>
                </c:pt>
                <c:pt idx="3">
                  <c:v>-39487.5</c:v>
                </c:pt>
                <c:pt idx="4">
                  <c:v>104437.5</c:v>
                </c:pt>
                <c:pt idx="5">
                  <c:v>224375.0</c:v>
                </c:pt>
              </c:numCache>
            </c:numRef>
          </c:val>
          <c:smooth val="0"/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4617B"/>
                  </a:solidFill>
                  <a:latin typeface="IBM Plex Sans"/>
                  <a:ea typeface="IBM Plex Sans"/>
                  <a:cs typeface="IBM Plex San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510000001"/>
        <c:axId val="510000002"/>
      </c:line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C8DCE2"/>
            </a:solidFill>
          </a:ln>
        </c:spPr>
        <c:txPr>
          <a:bodyPr rot="-60000" vert="horz"/>
          <a:lstStyle/>
          <a:p>
            <a:pPr>
              <a:defRPr sz="1200" b="0">
                <a:solidFill>
                  <a:srgbClr val="04617B"/>
                </a:solidFill>
                <a:latin typeface="IBM Plex Sans"/>
                <a:ea typeface="IBM Plex Sans"/>
                <a:cs typeface="IBM Plex Sans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400000.0"/>
          <c:min val="-600000.0"/>
        </c:scaling>
        <c:delete val="0"/>
        <c:axPos val="l"/>
        <c:majorGridlines>
          <c:spPr>
            <a:ln w="6350">
              <a:solidFill>
                <a:srgbClr val="D8E6EB"/>
              </a:solidFill>
            </a:ln>
          </c:spPr>
        </c:majorGridlines>
        <c:numFmt formatCode="#,##0&quot; ₽&quot;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04617B"/>
                </a:solidFill>
                <a:latin typeface="IBM Plex Sans"/>
                <a:ea typeface="IBM Plex Sans"/>
                <a:cs typeface="IBM Plex Sans"/>
              </a:defRPr>
            </a:pPr>
            <a:endParaRPr lang="ru-RU"/>
          </a:p>
        </c:txPr>
        <c:crossAx val="510000001"/>
        <c:crosses val="autoZero"/>
        <c:crossBetween val="between"/>
        <c:majorUnit val="200000.0"/>
      </c:valAx>
      <c:spPr>
        <a:noFill/>
        <a:ln>
          <a:noFill/>
        </a:ln>
      </c:spPr>
    </c:plotArea>
    <c:plotVisOnly val="1"/>
    <c:dispBlanksAs val="span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04617B"/>
          </a:solidFill>
          <a:latin typeface="IBM Plex Sans"/>
          <a:ea typeface="IBM Plex Sans"/>
          <a:cs typeface="IBM Plex Sans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4410"/>
          <c:y val="0.0169"/>
          <c:w val="0.3899"/>
          <c:h val="0.96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Сумма</c:v>
                </c:pt>
              </c:strCache>
            </c:strRef>
          </c:tx>
          <c:spPr>
            <a:solidFill>
              <a:srgbClr val="1A82BF"/>
            </a:solidFill>
            <a:ln>
              <a:noFill/>
            </a:ln>
          </c:spPr>
          <c:invertIfNegative val="0"/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50" b="0">
                      <a:solidFill>
                        <a:srgbClr val="04617B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50" b="0">
                    <a:solidFill>
                      <a:srgbClr val="04617B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Имеющийся оборотный резерв</c:v>
                </c:pt>
                <c:pt idx="1">
                  <c:v>Прогнозируемая потребность до выхода на месячную прибыль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850000.0</c:v>
                </c:pt>
                <c:pt idx="1">
                  <c:v>1237388.0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50" b="0">
                  <a:solidFill>
                    <a:srgbClr val="04617B"/>
                  </a:solidFill>
                  <a:latin typeface="IBM Plex Sans"/>
                  <a:ea typeface="IBM Plex Sans"/>
                  <a:cs typeface="IBM Plex San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8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04617B"/>
                </a:solidFill>
                <a:latin typeface="IBM Plex Sans"/>
                <a:ea typeface="IBM Plex Sans"/>
                <a:cs typeface="IBM Plex Sans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37388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max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04617B"/>
          </a:solidFill>
          <a:latin typeface="IBM Plex Sans"/>
          <a:ea typeface="IBM Plex Sans"/>
          <a:cs typeface="IBM Plex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Цель проекта — выйти на ежемесячную операционную прибыль 225 000 рублей к шестому месяцу работы. Основные направления: силовые занятия, растяжка, йога и функциональные тренировки.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Для достижения цели студии необходимо привлечь 21% от этой группы, что составляет 250 клиентов.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В опросе приняли участие 200 жителей района, каждый выбрал один основной критерий.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Средняя выручка 5 050 ₽ — это средневзвешенная цена по ожидаемому распределению: 25% × 3 200 + 50% × 5 200 + 25% × 6 600.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Студия работает ежедневно с 07:00 до 22:00. При вместимости 12 человек месячная вместимость составляет 2 700 посещений.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Общая площадь студии 180 м². В тренировочном зале предусмотрены зеркала, вентиляция, нескользящее покрытие и место для хранения инвентаря.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Совокупный бюджет 420 000 ₽ включает начисления. Владелец управляет студией на первом этапе.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Стоимость привлечения 1 371 ₽ рассчитана как 240 000 ₽ / 175 покупателей. Продажи не равны числу активных клиентов на конец периода.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Сумма шести статей бюджета составляет 3 000 000 ₽. Маркетинговый бюджет первых трех месяцев оплачивается из оборотного резерва и не прибавляется к стартовым вложениям повторно.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Выручка рассчитана как 250 активных клиентов × 5 050 ₽. Постоянные расходы 975 000 ₽ включают команду (420 000 ₽), аренду (180 000 ₽), коммунальные услуги (45 000 ₽), маркетинг (80 000 ₽), сервисы (35 000 ₽) и прочие расходы (215 000 ₽). Переменные расходы составляют 5% от выручки — 63 125 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Операционный результат рассчитан как выручка минус постоянные расходы (975 000 ₽) и переменные расходы (5% от выручки). Нулевая линия на графике прибыли показывает точку безубыточности, которая достигается в 5-й месяц.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Суммарный операционный убыток за первые четыре месяца — 1 237 388 ₽. Оборотного резерва 850 000 ₽ недостаточно, дополнительная потребность — не менее 387 388 ₽. Общий бюджет проекта следует увеличить как минимум до 3 387 388 ₽ либо сократить затраты до запуска. Для снижения рисков нужно заранее собрать заявки, проверить спрос на пробных тренировках и корректировать расписание по фактической посещаемости.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3780000"/>
            <a:ext cx="10080000" cy="18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ru-RU" sz="2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>&lt;date/time&gt;</a:t>
            </a:r>
            <a:endParaRPr lang="ru-RU" sz="14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>&lt;footer&gt;</a:t>
            </a:r>
            <a:endParaRPr lang="ru-RU" sz="14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3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1pPr>
          </a:lstStyle>
          <a:p>
            <a:pPr indent="0" algn="r">
              <a:buNone/>
            </a:pPr>
            <a:fld id="{B45AEBF1-8FC1-40FA-9B24-7D204961520F}" type="slidenum">
              <a:rPr lang="ru-RU" sz="14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>&lt;number&gt;</a:t>
            </a:fld>
            <a:endParaRPr lang="ru-RU" sz="14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buNone/>
              <a:defRPr lang="ru-RU" sz="60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1pPr>
          </a:lstStyle>
          <a:p>
            <a:pPr indent="0" algn="l">
              <a:buNone/>
            </a:pPr>
            <a:r>
              <a:rPr lang="ru-RU" sz="60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>Click to edit the title text format</a:t>
            </a:r>
            <a:endParaRPr lang="ru-RU" sz="60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2000" cy="11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1pPr>
            <a:lvl2pPr lvl="1" algn="l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ru-RU" sz="165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2pPr>
            <a:lvl3pPr lvl="2" algn="l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3pPr>
            <a:lvl4pPr lvl="3" algn="l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4pPr>
            <a:lvl5pPr lvl="4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5pPr>
            <a:lvl6pPr lvl="5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6pPr>
            <a:lvl7pPr lvl="6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7pPr>
          </a:lstStyle>
          <a:p>
            <a:pPr marL="432000" indent="-324000" algn="l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>Click to edit the outline text format</a:t>
            </a:r>
            <a:endParaRPr lang="ru-RU" sz="21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ru-RU" sz="165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>Second Outline Level</a:t>
            </a:r>
            <a:endParaRPr lang="ru-RU" sz="165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>Third Outline Level</a:t>
            </a:r>
            <a:endParaRPr lang="ru-RU" sz="18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>Fourth Outline Level</a:t>
            </a:r>
            <a:endParaRPr lang="ru-RU" sz="15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>Fifth Outline Level</a:t>
            </a:r>
            <a:endParaRPr lang="ru-RU" sz="15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>Sixth Outline Level</a:t>
            </a:r>
            <a:endParaRPr lang="ru-RU" sz="15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>Seventh Outline Level</a:t>
            </a:r>
            <a:endParaRPr lang="ru-RU" sz="15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3780000"/>
            <a:ext cx="10080000" cy="18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ru-RU" sz="2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dt" idx="4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>&lt;date/time&gt;</a:t>
            </a:r>
            <a:endParaRPr lang="ru-RU" sz="14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>&lt;footer&gt;</a:t>
            </a:r>
            <a:endParaRPr lang="ru-RU" sz="14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6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1pPr>
          </a:lstStyle>
          <a:p>
            <a:pPr indent="0" algn="r">
              <a:buNone/>
            </a:pPr>
            <a:fld id="{B77685FB-8E18-43D3-A34C-6C0D21E71F7F}" type="slidenum">
              <a:rPr lang="ru-RU" sz="14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>&lt;number&gt;</a:t>
            </a:fld>
            <a:endParaRPr lang="ru-RU" sz="14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buNone/>
              <a:defRPr lang="ru-RU" sz="60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1pPr>
          </a:lstStyle>
          <a:p>
            <a:pPr indent="0" algn="l">
              <a:buNone/>
            </a:pPr>
            <a:r>
              <a:rPr lang="ru-RU" sz="60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/>
            </a:r>
            <a:endParaRPr lang="ru-RU" sz="60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2000" cy="11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1pPr>
            <a:lvl2pPr lvl="1" algn="l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ru-RU" sz="165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2pPr>
            <a:lvl3pPr lvl="2" algn="l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3pPr>
            <a:lvl4pPr lvl="3" algn="l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4pPr>
            <a:lvl5pPr lvl="4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5pPr>
            <a:lvl6pPr lvl="5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6pPr>
            <a:lvl7pPr lvl="6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7pPr>
          </a:lstStyle>
          <a:p>
            <a:pPr marL="432000" indent="-324000" algn="l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/>
            </a:r>
            <a:endParaRPr lang="ru-RU" sz="21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ru-RU" sz="165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/>
            </a:r>
            <a:endParaRPr lang="ru-RU" sz="165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/>
            </a:r>
            <a:endParaRPr lang="ru-RU" sz="18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/>
            </a:r>
            <a:endParaRPr lang="ru-RU" sz="15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/>
            </a:r>
            <a:endParaRPr lang="ru-RU" sz="15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/>
            </a:r>
            <a:endParaRPr lang="ru-RU" sz="15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/>
            </a:r>
            <a:endParaRPr lang="ru-RU" sz="15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ru-RU" sz="2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buNone/>
              <a:defRPr lang="ru-RU" sz="45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1pPr>
          </a:lstStyle>
          <a:p>
            <a:pPr indent="0" algn="l">
              <a:buNone/>
            </a:pPr>
            <a:r>
              <a:rPr lang="ru-RU" sz="45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>Click to edit the title text format</a:t>
            </a:r>
            <a:endParaRPr lang="ru-RU" sz="45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1pPr>
            <a:lvl2pPr lvl="1" algn="l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2pPr>
            <a:lvl3pPr lvl="2" algn="l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3pPr>
            <a:lvl4pPr lvl="3" algn="l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4pPr>
            <a:lvl5pPr lvl="4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5pPr>
            <a:lvl6pPr lvl="5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6pPr>
            <a:lvl7pPr lvl="6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7pPr>
          </a:lstStyle>
          <a:p>
            <a:pPr marL="432000"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>Click to edit the outline text format</a:t>
            </a:r>
            <a:endParaRPr lang="ru-RU" sz="24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>Second Outline Level</a:t>
            </a:r>
            <a:endParaRPr lang="ru-RU" sz="21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>Third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>Fourth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>Fifth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>Sixth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>Seventh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rPr>
              <a:t>&lt;date/time&gt;</a:t>
            </a:r>
            <a:endParaRPr lang="ru-RU" sz="1400" b="0" u="none" strike="noStrike">
              <a:solidFill>
                <a:srgbClr val="484848"/>
              </a:solidFill>
              <a:effectLst/>
              <a:uFillTx/>
              <a:latin typeface="IBM Plex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rPr>
              <a:t>&lt;footer&gt;</a:t>
            </a:r>
            <a:endParaRPr lang="ru-RU" sz="1400" b="0" u="none" strike="noStrike">
              <a:solidFill>
                <a:srgbClr val="484848"/>
              </a:solidFill>
              <a:effectLst/>
              <a:uFillTx/>
              <a:latin typeface="IBM Plex Sans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defRPr>
            </a:lvl1pPr>
          </a:lstStyle>
          <a:p>
            <a:pPr indent="0" algn="r">
              <a:buNone/>
            </a:pPr>
            <a:fld id="{A593529B-D7A3-467A-AF6A-E5A9D0211FD7}" type="slidenum"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rPr>
              <a:t>&lt;number&gt;</a:t>
            </a:fld>
            <a:endParaRPr lang="ru-RU" sz="1400" b="0" u="none" strike="noStrike">
              <a:solidFill>
                <a:srgbClr val="484848"/>
              </a:solidFill>
              <a:effectLst/>
              <a:uFillTx/>
              <a:latin typeface="IBM Plex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ru-RU" sz="2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buNone/>
              <a:defRPr lang="ru-RU" sz="4500" b="0" u="none" strike="noStrike">
                <a:solidFill>
                  <a:srgbClr val="DBF5F9"/>
                </a:solidFill>
                <a:effectLst/>
                <a:uFillTx/>
                <a:latin typeface="IBM Plex Sans"/>
              </a:defRPr>
            </a:lvl1pPr>
          </a:lstStyle>
          <a:p>
            <a:pPr indent="0" algn="l">
              <a:buNone/>
            </a:pPr>
            <a:r>
              <a:rPr lang="ru-RU" sz="4500" b="0" u="none" strike="noStrike">
                <a:solidFill>
                  <a:srgbClr val="DBF5F9"/>
                </a:solidFill>
                <a:effectLst/>
                <a:uFillTx/>
                <a:latin typeface="IBM Plex Sans"/>
              </a:rPr>
              <a:t/>
            </a:r>
            <a:endParaRPr lang="ru-RU" sz="4500" b="0" u="none" strike="noStrike">
              <a:solidFill>
                <a:srgbClr val="DBF5F9"/>
              </a:solidFill>
              <a:effectLst/>
              <a:uFillTx/>
              <a:latin typeface="IBM Plex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1pPr>
            <a:lvl2pPr lvl="1" algn="l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2pPr>
            <a:lvl3pPr lvl="2" algn="l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3pPr>
            <a:lvl4pPr lvl="3" algn="l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4pPr>
            <a:lvl5pPr lvl="4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5pPr>
            <a:lvl6pPr lvl="5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6pPr>
            <a:lvl7pPr lvl="6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7pPr>
          </a:lstStyle>
          <a:p>
            <a:pPr marL="432000"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/>
            </a:r>
            <a:endParaRPr lang="ru-RU" sz="24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/>
            </a:r>
            <a:endParaRPr lang="ru-RU" sz="21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/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/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/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/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/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rPr>
              <a:t>&lt;date/time&gt;</a:t>
            </a:r>
            <a:endParaRPr lang="ru-RU" sz="1400" b="0" u="none" strike="noStrike">
              <a:solidFill>
                <a:srgbClr val="484848"/>
              </a:solidFill>
              <a:effectLst/>
              <a:uFillTx/>
              <a:latin typeface="IBM Plex San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rPr>
              <a:t>&lt;footer&gt;</a:t>
            </a:r>
            <a:endParaRPr lang="ru-RU" sz="1400" b="0" u="none" strike="noStrike">
              <a:solidFill>
                <a:srgbClr val="484848"/>
              </a:solidFill>
              <a:effectLst/>
              <a:uFillTx/>
              <a:latin typeface="IBM Plex Sans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defRPr>
            </a:lvl1pPr>
          </a:lstStyle>
          <a:p>
            <a:pPr indent="0" algn="r">
              <a:buNone/>
            </a:pPr>
            <a:fld id="{A21695F7-6D2C-4481-B366-59A2E7DE47C8}" type="slidenum"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rPr>
              <a:t>&lt;number&gt;</a:t>
            </a:fld>
            <a:endParaRPr lang="ru-RU" sz="1400" b="0" u="none" strike="noStrike">
              <a:solidFill>
                <a:srgbClr val="484848"/>
              </a:solidFill>
              <a:effectLst/>
              <a:uFillTx/>
              <a:latin typeface="IBM Plex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Vivi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flipV="1">
            <a:off x="0" y="0"/>
            <a:ext cx="10080000" cy="1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ru-RU" sz="2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>
              <a:buNone/>
              <a:defRPr lang="ru-RU" sz="45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1pPr>
          </a:lstStyle>
          <a:p>
            <a:pPr indent="0" algn="l">
              <a:buNone/>
            </a:pPr>
            <a:r>
              <a:rPr lang="ru-RU" sz="45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>Click to edit the title text format</a:t>
            </a:r>
            <a:endParaRPr lang="ru-RU" sz="45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6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1pPr>
            <a:lvl2pPr lvl="1" algn="l"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2pPr>
            <a:lvl3pPr lvl="2" algn="l"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3pPr>
            <a:lvl4pPr lvl="3" algn="l"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4pPr>
            <a:lvl5pPr lvl="4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5pPr>
            <a:lvl6pPr lvl="5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6pPr>
            <a:lvl7pPr lvl="6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defRPr>
            </a:lvl7pPr>
          </a:lstStyle>
          <a:p>
            <a:pPr marL="432000" indent="-324000" algn="l"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>Click to edit the outline text format</a:t>
            </a:r>
            <a:endParaRPr lang="ru-RU" sz="24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>Second Outline Level</a:t>
            </a:r>
            <a:endParaRPr lang="ru-RU" sz="21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>Third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>Fourth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>Fifth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>Sixth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IBM Plex Sans"/>
              </a:rPr>
              <a:t>Seventh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IBM Plex San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rPr>
              <a:t>&lt;date/time&gt;</a:t>
            </a:r>
            <a:endParaRPr lang="ru-RU" sz="1400" b="0" u="none" strike="noStrike">
              <a:solidFill>
                <a:srgbClr val="484848"/>
              </a:solidFill>
              <a:effectLst/>
              <a:uFillTx/>
              <a:latin typeface="IBM Plex Sans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rPr>
              <a:t>&lt;footer&gt;</a:t>
            </a:r>
            <a:endParaRPr lang="ru-RU" sz="1400" b="0" u="none" strike="noStrike">
              <a:solidFill>
                <a:srgbClr val="484848"/>
              </a:solidFill>
              <a:effectLst/>
              <a:uFillTx/>
              <a:latin typeface="IBM Plex Sans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defRPr>
            </a:lvl1pPr>
          </a:lstStyle>
          <a:p>
            <a:pPr indent="0" algn="r">
              <a:buNone/>
            </a:pPr>
            <a:fld id="{46E25EE5-A716-432A-9ED3-F2BB9096AB3D}" type="slidenum"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IBM Plex Sans"/>
              </a:rPr>
              <a:t>&lt;number&gt;</a:t>
            </a:fld>
            <a:endParaRPr lang="ru-RU" sz="1400" b="0" u="none" strike="noStrike">
              <a:solidFill>
                <a:srgbClr val="484848"/>
              </a:solidFill>
              <a:effectLst/>
              <a:uFillTx/>
              <a:latin typeface="IBM Plex Sans"/>
            </a:endParaRPr>
          </a:p>
        </p:txBody>
      </p:sp>
      <p:sp>
        <p:nvSpPr>
          <p:cNvPr id="30" name=""/>
          <p:cNvSpPr/>
          <p:nvPr/>
        </p:nvSpPr>
        <p:spPr>
          <a:xfrm>
            <a:off x="0" y="5580000"/>
            <a:ext cx="10080000" cy="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ru-RU" sz="2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567026"/>
            <a:ext cx="8904583" cy="94297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p>
            <a:pPr marL="0" indent="0" algn="l">
              <a:lnSpc>
                <a:spcPct val="100000"/>
              </a:lnSpc>
              <a:buNone/>
            </a:pPr>
            <a:r>
              <a:rPr lang="ru-RU" sz="5500" b="0"/>
              <a:t>Открытие фитнес-⁠студии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504000" y="3824325"/>
            <a:ext cx="8904583" cy="5156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p>
            <a:pPr marL="0" indent="0" algn="l">
              <a:lnSpc>
                <a:spcPct val="100000"/>
              </a:lnSpc>
              <a:buNone/>
            </a:pPr>
            <a:r>
              <a:rPr lang="ru-RU" sz="2800" b="0">
                <a:solidFill>
                  <a:srgbClr val="DBF5F9"/>
                </a:solidFill>
              </a:rPr>
              <a:t>От идеи до первых результатов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8669337" cy="9673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r>
              <a:rPr lang="ru-RU" sz="2500"/>
              <a:t>Цель: 250 клиентов и 225 000 ₽ прибыли к 6-⁠му месяцу</a:t>
            </a:r>
          </a:p>
        </p:txBody>
      </p:sp>
      <p:sp>
        <p:nvSpPr>
          <p:cNvPr id="34" name="Rule 34"/>
          <p:cNvSpPr/>
          <p:nvPr/>
        </p:nvSpPr>
        <p:spPr>
          <a:xfrm>
            <a:off x="504031" y="1363527"/>
            <a:ext cx="510349" cy="38100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35" name="Figure 35"/>
          <p:cNvSpPr txBox="1"/>
          <p:nvPr/>
        </p:nvSpPr>
        <p:spPr>
          <a:xfrm>
            <a:off x="485984" y="1417235"/>
            <a:ext cx="4433360" cy="48006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150" b="0" cap="none" spc="0" baseline="0" dirty="0">
                <a:solidFill>
                  <a:srgbClr val="1A82BF"/>
                </a:solidFill>
                <a:latin typeface="IBM Plex Sans"/>
                <a:cs typeface="IBM Plex Sans"/>
              </a:rPr>
              <a:t>180 м²</a:t>
            </a:r>
            <a:endParaRPr lang="ru-RU" sz="3150"/>
          </a:p>
        </p:txBody>
      </p:sp>
      <p:sp>
        <p:nvSpPr>
          <p:cNvPr id="36" name="Label 36"/>
          <p:cNvSpPr txBox="1"/>
          <p:nvPr/>
        </p:nvSpPr>
        <p:spPr>
          <a:xfrm>
            <a:off x="504031" y="1956835"/>
            <a:ext cx="4415313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Площадь студии</a:t>
            </a:r>
            <a:endParaRPr lang="ru-RU" sz="1600"/>
          </a:p>
        </p:txBody>
      </p:sp>
      <p:sp>
        <p:nvSpPr>
          <p:cNvPr id="37" name="Rule 37"/>
          <p:cNvSpPr/>
          <p:nvPr/>
        </p:nvSpPr>
        <p:spPr>
          <a:xfrm>
            <a:off x="5161279" y="1363527"/>
            <a:ext cx="510349" cy="38100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38" name="Figure 38"/>
          <p:cNvSpPr txBox="1"/>
          <p:nvPr/>
        </p:nvSpPr>
        <p:spPr>
          <a:xfrm>
            <a:off x="5143232" y="1417235"/>
            <a:ext cx="4433360" cy="48006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150" b="0" cap="none" spc="0" baseline="0" dirty="0">
                <a:solidFill>
                  <a:srgbClr val="1A82BF"/>
                </a:solidFill>
                <a:latin typeface="IBM Plex Sans"/>
                <a:cs typeface="IBM Plex Sans"/>
              </a:rPr>
              <a:t>12 человек</a:t>
            </a:r>
            <a:endParaRPr lang="ru-RU" sz="3150"/>
          </a:p>
        </p:txBody>
      </p:sp>
      <p:sp>
        <p:nvSpPr>
          <p:cNvPr id="39" name="Label 39"/>
          <p:cNvSpPr txBox="1"/>
          <p:nvPr/>
        </p:nvSpPr>
        <p:spPr>
          <a:xfrm>
            <a:off x="5161279" y="1956835"/>
            <a:ext cx="4415313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Максимум на занятие</a:t>
            </a:r>
            <a:endParaRPr lang="ru-RU" sz="1600"/>
          </a:p>
        </p:txBody>
      </p:sp>
      <p:sp>
        <p:nvSpPr>
          <p:cNvPr id="40" name="Rule 40"/>
          <p:cNvSpPr/>
          <p:nvPr/>
        </p:nvSpPr>
        <p:spPr>
          <a:xfrm>
            <a:off x="504031" y="2396191"/>
            <a:ext cx="510349" cy="38100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41" name="Figure 41"/>
          <p:cNvSpPr txBox="1"/>
          <p:nvPr/>
        </p:nvSpPr>
        <p:spPr>
          <a:xfrm>
            <a:off x="499986" y="2449899"/>
            <a:ext cx="4419358" cy="48006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150" b="0" cap="none" spc="0" baseline="0" dirty="0">
                <a:solidFill>
                  <a:srgbClr val="1A82BF"/>
                </a:solidFill>
                <a:latin typeface="IBM Plex Sans"/>
                <a:cs typeface="IBM Plex Sans"/>
              </a:rPr>
              <a:t>250</a:t>
            </a:r>
            <a:endParaRPr lang="ru-RU" sz="3150"/>
          </a:p>
        </p:txBody>
      </p:sp>
      <p:sp>
        <p:nvSpPr>
          <p:cNvPr id="42" name="Label 42"/>
          <p:cNvSpPr txBox="1"/>
          <p:nvPr/>
        </p:nvSpPr>
        <p:spPr>
          <a:xfrm>
            <a:off x="504031" y="2989499"/>
            <a:ext cx="4415313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Постоянных клиентов</a:t>
            </a:r>
            <a:endParaRPr lang="ru-RU" sz="1600"/>
          </a:p>
        </p:txBody>
      </p:sp>
      <p:sp>
        <p:nvSpPr>
          <p:cNvPr id="43" name="Rule 43"/>
          <p:cNvSpPr/>
          <p:nvPr/>
        </p:nvSpPr>
        <p:spPr>
          <a:xfrm>
            <a:off x="5161279" y="2396191"/>
            <a:ext cx="510349" cy="38100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44" name="Figure 44"/>
          <p:cNvSpPr txBox="1"/>
          <p:nvPr/>
        </p:nvSpPr>
        <p:spPr>
          <a:xfrm>
            <a:off x="5157234" y="2449899"/>
            <a:ext cx="4419358" cy="48006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150" b="0" cap="none" spc="0" baseline="0" dirty="0">
                <a:solidFill>
                  <a:srgbClr val="1A82BF"/>
                </a:solidFill>
                <a:latin typeface="IBM Plex Sans"/>
                <a:cs typeface="IBM Plex Sans"/>
              </a:rPr>
              <a:t>225 000 ₽</a:t>
            </a:r>
            <a:endParaRPr lang="ru-RU" sz="3150"/>
          </a:p>
        </p:txBody>
      </p:sp>
      <p:sp>
        <p:nvSpPr>
          <p:cNvPr id="45" name="Label 45"/>
          <p:cNvSpPr txBox="1"/>
          <p:nvPr/>
        </p:nvSpPr>
        <p:spPr>
          <a:xfrm>
            <a:off x="5161279" y="2989499"/>
            <a:ext cx="4415313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Операционная прибыль в месяц</a:t>
            </a:r>
            <a:endParaRPr lang="ru-RU" sz="1600"/>
          </a:p>
        </p:txBody>
      </p:sp>
      <p:sp>
        <p:nvSpPr>
          <p:cNvPr id="46" name="Note 46"/>
          <p:cNvSpPr txBox="1"/>
          <p:nvPr/>
        </p:nvSpPr>
        <p:spPr>
          <a:xfrm>
            <a:off x="504031" y="3496901"/>
            <a:ext cx="4415313" cy="9677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195580" indent="-195580">
              <a:lnSpc>
                <a:spcPct val="100000"/>
              </a:lnSpc>
              <a:spcAft>
                <a:spcPts val="70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Групповые тренировки рядом с домом</a:t>
            </a:r>
            <a:endParaRPr lang="ru-RU" sz="1400"/>
          </a:p>
          <a:p>
            <a:pPr algn="l" marL="195580" indent="-195580">
              <a:lnSpc>
                <a:spcPct val="100000"/>
              </a:lnSpc>
              <a:spcAft>
                <a:spcPts val="70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Силовые, растяжка, йога, функциональные</a:t>
            </a:r>
            <a:endParaRPr lang="ru-RU" sz="1400"/>
          </a:p>
        </p:txBody>
      </p:sp>
      <p:sp>
        <p:nvSpPr>
          <p:cNvPr id="47" name="Note 47"/>
          <p:cNvSpPr txBox="1"/>
          <p:nvPr/>
        </p:nvSpPr>
        <p:spPr>
          <a:xfrm>
            <a:off x="5161279" y="3496901"/>
            <a:ext cx="4415313" cy="9677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195580" indent="-195580">
              <a:lnSpc>
                <a:spcPct val="100000"/>
              </a:lnSpc>
              <a:spcAft>
                <a:spcPts val="70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Студия «Движение»</a:t>
            </a:r>
            <a:endParaRPr lang="ru-RU" sz="1400"/>
          </a:p>
          <a:p>
            <a:pPr algn="l" marL="195580" indent="-195580">
              <a:lnSpc>
                <a:spcPct val="100000"/>
              </a:lnSpc>
              <a:spcAft>
                <a:spcPts val="70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Цель проекта — привлечь 250 постоянных клиентов и выйти на ежемесячную операционную прибыль 225 000</a:t>
            </a:r>
            <a:endParaRPr lang="ru-RU" sz="1400"/>
          </a:p>
        </p:txBody>
      </p:sp>
      <p:sp>
        <p:nvSpPr>
          <p:cNvPr id="62" name="Footnote 62"/>
          <p:cNvSpPr txBox="1"/>
          <p:nvPr/>
        </p:nvSpPr>
        <p:spPr>
          <a:xfrm>
            <a:off x="504031" y="4867217"/>
            <a:ext cx="9072562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Все цифры условные и используются для учебного бизнес-⁠плана</a:t>
            </a:r>
            <a:endParaRPr lang="ru-RU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8669337" cy="9673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r>
              <a:rPr lang="ru-RU" sz="2500"/>
              <a:t>1 200 потенциальных клиентов в 15 минутах от студии</a:t>
            </a:r>
          </a:p>
        </p:txBody>
      </p:sp>
      <p:sp>
        <p:nvSpPr>
          <p:cNvPr id="34" name="Unit 34"/>
          <p:cNvSpPr txBox="1"/>
          <p:nvPr/>
        </p:nvSpPr>
        <p:spPr>
          <a:xfrm>
            <a:off x="504031" y="1363527"/>
            <a:ext cx="5806439" cy="2006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1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чел.</a:t>
            </a:r>
            <a:endParaRPr lang="ru-RU" sz="1150"/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504031" y="1615221"/>
          <a:ext cx="5806439" cy="31212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36" name="Line 36"/>
          <p:cNvCxnSpPr/>
          <p:nvPr/>
        </p:nvCxnSpPr>
        <p:spPr>
          <a:xfrm>
            <a:off x="6552405" y="2167543"/>
            <a:ext cx="0" cy="1369060"/>
          </a:xfrm>
          <a:prstGeom prst="line">
            <a:avLst/>
          </a:prstGeom>
          <a:ln w="12700">
            <a:solidFill>
              <a:srgbClr val="C8DCE2"/>
            </a:solidFill>
          </a:ln>
        </p:spPr>
      </p:cxnSp>
      <p:sp>
        <p:nvSpPr>
          <p:cNvPr id="37" name="Takeaway 37"/>
          <p:cNvSpPr txBox="1"/>
          <p:nvPr/>
        </p:nvSpPr>
        <p:spPr>
          <a:xfrm>
            <a:off x="6794340" y="2167543"/>
            <a:ext cx="2782253" cy="13690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23520" indent="-223520">
              <a:lnSpc>
                <a:spcPct val="100000"/>
              </a:lnSpc>
              <a:spcAft>
                <a:spcPts val="98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Для цели студии нужно привлечь 21% аудитории</a:t>
            </a:r>
            <a:endParaRPr lang="ru-RU" sz="1600"/>
          </a:p>
          <a:p>
            <a:pPr algn="l" marL="223520" indent="-223520">
              <a:lnSpc>
                <a:spcPct val="100000"/>
              </a:lnSpc>
              <a:spcAft>
                <a:spcPts val="98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Возрастная аудитория: 23⁠–⁠45 лет</a:t>
            </a:r>
            <a:endParaRPr lang="ru-RU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8669337" cy="9673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r>
              <a:rPr lang="ru-RU" sz="2500"/>
              <a:t>Близость к дому — главный критерий выбора студии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504031" y="1363527"/>
          <a:ext cx="2996323" cy="299632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Legend title 35"/>
          <p:cNvSpPr txBox="1"/>
          <p:nvPr/>
        </p:nvSpPr>
        <p:spPr>
          <a:xfrm>
            <a:off x="3984224" y="1798698"/>
            <a:ext cx="2326246" cy="5765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Критерии выбора фитнес-⁠студии</a:t>
            </a:r>
            <a:endParaRPr lang="ru-RU" sz="1400"/>
          </a:p>
        </p:txBody>
      </p:sp>
      <p:sp>
        <p:nvSpPr>
          <p:cNvPr id="36" name="Swatch 36"/>
          <p:cNvSpPr/>
          <p:nvPr/>
        </p:nvSpPr>
        <p:spPr>
          <a:xfrm>
            <a:off x="3984224" y="2417950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1A82BF"/>
          </a:solidFill>
          <a:ln>
            <a:noFill/>
          </a:ln>
        </p:spPr>
      </p:sp>
      <p:sp>
        <p:nvSpPr>
          <p:cNvPr id="37" name="Legend 37"/>
          <p:cNvSpPr txBox="1"/>
          <p:nvPr/>
        </p:nvSpPr>
        <p:spPr>
          <a:xfrm>
            <a:off x="4214652" y="2375278"/>
            <a:ext cx="1479074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Близость к дому</a:t>
            </a:r>
            <a:endParaRPr lang="ru-RU" sz="1400"/>
          </a:p>
        </p:txBody>
      </p:sp>
      <p:sp>
        <p:nvSpPr>
          <p:cNvPr id="38" name="Share 38"/>
          <p:cNvSpPr txBox="1"/>
          <p:nvPr/>
        </p:nvSpPr>
        <p:spPr>
          <a:xfrm>
            <a:off x="5693726" y="2375278"/>
            <a:ext cx="616744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3465A4"/>
                </a:solidFill>
                <a:latin typeface="IBM Plex Sans"/>
                <a:cs typeface="IBM Plex Sans"/>
              </a:rPr>
              <a:t>35%</a:t>
            </a:r>
            <a:endParaRPr lang="ru-RU" sz="1400"/>
          </a:p>
        </p:txBody>
      </p:sp>
      <p:sp>
        <p:nvSpPr>
          <p:cNvPr id="39" name="Swatch 39"/>
          <p:cNvSpPr/>
          <p:nvPr/>
        </p:nvSpPr>
        <p:spPr>
          <a:xfrm>
            <a:off x="3984224" y="2745610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062030"/>
          </a:solidFill>
          <a:ln>
            <a:noFill/>
          </a:ln>
        </p:spPr>
      </p:sp>
      <p:sp>
        <p:nvSpPr>
          <p:cNvPr id="40" name="Legend 40"/>
          <p:cNvSpPr txBox="1"/>
          <p:nvPr/>
        </p:nvSpPr>
        <p:spPr>
          <a:xfrm>
            <a:off x="4214652" y="2702938"/>
            <a:ext cx="1479074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Расписание</a:t>
            </a:r>
            <a:endParaRPr lang="ru-RU" sz="1400"/>
          </a:p>
        </p:txBody>
      </p:sp>
      <p:sp>
        <p:nvSpPr>
          <p:cNvPr id="41" name="Share 41"/>
          <p:cNvSpPr txBox="1"/>
          <p:nvPr/>
        </p:nvSpPr>
        <p:spPr>
          <a:xfrm>
            <a:off x="5693726" y="2702938"/>
            <a:ext cx="616744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25%</a:t>
            </a:r>
            <a:endParaRPr lang="ru-RU" sz="1400"/>
          </a:p>
        </p:txBody>
      </p:sp>
      <p:sp>
        <p:nvSpPr>
          <p:cNvPr id="42" name="Swatch 42"/>
          <p:cNvSpPr/>
          <p:nvPr/>
        </p:nvSpPr>
        <p:spPr>
          <a:xfrm>
            <a:off x="3984224" y="3073270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BADAEC"/>
          </a:solidFill>
          <a:ln>
            <a:noFill/>
          </a:ln>
        </p:spPr>
      </p:sp>
      <p:sp>
        <p:nvSpPr>
          <p:cNvPr id="43" name="Legend 43"/>
          <p:cNvSpPr txBox="1"/>
          <p:nvPr/>
        </p:nvSpPr>
        <p:spPr>
          <a:xfrm>
            <a:off x="4214652" y="3030598"/>
            <a:ext cx="1479074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Стоимость</a:t>
            </a:r>
            <a:endParaRPr lang="ru-RU" sz="1400"/>
          </a:p>
        </p:txBody>
      </p:sp>
      <p:sp>
        <p:nvSpPr>
          <p:cNvPr id="44" name="Share 44"/>
          <p:cNvSpPr txBox="1"/>
          <p:nvPr/>
        </p:nvSpPr>
        <p:spPr>
          <a:xfrm>
            <a:off x="5693726" y="3030598"/>
            <a:ext cx="616744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20%</a:t>
            </a:r>
            <a:endParaRPr lang="ru-RU" sz="1400"/>
          </a:p>
        </p:txBody>
      </p:sp>
      <p:sp>
        <p:nvSpPr>
          <p:cNvPr id="45" name="Swatch 45"/>
          <p:cNvSpPr/>
          <p:nvPr/>
        </p:nvSpPr>
        <p:spPr>
          <a:xfrm>
            <a:off x="3984224" y="3400930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104E73"/>
          </a:solidFill>
          <a:ln>
            <a:noFill/>
          </a:ln>
        </p:spPr>
      </p:sp>
      <p:sp>
        <p:nvSpPr>
          <p:cNvPr id="46" name="Legend 46"/>
          <p:cNvSpPr txBox="1"/>
          <p:nvPr/>
        </p:nvSpPr>
        <p:spPr>
          <a:xfrm>
            <a:off x="4214652" y="3358258"/>
            <a:ext cx="1479074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Тренеры</a:t>
            </a:r>
            <a:endParaRPr lang="ru-RU" sz="1400"/>
          </a:p>
        </p:txBody>
      </p:sp>
      <p:sp>
        <p:nvSpPr>
          <p:cNvPr id="47" name="Share 47"/>
          <p:cNvSpPr txBox="1"/>
          <p:nvPr/>
        </p:nvSpPr>
        <p:spPr>
          <a:xfrm>
            <a:off x="5693726" y="3358258"/>
            <a:ext cx="616744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12,5%</a:t>
            </a:r>
            <a:endParaRPr lang="ru-RU" sz="1400"/>
          </a:p>
        </p:txBody>
      </p:sp>
      <p:sp>
        <p:nvSpPr>
          <p:cNvPr id="48" name="Swatch 48"/>
          <p:cNvSpPr/>
          <p:nvPr/>
        </p:nvSpPr>
        <p:spPr>
          <a:xfrm>
            <a:off x="3984224" y="3728590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6AAED5"/>
          </a:solidFill>
          <a:ln>
            <a:noFill/>
          </a:ln>
        </p:spPr>
      </p:sp>
      <p:sp>
        <p:nvSpPr>
          <p:cNvPr id="49" name="Legend 49"/>
          <p:cNvSpPr txBox="1"/>
          <p:nvPr/>
        </p:nvSpPr>
        <p:spPr>
          <a:xfrm>
            <a:off x="4214652" y="3685918"/>
            <a:ext cx="1479074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Атмосфера</a:t>
            </a:r>
            <a:endParaRPr lang="ru-RU" sz="1400"/>
          </a:p>
        </p:txBody>
      </p:sp>
      <p:sp>
        <p:nvSpPr>
          <p:cNvPr id="50" name="Share 50"/>
          <p:cNvSpPr txBox="1"/>
          <p:nvPr/>
        </p:nvSpPr>
        <p:spPr>
          <a:xfrm>
            <a:off x="5693726" y="3685918"/>
            <a:ext cx="616744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7,5%</a:t>
            </a:r>
            <a:endParaRPr lang="ru-RU" sz="1400"/>
          </a:p>
        </p:txBody>
      </p:sp>
      <p:cxnSp>
        <p:nvCxnSpPr>
          <p:cNvPr id="51" name="Line 51"/>
          <p:cNvCxnSpPr/>
          <p:nvPr/>
        </p:nvCxnSpPr>
        <p:spPr>
          <a:xfrm>
            <a:off x="6552405" y="2252887"/>
            <a:ext cx="0" cy="1125220"/>
          </a:xfrm>
          <a:prstGeom prst="line">
            <a:avLst/>
          </a:prstGeom>
          <a:ln w="12700">
            <a:solidFill>
              <a:srgbClr val="C8DCE2"/>
            </a:solidFill>
          </a:ln>
        </p:spPr>
      </p:cxnSp>
      <p:sp>
        <p:nvSpPr>
          <p:cNvPr id="52" name="Takeaway 52"/>
          <p:cNvSpPr txBox="1"/>
          <p:nvPr/>
        </p:nvSpPr>
        <p:spPr>
          <a:xfrm>
            <a:off x="6794340" y="2252887"/>
            <a:ext cx="2782253" cy="11252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23520" indent="-223520">
              <a:lnSpc>
                <a:spcPct val="100000"/>
              </a:lnSpc>
              <a:spcAft>
                <a:spcPts val="98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Опросили 200 жителей района</a:t>
            </a:r>
            <a:endParaRPr lang="ru-RU" sz="1600"/>
          </a:p>
          <a:p>
            <a:pPr algn="l" marL="223520" indent="-223520">
              <a:lnSpc>
                <a:spcPct val="100000"/>
              </a:lnSpc>
              <a:spcAft>
                <a:spcPts val="98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Каждый выбрал один критерий</a:t>
            </a:r>
            <a:endParaRPr lang="ru-RU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8669337" cy="9673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r>
              <a:rPr lang="ru-RU" sz="2500"/>
              <a:t>Средняя месячная выручка на одного клиента составит 5 050 рублей</a:t>
            </a:r>
          </a:p>
        </p:txBody>
      </p:sp>
      <p:graphicFrame>
        <p:nvGraphicFramePr>
          <p:cNvPr id="34" name="Table"/>
          <p:cNvGraphicFramePr>
            <a:graphicFrameLocks noGrp="1"/>
          </p:cNvGraphicFramePr>
          <p:nvPr/>
        </p:nvGraphicFramePr>
        <p:xfrm>
          <a:off x="504031" y="1363527"/>
          <a:ext cx="9072562" cy="2032293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885851"/>
                <a:gridCol w="1796678"/>
                <a:gridCol w="1796678"/>
                <a:gridCol w="1796678"/>
                <a:gridCol w="1796677"/>
              </a:tblGrid>
              <a:tr h="4762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 lang="ru-RU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Абонемент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97DB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 lang="ru-RU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Занятий в месяц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97DB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 lang="ru-RU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Цена, ₽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97DB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 lang="ru-RU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Стоимость занятия, ₽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97DB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 lang="ru-RU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Доля клиентов, %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97DB7"/>
                    </a:solidFill>
                  </a:tcPr>
                </a:tc>
              </a:tr>
              <a:tr h="51868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 lang="ru-RU">
                          <a:solidFill>
                            <a:srgbClr val="04617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Четыре занятия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B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>
                          <a:solidFill>
                            <a:srgbClr val="04617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B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>
                          <a:solidFill>
                            <a:srgbClr val="04617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3 200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B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>
                          <a:solidFill>
                            <a:srgbClr val="04617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800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B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>
                          <a:solidFill>
                            <a:srgbClr val="04617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25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BF5F9"/>
                      </a:solidFill>
                      <a:prstDash val="solid"/>
                    </a:lnB>
                    <a:noFill/>
                  </a:tcPr>
                </a:tc>
              </a:tr>
              <a:tr h="51868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 lang="ru-RU">
                          <a:solidFill>
                            <a:srgbClr val="04617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Восемь занятий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B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>
                          <a:solidFill>
                            <a:srgbClr val="04617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B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>
                          <a:solidFill>
                            <a:srgbClr val="04617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5 200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B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>
                          <a:solidFill>
                            <a:srgbClr val="04617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650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B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>
                          <a:solidFill>
                            <a:srgbClr val="04617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BF5F9"/>
                      </a:solidFill>
                      <a:prstDash val="solid"/>
                    </a:lnB>
                    <a:noFill/>
                  </a:tcPr>
                </a:tc>
              </a:tr>
              <a:tr h="51868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 lang="ru-RU">
                          <a:solidFill>
                            <a:srgbClr val="04617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Двенадцать занятий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B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>
                          <a:solidFill>
                            <a:srgbClr val="04617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12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B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>
                          <a:solidFill>
                            <a:srgbClr val="04617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6 600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B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>
                          <a:solidFill>
                            <a:srgbClr val="04617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550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BF5F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 cap="none" spc="0" baseline="0">
                          <a:solidFill>
                            <a:srgbClr val="04617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25</a:t>
                      </a:r>
                    </a:p>
                  </a:txBody>
                  <a:tcPr marL="111125" marR="111125" marT="47625" marB="476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BF5F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Note 35"/>
          <p:cNvSpPr txBox="1"/>
          <p:nvPr/>
        </p:nvSpPr>
        <p:spPr>
          <a:xfrm>
            <a:off x="504031" y="3633982"/>
            <a:ext cx="7258049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195580" indent="-195580">
              <a:lnSpc>
                <a:spcPct val="100000"/>
              </a:lnSpc>
              <a:spcAft>
                <a:spcPts val="70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Разовое посещение — 900 ₽, пробная тренировка — 500 ₽</a:t>
            </a:r>
            <a:endParaRPr lang="ru-RU" sz="1400"/>
          </a:p>
        </p:txBody>
      </p:sp>
      <p:sp>
        <p:nvSpPr>
          <p:cNvPr id="36" name="Footnote 36"/>
          <p:cNvSpPr txBox="1"/>
          <p:nvPr/>
        </p:nvSpPr>
        <p:spPr>
          <a:xfrm>
            <a:off x="504031" y="4867217"/>
            <a:ext cx="9072562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Доход от разовых и пробных посещений в основной финансовый прогноз не включен</a:t>
            </a:r>
            <a:endParaRPr lang="ru-RU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8669337" cy="9673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r>
              <a:rPr lang="ru-RU" sz="2500"/>
              <a:t>Ожидаемая загрузка студии составит 74%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504031" y="1363527"/>
          <a:ext cx="5806439" cy="293744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35" name="Line 35"/>
          <p:cNvCxnSpPr/>
          <p:nvPr/>
        </p:nvCxnSpPr>
        <p:spPr>
          <a:xfrm>
            <a:off x="6552405" y="2172548"/>
            <a:ext cx="0" cy="881380"/>
          </a:xfrm>
          <a:prstGeom prst="line">
            <a:avLst/>
          </a:prstGeom>
          <a:ln w="12700">
            <a:solidFill>
              <a:srgbClr val="C8DCE2"/>
            </a:solidFill>
          </a:ln>
        </p:spPr>
      </p:cxnSp>
      <p:sp>
        <p:nvSpPr>
          <p:cNvPr id="36" name="Takeaway 36"/>
          <p:cNvSpPr txBox="1"/>
          <p:nvPr/>
        </p:nvSpPr>
        <p:spPr>
          <a:xfrm>
            <a:off x="6794340" y="2172548"/>
            <a:ext cx="2782253" cy="8813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23520" indent="-223520">
              <a:lnSpc>
                <a:spcPct val="100000"/>
              </a:lnSpc>
              <a:spcAft>
                <a:spcPts val="98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52 занятия в неделю</a:t>
            </a:r>
            <a:endParaRPr lang="ru-RU" sz="1600"/>
          </a:p>
          <a:p>
            <a:pPr algn="l" marL="223520" indent="-223520">
              <a:lnSpc>
                <a:spcPct val="100000"/>
              </a:lnSpc>
              <a:spcAft>
                <a:spcPts val="98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Пик: 07:00⁠–⁠09:00 и 18:00⁠–⁠21:00</a:t>
            </a:r>
            <a:endParaRPr lang="ru-RU" sz="1600"/>
          </a:p>
        </p:txBody>
      </p:sp>
      <p:sp>
        <p:nvSpPr>
          <p:cNvPr id="37" name="Conclusion bar 37"/>
          <p:cNvSpPr/>
          <p:nvPr/>
        </p:nvSpPr>
        <p:spPr>
          <a:xfrm>
            <a:off x="504031" y="4563514"/>
            <a:ext cx="38100" cy="220472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38" name="Conclusion 38"/>
          <p:cNvSpPr txBox="1"/>
          <p:nvPr/>
        </p:nvSpPr>
        <p:spPr>
          <a:xfrm>
            <a:off x="704691" y="4539130"/>
            <a:ext cx="8871902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Вместимость </a:t>
            </a:r>
            <a:r>
              <a:rPr lang="ru-RU" sz="1600" b="0" cap="none" spc="0" baseline="0" dirty="0">
                <a:solidFill>
                  <a:srgbClr val="3465A4"/>
                </a:solidFill>
                <a:latin typeface="IBM Plex Sans"/>
                <a:cs typeface="IBM Plex Sans"/>
              </a:rPr>
              <a:t>2 700</a:t>
            </a: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, ожидаемые посещения </a:t>
            </a:r>
            <a:r>
              <a:rPr lang="ru-RU" sz="1600" b="0" cap="none" spc="0" baseline="0" dirty="0">
                <a:solidFill>
                  <a:srgbClr val="3465A4"/>
                </a:solidFill>
                <a:latin typeface="IBM Plex Sans"/>
                <a:cs typeface="IBM Plex Sans"/>
              </a:rPr>
              <a:t>2 000</a:t>
            </a:r>
            <a:endParaRPr lang="ru-RU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31" y="90000"/>
            <a:ext cx="4737894" cy="9673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r>
              <a:rPr lang="ru-RU" sz="2500"/>
              <a:t>Тренировочный зал займёт 100 м² из 180 м²</a:t>
            </a:r>
          </a:p>
        </p:txBody>
      </p:sp>
      <p:sp>
        <p:nvSpPr>
          <p:cNvPr id="34" name="Место для фото" descr="Фото помещения: место оставлено свободным — вставьте фото в плейсхолдер или через «Формат фигуры → Заливка → Рисунок»"/>
          <p:cNvSpPr/>
          <p:nvPr/>
        </p:nvSpPr>
        <p:spPr>
          <a:xfrm>
            <a:off x="5645150" y="0"/>
            <a:ext cx="4435475" cy="5670550"/>
          </a:xfrm>
          <a:prstGeom prst="rect">
            <a:avLst/>
          </a:prstGeom>
          <a:solidFill>
            <a:srgbClr val="EDF5FA"/>
          </a:solidFill>
          <a:ln w="15875">
            <a:solidFill>
              <a:srgbClr val="79B6DA"/>
            </a:solidFill>
            <a:prstDash val="dash"/>
          </a:ln>
        </p:spPr>
      </p:sp>
      <p:sp>
        <p:nvSpPr>
          <p:cNvPr id="35" name="Rule 35"/>
          <p:cNvSpPr/>
          <p:nvPr/>
        </p:nvSpPr>
        <p:spPr>
          <a:xfrm>
            <a:off x="504031" y="1363527"/>
            <a:ext cx="510349" cy="38100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36" name="Figure 36"/>
          <p:cNvSpPr txBox="1"/>
          <p:nvPr/>
        </p:nvSpPr>
        <p:spPr>
          <a:xfrm>
            <a:off x="460915" y="1352733"/>
            <a:ext cx="2291095" cy="8382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500" b="0" cap="none" spc="0" baseline="0" dirty="0">
                <a:solidFill>
                  <a:srgbClr val="1A82BF"/>
                </a:solidFill>
                <a:latin typeface="IBM Plex Sans"/>
                <a:cs typeface="IBM Plex Sans"/>
              </a:rPr>
              <a:t>100</a:t>
            </a:r>
            <a:r>
              <a:rPr lang="ru-RU" sz="2800" b="0" cap="none" spc="0" baseline="0" dirty="0">
                <a:solidFill>
                  <a:srgbClr val="1A82BF"/>
                </a:solidFill>
                <a:latin typeface="IBM Plex Sans"/>
                <a:cs typeface="IBM Plex Sans"/>
              </a:rPr>
              <a:t> м²</a:t>
            </a:r>
            <a:endParaRPr lang="ru-RU" sz="5500"/>
          </a:p>
        </p:txBody>
      </p:sp>
      <p:sp>
        <p:nvSpPr>
          <p:cNvPr id="37" name="Label 37"/>
          <p:cNvSpPr txBox="1"/>
          <p:nvPr/>
        </p:nvSpPr>
        <p:spPr>
          <a:xfrm>
            <a:off x="504031" y="2250473"/>
            <a:ext cx="2247979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Тренировочный зал</a:t>
            </a:r>
            <a:endParaRPr lang="ru-RU" sz="1600"/>
          </a:p>
        </p:txBody>
      </p:sp>
      <p:sp>
        <p:nvSpPr>
          <p:cNvPr id="38" name="Rule 38"/>
          <p:cNvSpPr/>
          <p:nvPr/>
        </p:nvSpPr>
        <p:spPr>
          <a:xfrm>
            <a:off x="2993945" y="1363527"/>
            <a:ext cx="510349" cy="38100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39" name="Figure 39"/>
          <p:cNvSpPr txBox="1"/>
          <p:nvPr/>
        </p:nvSpPr>
        <p:spPr>
          <a:xfrm>
            <a:off x="2972831" y="1352733"/>
            <a:ext cx="2269093" cy="8382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500" b="0" cap="none" spc="0" baseline="0" dirty="0">
                <a:solidFill>
                  <a:srgbClr val="1A82BF"/>
                </a:solidFill>
                <a:latin typeface="IBM Plex Sans"/>
                <a:cs typeface="IBM Plex Sans"/>
              </a:rPr>
              <a:t>35</a:t>
            </a:r>
            <a:r>
              <a:rPr lang="ru-RU" sz="2800" b="0" cap="none" spc="0" baseline="0" dirty="0">
                <a:solidFill>
                  <a:srgbClr val="1A82BF"/>
                </a:solidFill>
                <a:latin typeface="IBM Plex Sans"/>
                <a:cs typeface="IBM Plex Sans"/>
              </a:rPr>
              <a:t> м²</a:t>
            </a:r>
            <a:endParaRPr lang="ru-RU" sz="5500"/>
          </a:p>
        </p:txBody>
      </p:sp>
      <p:sp>
        <p:nvSpPr>
          <p:cNvPr id="40" name="Label 40"/>
          <p:cNvSpPr txBox="1"/>
          <p:nvPr/>
        </p:nvSpPr>
        <p:spPr>
          <a:xfrm>
            <a:off x="2993945" y="2250473"/>
            <a:ext cx="2247979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Раздевалки и душевые</a:t>
            </a:r>
            <a:endParaRPr lang="ru-RU" sz="1600"/>
          </a:p>
        </p:txBody>
      </p:sp>
      <p:sp>
        <p:nvSpPr>
          <p:cNvPr id="41" name="Rule 41"/>
          <p:cNvSpPr/>
          <p:nvPr/>
        </p:nvSpPr>
        <p:spPr>
          <a:xfrm>
            <a:off x="504031" y="2933669"/>
            <a:ext cx="510349" cy="38100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42" name="Figure 42"/>
          <p:cNvSpPr txBox="1"/>
          <p:nvPr/>
        </p:nvSpPr>
        <p:spPr>
          <a:xfrm>
            <a:off x="485362" y="2922875"/>
            <a:ext cx="2266648" cy="8382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500" b="0" cap="none" spc="0" baseline="0" dirty="0">
                <a:solidFill>
                  <a:srgbClr val="1A82BF"/>
                </a:solidFill>
                <a:latin typeface="IBM Plex Sans"/>
                <a:cs typeface="IBM Plex Sans"/>
              </a:rPr>
              <a:t>25</a:t>
            </a:r>
            <a:r>
              <a:rPr lang="ru-RU" sz="2800" b="0" cap="none" spc="0" baseline="0" dirty="0">
                <a:solidFill>
                  <a:srgbClr val="1A82BF"/>
                </a:solidFill>
                <a:latin typeface="IBM Plex Sans"/>
                <a:cs typeface="IBM Plex Sans"/>
              </a:rPr>
              <a:t> м²</a:t>
            </a:r>
            <a:endParaRPr lang="ru-RU" sz="5500"/>
          </a:p>
        </p:txBody>
      </p:sp>
      <p:sp>
        <p:nvSpPr>
          <p:cNvPr id="43" name="Label 43"/>
          <p:cNvSpPr txBox="1"/>
          <p:nvPr/>
        </p:nvSpPr>
        <p:spPr>
          <a:xfrm>
            <a:off x="504031" y="3820615"/>
            <a:ext cx="2247979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Ресепшен и ожидание</a:t>
            </a:r>
            <a:endParaRPr lang="ru-RU" sz="1600"/>
          </a:p>
        </p:txBody>
      </p:sp>
      <p:sp>
        <p:nvSpPr>
          <p:cNvPr id="44" name="Rule 44"/>
          <p:cNvSpPr/>
          <p:nvPr/>
        </p:nvSpPr>
        <p:spPr>
          <a:xfrm>
            <a:off x="2993945" y="2933669"/>
            <a:ext cx="510349" cy="38100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45" name="Figure 45"/>
          <p:cNvSpPr txBox="1"/>
          <p:nvPr/>
        </p:nvSpPr>
        <p:spPr>
          <a:xfrm>
            <a:off x="2975276" y="2922875"/>
            <a:ext cx="2266648" cy="8382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500" b="0" cap="none" spc="0" baseline="0" dirty="0">
                <a:solidFill>
                  <a:srgbClr val="1A82BF"/>
                </a:solidFill>
                <a:latin typeface="IBM Plex Sans"/>
                <a:cs typeface="IBM Plex Sans"/>
              </a:rPr>
              <a:t>20</a:t>
            </a:r>
            <a:r>
              <a:rPr lang="ru-RU" sz="2800" b="0" cap="none" spc="0" baseline="0" dirty="0">
                <a:solidFill>
                  <a:srgbClr val="1A82BF"/>
                </a:solidFill>
                <a:latin typeface="IBM Plex Sans"/>
                <a:cs typeface="IBM Plex Sans"/>
              </a:rPr>
              <a:t> м²</a:t>
            </a:r>
            <a:endParaRPr lang="ru-RU" sz="5500"/>
          </a:p>
        </p:txBody>
      </p:sp>
      <p:sp>
        <p:nvSpPr>
          <p:cNvPr id="46" name="Label 46"/>
          <p:cNvSpPr txBox="1"/>
          <p:nvPr/>
        </p:nvSpPr>
        <p:spPr>
          <a:xfrm>
            <a:off x="2993945" y="3820615"/>
            <a:ext cx="2247979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Подсобные помещения</a:t>
            </a:r>
            <a:endParaRPr lang="ru-RU" sz="1600"/>
          </a:p>
        </p:txBody>
      </p:sp>
      <p:sp>
        <p:nvSpPr>
          <p:cNvPr id="47" name="Conclusion bar 47"/>
          <p:cNvSpPr/>
          <p:nvPr/>
        </p:nvSpPr>
        <p:spPr>
          <a:xfrm>
            <a:off x="504031" y="4593193"/>
            <a:ext cx="38100" cy="409448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48" name="Conclusion 48"/>
          <p:cNvSpPr txBox="1"/>
          <p:nvPr/>
        </p:nvSpPr>
        <p:spPr>
          <a:xfrm>
            <a:off x="684371" y="4571857"/>
            <a:ext cx="4557554" cy="4521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В зале: зеркала, вентиляция, нескользящее покрытие</a:t>
            </a:r>
            <a:endParaRPr lang="ru-RU" sz="1400"/>
          </a:p>
        </p:txBody>
      </p:sp>
      <p:sp>
        <p:nvSpPr>
          <p:cNvPr id="49" name="Photo caption icon 49"/>
          <p:cNvSpPr/>
          <p:nvPr/>
        </p:nvSpPr>
        <p:spPr>
          <a:xfrm>
            <a:off x="7543919" y="2371409"/>
            <a:ext cx="637936" cy="510349"/>
          </a:xfrm>
          <a:prstGeom prst="roundRect">
            <a:avLst>
              <a:gd name="adj" fmla="val 13999"/>
            </a:avLst>
          </a:prstGeom>
          <a:noFill/>
          <a:ln w="30620">
            <a:solidFill>
              <a:srgbClr val="7E9FC6"/>
            </a:solidFill>
          </a:ln>
        </p:spPr>
      </p:sp>
      <p:sp>
        <p:nvSpPr>
          <p:cNvPr id="50" name="Photo caption icon 50"/>
          <p:cNvSpPr/>
          <p:nvPr/>
        </p:nvSpPr>
        <p:spPr>
          <a:xfrm>
            <a:off x="7939439" y="2473478"/>
            <a:ext cx="102069" cy="102069"/>
          </a:xfrm>
          <a:prstGeom prst="ellipse">
            <a:avLst/>
          </a:prstGeom>
          <a:solidFill>
            <a:srgbClr val="009EDA"/>
          </a:solidFill>
          <a:ln>
            <a:noFill/>
          </a:ln>
        </p:spPr>
      </p:sp>
      <p:sp>
        <p:nvSpPr>
          <p:cNvPr id="51" name="Photo caption icon 51"/>
          <p:cNvSpPr/>
          <p:nvPr/>
        </p:nvSpPr>
        <p:spPr>
          <a:xfrm>
            <a:off x="7633230" y="2565341"/>
            <a:ext cx="318968" cy="244967"/>
          </a:xfrm>
          <a:prstGeom prst="triangle">
            <a:avLst/>
          </a:prstGeom>
          <a:solidFill>
            <a:srgbClr val="009EDA"/>
          </a:solidFill>
          <a:ln>
            <a:noFill/>
          </a:ln>
        </p:spPr>
      </p:sp>
      <p:sp>
        <p:nvSpPr>
          <p:cNvPr id="52" name="Photo caption icon 52"/>
          <p:cNvSpPr/>
          <p:nvPr/>
        </p:nvSpPr>
        <p:spPr>
          <a:xfrm>
            <a:off x="7862887" y="2657204"/>
            <a:ext cx="229656" cy="153104"/>
          </a:xfrm>
          <a:prstGeom prst="triangle">
            <a:avLst/>
          </a:prstGeom>
          <a:solidFill>
            <a:srgbClr val="009EDA"/>
          </a:solidFill>
          <a:ln>
            <a:noFill/>
          </a:ln>
        </p:spPr>
      </p:sp>
      <p:sp>
        <p:nvSpPr>
          <p:cNvPr id="53" name="Photo caption 53"/>
          <p:cNvSpPr txBox="1"/>
          <p:nvPr/>
        </p:nvSpPr>
        <p:spPr>
          <a:xfrm>
            <a:off x="6088697" y="3060380"/>
            <a:ext cx="3548381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40"/>
              </a:spcAft>
              <a:buNone/>
            </a:pPr>
            <a:r>
              <a:rPr lang="ru-RU" sz="1400" b="1" cap="none" spc="0" baseline="0" dirty="0">
                <a:solidFill>
                  <a:srgbClr val="3465A4"/>
                </a:solidFill>
                <a:latin typeface="IBM Plex Sans"/>
                <a:cs typeface="IBM Plex Sans"/>
              </a:rPr>
              <a:t>Место под изображение</a:t>
            </a:r>
            <a:endParaRPr lang="ru-RU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8669337" cy="9673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r>
              <a:rPr lang="ru-RU" sz="2500"/>
              <a:t>Бюджет команды — 420 000 ₽ в месяц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504031" y="1363527"/>
          <a:ext cx="1809372" cy="18093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Legend title 35"/>
          <p:cNvSpPr txBox="1"/>
          <p:nvPr/>
        </p:nvSpPr>
        <p:spPr>
          <a:xfrm>
            <a:off x="2797273" y="1458588"/>
            <a:ext cx="3513197" cy="51752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Распределение бюджета команды</a:t>
            </a:r>
            <a:endParaRPr lang="ru-RU" sz="125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₽ и % от итога</a:t>
            </a:r>
            <a:endParaRPr lang="ru-RU" sz="1250"/>
          </a:p>
        </p:txBody>
      </p:sp>
      <p:sp>
        <p:nvSpPr>
          <p:cNvPr id="36" name="Swatch 36"/>
          <p:cNvSpPr/>
          <p:nvPr/>
        </p:nvSpPr>
        <p:spPr>
          <a:xfrm>
            <a:off x="2797273" y="2014213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82BF"/>
          </a:solidFill>
          <a:ln>
            <a:noFill/>
          </a:ln>
        </p:spPr>
      </p:sp>
      <p:sp>
        <p:nvSpPr>
          <p:cNvPr id="37" name="Legend 37"/>
          <p:cNvSpPr txBox="1"/>
          <p:nvPr/>
        </p:nvSpPr>
        <p:spPr>
          <a:xfrm>
            <a:off x="3003013" y="1976113"/>
            <a:ext cx="1953121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Оплата работы тренеров</a:t>
            </a:r>
            <a:endParaRPr lang="ru-RU" sz="1250"/>
          </a:p>
        </p:txBody>
      </p:sp>
      <p:sp>
        <p:nvSpPr>
          <p:cNvPr id="38" name="Share 38"/>
          <p:cNvSpPr txBox="1"/>
          <p:nvPr/>
        </p:nvSpPr>
        <p:spPr>
          <a:xfrm>
            <a:off x="4956134" y="1976113"/>
            <a:ext cx="1354336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3465A4"/>
                </a:solidFill>
                <a:latin typeface="IBM Plex Sans"/>
                <a:cs typeface="IBM Plex Sans"/>
              </a:rPr>
              <a:t>260 000 ₽  ·  62%</a:t>
            </a:r>
            <a:endParaRPr lang="ru-RU" sz="1250"/>
          </a:p>
        </p:txBody>
      </p:sp>
      <p:sp>
        <p:nvSpPr>
          <p:cNvPr id="39" name="Swatch 39"/>
          <p:cNvSpPr/>
          <p:nvPr/>
        </p:nvSpPr>
        <p:spPr>
          <a:xfrm>
            <a:off x="2797273" y="2309488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82BF">
              <a:alpha val="74000"/>
            </a:srgbClr>
          </a:solidFill>
          <a:ln>
            <a:noFill/>
          </a:ln>
        </p:spPr>
      </p:sp>
      <p:sp>
        <p:nvSpPr>
          <p:cNvPr id="40" name="Legend 40"/>
          <p:cNvSpPr txBox="1"/>
          <p:nvPr/>
        </p:nvSpPr>
        <p:spPr>
          <a:xfrm>
            <a:off x="3003013" y="2271388"/>
            <a:ext cx="1953121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Администраторов</a:t>
            </a:r>
            <a:endParaRPr lang="ru-RU" sz="1250"/>
          </a:p>
        </p:txBody>
      </p:sp>
      <p:sp>
        <p:nvSpPr>
          <p:cNvPr id="41" name="Share 41"/>
          <p:cNvSpPr txBox="1"/>
          <p:nvPr/>
        </p:nvSpPr>
        <p:spPr>
          <a:xfrm>
            <a:off x="4956134" y="2271388"/>
            <a:ext cx="1354336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110 000 ₽  ·  26%</a:t>
            </a:r>
            <a:endParaRPr lang="ru-RU" sz="1250"/>
          </a:p>
        </p:txBody>
      </p:sp>
      <p:sp>
        <p:nvSpPr>
          <p:cNvPr id="42" name="Swatch 42"/>
          <p:cNvSpPr/>
          <p:nvPr/>
        </p:nvSpPr>
        <p:spPr>
          <a:xfrm>
            <a:off x="2797273" y="2604763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82BF">
              <a:alpha val="50000"/>
            </a:srgbClr>
          </a:solidFill>
          <a:ln>
            <a:noFill/>
          </a:ln>
        </p:spPr>
      </p:sp>
      <p:sp>
        <p:nvSpPr>
          <p:cNvPr id="43" name="Legend 43"/>
          <p:cNvSpPr txBox="1"/>
          <p:nvPr/>
        </p:nvSpPr>
        <p:spPr>
          <a:xfrm>
            <a:off x="3003013" y="2566663"/>
            <a:ext cx="1953121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Уборки</a:t>
            </a:r>
            <a:endParaRPr lang="ru-RU" sz="1250"/>
          </a:p>
        </p:txBody>
      </p:sp>
      <p:sp>
        <p:nvSpPr>
          <p:cNvPr id="44" name="Share 44"/>
          <p:cNvSpPr txBox="1"/>
          <p:nvPr/>
        </p:nvSpPr>
        <p:spPr>
          <a:xfrm>
            <a:off x="4956134" y="2566663"/>
            <a:ext cx="1354336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30 000 ₽  ·   7%</a:t>
            </a:r>
            <a:endParaRPr lang="ru-RU" sz="1250"/>
          </a:p>
        </p:txBody>
      </p:sp>
      <p:sp>
        <p:nvSpPr>
          <p:cNvPr id="45" name="Swatch 45"/>
          <p:cNvSpPr/>
          <p:nvPr/>
        </p:nvSpPr>
        <p:spPr>
          <a:xfrm>
            <a:off x="2797273" y="2900038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82BF">
              <a:alpha val="28000"/>
            </a:srgbClr>
          </a:solidFill>
          <a:ln>
            <a:noFill/>
          </a:ln>
        </p:spPr>
      </p:sp>
      <p:sp>
        <p:nvSpPr>
          <p:cNvPr id="46" name="Legend 46"/>
          <p:cNvSpPr txBox="1"/>
          <p:nvPr/>
        </p:nvSpPr>
        <p:spPr>
          <a:xfrm>
            <a:off x="3003013" y="2861938"/>
            <a:ext cx="1953121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Резерв на замены</a:t>
            </a:r>
            <a:endParaRPr lang="ru-RU" sz="1250"/>
          </a:p>
        </p:txBody>
      </p:sp>
      <p:sp>
        <p:nvSpPr>
          <p:cNvPr id="47" name="Share 47"/>
          <p:cNvSpPr txBox="1"/>
          <p:nvPr/>
        </p:nvSpPr>
        <p:spPr>
          <a:xfrm>
            <a:off x="4956134" y="2861938"/>
            <a:ext cx="1354336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20 000 ₽  ·   5%</a:t>
            </a:r>
            <a:endParaRPr lang="ru-RU" sz="1250"/>
          </a:p>
        </p:txBody>
      </p:sp>
      <p:cxnSp>
        <p:nvCxnSpPr>
          <p:cNvPr id="48" name="Line 48"/>
          <p:cNvCxnSpPr/>
          <p:nvPr/>
        </p:nvCxnSpPr>
        <p:spPr>
          <a:xfrm>
            <a:off x="6552405" y="2338791"/>
            <a:ext cx="0" cy="513080"/>
          </a:xfrm>
          <a:prstGeom prst="line">
            <a:avLst/>
          </a:prstGeom>
          <a:ln w="12700">
            <a:solidFill>
              <a:srgbClr val="C8DCE2"/>
            </a:solidFill>
          </a:ln>
        </p:spPr>
      </p:cxnSp>
      <p:sp>
        <p:nvSpPr>
          <p:cNvPr id="49" name="Takeaway 49"/>
          <p:cNvSpPr txBox="1"/>
          <p:nvPr/>
        </p:nvSpPr>
        <p:spPr>
          <a:xfrm>
            <a:off x="6794340" y="2338791"/>
            <a:ext cx="2782253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980"/>
              </a:spcAft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Управление — владелец на первом этапе</a:t>
            </a:r>
            <a:endParaRPr lang="ru-RU" sz="1600"/>
          </a:p>
        </p:txBody>
      </p:sp>
      <p:sp>
        <p:nvSpPr>
          <p:cNvPr id="50" name="Footnote 50"/>
          <p:cNvSpPr txBox="1"/>
          <p:nvPr/>
        </p:nvSpPr>
        <p:spPr>
          <a:xfrm>
            <a:off x="504031" y="4867217"/>
            <a:ext cx="9072562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Отдельная зарплата владельца в модель не включена</a:t>
            </a:r>
            <a:endParaRPr lang="ru-RU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31" y="90000"/>
            <a:ext cx="4737894" cy="9673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r>
              <a:rPr lang="ru-RU" sz="2250"/>
              <a:t>Воронка: из 1 000 обращений — 175 покупателей</a:t>
            </a:r>
          </a:p>
        </p:txBody>
      </p:sp>
      <p:pic>
        <p:nvPicPr>
          <p:cNvPr id="34" name="Изображение: Сцена по смыслу слайда — Привлечение клиентов. На первые три месяца продвижения" descr="Сцена по смыслу слайда — Привлечение клиентов. На первые три месяца продвижения выделяется 240 000 рублей — изображение сгенерировано моделью Z-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150" y="0"/>
            <a:ext cx="4435475" cy="5670550"/>
          </a:xfrm>
          <a:prstGeom prst="rect">
            <a:avLst/>
          </a:prstGeom>
        </p:spPr>
      </p:pic>
      <p:sp>
        <p:nvSpPr>
          <p:cNvPr id="63" name="Rule 63"/>
          <p:cNvSpPr/>
          <p:nvPr/>
        </p:nvSpPr>
        <p:spPr>
          <a:xfrm>
            <a:off x="504031" y="1363527"/>
            <a:ext cx="510349" cy="38100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64" name="Figure 64"/>
          <p:cNvSpPr txBox="1"/>
          <p:nvPr/>
        </p:nvSpPr>
        <p:spPr>
          <a:xfrm>
            <a:off x="502520" y="1459779"/>
            <a:ext cx="2249490" cy="24384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1A82BF"/>
                </a:solidFill>
                <a:latin typeface="IBM Plex Sans"/>
                <a:cs typeface="IBM Plex Sans"/>
              </a:rPr>
              <a:t>1 000 шт.</a:t>
            </a:r>
            <a:endParaRPr lang="ru-RU" sz="1600"/>
          </a:p>
        </p:txBody>
      </p:sp>
      <p:sp>
        <p:nvSpPr>
          <p:cNvPr id="65" name="Label 65"/>
          <p:cNvSpPr txBox="1"/>
          <p:nvPr/>
        </p:nvSpPr>
        <p:spPr>
          <a:xfrm>
            <a:off x="504031" y="1763159"/>
            <a:ext cx="2247979" cy="147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Обращения</a:t>
            </a:r>
            <a:endParaRPr lang="ru-RU" sz="800"/>
          </a:p>
        </p:txBody>
      </p:sp>
      <p:sp>
        <p:nvSpPr>
          <p:cNvPr id="66" name="Rule 66"/>
          <p:cNvSpPr/>
          <p:nvPr/>
        </p:nvSpPr>
        <p:spPr>
          <a:xfrm>
            <a:off x="2993945" y="1363527"/>
            <a:ext cx="510349" cy="38100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67" name="Figure 67"/>
          <p:cNvSpPr txBox="1"/>
          <p:nvPr/>
        </p:nvSpPr>
        <p:spPr>
          <a:xfrm>
            <a:off x="2993945" y="1459779"/>
            <a:ext cx="2247979" cy="24384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1A82BF"/>
                </a:solidFill>
                <a:latin typeface="IBM Plex Sans"/>
                <a:cs typeface="IBM Plex Sans"/>
              </a:rPr>
              <a:t>500 шт.</a:t>
            </a:r>
            <a:endParaRPr lang="ru-RU" sz="1600"/>
          </a:p>
        </p:txBody>
      </p:sp>
      <p:sp>
        <p:nvSpPr>
          <p:cNvPr id="68" name="Label 68"/>
          <p:cNvSpPr txBox="1"/>
          <p:nvPr/>
        </p:nvSpPr>
        <p:spPr>
          <a:xfrm>
            <a:off x="2993945" y="1763159"/>
            <a:ext cx="2247979" cy="147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Записи</a:t>
            </a:r>
            <a:endParaRPr lang="ru-RU" sz="800"/>
          </a:p>
        </p:txBody>
      </p:sp>
      <p:sp>
        <p:nvSpPr>
          <p:cNvPr id="69" name="Rule 69"/>
          <p:cNvSpPr/>
          <p:nvPr/>
        </p:nvSpPr>
        <p:spPr>
          <a:xfrm>
            <a:off x="504031" y="2080595"/>
            <a:ext cx="510349" cy="38100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70" name="Figure 70"/>
          <p:cNvSpPr txBox="1"/>
          <p:nvPr/>
        </p:nvSpPr>
        <p:spPr>
          <a:xfrm>
            <a:off x="504031" y="2176847"/>
            <a:ext cx="2247979" cy="24384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1A82BF"/>
                </a:solidFill>
                <a:latin typeface="IBM Plex Sans"/>
                <a:cs typeface="IBM Plex Sans"/>
              </a:rPr>
              <a:t>350 шт.</a:t>
            </a:r>
            <a:endParaRPr lang="ru-RU" sz="1600"/>
          </a:p>
        </p:txBody>
      </p:sp>
      <p:sp>
        <p:nvSpPr>
          <p:cNvPr id="71" name="Label 71"/>
          <p:cNvSpPr txBox="1"/>
          <p:nvPr/>
        </p:nvSpPr>
        <p:spPr>
          <a:xfrm>
            <a:off x="504031" y="2480227"/>
            <a:ext cx="2247979" cy="147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Посещения</a:t>
            </a:r>
            <a:endParaRPr lang="ru-RU" sz="800"/>
          </a:p>
        </p:txBody>
      </p:sp>
      <p:sp>
        <p:nvSpPr>
          <p:cNvPr id="72" name="Rule 72"/>
          <p:cNvSpPr/>
          <p:nvPr/>
        </p:nvSpPr>
        <p:spPr>
          <a:xfrm>
            <a:off x="2993945" y="2080595"/>
            <a:ext cx="510349" cy="38100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73" name="Figure 73"/>
          <p:cNvSpPr txBox="1"/>
          <p:nvPr/>
        </p:nvSpPr>
        <p:spPr>
          <a:xfrm>
            <a:off x="2992434" y="2176847"/>
            <a:ext cx="2249490" cy="24384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1A82BF"/>
                </a:solidFill>
                <a:latin typeface="IBM Plex Sans"/>
                <a:cs typeface="IBM Plex Sans"/>
              </a:rPr>
              <a:t>175 шт.</a:t>
            </a:r>
            <a:endParaRPr lang="ru-RU" sz="1600"/>
          </a:p>
        </p:txBody>
      </p:sp>
      <p:sp>
        <p:nvSpPr>
          <p:cNvPr id="74" name="Label 74"/>
          <p:cNvSpPr txBox="1"/>
          <p:nvPr/>
        </p:nvSpPr>
        <p:spPr>
          <a:xfrm>
            <a:off x="2993945" y="2480227"/>
            <a:ext cx="2247979" cy="147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Покупатели</a:t>
            </a:r>
            <a:endParaRPr lang="ru-RU" sz="800"/>
          </a:p>
        </p:txBody>
      </p:sp>
      <p:sp>
        <p:nvSpPr>
          <p:cNvPr id="75" name="Note 75"/>
          <p:cNvSpPr txBox="1"/>
          <p:nvPr/>
        </p:nvSpPr>
        <p:spPr>
          <a:xfrm>
            <a:off x="504031" y="2865709"/>
            <a:ext cx="2247979" cy="25501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195580" indent="-195580">
              <a:lnSpc>
                <a:spcPct val="100000"/>
              </a:lnSpc>
              <a:spcAft>
                <a:spcPts val="70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Стоимость привлечения — около 1 371 ₽</a:t>
            </a:r>
            <a:endParaRPr lang="ru-RU" sz="1400"/>
          </a:p>
          <a:p>
            <a:pPr algn="l" marL="195580" indent="-195580">
              <a:lnSpc>
                <a:spcPct val="100000"/>
              </a:lnSpc>
              <a:spcAft>
                <a:spcPts val="70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Не все посетители продлят абонемент</a:t>
            </a:r>
            <a:endParaRPr lang="ru-RU" sz="1400"/>
          </a:p>
          <a:p>
            <a:pPr algn="l" marL="195580" indent="-195580">
              <a:lnSpc>
                <a:spcPct val="100000"/>
              </a:lnSpc>
              <a:spcAft>
                <a:spcPts val="70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На первые три месяца продвижения выделяется 240 000 рублей.</a:t>
            </a:r>
            <a:endParaRPr lang="ru-RU" sz="1400"/>
          </a:p>
        </p:txBody>
      </p:sp>
      <p:sp>
        <p:nvSpPr>
          <p:cNvPr id="76" name="Note 76"/>
          <p:cNvSpPr txBox="1"/>
          <p:nvPr/>
        </p:nvSpPr>
        <p:spPr>
          <a:xfrm>
            <a:off x="2993945" y="2865709"/>
            <a:ext cx="2247979" cy="25501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195580" indent="-195580">
              <a:lnSpc>
                <a:spcPct val="100000"/>
              </a:lnSpc>
              <a:spcAft>
                <a:spcPts val="70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Из них 90 000 рублей направят на рекламу в социальных сетях</a:t>
            </a:r>
            <a:endParaRPr lang="ru-RU" sz="1400"/>
          </a:p>
          <a:p>
            <a:pPr algn="l" marL="195580" indent="-195580">
              <a:lnSpc>
                <a:spcPct val="100000"/>
              </a:lnSpc>
              <a:spcAft>
                <a:spcPts val="70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План на этот период — получить 1 000 обращений</a:t>
            </a:r>
            <a:endParaRPr lang="ru-RU" sz="1400"/>
          </a:p>
          <a:p>
            <a:pPr algn="l" marL="195580" indent="-195580">
              <a:lnSpc>
                <a:spcPct val="100000"/>
              </a:lnSpc>
              <a:spcAft>
                <a:spcPts val="70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4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Средняя стоимость привлечения покупателя по этому плану составит около 1 371 рубля.</a:t>
            </a:r>
            <a:endParaRPr lang="ru-RU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8669337" cy="9673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r>
              <a:rPr lang="ru-RU" sz="2500"/>
              <a:t>Начальный бюджет проекта — 3 000 000 рублей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504031" y="1363527"/>
          <a:ext cx="1672175" cy="16721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Legend title 35"/>
          <p:cNvSpPr txBox="1"/>
          <p:nvPr/>
        </p:nvSpPr>
        <p:spPr>
          <a:xfrm>
            <a:off x="2660076" y="1363527"/>
            <a:ext cx="3650394" cy="51752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Распределение стартового бюджета</a:t>
            </a:r>
            <a:endParaRPr lang="ru-RU" sz="125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₽ и % от итога</a:t>
            </a:r>
            <a:endParaRPr lang="ru-RU" sz="1250"/>
          </a:p>
        </p:txBody>
      </p:sp>
      <p:sp>
        <p:nvSpPr>
          <p:cNvPr id="36" name="Swatch 36"/>
          <p:cNvSpPr/>
          <p:nvPr/>
        </p:nvSpPr>
        <p:spPr>
          <a:xfrm>
            <a:off x="2660076" y="1919152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82BF"/>
          </a:solidFill>
          <a:ln>
            <a:noFill/>
          </a:ln>
        </p:spPr>
      </p:sp>
      <p:sp>
        <p:nvSpPr>
          <p:cNvPr id="37" name="Legend 37"/>
          <p:cNvSpPr txBox="1"/>
          <p:nvPr/>
        </p:nvSpPr>
        <p:spPr>
          <a:xfrm>
            <a:off x="2865816" y="1881052"/>
            <a:ext cx="2090318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Ремонт и подготовка</a:t>
            </a:r>
            <a:endParaRPr lang="ru-RU" sz="125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помещения</a:t>
            </a:r>
            <a:endParaRPr lang="ru-RU" sz="1250"/>
          </a:p>
        </p:txBody>
      </p:sp>
      <p:sp>
        <p:nvSpPr>
          <p:cNvPr id="38" name="Share 38"/>
          <p:cNvSpPr txBox="1"/>
          <p:nvPr/>
        </p:nvSpPr>
        <p:spPr>
          <a:xfrm>
            <a:off x="4956134" y="1881052"/>
            <a:ext cx="1354336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3465A4"/>
                </a:solidFill>
                <a:latin typeface="IBM Plex Sans"/>
                <a:cs typeface="IBM Plex Sans"/>
              </a:rPr>
              <a:t>900 000 ₽  ·  30%</a:t>
            </a:r>
            <a:endParaRPr lang="ru-RU" sz="1250"/>
          </a:p>
        </p:txBody>
      </p:sp>
      <p:sp>
        <p:nvSpPr>
          <p:cNvPr id="39" name="Swatch 39"/>
          <p:cNvSpPr/>
          <p:nvPr/>
        </p:nvSpPr>
        <p:spPr>
          <a:xfrm>
            <a:off x="2660076" y="2404927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062030"/>
          </a:solidFill>
          <a:ln>
            <a:noFill/>
          </a:ln>
        </p:spPr>
      </p:sp>
      <p:sp>
        <p:nvSpPr>
          <p:cNvPr id="40" name="Legend 40"/>
          <p:cNvSpPr txBox="1"/>
          <p:nvPr/>
        </p:nvSpPr>
        <p:spPr>
          <a:xfrm>
            <a:off x="2865816" y="2366827"/>
            <a:ext cx="2090318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Оборотный резерв</a:t>
            </a:r>
            <a:endParaRPr lang="ru-RU" sz="1250"/>
          </a:p>
        </p:txBody>
      </p:sp>
      <p:sp>
        <p:nvSpPr>
          <p:cNvPr id="41" name="Share 41"/>
          <p:cNvSpPr txBox="1"/>
          <p:nvPr/>
        </p:nvSpPr>
        <p:spPr>
          <a:xfrm>
            <a:off x="4956134" y="2366827"/>
            <a:ext cx="1354336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850 000 ₽  ·  28%</a:t>
            </a:r>
            <a:endParaRPr lang="ru-RU" sz="1250"/>
          </a:p>
        </p:txBody>
      </p:sp>
      <p:sp>
        <p:nvSpPr>
          <p:cNvPr id="42" name="Swatch 42"/>
          <p:cNvSpPr/>
          <p:nvPr/>
        </p:nvSpPr>
        <p:spPr>
          <a:xfrm>
            <a:off x="2660076" y="2700202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BADAEC"/>
          </a:solidFill>
          <a:ln>
            <a:noFill/>
          </a:ln>
        </p:spPr>
      </p:sp>
      <p:sp>
        <p:nvSpPr>
          <p:cNvPr id="43" name="Legend 43"/>
          <p:cNvSpPr txBox="1"/>
          <p:nvPr/>
        </p:nvSpPr>
        <p:spPr>
          <a:xfrm>
            <a:off x="2865816" y="2662102"/>
            <a:ext cx="2090318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Оборудование и инвентарь</a:t>
            </a:r>
            <a:endParaRPr lang="ru-RU" sz="1250"/>
          </a:p>
        </p:txBody>
      </p:sp>
      <p:sp>
        <p:nvSpPr>
          <p:cNvPr id="44" name="Share 44"/>
          <p:cNvSpPr txBox="1"/>
          <p:nvPr/>
        </p:nvSpPr>
        <p:spPr>
          <a:xfrm>
            <a:off x="4956134" y="2662102"/>
            <a:ext cx="1354336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650 000 ₽  ·  22%</a:t>
            </a:r>
            <a:endParaRPr lang="ru-RU" sz="1250"/>
          </a:p>
        </p:txBody>
      </p:sp>
      <p:sp>
        <p:nvSpPr>
          <p:cNvPr id="45" name="Swatch 45"/>
          <p:cNvSpPr/>
          <p:nvPr/>
        </p:nvSpPr>
        <p:spPr>
          <a:xfrm>
            <a:off x="2660076" y="2995477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04E73"/>
          </a:solidFill>
          <a:ln>
            <a:noFill/>
          </a:ln>
        </p:spPr>
      </p:sp>
      <p:sp>
        <p:nvSpPr>
          <p:cNvPr id="46" name="Legend 46"/>
          <p:cNvSpPr txBox="1"/>
          <p:nvPr/>
        </p:nvSpPr>
        <p:spPr>
          <a:xfrm>
            <a:off x="2865816" y="2957377"/>
            <a:ext cx="2090318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Мебель и обустройство</a:t>
            </a:r>
            <a:endParaRPr lang="ru-RU" sz="125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раздевалок</a:t>
            </a:r>
            <a:endParaRPr lang="ru-RU" sz="1250"/>
          </a:p>
        </p:txBody>
      </p:sp>
      <p:sp>
        <p:nvSpPr>
          <p:cNvPr id="47" name="Share 47"/>
          <p:cNvSpPr txBox="1"/>
          <p:nvPr/>
        </p:nvSpPr>
        <p:spPr>
          <a:xfrm>
            <a:off x="4956134" y="2957377"/>
            <a:ext cx="1354336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300 000 ₽  ·  10%</a:t>
            </a:r>
            <a:endParaRPr lang="ru-RU" sz="1250"/>
          </a:p>
        </p:txBody>
      </p:sp>
      <p:sp>
        <p:nvSpPr>
          <p:cNvPr id="48" name="Swatch 48"/>
          <p:cNvSpPr/>
          <p:nvPr/>
        </p:nvSpPr>
        <p:spPr>
          <a:xfrm>
            <a:off x="2660076" y="3481252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6AAED5"/>
          </a:solidFill>
          <a:ln>
            <a:noFill/>
          </a:ln>
        </p:spPr>
      </p:sp>
      <p:sp>
        <p:nvSpPr>
          <p:cNvPr id="49" name="Legend 49"/>
          <p:cNvSpPr txBox="1"/>
          <p:nvPr/>
        </p:nvSpPr>
        <p:spPr>
          <a:xfrm>
            <a:off x="2865816" y="3443152"/>
            <a:ext cx="2090318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Обеспечительный платеж</a:t>
            </a:r>
            <a:endParaRPr lang="ru-RU" sz="125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по аренде</a:t>
            </a:r>
            <a:endParaRPr lang="ru-RU" sz="1250"/>
          </a:p>
        </p:txBody>
      </p:sp>
      <p:sp>
        <p:nvSpPr>
          <p:cNvPr id="50" name="Share 50"/>
          <p:cNvSpPr txBox="1"/>
          <p:nvPr/>
        </p:nvSpPr>
        <p:spPr>
          <a:xfrm>
            <a:off x="4956134" y="3443152"/>
            <a:ext cx="1354336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180 000 ₽  ·   6%</a:t>
            </a:r>
            <a:endParaRPr lang="ru-RU" sz="1250"/>
          </a:p>
        </p:txBody>
      </p:sp>
      <p:sp>
        <p:nvSpPr>
          <p:cNvPr id="51" name="Swatch 51"/>
          <p:cNvSpPr/>
          <p:nvPr/>
        </p:nvSpPr>
        <p:spPr>
          <a:xfrm>
            <a:off x="2660076" y="3967027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3465A4"/>
          </a:solidFill>
          <a:ln>
            <a:noFill/>
          </a:ln>
        </p:spPr>
      </p:sp>
      <p:sp>
        <p:nvSpPr>
          <p:cNvPr id="52" name="Legend 52"/>
          <p:cNvSpPr txBox="1"/>
          <p:nvPr/>
        </p:nvSpPr>
        <p:spPr>
          <a:xfrm>
            <a:off x="2865816" y="3928927"/>
            <a:ext cx="2090318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Сайт и система записи</a:t>
            </a:r>
            <a:endParaRPr lang="ru-RU" sz="1250"/>
          </a:p>
        </p:txBody>
      </p:sp>
      <p:sp>
        <p:nvSpPr>
          <p:cNvPr id="53" name="Share 53"/>
          <p:cNvSpPr txBox="1"/>
          <p:nvPr/>
        </p:nvSpPr>
        <p:spPr>
          <a:xfrm>
            <a:off x="4956134" y="3928927"/>
            <a:ext cx="1354336" cy="2159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25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120 000 ₽  ·   4%</a:t>
            </a:r>
            <a:endParaRPr lang="ru-RU" sz="1250"/>
          </a:p>
        </p:txBody>
      </p:sp>
      <p:cxnSp>
        <p:nvCxnSpPr>
          <p:cNvPr id="54" name="Line 54"/>
          <p:cNvCxnSpPr/>
          <p:nvPr/>
        </p:nvCxnSpPr>
        <p:spPr>
          <a:xfrm>
            <a:off x="6552405" y="2301453"/>
            <a:ext cx="0" cy="513080"/>
          </a:xfrm>
          <a:prstGeom prst="line">
            <a:avLst/>
          </a:prstGeom>
          <a:ln w="12700">
            <a:solidFill>
              <a:srgbClr val="C8DCE2"/>
            </a:solidFill>
          </a:ln>
        </p:spPr>
      </p:cxnSp>
      <p:sp>
        <p:nvSpPr>
          <p:cNvPr id="55" name="Takeaway 55"/>
          <p:cNvSpPr txBox="1"/>
          <p:nvPr/>
        </p:nvSpPr>
        <p:spPr>
          <a:xfrm>
            <a:off x="6794340" y="2301453"/>
            <a:ext cx="2782253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980"/>
              </a:spcAft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Маркетинг оплачивается из резерва</a:t>
            </a:r>
            <a:endParaRPr lang="ru-RU" sz="1600"/>
          </a:p>
        </p:txBody>
      </p:sp>
      <p:sp>
        <p:nvSpPr>
          <p:cNvPr id="56" name="Conclusion bar 56"/>
          <p:cNvSpPr/>
          <p:nvPr/>
        </p:nvSpPr>
        <p:spPr>
          <a:xfrm>
            <a:off x="504031" y="4407373"/>
            <a:ext cx="38100" cy="220472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57" name="Conclusion 57"/>
          <p:cNvSpPr txBox="1"/>
          <p:nvPr/>
        </p:nvSpPr>
        <p:spPr>
          <a:xfrm>
            <a:off x="704691" y="4382989"/>
            <a:ext cx="8871902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Итого вложения в запуск — </a:t>
            </a:r>
            <a:r>
              <a:rPr lang="ru-RU" sz="1600" b="0" cap="none" spc="0" baseline="0" dirty="0">
                <a:solidFill>
                  <a:srgbClr val="3465A4"/>
                </a:solidFill>
                <a:latin typeface="IBM Plex Sans"/>
                <a:cs typeface="IBM Plex Sans"/>
              </a:rPr>
              <a:t>3 000 000 ₽</a:t>
            </a:r>
            <a:endParaRPr lang="ru-RU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8669337" cy="9673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r>
              <a:rPr lang="ru-RU" sz="2500"/>
              <a:t>Операционная прибыль студии — 224 375 ₽ в месяц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504031" y="1363527"/>
          <a:ext cx="5806439" cy="266268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35" name="Line 35"/>
          <p:cNvCxnSpPr/>
          <p:nvPr/>
        </p:nvCxnSpPr>
        <p:spPr>
          <a:xfrm>
            <a:off x="6552405" y="1982676"/>
            <a:ext cx="0" cy="1125220"/>
          </a:xfrm>
          <a:prstGeom prst="line">
            <a:avLst/>
          </a:prstGeom>
          <a:ln w="12700">
            <a:solidFill>
              <a:srgbClr val="C8DCE2"/>
            </a:solidFill>
          </a:ln>
        </p:spPr>
      </p:cxnSp>
      <p:sp>
        <p:nvSpPr>
          <p:cNvPr id="36" name="Takeaway 36"/>
          <p:cNvSpPr txBox="1"/>
          <p:nvPr/>
        </p:nvSpPr>
        <p:spPr>
          <a:xfrm>
            <a:off x="6794340" y="1982676"/>
            <a:ext cx="2782253" cy="11252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23520" indent="-223520">
              <a:lnSpc>
                <a:spcPct val="100000"/>
              </a:lnSpc>
              <a:spcAft>
                <a:spcPts val="98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Переменные расходы — 5% выручки (63 125 ₽)</a:t>
            </a:r>
            <a:endParaRPr lang="ru-RU" sz="1600"/>
          </a:p>
          <a:p>
            <a:pPr algn="l" marL="223520" indent="-223520">
              <a:lnSpc>
                <a:spcPct val="100000"/>
              </a:lnSpc>
              <a:spcAft>
                <a:spcPts val="98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Рентабельность — 17,8%</a:t>
            </a:r>
            <a:endParaRPr lang="ru-RU" sz="1600"/>
          </a:p>
        </p:txBody>
      </p:sp>
      <p:sp>
        <p:nvSpPr>
          <p:cNvPr id="37" name="Conclusion bar 37"/>
          <p:cNvSpPr/>
          <p:nvPr/>
        </p:nvSpPr>
        <p:spPr>
          <a:xfrm>
            <a:off x="504031" y="4288754"/>
            <a:ext cx="38100" cy="220472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38" name="Conclusion 38"/>
          <p:cNvSpPr txBox="1"/>
          <p:nvPr/>
        </p:nvSpPr>
        <p:spPr>
          <a:xfrm>
            <a:off x="704691" y="4264370"/>
            <a:ext cx="8871902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Постоянные расходы — </a:t>
            </a:r>
            <a:r>
              <a:rPr lang="ru-RU" sz="1600" b="0" cap="none" spc="0" baseline="0" dirty="0">
                <a:solidFill>
                  <a:srgbClr val="3465A4"/>
                </a:solidFill>
                <a:latin typeface="IBM Plex Sans"/>
                <a:cs typeface="IBM Plex Sans"/>
              </a:rPr>
              <a:t>975 000 ₽</a:t>
            </a: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 в месяц</a:t>
            </a:r>
            <a:endParaRPr lang="ru-RU" sz="1600"/>
          </a:p>
        </p:txBody>
      </p:sp>
      <p:sp>
        <p:nvSpPr>
          <p:cNvPr id="39" name="Footnote 39"/>
          <p:cNvSpPr txBox="1"/>
          <p:nvPr/>
        </p:nvSpPr>
        <p:spPr>
          <a:xfrm>
            <a:off x="504031" y="4867217"/>
            <a:ext cx="9072562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Налоги, амортизация и проценты по кредитам не учтены</a:t>
            </a:r>
            <a:endParaRPr lang="ru-RU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8669337" cy="9673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r>
              <a:rPr lang="ru-RU" sz="2500"/>
              <a:t>Операционная прибыль станет положительной в 5-⁠й месяц</a:t>
            </a:r>
          </a:p>
        </p:txBody>
      </p:sp>
      <p:sp>
        <p:nvSpPr>
          <p:cNvPr id="34" name="Chart title 34"/>
          <p:cNvSpPr txBox="1"/>
          <p:nvPr/>
        </p:nvSpPr>
        <p:spPr>
          <a:xfrm>
            <a:off x="504031" y="1363527"/>
            <a:ext cx="2706648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Рост активных клиентов, чел.</a:t>
            </a:r>
            <a:endParaRPr lang="ru-RU" sz="1600"/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504031" y="1978676"/>
          <a:ext cx="2706648" cy="257772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6" name="Chart title 36"/>
          <p:cNvSpPr txBox="1"/>
          <p:nvPr/>
        </p:nvSpPr>
        <p:spPr>
          <a:xfrm>
            <a:off x="3815516" y="1363527"/>
            <a:ext cx="2706649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Изменение месячной операционной прибыли</a:t>
            </a:r>
            <a:endParaRPr lang="ru-RU" sz="1600"/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3815516" y="1978676"/>
          <a:ext cx="2706649" cy="257772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38" name="Line 38"/>
          <p:cNvCxnSpPr/>
          <p:nvPr/>
        </p:nvCxnSpPr>
        <p:spPr>
          <a:xfrm>
            <a:off x="6824584" y="1363527"/>
            <a:ext cx="0" cy="1737360"/>
          </a:xfrm>
          <a:prstGeom prst="line">
            <a:avLst/>
          </a:prstGeom>
          <a:ln w="12700">
            <a:solidFill>
              <a:srgbClr val="C8DCE2"/>
            </a:solidFill>
          </a:ln>
        </p:spPr>
      </p:cxnSp>
      <p:sp>
        <p:nvSpPr>
          <p:cNvPr id="39" name="Chart note 39"/>
          <p:cNvSpPr txBox="1"/>
          <p:nvPr/>
        </p:nvSpPr>
        <p:spPr>
          <a:xfrm>
            <a:off x="7127002" y="1363527"/>
            <a:ext cx="2449591" cy="1737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23520" indent="-223520">
              <a:lnSpc>
                <a:spcPct val="100000"/>
              </a:lnSpc>
              <a:spcAft>
                <a:spcPts val="98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Выручка: 404 000 → 1 262 500 ₽</a:t>
            </a:r>
            <a:endParaRPr lang="ru-RU" sz="1600"/>
          </a:p>
          <a:p>
            <a:pPr algn="l" marL="223520" indent="-223520">
              <a:lnSpc>
                <a:spcPct val="100000"/>
              </a:lnSpc>
              <a:spcAft>
                <a:spcPts val="98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Постоянные расходы: 975 000 ₽</a:t>
            </a:r>
            <a:endParaRPr lang="ru-RU" sz="1600"/>
          </a:p>
          <a:p>
            <a:pPr algn="l" marL="223520" indent="-223520">
              <a:lnSpc>
                <a:spcPct val="100000"/>
              </a:lnSpc>
              <a:spcAft>
                <a:spcPts val="98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Переменные расходы: 5% выручки</a:t>
            </a:r>
            <a:endParaRPr lang="ru-RU" sz="1600"/>
          </a:p>
        </p:txBody>
      </p:sp>
      <p:sp>
        <p:nvSpPr>
          <p:cNvPr id="40" name="Conclusion bar 40"/>
          <p:cNvSpPr/>
          <p:nvPr/>
        </p:nvSpPr>
        <p:spPr>
          <a:xfrm>
            <a:off x="504031" y="4784921"/>
            <a:ext cx="38100" cy="220472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41" name="Conclusion 41"/>
          <p:cNvSpPr txBox="1"/>
          <p:nvPr/>
        </p:nvSpPr>
        <p:spPr>
          <a:xfrm>
            <a:off x="704691" y="4760537"/>
            <a:ext cx="8871902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К 6-⁠му месяцу прибыль достигнет </a:t>
            </a:r>
            <a:r>
              <a:rPr lang="ru-RU" sz="1600" b="0" cap="none" spc="0" baseline="0" dirty="0">
                <a:solidFill>
                  <a:srgbClr val="3465A4"/>
                </a:solidFill>
                <a:latin typeface="IBM Plex Sans"/>
                <a:cs typeface="IBM Plex Sans"/>
              </a:rPr>
              <a:t>224 375 ₽</a:t>
            </a:r>
            <a:endParaRPr lang="ru-RU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8669337" cy="9673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r>
              <a:rPr lang="ru-RU" sz="2500"/>
              <a:t>Нехватка оборотных средств — 387 388 ₽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504031" y="1363527"/>
          <a:ext cx="5806439" cy="27131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35" name="Line 35"/>
          <p:cNvCxnSpPr/>
          <p:nvPr/>
        </p:nvCxnSpPr>
        <p:spPr>
          <a:xfrm>
            <a:off x="6552405" y="1787611"/>
            <a:ext cx="0" cy="1737360"/>
          </a:xfrm>
          <a:prstGeom prst="line">
            <a:avLst/>
          </a:prstGeom>
          <a:ln w="12700">
            <a:solidFill>
              <a:srgbClr val="C8DCE2"/>
            </a:solidFill>
          </a:ln>
        </p:spPr>
      </p:cxnSp>
      <p:sp>
        <p:nvSpPr>
          <p:cNvPr id="36" name="Takeaway 36"/>
          <p:cNvSpPr txBox="1"/>
          <p:nvPr/>
        </p:nvSpPr>
        <p:spPr>
          <a:xfrm>
            <a:off x="6794340" y="1787611"/>
            <a:ext cx="2782253" cy="1737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23520" indent="-223520">
              <a:lnSpc>
                <a:spcPct val="100000"/>
              </a:lnSpc>
              <a:spcAft>
                <a:spcPts val="98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Безубыточность — при 204 активных клиентах</a:t>
            </a:r>
            <a:endParaRPr lang="ru-RU" sz="1600"/>
          </a:p>
          <a:p>
            <a:pPr algn="l" marL="223520" indent="-223520">
              <a:lnSpc>
                <a:spcPct val="100000"/>
              </a:lnSpc>
              <a:spcAft>
                <a:spcPts val="98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Первый прибыльный месяц — пятый</a:t>
            </a:r>
            <a:endParaRPr lang="ru-RU" sz="1600"/>
          </a:p>
          <a:p>
            <a:pPr algn="l" marL="223520" indent="-223520">
              <a:lnSpc>
                <a:spcPct val="100000"/>
              </a:lnSpc>
              <a:spcAft>
                <a:spcPts val="980"/>
              </a:spcAft>
              <a:buClr>
                <a:srgbClr val="1A82B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Риски: набор, продления, загрузка</a:t>
            </a:r>
            <a:endParaRPr lang="ru-RU" sz="1600"/>
          </a:p>
        </p:txBody>
      </p:sp>
      <p:sp>
        <p:nvSpPr>
          <p:cNvPr id="37" name="Conclusion bar 37"/>
          <p:cNvSpPr/>
          <p:nvPr/>
        </p:nvSpPr>
        <p:spPr>
          <a:xfrm>
            <a:off x="504031" y="4339181"/>
            <a:ext cx="38100" cy="464312"/>
          </a:xfrm>
          <a:prstGeom prst="rect">
            <a:avLst/>
          </a:prstGeom>
          <a:solidFill>
            <a:srgbClr val="1A82BF"/>
          </a:solidFill>
          <a:ln>
            <a:noFill/>
          </a:ln>
        </p:spPr>
      </p:sp>
      <p:sp>
        <p:nvSpPr>
          <p:cNvPr id="38" name="Conclusion 38"/>
          <p:cNvSpPr txBox="1"/>
          <p:nvPr/>
        </p:nvSpPr>
        <p:spPr>
          <a:xfrm>
            <a:off x="704691" y="4314797"/>
            <a:ext cx="8871902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4617B"/>
                </a:solidFill>
                <a:latin typeface="IBM Plex Sans"/>
                <a:cs typeface="IBM Plex Sans"/>
              </a:rPr>
              <a:t>Проект может выйти на операционную прибыль к пятому месяцу, но для запуска необходимо заранее закрыть недостаток оборотных средств</a:t>
            </a:r>
            <a:endParaRPr lang="ru-RU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IBM Plex Sans" pitchFamily="0" charset="1"/>
        <a:ea typeface="DejaVu Sans" pitchFamily="0" charset="1"/>
        <a:cs typeface="DejaVu Sans" pitchFamily="0" charset="1"/>
      </a:majorFont>
      <a:minorFont>
        <a:latin typeface="IBM Plex Sans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Vivid</Template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2026-09-27T15:01:06Z</dcterms:created>
  <dc:creator/>
  <dc:description>This work is licensed under a Creative Commons 0 License.
It makes use of the works of fsanchez.</dc:description>
  <dc:language>ru-RU</dc:language>
  <cp:lastModifiedBy/>
  <cp:revision>1</cp:revision>
  <dc:subject/>
  <dc:title>Vivid</dc:title>
</cp:coreProperties>
</file>