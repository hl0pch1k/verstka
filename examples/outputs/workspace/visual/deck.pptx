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5"/>
  </p:sldMasterIdLst>
  <p:notesMasterIdLst>
    <p:notesMasterId r:id="rId6"/>
  </p:notesMasterIdLst>
  <p:sldIdLst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</p:sldIdLst>
  <p:sldSz cy="6858000" cx="12192000"/>
  <p:notesSz cx="6858000" cy="9144000"/>
  <p:embeddedFontLst>
    <p:embeddedFont>
      <p:font typeface="Play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547">
          <p15:clr>
            <a:srgbClr val="A4A3A4"/>
          </p15:clr>
        </p15:guide>
        <p15:guide id="4" orient="horz" pos="77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C9AF0A-6FEA-4B71-B213-FBF42B605303}">
  <a:tblStyle styleId="{5AC9AF0A-6FEA-4B71-B213-FBF42B605303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2547"/>
        <p:guide pos="777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36" Type="http://schemas.openxmlformats.org/officeDocument/2006/relationships/font" Target="fonts/Play-regular.fntdata"/><Relationship Id="rId37" Type="http://schemas.openxmlformats.org/officeDocument/2006/relationships/font" Target="fonts/Play-bold.fntdata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3358"/>
          <c:y val="0.0132"/>
          <c:w val="0.5616"/>
          <c:h val="0.973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Количество</c:v>
                </c:pt>
              </c:strCache>
            </c:strRef>
          </c:tx>
          <c:spPr>
            <a:solidFill>
              <a:srgbClr val="004594"/>
            </a:solidFill>
            <a:ln>
              <a:noFill/>
            </a:ln>
          </c:spPr>
          <c:invertIfNegative val="0"/>
          <c:dPt>
            <c:idx val="3"/>
            <c:spPr>
              <a:solidFill>
                <a:srgbClr val="0077FF"/>
              </a:solidFill>
              <a:ln>
                <a:noFill/>
              </a:ln>
            </c:spPr>
          </c:dPt>
          <c:dLbls>
            <c:dLbl>
              <c:idx val="3"/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2000" b="0">
                      <a:solidFill>
                        <a:srgbClr val="0077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;&quot;−&quot;#,##0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600" b="0">
                    <a:solidFill>
                      <a:srgbClr val="FFFFFF"/>
                    </a:solidFill>
                    <a:latin typeface="Play"/>
                    <a:ea typeface="Play"/>
                    <a:cs typeface="Play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Жители района</c:v>
                </c:pt>
                <c:pt idx="1">
                  <c:v>Выбранная возрастная аудитория</c:v>
                </c:pt>
                <c:pt idx="2">
                  <c:v>Потенциально заинтересованные</c:v>
                </c:pt>
                <c:pt idx="3">
                  <c:v>Целевое количество клиентов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18000.0</c:v>
                </c:pt>
                <c:pt idx="1">
                  <c:v>8000.0</c:v>
                </c:pt>
                <c:pt idx="2">
                  <c:v>1200.0</c:v>
                </c:pt>
                <c:pt idx="3">
                  <c:v>250.0</c:v>
                </c:pt>
              </c:numCache>
            </c:numRef>
          </c:val>
        </c:ser>
        <c:dLbls>
          <c:numFmt formatCode="#,##0&quot; человек&quot;;&quot;−&quot;#,##0&quot; человек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600" b="0">
                  <a:solidFill>
                    <a:srgbClr val="FFFFFF"/>
                  </a:solidFill>
                  <a:latin typeface="Play"/>
                  <a:ea typeface="Play"/>
                  <a:cs typeface="Play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510000001"/>
        <c:axId val="510000002"/>
      </c:barChart>
      <c:catAx>
        <c:axId val="510000001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 rot="0" vert="horz"/>
          <a:lstStyle/>
          <a:p>
            <a:pPr>
              <a:defRPr sz="1200" b="0">
                <a:solidFill>
                  <a:srgbClr val="A8A8A8"/>
                </a:solidFill>
                <a:latin typeface="Play"/>
                <a:ea typeface="Play"/>
                <a:cs typeface="Play"/>
              </a:defRPr>
            </a:pPr>
            <a:endParaRPr lang="ru-RU"/>
          </a:p>
        </c:txPr>
        <c:crossAx val="510000002"/>
        <c:crosses val="autoZero"/>
        <c:auto val="1"/>
        <c:lblAlgn val="ctr"/>
        <c:lblOffset val="100"/>
        <c:tickLblSkip val="1"/>
        <c:noMultiLvlLbl val="0"/>
      </c:catAx>
      <c:valAx>
        <c:axId val="510000002"/>
        <c:scaling>
          <c:max val="18000.0"/>
          <c:min val="0.0"/>
        </c:scaling>
        <c:delete val="1"/>
        <c:axPos val="b"/>
        <c:majorTickMark val="out"/>
        <c:minorTickMark val="none"/>
        <c:tickLblPos val="nextTo"/>
        <c:crossAx val="510000001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200">
          <a:solidFill>
            <a:srgbClr val="FFFFFF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219"/>
          <c:y val="0.0219"/>
          <c:w val="0.9563"/>
          <c:h val="0.9563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Доля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  <a:ln w="25400">
                <a:solidFill>
                  <a:srgbClr val="000000"/>
                </a:solidFill>
              </a:ln>
            </c:spPr>
          </c:dPt>
          <c:dPt>
            <c:idx val="1"/>
            <c:spPr>
              <a:solidFill>
                <a:srgbClr val="3895FF"/>
              </a:solidFill>
              <a:ln w="25400">
                <a:solidFill>
                  <a:srgbClr val="000000"/>
                </a:solidFill>
              </a:ln>
            </c:spPr>
          </c:dPt>
          <c:dPt>
            <c:idx val="2"/>
            <c:spPr>
              <a:solidFill>
                <a:srgbClr val="70B3FF"/>
              </a:solidFill>
              <a:ln w="25400">
                <a:solidFill>
                  <a:srgbClr val="000000"/>
                </a:solidFill>
              </a:ln>
            </c:spPr>
          </c:dPt>
          <c:dPt>
            <c:idx val="3"/>
            <c:spPr>
              <a:solidFill>
                <a:srgbClr val="ADD3FF"/>
              </a:solidFill>
              <a:ln w="25400">
                <a:solidFill>
                  <a:srgbClr val="000000"/>
                </a:solidFill>
              </a:ln>
            </c:spPr>
          </c:dPt>
          <c:dPt>
            <c:idx val="4"/>
            <c:spPr>
              <a:solidFill>
                <a:srgbClr val="E6F1FF"/>
              </a:solidFill>
              <a:ln w="25400">
                <a:solidFill>
                  <a:srgbClr val="000000"/>
                </a:solidFill>
              </a:ln>
            </c:spPr>
          </c:dPt>
          <c:dLbls>
            <c:dLbl>
              <c:idx val="0"/>
              <c:numFmt formatCode="0&quot;%&quot;;&quot;−&quot;0&quot;%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600" b="0">
                      <a:solidFill>
                        <a:srgbClr val="FFFF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;&quot;−&quot;0&quot;%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600" b="0">
                      <a:solidFill>
                        <a:srgbClr val="FFFF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;&quot;−&quot;0&quot;%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600" b="0">
                      <a:solidFill>
                        <a:srgbClr val="000000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.0&quot;%&quot;;&quot;−&quot;0.0&quot;%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600" b="0">
                      <a:solidFill>
                        <a:srgbClr val="000000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0.0&quot;%&quot;;&quot;−&quot;0.0&quot;%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600" b="0">
                      <a:solidFill>
                        <a:srgbClr val="000000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;&quot;−&quot;0&quot;%&quot;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600" b="0">
                    <a:solidFill>
                      <a:srgbClr val="FFFFFF"/>
                    </a:solidFill>
                    <a:latin typeface="Play"/>
                    <a:ea typeface="Play"/>
                    <a:cs typeface="Play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Близость к дому</c:v>
                </c:pt>
                <c:pt idx="1">
                  <c:v>Расписание</c:v>
                </c:pt>
                <c:pt idx="2">
                  <c:v>Стоимость</c:v>
                </c:pt>
                <c:pt idx="3">
                  <c:v>Тренеры</c:v>
                </c:pt>
                <c:pt idx="4">
                  <c:v>Атмосфера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35.0</c:v>
                </c:pt>
                <c:pt idx="1">
                  <c:v>25.0</c:v>
                </c:pt>
                <c:pt idx="2">
                  <c:v>20.0</c:v>
                </c:pt>
                <c:pt idx="3">
                  <c:v>12.5</c:v>
                </c:pt>
                <c:pt idx="4">
                  <c:v>7.5</c:v>
                </c:pt>
              </c:numCache>
            </c:numRef>
          </c:val>
        </c:ser>
        <c:dLbls>
          <c:numFmt formatCode="0&quot;%&quot;;&quot;−&quot;0&quot;%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600" b="0">
                  <a:solidFill>
                    <a:srgbClr val="FFFFFF"/>
                  </a:solidFill>
                  <a:latin typeface="Play"/>
                  <a:ea typeface="Play"/>
                  <a:cs typeface="Play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  <c:holeSize val="56"/>
      </c:doughnutChart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200">
          <a:solidFill>
            <a:srgbClr val="FFFFFF"/>
          </a:solidFill>
          <a:latin typeface="Play"/>
          <a:ea typeface="Play"/>
          <a:cs typeface="Play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017"/>
          <c:y val="0.0943"/>
          <c:w val="0.9966"/>
          <c:h val="0.825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Количество</c:v>
                </c:pt>
              </c:strCache>
            </c:strRef>
          </c:tx>
          <c:spPr>
            <a:solidFill>
              <a:srgbClr val="0077FF"/>
            </a:solidFill>
            <a:ln>
              <a:noFill/>
            </a:ln>
          </c:spPr>
          <c:invertIfNegative val="0"/>
          <c:dLbls>
            <c:dLbl>
              <c:idx val="0"/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600" b="0">
                      <a:solidFill>
                        <a:srgbClr val="FFFF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;&quot;−&quot;#,##0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600" b="0">
                    <a:solidFill>
                      <a:srgbClr val="FFFFFF"/>
                    </a:solidFill>
                    <a:latin typeface="Play"/>
                    <a:ea typeface="Play"/>
                    <a:cs typeface="Play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Месячная вместимость</c:v>
                </c:pt>
                <c:pt idx="1">
                  <c:v>Ожидаемые посещения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2700.0</c:v>
                </c:pt>
                <c:pt idx="1">
                  <c:v>2000.0</c:v>
                </c:pt>
              </c:numCache>
            </c:numRef>
          </c:val>
        </c:ser>
        <c:dLbls>
          <c:numFmt formatCode="#,##0&quot; посещений&quot;;&quot;−&quot;#,##0&quot; посещений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600" b="0">
                  <a:solidFill>
                    <a:srgbClr val="FFFFFF"/>
                  </a:solidFill>
                  <a:latin typeface="Play"/>
                  <a:ea typeface="Play"/>
                  <a:cs typeface="Play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81"/>
        <c:axId val="510000001"/>
        <c:axId val="510000002"/>
      </c:barChart>
      <c:catAx>
        <c:axId val="510000001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404040"/>
            </a:solidFill>
          </a:ln>
        </c:spPr>
        <c:txPr>
          <a:bodyPr rot="0" vert="horz"/>
          <a:lstStyle/>
          <a:p>
            <a:pPr>
              <a:defRPr sz="1200" b="0">
                <a:solidFill>
                  <a:srgbClr val="A8A8A8"/>
                </a:solidFill>
                <a:latin typeface="Play"/>
                <a:ea typeface="Play"/>
                <a:cs typeface="Play"/>
              </a:defRPr>
            </a:pPr>
            <a:endParaRPr lang="ru-RU"/>
          </a:p>
        </c:txPr>
        <c:crossAx val="510000002"/>
        <c:crosses val="autoZero"/>
        <c:auto val="1"/>
        <c:lblAlgn val="ctr"/>
        <c:lblOffset val="100"/>
        <c:tickLblSkip val="1"/>
        <c:noMultiLvlLbl val="0"/>
      </c:catAx>
      <c:valAx>
        <c:axId val="510000002"/>
        <c:scaling>
          <c:max val="2700.0"/>
          <c:min val="0.0"/>
        </c:scaling>
        <c:delete val="1"/>
        <c:axPos val="l"/>
        <c:majorTickMark val="out"/>
        <c:minorTickMark val="none"/>
        <c:tickLblPos val="nextTo"/>
        <c:crossAx val="510000001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200">
          <a:solidFill>
            <a:srgbClr val="FFFFFF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242"/>
          <c:y val="0.0242"/>
          <c:w val="0.9516"/>
          <c:h val="0.9516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Команда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  <a:ln w="25400">
                <a:solidFill>
                  <a:srgbClr val="000000"/>
                </a:solidFill>
              </a:ln>
            </c:spPr>
          </c:dPt>
          <c:dPt>
            <c:idx val="1"/>
            <c:spPr>
              <a:solidFill>
                <a:srgbClr val="4DA0FF"/>
              </a:solidFill>
              <a:ln w="25400">
                <a:solidFill>
                  <a:srgbClr val="000000"/>
                </a:solidFill>
              </a:ln>
            </c:spPr>
          </c:dPt>
          <c:dPt>
            <c:idx val="2"/>
            <c:spPr>
              <a:solidFill>
                <a:srgbClr val="99C9FF"/>
              </a:solidFill>
              <a:ln w="25400">
                <a:solidFill>
                  <a:srgbClr val="000000"/>
                </a:solidFill>
              </a:ln>
            </c:spPr>
          </c:dPt>
          <c:dPt>
            <c:idx val="3"/>
            <c:spPr>
              <a:solidFill>
                <a:srgbClr val="E6F1FF"/>
              </a:solidFill>
              <a:ln w="25400">
                <a:solidFill>
                  <a:srgbClr val="000000"/>
                </a:solidFill>
              </a:ln>
            </c:spPr>
          </c:dPt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numFmt formatCode="#,##0&quot; ₽&quot;;&quot;−&quot;#,##0&quot; ₽&quot;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600" b="0">
                    <a:solidFill>
                      <a:srgbClr val="FFFFFF"/>
                    </a:solidFill>
                    <a:latin typeface="Play"/>
                    <a:ea typeface="Play"/>
                    <a:cs typeface="Play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Оплата работы тренеров</c:v>
                </c:pt>
                <c:pt idx="1">
                  <c:v>Администраторов</c:v>
                </c:pt>
                <c:pt idx="2">
                  <c:v>Уборки</c:v>
                </c:pt>
                <c:pt idx="3">
                  <c:v>Резерв на замены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260000.0</c:v>
                </c:pt>
                <c:pt idx="1">
                  <c:v>110000.0</c:v>
                </c:pt>
                <c:pt idx="2">
                  <c:v>30000.0</c:v>
                </c:pt>
                <c:pt idx="3">
                  <c:v>20000.0</c:v>
                </c:pt>
              </c:numCache>
            </c:numRef>
          </c:val>
        </c:ser>
        <c:dLbls>
          <c:numFmt formatCode="#,##0&quot; ₽&quot;;&quot;−&quot;#,##0&quot; ₽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600" b="0">
                  <a:solidFill>
                    <a:srgbClr val="FFFFFF"/>
                  </a:solidFill>
                  <a:latin typeface="Play"/>
                  <a:ea typeface="Play"/>
                  <a:cs typeface="Play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  <c:holeSize val="56"/>
      </c:doughnutChart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200">
          <a:solidFill>
            <a:srgbClr val="FFFFFF"/>
          </a:solidFill>
          <a:latin typeface="Play"/>
          <a:ea typeface="Play"/>
          <a:cs typeface="Play"/>
        </a:defRPr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2258"/>
          <c:y val="0.0116"/>
          <c:w val="0.6502"/>
          <c:h val="0.976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Бюджет</c:v>
                </c:pt>
              </c:strCache>
            </c:strRef>
          </c:tx>
          <c:spPr>
            <a:solidFill>
              <a:srgbClr val="0077FF"/>
            </a:solidFill>
            <a:ln>
              <a:noFill/>
            </a:ln>
          </c:spPr>
          <c:invertIfNegative val="0"/>
          <c:dLbls>
            <c:dLbl>
              <c:idx val="0"/>
              <c:numFmt formatCode="#,##0&quot; ₽&quot;;&quot;−&quot;#,##0&quot; ₽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600" b="0">
                      <a:solidFill>
                        <a:srgbClr val="FFFF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&quot; ₽&quot;;&quot;−&quot;#,##0&quot; ₽&quot;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600" b="0">
                    <a:solidFill>
                      <a:srgbClr val="FFFFFF"/>
                    </a:solidFill>
                    <a:latin typeface="Play"/>
                    <a:ea typeface="Play"/>
                    <a:cs typeface="Play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Реклама в соцсетях</c:v>
                </c:pt>
                <c:pt idx="1">
                  <c:v>Районные сообщества</c:v>
                </c:pt>
                <c:pt idx="2">
                  <c:v>Партнерства</c:v>
                </c:pt>
                <c:pt idx="3">
                  <c:v>Мероприятия</c:v>
                </c:pt>
                <c:pt idx="4">
                  <c:v>Печатные материалы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90000.0</c:v>
                </c:pt>
                <c:pt idx="1">
                  <c:v>60000.0</c:v>
                </c:pt>
                <c:pt idx="2">
                  <c:v>40000.0</c:v>
                </c:pt>
                <c:pt idx="3">
                  <c:v>30000.0</c:v>
                </c:pt>
                <c:pt idx="4">
                  <c:v>20000.0</c:v>
                </c:pt>
              </c:numCache>
            </c:numRef>
          </c:val>
        </c:ser>
        <c:dLbls>
          <c:numFmt formatCode="#,##0&quot; ₽&quot;;&quot;−&quot;#,##0&quot; ₽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600" b="0">
                  <a:solidFill>
                    <a:srgbClr val="FFFFFF"/>
                  </a:solidFill>
                  <a:latin typeface="Play"/>
                  <a:ea typeface="Play"/>
                  <a:cs typeface="Play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510000001"/>
        <c:axId val="510000002"/>
      </c:barChart>
      <c:catAx>
        <c:axId val="510000001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 rot="0" vert="horz"/>
          <a:lstStyle/>
          <a:p>
            <a:pPr>
              <a:defRPr sz="1200" b="0">
                <a:solidFill>
                  <a:srgbClr val="A8A8A8"/>
                </a:solidFill>
                <a:latin typeface="Play"/>
                <a:ea typeface="Play"/>
                <a:cs typeface="Play"/>
              </a:defRPr>
            </a:pPr>
            <a:endParaRPr lang="ru-RU"/>
          </a:p>
        </c:txPr>
        <c:crossAx val="510000002"/>
        <c:crosses val="autoZero"/>
        <c:auto val="1"/>
        <c:lblAlgn val="ctr"/>
        <c:lblOffset val="100"/>
        <c:tickLblSkip val="1"/>
        <c:noMultiLvlLbl val="0"/>
      </c:catAx>
      <c:valAx>
        <c:axId val="510000002"/>
        <c:scaling>
          <c:max val="90000.0"/>
          <c:min val="0.0"/>
        </c:scaling>
        <c:delete val="1"/>
        <c:axPos val="b"/>
        <c:majorTickMark val="out"/>
        <c:minorTickMark val="none"/>
        <c:tickLblPos val="nextTo"/>
        <c:crossAx val="510000001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200">
          <a:solidFill>
            <a:srgbClr val="FFFFFF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>
        <c:manualLayout>
          <c:layoutTarget val="inner"/>
          <c:xMode val="edge"/>
          <c:yMode val="edge"/>
          <c:x val="0.0393"/>
          <c:y val="0.0393"/>
          <c:w val="0.9214"/>
          <c:h val="0.9214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Вложения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  <a:ln w="19050">
                <a:solidFill>
                  <a:srgbClr val="000000"/>
                </a:solidFill>
              </a:ln>
            </c:spPr>
          </c:dPt>
          <c:dPt>
            <c:idx val="1"/>
            <c:spPr>
              <a:solidFill>
                <a:srgbClr val="2E8FFF"/>
              </a:solidFill>
              <a:ln w="19050">
                <a:solidFill>
                  <a:srgbClr val="000000"/>
                </a:solidFill>
              </a:ln>
            </c:spPr>
          </c:dPt>
          <c:dPt>
            <c:idx val="2"/>
            <c:spPr>
              <a:solidFill>
                <a:srgbClr val="5CA8FF"/>
              </a:solidFill>
              <a:ln w="19050">
                <a:solidFill>
                  <a:srgbClr val="000000"/>
                </a:solidFill>
              </a:ln>
            </c:spPr>
          </c:dPt>
          <c:dPt>
            <c:idx val="3"/>
            <c:spPr>
              <a:solidFill>
                <a:srgbClr val="8AC0FF"/>
              </a:solidFill>
              <a:ln w="19050">
                <a:solidFill>
                  <a:srgbClr val="000000"/>
                </a:solidFill>
              </a:ln>
            </c:spPr>
          </c:dPt>
          <c:dPt>
            <c:idx val="4"/>
            <c:spPr>
              <a:solidFill>
                <a:srgbClr val="B8D9FF"/>
              </a:solidFill>
              <a:ln w="19050">
                <a:solidFill>
                  <a:srgbClr val="000000"/>
                </a:solidFill>
              </a:ln>
            </c:spPr>
          </c:dPt>
          <c:dPt>
            <c:idx val="5"/>
            <c:spPr>
              <a:solidFill>
                <a:srgbClr val="E6F1FF"/>
              </a:solidFill>
              <a:ln w="19050">
                <a:solidFill>
                  <a:srgbClr val="000000"/>
                </a:solidFill>
              </a:ln>
            </c:spPr>
          </c:dPt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numFmt formatCode="#,##0&quot; ₽&quot;;&quot;−&quot;#,##0&quot; ₽&quot;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600" b="0">
                    <a:solidFill>
                      <a:srgbClr val="FFFFFF"/>
                    </a:solidFill>
                    <a:latin typeface="Play"/>
                    <a:ea typeface="Play"/>
                    <a:cs typeface="Play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Ремонт и подготовка помещения</c:v>
                </c:pt>
                <c:pt idx="1">
                  <c:v>Оборотный резерв</c:v>
                </c:pt>
                <c:pt idx="2">
                  <c:v>Оборудование и инвентарь</c:v>
                </c:pt>
                <c:pt idx="3">
                  <c:v>Мебель и обустройство раздевалок</c:v>
                </c:pt>
                <c:pt idx="4">
                  <c:v>Обеспечительный платеж по аренде</c:v>
                </c:pt>
                <c:pt idx="5">
                  <c:v>Сайт и система записи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900000.0</c:v>
                </c:pt>
                <c:pt idx="1">
                  <c:v>850000.0</c:v>
                </c:pt>
                <c:pt idx="2">
                  <c:v>650000.0</c:v>
                </c:pt>
                <c:pt idx="3">
                  <c:v>300000.0</c:v>
                </c:pt>
                <c:pt idx="4">
                  <c:v>180000.0</c:v>
                </c:pt>
                <c:pt idx="5">
                  <c:v>120000.0</c:v>
                </c:pt>
              </c:numCache>
            </c:numRef>
          </c:val>
        </c:ser>
        <c:dLbls>
          <c:numFmt formatCode="#,##0&quot; ₽&quot;;&quot;−&quot;#,##0&quot; ₽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600" b="0">
                  <a:solidFill>
                    <a:srgbClr val="FFFFFF"/>
                  </a:solidFill>
                  <a:latin typeface="Play"/>
                  <a:ea typeface="Play"/>
                  <a:cs typeface="Play"/>
                </a:defRPr>
              </a:pPr>
              <a:endParaRPr lang="ru-RU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200">
          <a:solidFill>
            <a:srgbClr val="FFFFFF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2402"/>
          <c:y val="0.0138"/>
          <c:w val="0.5985"/>
          <c:h val="0.972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Значения</c:v>
                </c:pt>
              </c:strCache>
            </c:strRef>
          </c:tx>
          <c:spPr>
            <a:solidFill>
              <a:srgbClr val="0077FF"/>
            </a:solidFill>
            <a:ln>
              <a:noFill/>
            </a:ln>
          </c:spPr>
          <c:invertIfNegative val="0"/>
          <c:dLbls>
            <c:dLbl>
              <c:idx val="0"/>
              <c:numFmt formatCode="#,##0&quot; ₽&quot;;&quot;−&quot;#,##0&quot; ₽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600" b="0">
                      <a:solidFill>
                        <a:srgbClr val="FFFF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&quot; ₽&quot;;&quot;−&quot;#,##0&quot; ₽&quot;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600" b="0">
                    <a:solidFill>
                      <a:srgbClr val="FFFFFF"/>
                    </a:solidFill>
                    <a:latin typeface="Play"/>
                    <a:ea typeface="Play"/>
                    <a:cs typeface="Play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Выручка</c:v>
                </c:pt>
                <c:pt idx="1">
                  <c:v>Расходы</c:v>
                </c:pt>
                <c:pt idx="2">
                  <c:v>Операционная прибыль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1262500.0</c:v>
                </c:pt>
                <c:pt idx="1">
                  <c:v>1038125.0</c:v>
                </c:pt>
                <c:pt idx="2">
                  <c:v>224375.0</c:v>
                </c:pt>
              </c:numCache>
            </c:numRef>
          </c:val>
        </c:ser>
        <c:dLbls>
          <c:numFmt formatCode="#,##0&quot; ₽&quot;;&quot;−&quot;#,##0&quot; ₽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600" b="0">
                  <a:solidFill>
                    <a:srgbClr val="FFFFFF"/>
                  </a:solidFill>
                  <a:latin typeface="Play"/>
                  <a:ea typeface="Play"/>
                  <a:cs typeface="Play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4"/>
        <c:axId val="510000001"/>
        <c:axId val="510000002"/>
      </c:barChart>
      <c:catAx>
        <c:axId val="510000001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 rot="0" vert="horz"/>
          <a:lstStyle/>
          <a:p>
            <a:pPr>
              <a:defRPr sz="1200" b="0">
                <a:solidFill>
                  <a:srgbClr val="A8A8A8"/>
                </a:solidFill>
                <a:latin typeface="Play"/>
                <a:ea typeface="Play"/>
                <a:cs typeface="Play"/>
              </a:defRPr>
            </a:pPr>
            <a:endParaRPr lang="ru-RU"/>
          </a:p>
        </c:txPr>
        <c:crossAx val="510000002"/>
        <c:crosses val="autoZero"/>
        <c:auto val="1"/>
        <c:lblAlgn val="ctr"/>
        <c:lblOffset val="100"/>
        <c:tickLblSkip val="1"/>
        <c:noMultiLvlLbl val="0"/>
      </c:catAx>
      <c:valAx>
        <c:axId val="510000002"/>
        <c:scaling>
          <c:max val="1262500.0"/>
          <c:min val="0.0"/>
        </c:scaling>
        <c:delete val="1"/>
        <c:axPos val="b"/>
        <c:majorTickMark val="out"/>
        <c:minorTickMark val="none"/>
        <c:tickLblPos val="nextTo"/>
        <c:crossAx val="510000001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200">
          <a:solidFill>
            <a:srgbClr val="FFFFFF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024"/>
          <c:y val="0.1363"/>
          <c:w val="0.9952"/>
          <c:h val="0.777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Активные клиенты</c:v>
                </c:pt>
              </c:strCache>
            </c:strRef>
          </c:tx>
          <c:spPr>
            <a:ln w="28575">
              <a:solidFill>
                <a:srgbClr val="0077FF"/>
              </a:solidFill>
            </a:ln>
          </c:spPr>
          <c:marker>
            <c:symbol val="circle"/>
            <c:size val="8"/>
            <c:spPr>
              <a:solidFill>
                <a:srgbClr val="0077FF"/>
              </a:solidFill>
              <a:ln w="19050">
                <a:solidFill>
                  <a:srgbClr val="000000"/>
                </a:solidFill>
              </a:ln>
            </c:spPr>
          </c:marker>
          <c:dPt>
            <c:idx val="5"/>
            <c:marker>
              <c:symbol val="circle"/>
              <c:size val="11"/>
              <c:spPr>
                <a:solidFill>
                  <a:srgbClr val="0077FF"/>
                </a:solidFill>
                <a:ln w="25400">
                  <a:solidFill>
                    <a:srgbClr val="000000"/>
                  </a:solidFill>
                </a:ln>
              </c:spPr>
            </c:marker>
          </c:dPt>
          <c:dLbls>
            <c:dLbl>
              <c:idx val="0"/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600" b="0">
                      <a:solidFill>
                        <a:srgbClr val="FFFF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-0.0484"/>
                  <c:y val="0.0000"/>
                </c:manualLayout>
              </c:layout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600" b="0">
                      <a:solidFill>
                        <a:srgbClr val="FFFF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-0.0484"/>
                  <c:y val="0.0000"/>
                </c:manualLayout>
              </c:layout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600" b="0">
                      <a:solidFill>
                        <a:srgbClr val="FFFF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600" b="0">
                      <a:solidFill>
                        <a:srgbClr val="FFFF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600" b="0">
                      <a:solidFill>
                        <a:srgbClr val="FFFF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2000" b="0">
                      <a:solidFill>
                        <a:srgbClr val="0077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;&quot;−&quot;#,##0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600" b="0">
                    <a:solidFill>
                      <a:srgbClr val="FFFFFF"/>
                    </a:solidFill>
                    <a:latin typeface="Play"/>
                    <a:ea typeface="Play"/>
                    <a:cs typeface="Play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1-й месяц</c:v>
                </c:pt>
                <c:pt idx="1">
                  <c:v>2-й месяц</c:v>
                </c:pt>
                <c:pt idx="2">
                  <c:v>3-й месяц</c:v>
                </c:pt>
                <c:pt idx="3">
                  <c:v>4-й месяц</c:v>
                </c:pt>
                <c:pt idx="4">
                  <c:v>5-й месяц</c:v>
                </c:pt>
                <c:pt idx="5">
                  <c:v>6-й месяц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80.0</c:v>
                </c:pt>
                <c:pt idx="1">
                  <c:v>120.0</c:v>
                </c:pt>
                <c:pt idx="2">
                  <c:v>160.0</c:v>
                </c:pt>
                <c:pt idx="3">
                  <c:v>195.0</c:v>
                </c:pt>
                <c:pt idx="4">
                  <c:v>225.0</c:v>
                </c:pt>
                <c:pt idx="5">
                  <c:v>250.0</c:v>
                </c:pt>
              </c:numCache>
            </c:numRef>
          </c:val>
          <c:smooth val="0"/>
        </c:ser>
        <c:dLbls>
          <c:numFmt formatCode="#,##0&quot; человек&quot;;&quot;−&quot;#,##0&quot; человек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600" b="0">
                  <a:solidFill>
                    <a:srgbClr val="FFFFFF"/>
                  </a:solidFill>
                  <a:latin typeface="Play"/>
                  <a:ea typeface="Play"/>
                  <a:cs typeface="Play"/>
                </a:defRPr>
              </a:pPr>
              <a:endParaRPr lang="ru-RU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smooth val="0"/>
        <c:axId val="510000001"/>
        <c:axId val="510000002"/>
      </c:lineChart>
      <c:catAx>
        <c:axId val="510000001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404040"/>
            </a:solidFill>
          </a:ln>
        </c:spPr>
        <c:txPr>
          <a:bodyPr rot="0" vert="horz"/>
          <a:lstStyle/>
          <a:p>
            <a:pPr>
              <a:defRPr sz="1200" b="0">
                <a:solidFill>
                  <a:srgbClr val="A8A8A8"/>
                </a:solidFill>
                <a:latin typeface="Play"/>
                <a:ea typeface="Play"/>
                <a:cs typeface="Play"/>
              </a:defRPr>
            </a:pPr>
            <a:endParaRPr lang="ru-RU"/>
          </a:p>
        </c:txPr>
        <c:crossAx val="510000002"/>
        <c:crosses val="autoZero"/>
        <c:auto val="1"/>
        <c:lblAlgn val="ctr"/>
        <c:lblOffset val="100"/>
        <c:tickLblSkip val="1"/>
        <c:noMultiLvlLbl val="0"/>
      </c:catAx>
      <c:valAx>
        <c:axId val="510000002"/>
        <c:scaling>
          <c:max val="250.0"/>
          <c:min val="0.0"/>
        </c:scaling>
        <c:delete val="1"/>
        <c:axPos val="l"/>
        <c:majorTickMark val="out"/>
        <c:minorTickMark val="none"/>
        <c:tickLblPos val="nextTo"/>
        <c:crossAx val="51000000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200">
          <a:solidFill>
            <a:srgbClr val="FFFFFF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071"/>
          <c:y val="0.1120"/>
          <c:w val="0.9858"/>
          <c:h val="0.801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Операционный результат</c:v>
                </c:pt>
              </c:strCache>
            </c:strRef>
          </c:tx>
          <c:spPr>
            <a:ln w="28575">
              <a:solidFill>
                <a:srgbClr val="0077FF"/>
              </a:solidFill>
            </a:ln>
          </c:spPr>
          <c:marker>
            <c:symbol val="circle"/>
            <c:size val="8"/>
            <c:spPr>
              <a:solidFill>
                <a:srgbClr val="0077FF"/>
              </a:solidFill>
              <a:ln w="19050">
                <a:solidFill>
                  <a:srgbClr val="000000"/>
                </a:solidFill>
              </a:ln>
            </c:spPr>
          </c:marker>
          <c:dPt>
            <c:idx val="5"/>
            <c:marker>
              <c:symbol val="circle"/>
              <c:size val="11"/>
              <c:spPr>
                <a:solidFill>
                  <a:srgbClr val="0077FF"/>
                </a:solidFill>
                <a:ln w="25400">
                  <a:solidFill>
                    <a:srgbClr val="000000"/>
                  </a:solidFill>
                </a:ln>
              </c:spPr>
            </c:marker>
          </c:dPt>
          <c:dLbls>
            <c:dLbl>
              <c:idx val="0"/>
              <c:numFmt formatCode="#,##0&quot; ₽&quot;;&quot;−&quot;#,##0&quot; ₽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0">
                      <a:solidFill>
                        <a:srgbClr val="FFFF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-0.0901"/>
                  <c:y val="0.0000"/>
                </c:manualLayout>
              </c:layout>
              <c:numFmt formatCode="#,##0&quot; ₽&quot;;&quot;−&quot;#,##0&quot; ₽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0">
                      <a:solidFill>
                        <a:srgbClr val="FFFF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-0.0901"/>
                  <c:y val="0.0000"/>
                </c:manualLayout>
              </c:layout>
              <c:numFmt formatCode="#,##0&quot; ₽&quot;;&quot;−&quot;#,##0&quot; ₽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0">
                      <a:solidFill>
                        <a:srgbClr val="FFFF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-0.0811"/>
                  <c:y val="0.0000"/>
                </c:manualLayout>
              </c:layout>
              <c:numFmt formatCode="#,##0&quot; ₽&quot;;&quot;−&quot;#,##0&quot; ₽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0">
                      <a:solidFill>
                        <a:srgbClr val="FFFF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-0.0823"/>
                  <c:y val="0.0000"/>
                </c:manualLayout>
              </c:layout>
              <c:numFmt formatCode="#,##0&quot; ₽&quot;;&quot;−&quot;#,##0&quot; ₽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0">
                      <a:solidFill>
                        <a:srgbClr val="FFFF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#,##0&quot; ₽&quot;;&quot;−&quot;#,##0&quot; ₽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500" b="0">
                      <a:solidFill>
                        <a:srgbClr val="0077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&quot; ₽&quot;;&quot;−&quot;#,##0&quot; ₽&quot;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200" b="0">
                    <a:solidFill>
                      <a:srgbClr val="FFFFFF"/>
                    </a:solidFill>
                    <a:latin typeface="Play"/>
                    <a:ea typeface="Play"/>
                    <a:cs typeface="Play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1-й месяц</c:v>
                </c:pt>
                <c:pt idx="1">
                  <c:v>2-й месяц</c:v>
                </c:pt>
                <c:pt idx="2">
                  <c:v>3-й месяц</c:v>
                </c:pt>
                <c:pt idx="3">
                  <c:v>4-й месяц</c:v>
                </c:pt>
                <c:pt idx="4">
                  <c:v>5-й месяц</c:v>
                </c:pt>
                <c:pt idx="5">
                  <c:v>6-й месяц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-591200.0</c:v>
                </c:pt>
                <c:pt idx="1">
                  <c:v>-399300.0</c:v>
                </c:pt>
                <c:pt idx="2">
                  <c:v>-207400.0</c:v>
                </c:pt>
                <c:pt idx="3">
                  <c:v>-39487.5</c:v>
                </c:pt>
                <c:pt idx="4">
                  <c:v>104437.5</c:v>
                </c:pt>
                <c:pt idx="5">
                  <c:v>224375.0</c:v>
                </c:pt>
              </c:numCache>
            </c:numRef>
          </c:val>
          <c:smooth val="0"/>
        </c:ser>
        <c:dLbls>
          <c:numFmt formatCode="#,##0&quot; ₽&quot;;&quot;−&quot;#,##0&quot; ₽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200" b="0">
                  <a:solidFill>
                    <a:srgbClr val="FFFFFF"/>
                  </a:solidFill>
                  <a:latin typeface="Play"/>
                  <a:ea typeface="Play"/>
                  <a:cs typeface="Play"/>
                </a:defRPr>
              </a:pPr>
              <a:endParaRPr lang="ru-RU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smooth val="0"/>
        <c:axId val="510000001"/>
        <c:axId val="510000002"/>
      </c:lineChart>
      <c:catAx>
        <c:axId val="510000001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404040"/>
            </a:solidFill>
          </a:ln>
        </c:spPr>
        <c:txPr>
          <a:bodyPr rot="0" vert="horz"/>
          <a:lstStyle/>
          <a:p>
            <a:pPr>
              <a:defRPr sz="1200" b="0">
                <a:solidFill>
                  <a:srgbClr val="A8A8A8"/>
                </a:solidFill>
                <a:latin typeface="Play"/>
                <a:ea typeface="Play"/>
                <a:cs typeface="Play"/>
              </a:defRPr>
            </a:pPr>
            <a:endParaRPr lang="ru-RU"/>
          </a:p>
        </c:txPr>
        <c:crossAx val="510000002"/>
        <c:crosses val="autoZero"/>
        <c:auto val="1"/>
        <c:lblAlgn val="ctr"/>
        <c:lblOffset val="100"/>
        <c:tickLblSkip val="1"/>
        <c:noMultiLvlLbl val="0"/>
      </c:catAx>
      <c:valAx>
        <c:axId val="510000002"/>
        <c:scaling>
          <c:max val="224375.0"/>
          <c:min val="-795093.75"/>
        </c:scaling>
        <c:delete val="1"/>
        <c:axPos val="l"/>
        <c:majorTickMark val="out"/>
        <c:minorTickMark val="none"/>
        <c:tickLblPos val="nextTo"/>
        <c:crossAx val="51000000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200">
          <a:solidFill>
            <a:srgbClr val="FFFFFF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2965"/>
          <c:y val="0.0188"/>
          <c:w val="0.5422"/>
          <c:h val="0.962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Сумма</c:v>
                </c:pt>
              </c:strCache>
            </c:strRef>
          </c:tx>
          <c:spPr>
            <a:solidFill>
              <a:srgbClr val="0077FF"/>
            </a:solidFill>
            <a:ln>
              <a:noFill/>
            </a:ln>
          </c:spPr>
          <c:invertIfNegative val="0"/>
          <c:dLbls>
            <c:dLbl>
              <c:idx val="0"/>
              <c:numFmt formatCode="#,##0&quot; ₽&quot;;&quot;−&quot;#,##0&quot; ₽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600" b="0">
                      <a:solidFill>
                        <a:srgbClr val="FFFF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&quot; ₽&quot;;&quot;−&quot;#,##0&quot; ₽&quot;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600" b="0">
                    <a:solidFill>
                      <a:srgbClr val="FFFFFF"/>
                    </a:solidFill>
                    <a:latin typeface="Play"/>
                    <a:ea typeface="Play"/>
                    <a:cs typeface="Play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Имеющийся резерв</c:v>
                </c:pt>
                <c:pt idx="1">
                  <c:v>Прогнозируемая потребность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850000.0</c:v>
                </c:pt>
                <c:pt idx="1">
                  <c:v>1237388.0</c:v>
                </c:pt>
              </c:numCache>
            </c:numRef>
          </c:val>
        </c:ser>
        <c:dLbls>
          <c:numFmt formatCode="#,##0&quot; ₽&quot;;&quot;−&quot;#,##0&quot; ₽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600" b="0">
                  <a:solidFill>
                    <a:srgbClr val="FFFFFF"/>
                  </a:solidFill>
                  <a:latin typeface="Play"/>
                  <a:ea typeface="Play"/>
                  <a:cs typeface="Play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1"/>
        <c:axId val="510000001"/>
        <c:axId val="510000002"/>
      </c:barChart>
      <c:catAx>
        <c:axId val="510000001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 rot="0" vert="horz"/>
          <a:lstStyle/>
          <a:p>
            <a:pPr>
              <a:defRPr sz="1200" b="0">
                <a:solidFill>
                  <a:srgbClr val="A8A8A8"/>
                </a:solidFill>
                <a:latin typeface="Play"/>
                <a:ea typeface="Play"/>
                <a:cs typeface="Play"/>
              </a:defRPr>
            </a:pPr>
            <a:endParaRPr lang="ru-RU"/>
          </a:p>
        </c:txPr>
        <c:crossAx val="510000002"/>
        <c:crosses val="autoZero"/>
        <c:auto val="1"/>
        <c:lblAlgn val="ctr"/>
        <c:lblOffset val="100"/>
        <c:tickLblSkip val="1"/>
        <c:noMultiLvlLbl val="0"/>
      </c:catAx>
      <c:valAx>
        <c:axId val="510000002"/>
        <c:scaling>
          <c:max val="1237388.0"/>
          <c:min val="0.0"/>
        </c:scaling>
        <c:delete val="1"/>
        <c:axPos val="b"/>
        <c:majorTickMark val="out"/>
        <c:minorTickMark val="none"/>
        <c:tickLblPos val="nextTo"/>
        <c:crossAx val="510000001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200">
          <a:solidFill>
            <a:srgbClr val="FFFFFF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Фитнес-студия «Движение» предназначена для групповых тренировок вблизи жилья. Основные направления включают силовые занятия, растяжку, йогу и функциональные тренировки. Цель проекта — привлечь 250 постоянных клиентов и выйти на ежемесячную операционную прибыль 225 000 рублей к шестому месяцу работы.</a:t>
            </a:r>
          </a:p>
          <a:p>
            <a:r>
              <a:t>[verstka:sl2]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В районе проживает 18 000 человек. Из них 8 000 относятся к возрастной группе от 23 до 45 лет. Для достижения цели необходимо привлечь 21% этой аудитории — 250 человек.</a:t>
            </a:r>
          </a:p>
          <a:p>
            <a:r>
              <a:t>[verstka:sl3]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Данные основаны на опросе 200 жителей района. Каждый участник указал один основной критерий выбора фитнес-студии.</a:t>
            </a:r>
          </a:p>
          <a:p>
            <a:r>
              <a:t>[verstka:sl4]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Средняя выручка на клиента рассчитана на основе ожидаемого распределения покупателей абонементов: 25% выберут четыре занятия, 50% — восемь занятий, 25% — двенадцать занятий.</a:t>
            </a:r>
          </a:p>
          <a:p>
            <a:r>
              <a:t>[verstka:sl5]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Месячная вместимость студии составляет 2 700 посещений, а ожидаемое количество посещений — 2 000. Это означает, что загрузка студии составит около 74%.</a:t>
            </a:r>
          </a:p>
          <a:p>
            <a:r>
              <a:t>[verstka:sl6]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Общая площадь студии — 180 м². Тренировочный зал занимает 100 м², что составляет больше половины площади. Остальные зоны включают раздевалки и душевые (35 м²), зону ресепшена и ожидания (25 м²), подсобные помещения (20 м²).</a:t>
            </a:r>
          </a:p>
          <a:p>
            <a:r>
              <a:t>[verstka:sl7]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Для запуска потребуются четыре тренера, два администратора, работающих посменно, и специалист по уборке на частичной занятости. Управление студией на первом этапе возьмет на себя владелец. Месячный бюджет команды — 420 000 рублей: оплата работы тренеров — 260 000 рублей, администраторов — 110 000 рублей, уборки — 30 000 рублей, резерв на замены — 20 000 рублей. Это совокупный бюджет с учетом предусмотренных начислений. Отдельная зарплата владельца в модель не включена.</a:t>
            </a:r>
          </a:p>
          <a:p>
            <a:r>
              <a:t>[verstka:sl8]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Бюджет на продвижение — 240 000 ₽. План привлечения клиентов включает 1 000 обращений и 175 проданных абонементов. Средняя стоимость привлечения покупателя — 1 371 ₽.</a:t>
            </a:r>
          </a:p>
          <a:p>
            <a:r>
              <a:t>[verstka:sl9]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Стартовый бюджет проекта — 3 000 000 рублей. На ремонт и подготовку помещения приходится 900 000 рублей.</a:t>
            </a:r>
          </a:p>
          <a:p>
            <a:r>
              <a:t>[verstka:sl10]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При 250 активных клиентах и средней месячной выручке на клиента 5 050 рублей студия получит 1 262 500 рублей выручки. Постоянные ежемесячные расходы составят 975 000 рублей, переменные — 5% от выручки, или 63 125 рублей. Общие расходы — 1 038 125 рублей. Операционная прибыль — 224 375 рублей, рентабельность — 17,8%. Налоги, амортизация и проценты по кредитам не учтены.</a:t>
            </a:r>
          </a:p>
          <a:p>
            <a:r>
              <a:t>[verstka:sl11]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Прогноз показывает, что операционный результат станет плюсовым в пятом месяце, когда выручка достигнет 1 136 250, а расходы останутся на уровне 975 000 ₽ плюс 5% от выручки.</a:t>
            </a:r>
          </a:p>
          <a:p>
            <a:r>
              <a:t>[verstka:sl12]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Суммарный операционный убыток за первые четыре месяца составит около 1 237 388 рублей. Имеющийся резерв — 850 000 рублей — недостаточен, поэтому потребность в финансировании — не менее 387 388 рублей.</a:t>
            </a:r>
          </a:p>
          <a:p>
            <a:r>
              <a:t>[verstka:sl13]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3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Титульный слайд">
  <p:cSld name="7_Титульный слайд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2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56" name="Google Shape;56;p2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7" name="Google Shape;57;p2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8" name="Google Shape;58;p2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9" name="Google Shape;59;p2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0" name="Google Shape;60;p2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1" name="Google Shape;61;p2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2" name="Google Shape;62;p2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3" name="Google Shape;63;p2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4" name="Google Shape;64;p2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5" name="Google Shape;65;p2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6" name="Google Shape;66;p2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7" name="Google Shape;67;p2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8" name="Google Shape;68;p2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9" name="Google Shape;69;p2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0" name="Google Shape;70;p2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1" name="Google Shape;71;p2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2" name="Google Shape;72;p2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3" name="Google Shape;73;p2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4" name="Google Shape;74;p2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75" name="Google Shape;75;p2"/>
          <p:cNvSpPr txBox="1"/>
          <p:nvPr>
            <p:ph type="title"/>
          </p:nvPr>
        </p:nvSpPr>
        <p:spPr>
          <a:xfrm>
            <a:off x="429253" y="25462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6" name="Google Shape;76;p2"/>
          <p:cNvGrpSpPr/>
          <p:nvPr/>
        </p:nvGrpSpPr>
        <p:grpSpPr>
          <a:xfrm>
            <a:off x="1" y="6350"/>
            <a:ext cx="12192792" cy="6851649"/>
            <a:chOff x="0" y="6350"/>
            <a:chExt cx="24396891" cy="13709651"/>
          </a:xfrm>
        </p:grpSpPr>
        <p:pic>
          <p:nvPicPr>
            <p:cNvPr id="77" name="Google Shape;77;p2"/>
            <p:cNvPicPr preferRelativeResize="0"/>
            <p:nvPr/>
          </p:nvPicPr>
          <p:blipFill rotWithShape="1">
            <a:blip r:embed="rId2">
              <a:alphaModFix/>
            </a:blip>
            <a:srcRect b="0" l="0" r="50023" t="80662"/>
            <a:stretch/>
          </p:blipFill>
          <p:spPr>
            <a:xfrm>
              <a:off x="1587" y="11064874"/>
              <a:ext cx="12192000" cy="265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2"/>
            <p:cNvSpPr/>
            <p:nvPr/>
          </p:nvSpPr>
          <p:spPr>
            <a:xfrm>
              <a:off x="0" y="10657492"/>
              <a:ext cx="8335061" cy="305850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9" name="Google Shape;79;p2"/>
            <p:cNvPicPr preferRelativeResize="0"/>
            <p:nvPr/>
          </p:nvPicPr>
          <p:blipFill rotWithShape="1">
            <a:blip r:embed="rId2">
              <a:alphaModFix/>
            </a:blip>
            <a:srcRect b="0" l="52729" r="0" t="82751"/>
            <a:stretch/>
          </p:blipFill>
          <p:spPr>
            <a:xfrm>
              <a:off x="12853797" y="11351172"/>
              <a:ext cx="11531791" cy="23648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2"/>
            <p:cNvPicPr preferRelativeResize="0"/>
            <p:nvPr/>
          </p:nvPicPr>
          <p:blipFill rotWithShape="1">
            <a:blip r:embed="rId2">
              <a:alphaModFix/>
            </a:blip>
            <a:srcRect b="76357" l="52729" r="0" t="0"/>
            <a:stretch/>
          </p:blipFill>
          <p:spPr>
            <a:xfrm>
              <a:off x="12865099" y="6350"/>
              <a:ext cx="11531792" cy="32413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2"/>
            <p:cNvPicPr preferRelativeResize="0"/>
            <p:nvPr/>
          </p:nvPicPr>
          <p:blipFill rotWithShape="1">
            <a:blip r:embed="rId2">
              <a:alphaModFix/>
            </a:blip>
            <a:srcRect b="69917" l="0" r="47271" t="0"/>
            <a:stretch/>
          </p:blipFill>
          <p:spPr>
            <a:xfrm>
              <a:off x="1587" y="6350"/>
              <a:ext cx="12863512" cy="412421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2" name="Google Shape;8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3" name="Google Shape;8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Титульный слайд">
  <p:cSld name="9_Титульный слайд"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3"/>
          <p:cNvPicPr preferRelativeResize="0"/>
          <p:nvPr/>
        </p:nvPicPr>
        <p:blipFill rotWithShape="1">
          <a:blip r:embed="rId2">
            <a:alphaModFix/>
          </a:blip>
          <a:srcRect b="-1" l="0" r="50023" t="66636"/>
          <a:stretch/>
        </p:blipFill>
        <p:spPr>
          <a:xfrm>
            <a:off x="794" y="4572000"/>
            <a:ext cx="6093175" cy="228599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"/>
          <p:cNvSpPr/>
          <p:nvPr/>
        </p:nvSpPr>
        <p:spPr>
          <a:xfrm>
            <a:off x="1" y="5747081"/>
            <a:ext cx="4487332" cy="111091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745067" y="6160788"/>
            <a:ext cx="4487332" cy="69721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" name="Google Shape;88;p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89" name="Google Shape;89;p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0" name="Google Shape;90;p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1" name="Google Shape;91;p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2" name="Google Shape;92;p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3" name="Google Shape;93;p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4" name="Google Shape;94;p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5" name="Google Shape;95;p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6" name="Google Shape;96;p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7" name="Google Shape;97;p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8" name="Google Shape;98;p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9" name="Google Shape;99;p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0" name="Google Shape;100;p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1" name="Google Shape;101;p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2" name="Google Shape;102;p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3" name="Google Shape;103;p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5" name="Google Shape;105;p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6" name="Google Shape;106;p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7" name="Google Shape;107;p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08" name="Google Shape;108;p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9" name="Google Shape;109;p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/>
          <p:nvPr/>
        </p:nvSpPr>
        <p:spPr>
          <a:xfrm>
            <a:off x="4487333" y="4377664"/>
            <a:ext cx="1608667" cy="2480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12" name="Google Shape;11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Заголовок">
  <p:cSld name="19_Заголовок"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4" name="Google Shape;114;p4"/>
          <p:cNvPicPr preferRelativeResize="0"/>
          <p:nvPr/>
        </p:nvPicPr>
        <p:blipFill rotWithShape="1">
          <a:blip r:embed="rId2">
            <a:alphaModFix/>
          </a:blip>
          <a:srcRect b="0" l="0" r="61122" t="0"/>
          <a:stretch/>
        </p:blipFill>
        <p:spPr>
          <a:xfrm>
            <a:off x="0" y="0"/>
            <a:ext cx="4739951" cy="68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6" name="Google Shape;1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Титульный слайд">
  <p:cSld name="18_Титульный слайд"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5"/>
          <p:cNvPicPr preferRelativeResize="0"/>
          <p:nvPr/>
        </p:nvPicPr>
        <p:blipFill rotWithShape="1">
          <a:blip r:embed="rId2">
            <a:alphaModFix/>
          </a:blip>
          <a:srcRect b="2847" l="52053" r="0" t="90954"/>
          <a:stretch/>
        </p:blipFill>
        <p:spPr>
          <a:xfrm flipH="1">
            <a:off x="-2" y="6433309"/>
            <a:ext cx="5845629" cy="424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5"/>
          <p:cNvPicPr preferRelativeResize="0"/>
          <p:nvPr/>
        </p:nvPicPr>
        <p:blipFill rotWithShape="1">
          <a:blip r:embed="rId3">
            <a:alphaModFix/>
          </a:blip>
          <a:srcRect b="0" l="0" r="26515" t="13089"/>
          <a:stretch/>
        </p:blipFill>
        <p:spPr>
          <a:xfrm rot="10800000">
            <a:off x="-1" y="1831974"/>
            <a:ext cx="4249647" cy="50260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21" name="Google Shape;121;p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2" name="Google Shape;122;p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3" name="Google Shape;123;p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4" name="Google Shape;124;p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5" name="Google Shape;125;p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6" name="Google Shape;126;p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7" name="Google Shape;127;p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8" name="Google Shape;128;p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9" name="Google Shape;129;p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0" name="Google Shape;130;p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1" name="Google Shape;131;p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2" name="Google Shape;132;p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3" name="Google Shape;133;p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4" name="Google Shape;134;p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5" name="Google Shape;135;p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6" name="Google Shape;136;p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7" name="Google Shape;137;p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8" name="Google Shape;138;p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9" name="Google Shape;139;p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40" name="Google Shape;140;p5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41" name="Google Shape;14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2" name="Google Shape;142;p5"/>
          <p:cNvPicPr preferRelativeResize="0"/>
          <p:nvPr/>
        </p:nvPicPr>
        <p:blipFill rotWithShape="1">
          <a:blip r:embed="rId5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46" name="Google Shape;14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Титульный слайд">
  <p:cSld name="15_Титульный слайд"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48" name="Google Shape;14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393786"/>
            <a:ext cx="4655279" cy="464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9" name="Google Shape;1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600" y="0"/>
            <a:ext cx="1760400" cy="24312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50" name="Google Shape;15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1498" y="6290333"/>
            <a:ext cx="2860502" cy="5676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52" name="Google Shape;152;p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3" name="Google Shape;153;p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4" name="Google Shape;154;p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5" name="Google Shape;155;p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6" name="Google Shape;156;p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7" name="Google Shape;157;p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8" name="Google Shape;158;p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9" name="Google Shape;159;p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0" name="Google Shape;160;p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1" name="Google Shape;161;p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2" name="Google Shape;162;p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3" name="Google Shape;163;p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4" name="Google Shape;164;p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5" name="Google Shape;165;p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6" name="Google Shape;166;p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7" name="Google Shape;167;p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8" name="Google Shape;168;p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9" name="Google Shape;169;p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0" name="Google Shape;170;p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71" name="Google Shape;171;p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2" name="Google Shape;17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3" name="Google Shape;17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Титульный слайд">
  <p:cSld name="13_Титульный слайд">
    <p:bg>
      <p:bgPr>
        <a:solidFill>
          <a:schemeClr val="dk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7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76" name="Google Shape;176;p7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7" name="Google Shape;177;p7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8" name="Google Shape;178;p7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9" name="Google Shape;179;p7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0" name="Google Shape;180;p7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1" name="Google Shape;181;p7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2" name="Google Shape;182;p7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3" name="Google Shape;183;p7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4" name="Google Shape;184;p7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5" name="Google Shape;185;p7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6" name="Google Shape;186;p7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7" name="Google Shape;187;p7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7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7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7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7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7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7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7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95" name="Google Shape;195;p7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96" name="Google Shape;19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97" name="Google Shape;197;p7"/>
          <p:cNvPicPr preferRelativeResize="0"/>
          <p:nvPr/>
        </p:nvPicPr>
        <p:blipFill rotWithShape="1">
          <a:blip r:embed="rId3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01" name="Google Shape;20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Заголовок">
  <p:cSld name="8_Заголовок">
    <p:bg>
      <p:bgPr>
        <a:solidFill>
          <a:schemeClr val="dk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8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 flipH="1">
            <a:off x="2907772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8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 flipH="1">
            <a:off x="5862319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8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6" name="Google Shape;20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07" name="Google Shape;20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Титульный слайд">
  <p:cSld name="17_Титульный слайд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9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10" name="Google Shape;210;p9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9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9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9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9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9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9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9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9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9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9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9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9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9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9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9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6" name="Google Shape;226;p9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7" name="Google Shape;227;p9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8" name="Google Shape;228;p9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29" name="Google Shape;229;p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30" name="Google Shape;230;p9"/>
          <p:cNvPicPr preferRelativeResize="0"/>
          <p:nvPr/>
        </p:nvPicPr>
        <p:blipFill rotWithShape="1">
          <a:blip r:embed="rId2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9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Титульный слайд">
  <p:cSld name="14_Титульный слайд">
    <p:bg>
      <p:bgPr>
        <a:solidFill>
          <a:schemeClr val="dk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35" name="Google Shape;235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96000" y="5844358"/>
            <a:ext cx="6096000" cy="10136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6" name="Google Shape;236;p10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37" name="Google Shape;237;p10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8" name="Google Shape;238;p10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9" name="Google Shape;239;p10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0" name="Google Shape;240;p10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1" name="Google Shape;241;p10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2" name="Google Shape;242;p10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3" name="Google Shape;243;p10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4" name="Google Shape;244;p10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5" name="Google Shape;245;p10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6" name="Google Shape;246;p10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7" name="Google Shape;247;p10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8" name="Google Shape;248;p10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9" name="Google Shape;249;p10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0" name="Google Shape;250;p10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1" name="Google Shape;251;p10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2" name="Google Shape;252;p10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3" name="Google Shape;253;p10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4" name="Google Shape;254;p10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5" name="Google Shape;255;p10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56" name="Google Shape;256;p10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7" name="Google Shape;25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66292" y="0"/>
            <a:ext cx="1325708" cy="37239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Заголовок">
  <p:cSld name="11_Заголовок">
    <p:bg>
      <p:bgPr>
        <a:solidFill>
          <a:schemeClr val="dk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1"/>
          <p:cNvSpPr txBox="1"/>
          <p:nvPr>
            <p:ph type="title"/>
          </p:nvPr>
        </p:nvSpPr>
        <p:spPr>
          <a:xfrm>
            <a:off x="429253" y="424691"/>
            <a:ext cx="11354760" cy="76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3" name="Google Shape;26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4" name="Google Shape;26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Заголовок">
  <p:cSld name="17_Заголовок">
    <p:bg>
      <p:bgPr>
        <a:solidFill>
          <a:schemeClr val="dk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12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>
            <a:off x="-1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2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>
            <a:off x="-1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69" name="Google Shape;26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Титульный слайд">
  <p:cSld name="11_Титульный слайд">
    <p:bg>
      <p:bgPr>
        <a:solidFill>
          <a:schemeClr val="dk1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272;p1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73" name="Google Shape;273;p1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4" name="Google Shape;274;p1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5" name="Google Shape;275;p1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6" name="Google Shape;276;p1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7" name="Google Shape;277;p1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8" name="Google Shape;278;p1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9" name="Google Shape;279;p1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0" name="Google Shape;280;p1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1" name="Google Shape;281;p1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2" name="Google Shape;282;p1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3" name="Google Shape;283;p1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4" name="Google Shape;284;p1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5" name="Google Shape;285;p1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6" name="Google Shape;286;p1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7" name="Google Shape;287;p1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8" name="Google Shape;288;p1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9" name="Google Shape;289;p1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0" name="Google Shape;290;p1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1" name="Google Shape;291;p1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92" name="Google Shape;292;p1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93" name="Google Shape;293;p1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95" name="Google Shape;29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Титульный слайд">
  <p:cSld name="16_Титульный слайд">
    <p:bg>
      <p:bgPr>
        <a:solidFill>
          <a:schemeClr val="dk1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97" name="Google Shape;297;p14"/>
          <p:cNvPicPr preferRelativeResize="0"/>
          <p:nvPr/>
        </p:nvPicPr>
        <p:blipFill rotWithShape="1">
          <a:blip r:embed="rId2">
            <a:alphaModFix/>
          </a:blip>
          <a:srcRect b="0" l="20444" r="24824" t="0"/>
          <a:stretch/>
        </p:blipFill>
        <p:spPr>
          <a:xfrm>
            <a:off x="5519099" y="0"/>
            <a:ext cx="6672901" cy="685713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8" name="Google Shape;298;p14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99" name="Google Shape;299;p14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0" name="Google Shape;300;p14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1" name="Google Shape;301;p14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2" name="Google Shape;302;p14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3" name="Google Shape;303;p14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4" name="Google Shape;304;p14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5" name="Google Shape;305;p14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6" name="Google Shape;306;p14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7" name="Google Shape;307;p14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8" name="Google Shape;308;p14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9" name="Google Shape;309;p14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0" name="Google Shape;310;p14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1" name="Google Shape;311;p14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2" name="Google Shape;312;p14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3" name="Google Shape;313;p14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4" name="Google Shape;314;p14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5" name="Google Shape;315;p14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6" name="Google Shape;316;p14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7" name="Google Shape;317;p14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18" name="Google Shape;318;p14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319" name="Google Shape;31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4"/>
          <p:cNvSpPr/>
          <p:nvPr/>
        </p:nvSpPr>
        <p:spPr>
          <a:xfrm>
            <a:off x="5404757" y="4555671"/>
            <a:ext cx="1926772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8490856" y="53721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6498771" y="3429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7903028" y="32658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5323114" y="930729"/>
            <a:ext cx="1175657" cy="973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Титульный слайд">
  <p:cSld name="12_Титульный слайд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27" name="Google Shape;32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79" cy="6857131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5"/>
          <p:cNvSpPr/>
          <p:nvPr/>
        </p:nvSpPr>
        <p:spPr>
          <a:xfrm>
            <a:off x="0" y="4499104"/>
            <a:ext cx="6792686" cy="166168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1" y="5501389"/>
            <a:ext cx="4811842" cy="135660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0" name="Google Shape;330;p1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31" name="Google Shape;331;p1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2" name="Google Shape;332;p1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3" name="Google Shape;333;p1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4" name="Google Shape;334;p1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5" name="Google Shape;335;p1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6" name="Google Shape;336;p1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7" name="Google Shape;337;p1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8" name="Google Shape;338;p1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9" name="Google Shape;339;p1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0" name="Google Shape;340;p1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1" name="Google Shape;341;p1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2" name="Google Shape;342;p1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3" name="Google Shape;343;p1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4" name="Google Shape;344;p1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5" name="Google Shape;345;p1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6" name="Google Shape;346;p1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7" name="Google Shape;347;p1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8" name="Google Shape;348;p1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9" name="Google Shape;349;p1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50" name="Google Shape;350;p15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51" name="Google Shape;35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5895936"/>
            <a:ext cx="3536690" cy="5572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2" name="Google Shape;35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Титульный слайд">
  <p:cSld name="10_Титульный слайд">
    <p:bg>
      <p:bgPr>
        <a:solidFill>
          <a:schemeClr val="dk1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oogle Shape;354;p1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55" name="Google Shape;355;p1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6" name="Google Shape;356;p1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7" name="Google Shape;357;p1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8" name="Google Shape;358;p1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9" name="Google Shape;359;p1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0" name="Google Shape;360;p1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1" name="Google Shape;361;p1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2" name="Google Shape;362;p1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3" name="Google Shape;363;p1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4" name="Google Shape;364;p1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5" name="Google Shape;365;p1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6" name="Google Shape;366;p1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7" name="Google Shape;367;p1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8" name="Google Shape;368;p1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9" name="Google Shape;369;p1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0" name="Google Shape;370;p1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1" name="Google Shape;371;p1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2" name="Google Shape;372;p1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3" name="Google Shape;373;p1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74" name="Google Shape;374;p1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5" name="Google Shape;37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76" name="Google Shape;3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27866" y="662333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b="0" i="0" sz="3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9"/>
            <a:ext cx="10855852" cy="4392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295275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A6A6A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3" name="Google Shape;13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4" name="Google Shape;1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2" name="Google Shape;3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3" name="Google Shape;33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4" name="Google Shape;3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2" name="Google Shape;5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pic>
        <p:nvPicPr>
          <p:cNvPr id="53" name="Google Shape;5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19564" y="6161239"/>
            <a:ext cx="932071" cy="28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7">
          <p15:clr>
            <a:srgbClr val="FDE53C"/>
          </p15:clr>
        </p15:guide>
        <p15:guide id="2" pos="7423">
          <p15:clr>
            <a:srgbClr val="FDE53C"/>
          </p15:clr>
        </p15:guide>
        <p15:guide id="3" orient="horz" pos="4065">
          <p15:clr>
            <a:srgbClr val="FDE53C"/>
          </p15:clr>
        </p15:guide>
        <p15:guide id="4" pos="5201">
          <p15:clr>
            <a:srgbClr val="FDE53C"/>
          </p15:clr>
        </p15:guide>
        <p15:guide id="5" pos="2479">
          <p15:clr>
            <a:srgbClr val="FDE53C"/>
          </p15:clr>
        </p15:guide>
        <p15:guide id="6" pos="3840">
          <p15:clr>
            <a:srgbClr val="FDE53C"/>
          </p15:clr>
        </p15:guide>
        <p15:guide id="7" orient="horz" pos="640">
          <p15:clr>
            <a:srgbClr val="FDE53C"/>
          </p15:clr>
        </p15:guide>
        <p15:guide id="8" orient="horz" pos="1003">
          <p15:clr>
            <a:srgbClr val="FDE53C"/>
          </p15:clr>
        </p15:guide>
        <p15:guide id="9" pos="1073">
          <p15:clr>
            <a:srgbClr val="FDE53C"/>
          </p15:clr>
        </p15:guide>
        <p15:guide id="10" pos="6584">
          <p15:clr>
            <a:srgbClr val="FDE53C"/>
          </p15:clr>
        </p15:guide>
        <p15:guide id="11" orient="horz" pos="255">
          <p15:clr>
            <a:srgbClr val="FDE53C"/>
          </p15:clr>
        </p15:guide>
      </p15:sldGuideLst>
    </p:ext>
  </p:extLst>
</p:sldMaster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6.xml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7.xml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8.xml"/><Relationship Id="rId3" Type="http://schemas.openxmlformats.org/officeDocument/2006/relationships/chart" Target="../charts/chart9.xml"/><Relationship Id="rId4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10.xml"/><Relationship Id="rId3" Type="http://schemas.openxmlformats.org/officeDocument/2006/relationships/notesSlide" Target="../notesSlides/notesSlide41.xml"/></Relationships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3" name="Google Shape;703;p32"/>
          <p:cNvSpPr txBox="1"/>
          <p:nvPr>
            <p:ph type="title"/>
          </p:nvPr>
        </p:nvSpPr>
        <p:spPr>
          <a:xfrm>
            <a:off x="429253" y="424691"/>
            <a:ext cx="9438461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>Фитнес-⁠студия «Движение»: 250 клиентов и 225 000 ₽ прибыли к 6-⁠му месяцу</a:t>
            </a:r>
            <a:endParaRPr/>
          </a:p>
        </p:txBody>
      </p:sp>
      <p:sp>
        <p:nvSpPr>
          <p:cNvPr id="704" name="Card 704"/>
          <p:cNvSpPr/>
          <p:nvPr/>
        </p:nvSpPr>
        <p:spPr>
          <a:xfrm>
            <a:off x="429253" y="1869443"/>
            <a:ext cx="3582759" cy="3260193"/>
          </a:xfrm>
          <a:prstGeom prst="roundRect">
            <a:avLst>
              <a:gd fmla="val 4649" name="adj"/>
            </a:avLst>
          </a:prstGeom>
          <a:solidFill>
            <a:srgbClr val="212121"/>
          </a:solidFill>
          <a:ln>
            <a:noFill/>
          </a:ln>
        </p:spPr>
      </p:sp>
      <p:sp>
        <p:nvSpPr>
          <p:cNvPr id="705" name="Index 705"/>
          <p:cNvSpPr txBox="1"/>
          <p:nvPr/>
        </p:nvSpPr>
        <p:spPr>
          <a:xfrm>
            <a:off x="733787" y="2173977"/>
            <a:ext cx="2973691" cy="65836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4800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01</a:t>
            </a:r>
            <a:endParaRPr lang="ru-RU" sz="4800"/>
          </a:p>
        </p:txBody>
      </p:sp>
      <p:sp>
        <p:nvSpPr>
          <p:cNvPr id="706" name="Card text 706"/>
          <p:cNvSpPr txBox="1"/>
          <p:nvPr/>
        </p:nvSpPr>
        <p:spPr>
          <a:xfrm>
            <a:off x="733787" y="2904354"/>
            <a:ext cx="2973691" cy="192074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spcAft>
                <a:spcPts val="1100"/>
              </a:spcAft>
              <a:buNone/>
            </a:pPr>
            <a:r>
              <a:rPr lang="ru-RU" sz="24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Основные направления</a:t>
            </a:r>
            <a:endParaRPr lang="ru-RU" sz="2400"/>
          </a:p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AFB8C2"/>
                </a:solidFill>
                <a:latin typeface="Play"/>
                <a:cs typeface="Play"/>
              </a:rPr>
              <a:t>Силовые занятия, растяжка, йога, функциональные тренировки</a:t>
            </a:r>
            <a:endParaRPr lang="ru-RU" sz="2000"/>
          </a:p>
        </p:txBody>
      </p:sp>
      <p:sp>
        <p:nvSpPr>
          <p:cNvPr id="707" name="Card 707"/>
          <p:cNvSpPr/>
          <p:nvPr/>
        </p:nvSpPr>
        <p:spPr>
          <a:xfrm>
            <a:off x="4304620" y="1869443"/>
            <a:ext cx="3582759" cy="3260193"/>
          </a:xfrm>
          <a:prstGeom prst="roundRect">
            <a:avLst>
              <a:gd fmla="val 4649" name="adj"/>
            </a:avLst>
          </a:prstGeom>
          <a:solidFill>
            <a:srgbClr val="212121"/>
          </a:solidFill>
          <a:ln>
            <a:noFill/>
          </a:ln>
        </p:spPr>
      </p:sp>
      <p:sp>
        <p:nvSpPr>
          <p:cNvPr id="708" name="Index 708"/>
          <p:cNvSpPr txBox="1"/>
          <p:nvPr/>
        </p:nvSpPr>
        <p:spPr>
          <a:xfrm>
            <a:off x="4609154" y="2173977"/>
            <a:ext cx="2973691" cy="65836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4800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02</a:t>
            </a:r>
            <a:endParaRPr lang="ru-RU" sz="4800"/>
          </a:p>
        </p:txBody>
      </p:sp>
      <p:sp>
        <p:nvSpPr>
          <p:cNvPr id="709" name="Card text 709"/>
          <p:cNvSpPr txBox="1"/>
          <p:nvPr/>
        </p:nvSpPr>
        <p:spPr>
          <a:xfrm>
            <a:off x="4609154" y="2904354"/>
            <a:ext cx="2973691" cy="192074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spcAft>
                <a:spcPts val="1100"/>
              </a:spcAft>
              <a:buNone/>
            </a:pPr>
            <a:r>
              <a:rPr lang="ru-RU" sz="24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Площадь и вместимость</a:t>
            </a:r>
            <a:endParaRPr lang="ru-RU" sz="2400"/>
          </a:p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AFB8C2"/>
                </a:solidFill>
                <a:latin typeface="Play"/>
                <a:cs typeface="Play"/>
              </a:rPr>
              <a:t>180 м², до 12 человек на занятии</a:t>
            </a:r>
            <a:endParaRPr lang="ru-RU" sz="2000"/>
          </a:p>
        </p:txBody>
      </p:sp>
      <p:sp>
        <p:nvSpPr>
          <p:cNvPr id="710" name="Card 710"/>
          <p:cNvSpPr/>
          <p:nvPr/>
        </p:nvSpPr>
        <p:spPr>
          <a:xfrm>
            <a:off x="8179987" y="1869443"/>
            <a:ext cx="3582759" cy="3260193"/>
          </a:xfrm>
          <a:prstGeom prst="roundRect">
            <a:avLst>
              <a:gd fmla="val 4649" name="adj"/>
            </a:avLst>
          </a:prstGeom>
          <a:solidFill>
            <a:srgbClr val="212121"/>
          </a:solidFill>
          <a:ln>
            <a:noFill/>
          </a:ln>
        </p:spPr>
      </p:sp>
      <p:sp>
        <p:nvSpPr>
          <p:cNvPr id="711" name="Index 711"/>
          <p:cNvSpPr txBox="1"/>
          <p:nvPr/>
        </p:nvSpPr>
        <p:spPr>
          <a:xfrm>
            <a:off x="8484521" y="2173977"/>
            <a:ext cx="2973691" cy="65836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4800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03</a:t>
            </a:r>
            <a:endParaRPr lang="ru-RU" sz="4800"/>
          </a:p>
        </p:txBody>
      </p:sp>
      <p:sp>
        <p:nvSpPr>
          <p:cNvPr id="712" name="Card text 712"/>
          <p:cNvSpPr txBox="1"/>
          <p:nvPr/>
        </p:nvSpPr>
        <p:spPr>
          <a:xfrm>
            <a:off x="8484521" y="2904354"/>
            <a:ext cx="2973691" cy="192074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spcAft>
                <a:spcPts val="3692"/>
              </a:spcAft>
              <a:buNone/>
            </a:pPr>
            <a:r>
              <a:rPr lang="ru-RU" sz="24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Цель проекта</a:t>
            </a:r>
            <a:endParaRPr lang="ru-RU" sz="2400"/>
          </a:p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AFB8C2"/>
                </a:solidFill>
                <a:latin typeface="Play"/>
                <a:cs typeface="Play"/>
              </a:rPr>
              <a:t>250 постоянных клиентов и 225 000 ₽ операционной прибыли к 6-⁠му месяцу</a:t>
            </a:r>
            <a:endParaRPr lang="ru-RU" sz="2000"/>
          </a:p>
        </p:txBody>
      </p:sp>
      <p:sp>
        <p:nvSpPr>
          <p:cNvPr id="713" name="Footnote 713"/>
          <p:cNvSpPr txBox="1"/>
          <p:nvPr/>
        </p:nvSpPr>
        <p:spPr>
          <a:xfrm>
            <a:off x="429253" y="5730494"/>
            <a:ext cx="11333494" cy="18999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1200" b="0" cap="none" spc="0" baseline="0" dirty="0">
                <a:solidFill>
                  <a:srgbClr val="AFB8C2"/>
                </a:solidFill>
                <a:latin typeface="Play"/>
                <a:cs typeface="Play"/>
              </a:rPr>
              <a:t>Все цифры условные и используются для учебного бизнес-⁠плана</a:t>
            </a:r>
            <a:endParaRPr lang="ru-RU" sz="12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3" name="Google Shape;703;p32"/>
          <p:cNvSpPr txBox="1"/>
          <p:nvPr>
            <p:ph type="title"/>
          </p:nvPr>
        </p:nvSpPr>
        <p:spPr>
          <a:xfrm>
            <a:off x="429253" y="424691"/>
            <a:ext cx="8069509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>Целевая аудитория — 250 клиентов из 1 200 потенциальных</a:t>
            </a:r>
            <a:endParaRPr/>
          </a:p>
        </p:txBody>
      </p:sp>
      <p:sp>
        <p:nvSpPr>
          <p:cNvPr id="704" name="Unit 704"/>
          <p:cNvSpPr txBox="1"/>
          <p:nvPr/>
        </p:nvSpPr>
        <p:spPr>
          <a:xfrm>
            <a:off x="429253" y="1869443"/>
            <a:ext cx="7574900" cy="18999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1200" b="0" cap="none" spc="0" baseline="0" dirty="0">
                <a:solidFill>
                  <a:srgbClr val="AFB8C2"/>
                </a:solidFill>
                <a:latin typeface="Play"/>
                <a:cs typeface="Play"/>
              </a:rPr>
              <a:t>Потенциальные клиенты, человек</a:t>
            </a:r>
            <a:endParaRPr lang="ru-RU" sz="1200"/>
          </a:p>
        </p:txBody>
      </p:sp>
      <p:graphicFrame>
        <p:nvGraphicFramePr>
          <p:cNvPr id="705" name="Chart 704"/>
          <p:cNvGraphicFramePr>
            <a:graphicFrameLocks noGrp="1"/>
          </p:cNvGraphicFramePr>
          <p:nvPr/>
        </p:nvGraphicFramePr>
        <p:xfrm>
          <a:off x="429253" y="2121157"/>
          <a:ext cx="7574900" cy="34752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06" name="Rule 706"/>
          <p:cNvSpPr/>
          <p:nvPr/>
        </p:nvSpPr>
        <p:spPr>
          <a:xfrm>
            <a:off x="8589369" y="1869443"/>
            <a:ext cx="480060" cy="3810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707" name="Figure 707"/>
          <p:cNvSpPr txBox="1"/>
          <p:nvPr/>
        </p:nvSpPr>
        <p:spPr>
          <a:xfrm>
            <a:off x="8550126" y="1877711"/>
            <a:ext cx="3212621" cy="96393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6600" b="1" cap="none" spc="0" baseline="0" dirty="0">
                <a:solidFill>
                  <a:srgbClr val="0077FF"/>
                </a:solidFill>
                <a:latin typeface="Play"/>
                <a:cs typeface="Play"/>
              </a:rPr>
              <a:t>15%</a:t>
            </a:r>
            <a:endParaRPr lang="ru-RU" sz="6600"/>
          </a:p>
        </p:txBody>
      </p:sp>
      <p:sp>
        <p:nvSpPr>
          <p:cNvPr id="708" name="Label 708"/>
          <p:cNvSpPr txBox="1"/>
          <p:nvPr/>
        </p:nvSpPr>
        <p:spPr>
          <a:xfrm>
            <a:off x="8589369" y="2903363"/>
            <a:ext cx="3173378" cy="8483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AFB8C2"/>
                </a:solidFill>
                <a:latin typeface="Play"/>
                <a:cs typeface="Play"/>
              </a:rPr>
              <a:t>Возрастной группы заинтересованы в занятиях рядом с домом</a:t>
            </a:r>
            <a:endParaRPr lang="ru-RU" sz="2000"/>
          </a:p>
        </p:txBody>
      </p:sp>
      <p:sp>
        <p:nvSpPr>
          <p:cNvPr id="709" name="Rule 709"/>
          <p:cNvSpPr/>
          <p:nvPr/>
        </p:nvSpPr>
        <p:spPr>
          <a:xfrm>
            <a:off x="8589369" y="3988323"/>
            <a:ext cx="480060" cy="3810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710" name="Figure 710"/>
          <p:cNvSpPr txBox="1"/>
          <p:nvPr/>
        </p:nvSpPr>
        <p:spPr>
          <a:xfrm>
            <a:off x="8575272" y="3996591"/>
            <a:ext cx="3187475" cy="96393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6600" b="1" cap="none" spc="0" baseline="0" dirty="0">
                <a:solidFill>
                  <a:srgbClr val="0077FF"/>
                </a:solidFill>
                <a:latin typeface="Play"/>
                <a:cs typeface="Play"/>
              </a:rPr>
              <a:t>21%</a:t>
            </a:r>
            <a:endParaRPr lang="ru-RU" sz="6600"/>
          </a:p>
        </p:txBody>
      </p:sp>
      <p:sp>
        <p:nvSpPr>
          <p:cNvPr id="711" name="Label 711"/>
          <p:cNvSpPr txBox="1"/>
          <p:nvPr/>
        </p:nvSpPr>
        <p:spPr>
          <a:xfrm>
            <a:off x="8589369" y="5022243"/>
            <a:ext cx="3173378" cy="8483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AFB8C2"/>
                </a:solidFill>
                <a:latin typeface="Play"/>
                <a:cs typeface="Play"/>
              </a:rPr>
              <a:t>Для достижения цели нужно привлечь аудитории</a:t>
            </a:r>
            <a:endParaRPr lang="ru-RU" sz="20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3" name="Google Shape;703;p32"/>
          <p:cNvSpPr txBox="1"/>
          <p:nvPr>
            <p:ph type="title"/>
          </p:nvPr>
        </p:nvSpPr>
        <p:spPr>
          <a:xfrm>
            <a:off x="429253" y="424691"/>
            <a:ext cx="9819467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>Близость к дому важна для 35% опрошенных</a:t>
            </a:r>
            <a:endParaRPr/>
          </a:p>
        </p:txBody>
      </p:sp>
      <p:graphicFrame>
        <p:nvGraphicFramePr>
          <p:cNvPr id="704" name="Chart 703"/>
          <p:cNvGraphicFramePr>
            <a:graphicFrameLocks noGrp="1"/>
          </p:cNvGraphicFramePr>
          <p:nvPr/>
        </p:nvGraphicFramePr>
        <p:xfrm>
          <a:off x="2098796" y="1375667"/>
          <a:ext cx="4181233" cy="4181233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05" name="Legend title 705"/>
          <p:cNvSpPr txBox="1"/>
          <p:nvPr/>
        </p:nvSpPr>
        <p:spPr>
          <a:xfrm>
            <a:off x="6865245" y="2224223"/>
            <a:ext cx="3227958" cy="4775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AFB8C2"/>
                </a:solidFill>
                <a:latin typeface="Play"/>
                <a:cs typeface="Play"/>
              </a:rPr>
              <a:t>Что важно посетителям</a:t>
            </a:r>
            <a:endParaRPr lang="ru-RU" sz="2000"/>
          </a:p>
        </p:txBody>
      </p:sp>
      <p:sp>
        <p:nvSpPr>
          <p:cNvPr id="706" name="Swatch 706"/>
          <p:cNvSpPr/>
          <p:nvPr/>
        </p:nvSpPr>
        <p:spPr>
          <a:xfrm>
            <a:off x="6865245" y="2747463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0077FF"/>
          </a:solidFill>
          <a:ln>
            <a:noFill/>
          </a:ln>
        </p:spPr>
      </p:sp>
      <p:sp>
        <p:nvSpPr>
          <p:cNvPr id="707" name="Legend 707"/>
          <p:cNvSpPr txBox="1"/>
          <p:nvPr/>
        </p:nvSpPr>
        <p:spPr>
          <a:xfrm>
            <a:off x="7194429" y="2701743"/>
            <a:ext cx="2049462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Близость к дому</a:t>
            </a:r>
            <a:endParaRPr lang="ru-RU" sz="2000"/>
          </a:p>
        </p:txBody>
      </p:sp>
      <p:sp>
        <p:nvSpPr>
          <p:cNvPr id="708" name="Share 708"/>
          <p:cNvSpPr txBox="1"/>
          <p:nvPr/>
        </p:nvSpPr>
        <p:spPr>
          <a:xfrm>
            <a:off x="9243891" y="2701743"/>
            <a:ext cx="849312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90000"/>
              </a:lnSpc>
              <a:buNone/>
            </a:pPr>
            <a:r>
              <a:rPr lang="ru-RU" sz="2000" b="1" cap="none" spc="0" baseline="0" dirty="0">
                <a:solidFill>
                  <a:srgbClr val="0077FF"/>
                </a:solidFill>
                <a:latin typeface="Play"/>
                <a:cs typeface="Play"/>
              </a:rPr>
              <a:t>35%</a:t>
            </a:r>
            <a:endParaRPr lang="ru-RU" sz="2000"/>
          </a:p>
        </p:txBody>
      </p:sp>
      <p:sp>
        <p:nvSpPr>
          <p:cNvPr id="709" name="Swatch 709"/>
          <p:cNvSpPr/>
          <p:nvPr/>
        </p:nvSpPr>
        <p:spPr>
          <a:xfrm>
            <a:off x="6865245" y="3174183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3895FF"/>
          </a:solidFill>
          <a:ln>
            <a:noFill/>
          </a:ln>
        </p:spPr>
      </p:sp>
      <p:sp>
        <p:nvSpPr>
          <p:cNvPr id="710" name="Legend 710"/>
          <p:cNvSpPr txBox="1"/>
          <p:nvPr/>
        </p:nvSpPr>
        <p:spPr>
          <a:xfrm>
            <a:off x="7194429" y="3128463"/>
            <a:ext cx="2049462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Расписание</a:t>
            </a:r>
            <a:endParaRPr lang="ru-RU" sz="2000"/>
          </a:p>
        </p:txBody>
      </p:sp>
      <p:sp>
        <p:nvSpPr>
          <p:cNvPr id="711" name="Share 711"/>
          <p:cNvSpPr txBox="1"/>
          <p:nvPr/>
        </p:nvSpPr>
        <p:spPr>
          <a:xfrm>
            <a:off x="9243891" y="3128463"/>
            <a:ext cx="849312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90000"/>
              </a:lnSpc>
              <a:buNone/>
            </a:pPr>
            <a:r>
              <a:rPr lang="ru-RU" sz="2000" b="1" cap="none" spc="0" baseline="0" dirty="0">
                <a:solidFill>
                  <a:srgbClr val="FFFFFF"/>
                </a:solidFill>
                <a:latin typeface="Play"/>
                <a:cs typeface="Play"/>
              </a:rPr>
              <a:t>25%</a:t>
            </a:r>
            <a:endParaRPr lang="ru-RU" sz="2000"/>
          </a:p>
        </p:txBody>
      </p:sp>
      <p:sp>
        <p:nvSpPr>
          <p:cNvPr id="712" name="Swatch 712"/>
          <p:cNvSpPr/>
          <p:nvPr/>
        </p:nvSpPr>
        <p:spPr>
          <a:xfrm>
            <a:off x="6865245" y="3600903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70B3FF"/>
          </a:solidFill>
          <a:ln>
            <a:noFill/>
          </a:ln>
        </p:spPr>
      </p:sp>
      <p:sp>
        <p:nvSpPr>
          <p:cNvPr id="713" name="Legend 713"/>
          <p:cNvSpPr txBox="1"/>
          <p:nvPr/>
        </p:nvSpPr>
        <p:spPr>
          <a:xfrm>
            <a:off x="7194429" y="3555183"/>
            <a:ext cx="2049462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Стоимость</a:t>
            </a:r>
            <a:endParaRPr lang="ru-RU" sz="2000"/>
          </a:p>
        </p:txBody>
      </p:sp>
      <p:sp>
        <p:nvSpPr>
          <p:cNvPr id="714" name="Share 714"/>
          <p:cNvSpPr txBox="1"/>
          <p:nvPr/>
        </p:nvSpPr>
        <p:spPr>
          <a:xfrm>
            <a:off x="9243891" y="3555183"/>
            <a:ext cx="849312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90000"/>
              </a:lnSpc>
              <a:buNone/>
            </a:pPr>
            <a:r>
              <a:rPr lang="ru-RU" sz="2000" b="1" cap="none" spc="0" baseline="0" dirty="0">
                <a:solidFill>
                  <a:srgbClr val="FFFFFF"/>
                </a:solidFill>
                <a:latin typeface="Play"/>
                <a:cs typeface="Play"/>
              </a:rPr>
              <a:t>20%</a:t>
            </a:r>
            <a:endParaRPr lang="ru-RU" sz="2000"/>
          </a:p>
        </p:txBody>
      </p:sp>
      <p:sp>
        <p:nvSpPr>
          <p:cNvPr id="715" name="Swatch 715"/>
          <p:cNvSpPr/>
          <p:nvPr/>
        </p:nvSpPr>
        <p:spPr>
          <a:xfrm>
            <a:off x="6865245" y="4027623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ADD3FF"/>
          </a:solidFill>
          <a:ln>
            <a:noFill/>
          </a:ln>
        </p:spPr>
      </p:sp>
      <p:sp>
        <p:nvSpPr>
          <p:cNvPr id="716" name="Legend 716"/>
          <p:cNvSpPr txBox="1"/>
          <p:nvPr/>
        </p:nvSpPr>
        <p:spPr>
          <a:xfrm>
            <a:off x="7194429" y="3981903"/>
            <a:ext cx="2049462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Тренеры</a:t>
            </a:r>
            <a:endParaRPr lang="ru-RU" sz="2000"/>
          </a:p>
        </p:txBody>
      </p:sp>
      <p:sp>
        <p:nvSpPr>
          <p:cNvPr id="717" name="Share 717"/>
          <p:cNvSpPr txBox="1"/>
          <p:nvPr/>
        </p:nvSpPr>
        <p:spPr>
          <a:xfrm>
            <a:off x="9243891" y="3981903"/>
            <a:ext cx="849312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90000"/>
              </a:lnSpc>
              <a:buNone/>
            </a:pPr>
            <a:r>
              <a:rPr lang="ru-RU" sz="2000" b="1" cap="none" spc="0" baseline="0" dirty="0">
                <a:solidFill>
                  <a:srgbClr val="FFFFFF"/>
                </a:solidFill>
                <a:latin typeface="Play"/>
                <a:cs typeface="Play"/>
              </a:rPr>
              <a:t>12,5%</a:t>
            </a:r>
            <a:endParaRPr lang="ru-RU" sz="2000"/>
          </a:p>
        </p:txBody>
      </p:sp>
      <p:sp>
        <p:nvSpPr>
          <p:cNvPr id="718" name="Swatch 718"/>
          <p:cNvSpPr/>
          <p:nvPr/>
        </p:nvSpPr>
        <p:spPr>
          <a:xfrm>
            <a:off x="6865245" y="4454343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6F1FF"/>
          </a:solidFill>
          <a:ln>
            <a:noFill/>
          </a:ln>
        </p:spPr>
      </p:sp>
      <p:sp>
        <p:nvSpPr>
          <p:cNvPr id="719" name="Legend 719"/>
          <p:cNvSpPr txBox="1"/>
          <p:nvPr/>
        </p:nvSpPr>
        <p:spPr>
          <a:xfrm>
            <a:off x="7194429" y="4408623"/>
            <a:ext cx="2049462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Атмосфера</a:t>
            </a:r>
            <a:endParaRPr lang="ru-RU" sz="2000"/>
          </a:p>
        </p:txBody>
      </p:sp>
      <p:sp>
        <p:nvSpPr>
          <p:cNvPr id="720" name="Share 720"/>
          <p:cNvSpPr txBox="1"/>
          <p:nvPr/>
        </p:nvSpPr>
        <p:spPr>
          <a:xfrm>
            <a:off x="9243891" y="4408623"/>
            <a:ext cx="849312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90000"/>
              </a:lnSpc>
              <a:buNone/>
            </a:pPr>
            <a:r>
              <a:rPr lang="ru-RU" sz="2000" b="1" cap="none" spc="0" baseline="0" dirty="0">
                <a:solidFill>
                  <a:srgbClr val="FFFFFF"/>
                </a:solidFill>
                <a:latin typeface="Play"/>
                <a:cs typeface="Play"/>
              </a:rPr>
              <a:t>7,5%</a:t>
            </a:r>
            <a:endParaRPr lang="ru-RU" sz="20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3" name="Google Shape;703;p32"/>
          <p:cNvSpPr txBox="1"/>
          <p:nvPr>
            <p:ph type="title"/>
          </p:nvPr>
        </p:nvSpPr>
        <p:spPr>
          <a:xfrm>
            <a:off x="429253" y="424691"/>
            <a:ext cx="6208311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>Средняя месячная выручка на клиента — 5 050 ₽</a:t>
            </a:r>
            <a:endParaRPr/>
          </a:p>
        </p:txBody>
      </p:sp>
      <p:graphicFrame>
        <p:nvGraphicFramePr>
          <p:cNvPr id="704" name="Table"/>
          <p:cNvGraphicFramePr>
            <a:graphicFrameLocks noGrp="1"/>
          </p:cNvGraphicFramePr>
          <p:nvPr/>
        </p:nvGraphicFramePr>
        <p:xfrm>
          <a:off x="429253" y="1869443"/>
          <a:ext cx="11333494" cy="2023110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3112960"/>
                <a:gridCol w="2740178"/>
                <a:gridCol w="2740178"/>
                <a:gridCol w="2740178"/>
              </a:tblGrid>
              <a:tr h="6858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 cap="none" spc="0" baseline="0" lang="ru-RU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Абонемент</a:t>
                      </a:r>
                    </a:p>
                  </a:txBody>
                  <a:tcPr marL="160020" marR="16002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gradFill>
                      <a:gsLst>
                        <a:gs pos="0">
                          <a:srgbClr val="00AEE8"/>
                        </a:gs>
                        <a:gs pos="3641">
                          <a:srgbClr val="00AEE8"/>
                        </a:gs>
                        <a:gs pos="100000">
                          <a:srgbClr val="009FEE">
                            <a:alpha val="89831"/>
                          </a:srgb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 cap="none" spc="0" baseline="0" lang="ru-RU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Цена, ₽</a:t>
                      </a:r>
                    </a:p>
                  </a:txBody>
                  <a:tcPr marL="160020" marR="16002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gradFill>
                      <a:gsLst>
                        <a:gs pos="0">
                          <a:srgbClr val="009FEE">
                            <a:alpha val="89831"/>
                          </a:srgbClr>
                        </a:gs>
                        <a:gs pos="100000">
                          <a:srgbClr val="0092F4">
                            <a:alpha val="80541"/>
                          </a:srgb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 cap="none" spc="0" baseline="0" lang="ru-RU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Количество занятий</a:t>
                      </a:r>
                    </a:p>
                  </a:txBody>
                  <a:tcPr marL="160020" marR="16002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gradFill>
                      <a:gsLst>
                        <a:gs pos="0">
                          <a:srgbClr val="0092F4">
                            <a:alpha val="80541"/>
                          </a:srgbClr>
                        </a:gs>
                        <a:gs pos="100000">
                          <a:srgbClr val="0084F9">
                            <a:alpha val="71251"/>
                          </a:srgb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 cap="none" spc="0" baseline="0" lang="ru-RU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Стоимость одного занятия, ₽</a:t>
                      </a:r>
                    </a:p>
                  </a:txBody>
                  <a:tcPr marL="160020" marR="16002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gradFill>
                      <a:gsLst>
                        <a:gs pos="0">
                          <a:srgbClr val="0084F9">
                            <a:alpha val="71251"/>
                          </a:srgbClr>
                        </a:gs>
                        <a:gs pos="100000">
                          <a:srgbClr val="0077FF">
                            <a:alpha val="61961"/>
                          </a:srgbClr>
                        </a:gs>
                      </a:gsLst>
                      <a:lin ang="0" scaled="0"/>
                    </a:gradFill>
                  </a:tcPr>
                </a:tc>
              </a:tr>
              <a:tr h="44577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 cap="none" spc="0" baseline="0" lang="ru-RU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Четыре занятия в месяц</a:t>
                      </a:r>
                    </a:p>
                  </a:txBody>
                  <a:tcPr marL="160020" marR="16002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 cap="none" spc="0" baseline="0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3200</a:t>
                      </a:r>
                    </a:p>
                  </a:txBody>
                  <a:tcPr marL="160020" marR="16002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 cap="none" spc="0" baseline="0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4</a:t>
                      </a:r>
                    </a:p>
                  </a:txBody>
                  <a:tcPr marL="160020" marR="16002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 cap="none" spc="0" baseline="0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800</a:t>
                      </a:r>
                    </a:p>
                  </a:txBody>
                  <a:tcPr marL="160020" marR="16002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12121"/>
                    </a:solidFill>
                  </a:tcPr>
                </a:tc>
              </a:tr>
              <a:tr h="44577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 cap="none" spc="0" baseline="0" lang="ru-RU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Восемь занятий</a:t>
                      </a:r>
                    </a:p>
                  </a:txBody>
                  <a:tcPr marL="160020" marR="16002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 cap="none" spc="0" baseline="0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5200</a:t>
                      </a:r>
                    </a:p>
                  </a:txBody>
                  <a:tcPr marL="160020" marR="16002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 cap="none" spc="0" baseline="0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8</a:t>
                      </a:r>
                    </a:p>
                  </a:txBody>
                  <a:tcPr marL="160020" marR="16002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 cap="none" spc="0" baseline="0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650</a:t>
                      </a:r>
                    </a:p>
                  </a:txBody>
                  <a:tcPr marL="160020" marR="16002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12121"/>
                    </a:solidFill>
                  </a:tcPr>
                </a:tc>
              </a:tr>
              <a:tr h="44577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 cap="none" spc="0" baseline="0" lang="ru-RU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Двенадцать занятий</a:t>
                      </a:r>
                    </a:p>
                  </a:txBody>
                  <a:tcPr marL="160020" marR="16002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 cap="none" spc="0" baseline="0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6600</a:t>
                      </a:r>
                    </a:p>
                  </a:txBody>
                  <a:tcPr marL="160020" marR="16002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 cap="none" spc="0" baseline="0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12</a:t>
                      </a:r>
                    </a:p>
                  </a:txBody>
                  <a:tcPr marL="160020" marR="16002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 cap="none" spc="0" baseline="0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550</a:t>
                      </a:r>
                    </a:p>
                  </a:txBody>
                  <a:tcPr marL="160020" marR="16002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705" name="Conclusion strip 705"/>
          <p:cNvSpPr/>
          <p:nvPr/>
        </p:nvSpPr>
        <p:spPr>
          <a:xfrm>
            <a:off x="429253" y="4180589"/>
            <a:ext cx="11333494" cy="889000"/>
          </a:xfrm>
          <a:prstGeom prst="roundRect">
            <a:avLst>
              <a:gd fmla="val 17049" name="adj"/>
            </a:avLst>
          </a:prstGeom>
          <a:solidFill>
            <a:srgbClr val="212121"/>
          </a:solidFill>
          <a:ln>
            <a:noFill/>
          </a:ln>
        </p:spPr>
      </p:sp>
      <p:sp>
        <p:nvSpPr>
          <p:cNvPr id="706" name="Conclusion figure 706"/>
          <p:cNvSpPr txBox="1"/>
          <p:nvPr/>
        </p:nvSpPr>
        <p:spPr>
          <a:xfrm>
            <a:off x="683253" y="4362199"/>
            <a:ext cx="1316101" cy="52578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3600" b="1" cap="none" spc="0" baseline="0" dirty="0">
                <a:solidFill>
                  <a:srgbClr val="0077FF"/>
                </a:solidFill>
                <a:latin typeface="Play"/>
                <a:cs typeface="Play"/>
              </a:rPr>
              <a:t>900 ₽</a:t>
            </a:r>
            <a:endParaRPr lang="ru-RU" sz="3600"/>
          </a:p>
        </p:txBody>
      </p:sp>
      <p:sp>
        <p:nvSpPr>
          <p:cNvPr id="707" name="Conclusion 707"/>
          <p:cNvSpPr txBox="1"/>
          <p:nvPr/>
        </p:nvSpPr>
        <p:spPr>
          <a:xfrm>
            <a:off x="2304154" y="4338069"/>
            <a:ext cx="9204593" cy="5740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Разовое посещение обойдется в </a:t>
            </a:r>
            <a:r>
              <a:rPr lang="ru-RU" sz="2000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900 рублей</a:t>
            </a: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, пробная тренировка — в </a:t>
            </a:r>
            <a:r>
              <a:rPr lang="ru-RU" sz="2000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500 рублей</a:t>
            </a:r>
            <a:endParaRPr lang="ru-RU" sz="2000"/>
          </a:p>
        </p:txBody>
      </p:sp>
      <p:sp>
        <p:nvSpPr>
          <p:cNvPr id="708" name="Footnote 708"/>
          <p:cNvSpPr txBox="1"/>
          <p:nvPr/>
        </p:nvSpPr>
        <p:spPr>
          <a:xfrm>
            <a:off x="429253" y="5730494"/>
            <a:ext cx="11333494" cy="18999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1200" b="0" cap="none" spc="0" baseline="0" dirty="0">
                <a:solidFill>
                  <a:srgbClr val="AFB8C2"/>
                </a:solidFill>
                <a:latin typeface="Play"/>
                <a:cs typeface="Play"/>
              </a:rPr>
              <a:t>Доход от разовых и пробных посещений в основной финансовый прогноз не включен</a:t>
            </a:r>
            <a:endParaRPr lang="ru-RU" sz="12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3" name="Google Shape;703;p32"/>
          <p:cNvSpPr txBox="1"/>
          <p:nvPr>
            <p:ph type="title"/>
          </p:nvPr>
        </p:nvSpPr>
        <p:spPr>
          <a:xfrm>
            <a:off x="429253" y="424691"/>
            <a:ext cx="7937279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>Месячная вместимость превышает ожидаемые посещения</a:t>
            </a:r>
            <a:endParaRPr/>
          </a:p>
        </p:txBody>
      </p:sp>
      <p:sp>
        <p:nvSpPr>
          <p:cNvPr id="704" name="Unit 704"/>
          <p:cNvSpPr txBox="1"/>
          <p:nvPr/>
        </p:nvSpPr>
        <p:spPr>
          <a:xfrm>
            <a:off x="429253" y="1869443"/>
            <a:ext cx="7574900" cy="18999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1200" b="0" cap="none" spc="0" baseline="0" dirty="0">
                <a:solidFill>
                  <a:srgbClr val="AFB8C2"/>
                </a:solidFill>
                <a:latin typeface="Play"/>
                <a:cs typeface="Play"/>
              </a:rPr>
              <a:t>Месячная вместимость и ожидаемые посещения, посещений</a:t>
            </a:r>
            <a:endParaRPr lang="ru-RU" sz="1200"/>
          </a:p>
        </p:txBody>
      </p:sp>
      <p:graphicFrame>
        <p:nvGraphicFramePr>
          <p:cNvPr id="705" name="Chart 704"/>
          <p:cNvGraphicFramePr>
            <a:graphicFrameLocks noGrp="1"/>
          </p:cNvGraphicFramePr>
          <p:nvPr/>
        </p:nvGraphicFramePr>
        <p:xfrm>
          <a:off x="429253" y="2121157"/>
          <a:ext cx="7574900" cy="34752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06" name="Rule 706"/>
          <p:cNvSpPr/>
          <p:nvPr/>
        </p:nvSpPr>
        <p:spPr>
          <a:xfrm>
            <a:off x="8589369" y="1869443"/>
            <a:ext cx="480060" cy="3810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707" name="Figure 707"/>
          <p:cNvSpPr txBox="1"/>
          <p:nvPr/>
        </p:nvSpPr>
        <p:spPr>
          <a:xfrm>
            <a:off x="8565493" y="1832105"/>
            <a:ext cx="3197254" cy="11684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8000" b="1" cap="none" spc="0" baseline="0" dirty="0">
                <a:solidFill>
                  <a:srgbClr val="0077FF"/>
                </a:solidFill>
                <a:latin typeface="Play"/>
                <a:cs typeface="Play"/>
              </a:rPr>
              <a:t>2 700</a:t>
            </a:r>
            <a:endParaRPr lang="ru-RU" sz="8000"/>
          </a:p>
        </p:txBody>
      </p:sp>
      <p:sp>
        <p:nvSpPr>
          <p:cNvPr id="708" name="Label 708"/>
          <p:cNvSpPr txBox="1"/>
          <p:nvPr/>
        </p:nvSpPr>
        <p:spPr>
          <a:xfrm>
            <a:off x="8589369" y="3062227"/>
            <a:ext cx="3173378" cy="5740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2 700 вместимости vs 2 000 посещений</a:t>
            </a:r>
            <a:endParaRPr lang="ru-RU" sz="20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3" name="Google Shape;703;p32"/>
          <p:cNvSpPr txBox="1"/>
          <p:nvPr>
            <p:ph type="title"/>
          </p:nvPr>
        </p:nvSpPr>
        <p:spPr>
          <a:xfrm>
            <a:off x="429253" y="424691"/>
            <a:ext cx="6803894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>Тренировочный зал занимает больше половины площади</a:t>
            </a:r>
            <a:endParaRPr/>
          </a:p>
        </p:txBody>
      </p:sp>
      <p:sp>
        <p:nvSpPr>
          <p:cNvPr id="704" name="Место для фото" descr="Фото помещения: место оставлено свободным — вставьте фото в плейсхолдер или через «Формат фигуры → Заливка → Рисунок»"/>
          <p:cNvSpPr/>
          <p:nvPr/>
        </p:nvSpPr>
        <p:spPr>
          <a:xfrm>
            <a:off x="7229350" y="1869443"/>
            <a:ext cx="4533397" cy="3993388"/>
          </a:xfrm>
          <a:prstGeom prst="roundRect">
            <a:avLst>
              <a:gd name="adj" fmla="val 2708"/>
            </a:avLst>
          </a:prstGeom>
          <a:solidFill>
            <a:srgbClr val="212121"/>
          </a:solidFill>
          <a:ln>
            <a:noFill/>
          </a:ln>
        </p:spPr>
      </p:sp>
      <p:sp>
        <p:nvSpPr>
          <p:cNvPr id="705" name="Figure 705"/>
          <p:cNvSpPr txBox="1"/>
          <p:nvPr/>
        </p:nvSpPr>
        <p:spPr>
          <a:xfrm>
            <a:off x="422395" y="1869443"/>
            <a:ext cx="1504006" cy="52578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3600" b="1" cap="none" spc="0" baseline="0" dirty="0">
                <a:solidFill>
                  <a:srgbClr val="0077FF"/>
                </a:solidFill>
                <a:latin typeface="Play"/>
                <a:cs typeface="Play"/>
              </a:rPr>
              <a:t>100 м²</a:t>
            </a:r>
            <a:endParaRPr lang="ru-RU" sz="3600"/>
          </a:p>
        </p:txBody>
      </p:sp>
      <p:sp>
        <p:nvSpPr>
          <p:cNvPr id="706" name="Label 706"/>
          <p:cNvSpPr txBox="1"/>
          <p:nvPr/>
        </p:nvSpPr>
        <p:spPr>
          <a:xfrm>
            <a:off x="2365313" y="2041109"/>
            <a:ext cx="4437317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AFB8C2"/>
                </a:solidFill>
                <a:latin typeface="Play"/>
                <a:cs typeface="Play"/>
              </a:rPr>
              <a:t>Тренировочный зал</a:t>
            </a:r>
            <a:endParaRPr lang="ru-RU" sz="2000"/>
          </a:p>
        </p:txBody>
      </p:sp>
      <p:cxnSp>
        <p:nvCxnSpPr>
          <p:cNvPr id="707" name="Line 707"/>
          <p:cNvCxnSpPr/>
          <p:nvPr/>
        </p:nvCxnSpPr>
        <p:spPr>
          <a:xfrm>
            <a:off x="429253" y="2559815"/>
            <a:ext cx="6373377" cy="0"/>
          </a:xfrm>
          <a:prstGeom prst="line">
            <a:avLst/>
          </a:prstGeom>
          <a:ln w="9525">
            <a:solidFill>
              <a:srgbClr val="212121"/>
            </a:solidFill>
          </a:ln>
        </p:spPr>
      </p:cxnSp>
      <p:sp>
        <p:nvSpPr>
          <p:cNvPr id="708" name="Figure 708"/>
          <p:cNvSpPr txBox="1"/>
          <p:nvPr/>
        </p:nvSpPr>
        <p:spPr>
          <a:xfrm>
            <a:off x="429253" y="2724407"/>
            <a:ext cx="1497148" cy="52578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3600" b="1" cap="none" spc="0" baseline="0" dirty="0">
                <a:solidFill>
                  <a:srgbClr val="0077FF"/>
                </a:solidFill>
                <a:latin typeface="Play"/>
                <a:cs typeface="Play"/>
              </a:rPr>
              <a:t>35 м²</a:t>
            </a:r>
            <a:endParaRPr lang="ru-RU" sz="3600"/>
          </a:p>
        </p:txBody>
      </p:sp>
      <p:sp>
        <p:nvSpPr>
          <p:cNvPr id="709" name="Label 709"/>
          <p:cNvSpPr txBox="1"/>
          <p:nvPr/>
        </p:nvSpPr>
        <p:spPr>
          <a:xfrm>
            <a:off x="2365313" y="2896073"/>
            <a:ext cx="4437317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AFB8C2"/>
                </a:solidFill>
                <a:latin typeface="Play"/>
                <a:cs typeface="Play"/>
              </a:rPr>
              <a:t>Раздевалки и душевые</a:t>
            </a:r>
            <a:endParaRPr lang="ru-RU" sz="2000"/>
          </a:p>
        </p:txBody>
      </p:sp>
      <p:cxnSp>
        <p:nvCxnSpPr>
          <p:cNvPr id="710" name="Line 710"/>
          <p:cNvCxnSpPr/>
          <p:nvPr/>
        </p:nvCxnSpPr>
        <p:spPr>
          <a:xfrm>
            <a:off x="429253" y="3414779"/>
            <a:ext cx="6373377" cy="0"/>
          </a:xfrm>
          <a:prstGeom prst="line">
            <a:avLst/>
          </a:prstGeom>
          <a:ln w="9525">
            <a:solidFill>
              <a:srgbClr val="212121"/>
            </a:solidFill>
          </a:ln>
        </p:spPr>
      </p:cxnSp>
      <p:sp>
        <p:nvSpPr>
          <p:cNvPr id="711" name="Figure 711"/>
          <p:cNvSpPr txBox="1"/>
          <p:nvPr/>
        </p:nvSpPr>
        <p:spPr>
          <a:xfrm>
            <a:off x="429253" y="3579371"/>
            <a:ext cx="1497148" cy="52578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3600" b="1" cap="none" spc="0" baseline="0" dirty="0">
                <a:solidFill>
                  <a:srgbClr val="0077FF"/>
                </a:solidFill>
                <a:latin typeface="Play"/>
                <a:cs typeface="Play"/>
              </a:rPr>
              <a:t>25 м²</a:t>
            </a:r>
            <a:endParaRPr lang="ru-RU" sz="3600"/>
          </a:p>
        </p:txBody>
      </p:sp>
      <p:sp>
        <p:nvSpPr>
          <p:cNvPr id="712" name="Label 712"/>
          <p:cNvSpPr txBox="1"/>
          <p:nvPr/>
        </p:nvSpPr>
        <p:spPr>
          <a:xfrm>
            <a:off x="2365313" y="3751037"/>
            <a:ext cx="4437317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AFB8C2"/>
                </a:solidFill>
                <a:latin typeface="Play"/>
                <a:cs typeface="Play"/>
              </a:rPr>
              <a:t>Зона ресепшена и ожидания</a:t>
            </a:r>
            <a:endParaRPr lang="ru-RU" sz="2000"/>
          </a:p>
        </p:txBody>
      </p:sp>
      <p:cxnSp>
        <p:nvCxnSpPr>
          <p:cNvPr id="713" name="Line 713"/>
          <p:cNvCxnSpPr/>
          <p:nvPr/>
        </p:nvCxnSpPr>
        <p:spPr>
          <a:xfrm>
            <a:off x="429253" y="4269743"/>
            <a:ext cx="6373377" cy="0"/>
          </a:xfrm>
          <a:prstGeom prst="line">
            <a:avLst/>
          </a:prstGeom>
          <a:ln w="9525">
            <a:solidFill>
              <a:srgbClr val="212121"/>
            </a:solidFill>
          </a:ln>
        </p:spPr>
      </p:cxnSp>
      <p:sp>
        <p:nvSpPr>
          <p:cNvPr id="714" name="Figure 714"/>
          <p:cNvSpPr txBox="1"/>
          <p:nvPr/>
        </p:nvSpPr>
        <p:spPr>
          <a:xfrm>
            <a:off x="429253" y="4434335"/>
            <a:ext cx="1497148" cy="52578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3600" b="1" cap="none" spc="0" baseline="0" dirty="0">
                <a:solidFill>
                  <a:srgbClr val="0077FF"/>
                </a:solidFill>
                <a:latin typeface="Play"/>
                <a:cs typeface="Play"/>
              </a:rPr>
              <a:t>20 м²</a:t>
            </a:r>
            <a:endParaRPr lang="ru-RU" sz="3600"/>
          </a:p>
        </p:txBody>
      </p:sp>
      <p:sp>
        <p:nvSpPr>
          <p:cNvPr id="715" name="Label 715"/>
          <p:cNvSpPr txBox="1"/>
          <p:nvPr/>
        </p:nvSpPr>
        <p:spPr>
          <a:xfrm>
            <a:off x="2365313" y="4606001"/>
            <a:ext cx="4437317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AFB8C2"/>
                </a:solidFill>
                <a:latin typeface="Play"/>
                <a:cs typeface="Play"/>
              </a:rPr>
              <a:t>Подсобные помещения</a:t>
            </a:r>
            <a:endParaRPr lang="ru-RU" sz="2000"/>
          </a:p>
        </p:txBody>
      </p:sp>
      <p:sp>
        <p:nvSpPr>
          <p:cNvPr id="716" name="Conclusion strip 716"/>
          <p:cNvSpPr/>
          <p:nvPr/>
        </p:nvSpPr>
        <p:spPr>
          <a:xfrm>
            <a:off x="429253" y="5248151"/>
            <a:ext cx="6373377" cy="614680"/>
          </a:xfrm>
          <a:prstGeom prst="roundRect">
            <a:avLst>
              <a:gd fmla="val 24659" name="adj"/>
            </a:avLst>
          </a:prstGeom>
          <a:solidFill>
            <a:srgbClr val="212121"/>
          </a:solidFill>
          <a:ln>
            <a:noFill/>
          </a:ln>
        </p:spPr>
      </p:sp>
      <p:sp>
        <p:nvSpPr>
          <p:cNvPr id="717" name="Conclusion bar 717"/>
          <p:cNvSpPr/>
          <p:nvPr/>
        </p:nvSpPr>
        <p:spPr>
          <a:xfrm>
            <a:off x="683253" y="5436111"/>
            <a:ext cx="41148" cy="23876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718" name="Conclusion 718"/>
          <p:cNvSpPr txBox="1"/>
          <p:nvPr/>
        </p:nvSpPr>
        <p:spPr>
          <a:xfrm>
            <a:off x="927601" y="5405631"/>
            <a:ext cx="5621029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Тренировочный зал — основная зона студии</a:t>
            </a:r>
            <a:endParaRPr lang="ru-RU" sz="20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3" name="Google Shape;703;p32"/>
          <p:cNvSpPr txBox="1"/>
          <p:nvPr>
            <p:ph type="title"/>
          </p:nvPr>
        </p:nvSpPr>
        <p:spPr>
          <a:xfrm>
            <a:off x="429253" y="424691"/>
            <a:ext cx="9819467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>Команда</a:t>
            </a:r>
            <a:endParaRPr/>
          </a:p>
        </p:txBody>
      </p:sp>
      <p:graphicFrame>
        <p:nvGraphicFramePr>
          <p:cNvPr id="704" name="Chart 703"/>
          <p:cNvGraphicFramePr>
            <a:graphicFrameLocks noGrp="1"/>
          </p:cNvGraphicFramePr>
          <p:nvPr/>
        </p:nvGraphicFramePr>
        <p:xfrm>
          <a:off x="1148823" y="1375667"/>
          <a:ext cx="3779303" cy="3779303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05" name="Total 705"/>
          <p:cNvSpPr txBox="1"/>
          <p:nvPr/>
        </p:nvSpPr>
        <p:spPr>
          <a:xfrm>
            <a:off x="2219619" y="3067197"/>
            <a:ext cx="1637709" cy="39624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" marL="0" indent="0">
              <a:lnSpc>
                <a:spcPct val="90000"/>
              </a:lnSpc>
              <a:buNone/>
            </a:pPr>
            <a:r>
              <a:rPr lang="ru-RU" sz="2400" b="1" cap="none" spc="0" baseline="0" dirty="0">
                <a:solidFill>
                  <a:srgbClr val="0077FF"/>
                </a:solidFill>
                <a:latin typeface="Play"/>
                <a:cs typeface="Play"/>
              </a:rPr>
              <a:t>420 000 ₽</a:t>
            </a:r>
            <a:endParaRPr lang="ru-RU" sz="2400"/>
          </a:p>
        </p:txBody>
      </p:sp>
      <p:sp>
        <p:nvSpPr>
          <p:cNvPr id="706" name="Legend title 706"/>
          <p:cNvSpPr txBox="1"/>
          <p:nvPr/>
        </p:nvSpPr>
        <p:spPr>
          <a:xfrm>
            <a:off x="5513342" y="2099458"/>
            <a:ext cx="5529834" cy="7518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AFB8C2"/>
                </a:solidFill>
                <a:latin typeface="Play"/>
                <a:cs typeface="Play"/>
              </a:rPr>
              <a:t>Команда</a:t>
            </a:r>
            <a:endParaRPr lang="ru-RU" sz="2000"/>
          </a:p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AFB8C2"/>
                </a:solidFill>
                <a:latin typeface="Play"/>
                <a:cs typeface="Play"/>
              </a:rPr>
              <a:t>сумма · доля от общей суммы</a:t>
            </a:r>
            <a:endParaRPr lang="ru-RU" sz="2000"/>
          </a:p>
        </p:txBody>
      </p:sp>
      <p:sp>
        <p:nvSpPr>
          <p:cNvPr id="707" name="Swatch 707"/>
          <p:cNvSpPr/>
          <p:nvPr/>
        </p:nvSpPr>
        <p:spPr>
          <a:xfrm>
            <a:off x="5513342" y="289701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0077FF"/>
          </a:solidFill>
          <a:ln>
            <a:noFill/>
          </a:ln>
        </p:spPr>
      </p:sp>
      <p:sp>
        <p:nvSpPr>
          <p:cNvPr id="708" name="Legend 708"/>
          <p:cNvSpPr txBox="1"/>
          <p:nvPr/>
        </p:nvSpPr>
        <p:spPr>
          <a:xfrm>
            <a:off x="5842526" y="2851298"/>
            <a:ext cx="3109119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Оплата работы тренеров</a:t>
            </a:r>
            <a:endParaRPr lang="ru-RU" sz="2000"/>
          </a:p>
        </p:txBody>
      </p:sp>
      <p:sp>
        <p:nvSpPr>
          <p:cNvPr id="709" name="Share 709"/>
          <p:cNvSpPr txBox="1"/>
          <p:nvPr/>
        </p:nvSpPr>
        <p:spPr>
          <a:xfrm>
            <a:off x="8951645" y="2851298"/>
            <a:ext cx="2091531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90000"/>
              </a:lnSpc>
              <a:buNone/>
            </a:pPr>
            <a:r>
              <a:rPr lang="ru-RU" sz="2000" b="1" cap="none" spc="0" baseline="0" dirty="0">
                <a:solidFill>
                  <a:srgbClr val="0077FF"/>
                </a:solidFill>
                <a:latin typeface="Play"/>
                <a:cs typeface="Play"/>
              </a:rPr>
              <a:t>260 000 ₽  ·  62%</a:t>
            </a:r>
            <a:endParaRPr lang="ru-RU" sz="2000"/>
          </a:p>
        </p:txBody>
      </p:sp>
      <p:sp>
        <p:nvSpPr>
          <p:cNvPr id="710" name="Swatch 710"/>
          <p:cNvSpPr/>
          <p:nvPr/>
        </p:nvSpPr>
        <p:spPr>
          <a:xfrm>
            <a:off x="5513342" y="332373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4DA0FF"/>
          </a:solidFill>
          <a:ln>
            <a:noFill/>
          </a:ln>
        </p:spPr>
      </p:sp>
      <p:sp>
        <p:nvSpPr>
          <p:cNvPr id="711" name="Legend 711"/>
          <p:cNvSpPr txBox="1"/>
          <p:nvPr/>
        </p:nvSpPr>
        <p:spPr>
          <a:xfrm>
            <a:off x="5842526" y="3278018"/>
            <a:ext cx="3109119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Администраторов</a:t>
            </a:r>
            <a:endParaRPr lang="ru-RU" sz="2000"/>
          </a:p>
        </p:txBody>
      </p:sp>
      <p:sp>
        <p:nvSpPr>
          <p:cNvPr id="712" name="Share 712"/>
          <p:cNvSpPr txBox="1"/>
          <p:nvPr/>
        </p:nvSpPr>
        <p:spPr>
          <a:xfrm>
            <a:off x="8951645" y="3278018"/>
            <a:ext cx="2091531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90000"/>
              </a:lnSpc>
              <a:buNone/>
            </a:pPr>
            <a:r>
              <a:rPr lang="ru-RU" sz="2000" b="1" cap="none" spc="0" baseline="0" dirty="0">
                <a:solidFill>
                  <a:srgbClr val="FFFFFF"/>
                </a:solidFill>
                <a:latin typeface="Play"/>
                <a:cs typeface="Play"/>
              </a:rPr>
              <a:t>110 000 ₽  ·  26%</a:t>
            </a:r>
            <a:endParaRPr lang="ru-RU" sz="2000"/>
          </a:p>
        </p:txBody>
      </p:sp>
      <p:sp>
        <p:nvSpPr>
          <p:cNvPr id="713" name="Swatch 713"/>
          <p:cNvSpPr/>
          <p:nvPr/>
        </p:nvSpPr>
        <p:spPr>
          <a:xfrm>
            <a:off x="5513342" y="375045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99C9FF"/>
          </a:solidFill>
          <a:ln>
            <a:noFill/>
          </a:ln>
        </p:spPr>
      </p:sp>
      <p:sp>
        <p:nvSpPr>
          <p:cNvPr id="714" name="Legend 714"/>
          <p:cNvSpPr txBox="1"/>
          <p:nvPr/>
        </p:nvSpPr>
        <p:spPr>
          <a:xfrm>
            <a:off x="5842526" y="3704738"/>
            <a:ext cx="3109119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Уборки</a:t>
            </a:r>
            <a:endParaRPr lang="ru-RU" sz="2000"/>
          </a:p>
        </p:txBody>
      </p:sp>
      <p:sp>
        <p:nvSpPr>
          <p:cNvPr id="715" name="Share 715"/>
          <p:cNvSpPr txBox="1"/>
          <p:nvPr/>
        </p:nvSpPr>
        <p:spPr>
          <a:xfrm>
            <a:off x="8951645" y="3704738"/>
            <a:ext cx="2091531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90000"/>
              </a:lnSpc>
              <a:buNone/>
            </a:pPr>
            <a:r>
              <a:rPr lang="ru-RU" sz="2000" b="1" cap="none" spc="0" baseline="0" dirty="0">
                <a:solidFill>
                  <a:srgbClr val="FFFFFF"/>
                </a:solidFill>
                <a:latin typeface="Play"/>
                <a:cs typeface="Play"/>
              </a:rPr>
              <a:t>30 000 ₽  ·  7%</a:t>
            </a:r>
            <a:endParaRPr lang="ru-RU" sz="2000"/>
          </a:p>
        </p:txBody>
      </p:sp>
      <p:sp>
        <p:nvSpPr>
          <p:cNvPr id="716" name="Swatch 716"/>
          <p:cNvSpPr/>
          <p:nvPr/>
        </p:nvSpPr>
        <p:spPr>
          <a:xfrm>
            <a:off x="5513342" y="417717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6F1FF"/>
          </a:solidFill>
          <a:ln>
            <a:noFill/>
          </a:ln>
        </p:spPr>
      </p:sp>
      <p:sp>
        <p:nvSpPr>
          <p:cNvPr id="717" name="Legend 717"/>
          <p:cNvSpPr txBox="1"/>
          <p:nvPr/>
        </p:nvSpPr>
        <p:spPr>
          <a:xfrm>
            <a:off x="5842526" y="4131458"/>
            <a:ext cx="3109119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Резерв на замены</a:t>
            </a:r>
            <a:endParaRPr lang="ru-RU" sz="2000"/>
          </a:p>
        </p:txBody>
      </p:sp>
      <p:sp>
        <p:nvSpPr>
          <p:cNvPr id="718" name="Share 718"/>
          <p:cNvSpPr txBox="1"/>
          <p:nvPr/>
        </p:nvSpPr>
        <p:spPr>
          <a:xfrm>
            <a:off x="8951645" y="4131458"/>
            <a:ext cx="2091531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90000"/>
              </a:lnSpc>
              <a:buNone/>
            </a:pPr>
            <a:r>
              <a:rPr lang="ru-RU" sz="2000" b="1" cap="none" spc="0" baseline="0" dirty="0">
                <a:solidFill>
                  <a:srgbClr val="FFFFFF"/>
                </a:solidFill>
                <a:latin typeface="Play"/>
                <a:cs typeface="Play"/>
              </a:rPr>
              <a:t>20 000 ₽  ·  5%</a:t>
            </a:r>
            <a:endParaRPr lang="ru-RU" sz="2000"/>
          </a:p>
        </p:txBody>
      </p:sp>
      <p:sp>
        <p:nvSpPr>
          <p:cNvPr id="719" name="Footnote 719"/>
          <p:cNvSpPr txBox="1"/>
          <p:nvPr/>
        </p:nvSpPr>
        <p:spPr>
          <a:xfrm>
            <a:off x="429253" y="5730494"/>
            <a:ext cx="11333494" cy="18999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1200" b="0" cap="none" spc="0" baseline="0" dirty="0">
                <a:solidFill>
                  <a:srgbClr val="AFB8C2"/>
                </a:solidFill>
                <a:latin typeface="Play"/>
                <a:cs typeface="Play"/>
              </a:rPr>
              <a:t>Отдельная зарплата владельца в модель не включена</a:t>
            </a:r>
            <a:endParaRPr lang="ru-RU" sz="12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3" name="Google Shape;703;p32"/>
          <p:cNvSpPr txBox="1"/>
          <p:nvPr>
            <p:ph type="title"/>
          </p:nvPr>
        </p:nvSpPr>
        <p:spPr>
          <a:xfrm>
            <a:off x="429253" y="424691"/>
            <a:ext cx="9819467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>90 000 ₽ на соцсети — основа продвижения</a:t>
            </a:r>
            <a:endParaRPr/>
          </a:p>
        </p:txBody>
      </p:sp>
      <p:sp>
        <p:nvSpPr>
          <p:cNvPr id="704" name="Unit 704"/>
          <p:cNvSpPr txBox="1"/>
          <p:nvPr/>
        </p:nvSpPr>
        <p:spPr>
          <a:xfrm>
            <a:off x="429253" y="1375667"/>
            <a:ext cx="7574900" cy="18999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1200" b="0" cap="none" spc="0" baseline="0" dirty="0">
                <a:solidFill>
                  <a:srgbClr val="AFB8C2"/>
                </a:solidFill>
                <a:latin typeface="Play"/>
                <a:cs typeface="Play"/>
              </a:rPr>
              <a:t>Распределение бюджета на продвижение</a:t>
            </a:r>
            <a:endParaRPr lang="ru-RU" sz="1200"/>
          </a:p>
        </p:txBody>
      </p:sp>
      <p:graphicFrame>
        <p:nvGraphicFramePr>
          <p:cNvPr id="705" name="Chart 704"/>
          <p:cNvGraphicFramePr>
            <a:graphicFrameLocks noGrp="1"/>
          </p:cNvGraphicFramePr>
          <p:nvPr/>
        </p:nvGraphicFramePr>
        <p:xfrm>
          <a:off x="429253" y="1627381"/>
          <a:ext cx="7574900" cy="392951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06" name="Rule 706"/>
          <p:cNvSpPr/>
          <p:nvPr/>
        </p:nvSpPr>
        <p:spPr>
          <a:xfrm>
            <a:off x="8589369" y="1375667"/>
            <a:ext cx="480060" cy="3810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707" name="Figure 707"/>
          <p:cNvSpPr txBox="1"/>
          <p:nvPr/>
        </p:nvSpPr>
        <p:spPr>
          <a:xfrm>
            <a:off x="8550126" y="1383935"/>
            <a:ext cx="3212621" cy="96393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6600" b="1" cap="none" spc="0" baseline="0" dirty="0">
                <a:solidFill>
                  <a:srgbClr val="0077FF"/>
                </a:solidFill>
                <a:latin typeface="Play"/>
                <a:cs typeface="Play"/>
              </a:rPr>
              <a:t>1 371</a:t>
            </a:r>
            <a:r>
              <a:rPr lang="ru-RU" sz="3200" b="1" cap="none" spc="0" baseline="0" dirty="0">
                <a:solidFill>
                  <a:srgbClr val="0077FF"/>
                </a:solidFill>
                <a:latin typeface="Play"/>
                <a:cs typeface="Play"/>
              </a:rPr>
              <a:t> ₽</a:t>
            </a:r>
            <a:endParaRPr lang="ru-RU" sz="6600"/>
          </a:p>
        </p:txBody>
      </p:sp>
      <p:sp>
        <p:nvSpPr>
          <p:cNvPr id="708" name="Label 708"/>
          <p:cNvSpPr txBox="1"/>
          <p:nvPr/>
        </p:nvSpPr>
        <p:spPr>
          <a:xfrm>
            <a:off x="8589369" y="2409587"/>
            <a:ext cx="3173378" cy="5740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AFB8C2"/>
                </a:solidFill>
                <a:latin typeface="Play"/>
                <a:cs typeface="Play"/>
              </a:rPr>
              <a:t>Средняя стоимость привлечения</a:t>
            </a:r>
            <a:endParaRPr lang="ru-RU" sz="2000"/>
          </a:p>
        </p:txBody>
      </p:sp>
      <p:sp>
        <p:nvSpPr>
          <p:cNvPr id="709" name="Chart note 709"/>
          <p:cNvSpPr txBox="1"/>
          <p:nvPr/>
        </p:nvSpPr>
        <p:spPr>
          <a:xfrm>
            <a:off x="8589369" y="3220227"/>
            <a:ext cx="3173378" cy="68376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spcAft>
                <a:spcPts val="880"/>
              </a:spcAft>
              <a:buNone/>
            </a:pPr>
            <a:r>
              <a:rPr lang="ru-RU" sz="16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План: 1 000 обращений → 500 записей → 350 посещений → 175 покупателей</a:t>
            </a:r>
            <a:endParaRPr lang="ru-RU" sz="16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3" name="Google Shape;703;p32"/>
          <p:cNvSpPr txBox="1"/>
          <p:nvPr>
            <p:ph type="title"/>
          </p:nvPr>
        </p:nvSpPr>
        <p:spPr>
          <a:xfrm>
            <a:off x="429253" y="424691"/>
            <a:ext cx="6347207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>Начальный бюджет проекта — 3 000 000 рублей</a:t>
            </a:r>
            <a:endParaRPr/>
          </a:p>
        </p:txBody>
      </p:sp>
      <p:graphicFrame>
        <p:nvGraphicFramePr>
          <p:cNvPr id="704" name="Chart 703"/>
          <p:cNvGraphicFramePr>
            <a:graphicFrameLocks noGrp="1"/>
          </p:cNvGraphicFramePr>
          <p:nvPr/>
        </p:nvGraphicFramePr>
        <p:xfrm>
          <a:off x="429253" y="1869443"/>
          <a:ext cx="2326148" cy="232614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05" name="Legend title 705"/>
          <p:cNvSpPr txBox="1"/>
          <p:nvPr/>
        </p:nvSpPr>
        <p:spPr>
          <a:xfrm>
            <a:off x="3340617" y="1869443"/>
            <a:ext cx="4663536" cy="60655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1600" b="0" cap="none" spc="0" baseline="0" dirty="0">
                <a:solidFill>
                  <a:srgbClr val="AFB8C2"/>
                </a:solidFill>
                <a:latin typeface="Play"/>
                <a:cs typeface="Play"/>
              </a:rPr>
              <a:t>Распределение стартового бюджета</a:t>
            </a:r>
            <a:endParaRPr lang="ru-RU" sz="1600"/>
          </a:p>
          <a:p>
            <a:pPr algn="l" marL="0" indent="0">
              <a:lnSpc>
                <a:spcPct val="90000"/>
              </a:lnSpc>
              <a:buNone/>
            </a:pPr>
            <a:r>
              <a:rPr lang="ru-RU" sz="1600" b="0" cap="none" spc="0" baseline="0" dirty="0">
                <a:solidFill>
                  <a:srgbClr val="AFB8C2"/>
                </a:solidFill>
                <a:latin typeface="Play"/>
                <a:cs typeface="Play"/>
              </a:rPr>
              <a:t>сумма · доля от общей суммы</a:t>
            </a:r>
            <a:endParaRPr lang="ru-RU" sz="1600"/>
          </a:p>
        </p:txBody>
      </p:sp>
      <p:sp>
        <p:nvSpPr>
          <p:cNvPr id="706" name="Swatch 706"/>
          <p:cNvSpPr/>
          <p:nvPr/>
        </p:nvSpPr>
        <p:spPr>
          <a:xfrm>
            <a:off x="3340617" y="2512571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077FF"/>
          </a:solidFill>
          <a:ln>
            <a:noFill/>
          </a:ln>
        </p:spPr>
      </p:sp>
      <p:sp>
        <p:nvSpPr>
          <p:cNvPr id="707" name="Legend 707"/>
          <p:cNvSpPr txBox="1"/>
          <p:nvPr/>
        </p:nvSpPr>
        <p:spPr>
          <a:xfrm>
            <a:off x="3603964" y="2475995"/>
            <a:ext cx="2726964" cy="46431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16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Ремонт и подготовка</a:t>
            </a:r>
            <a:endParaRPr lang="ru-RU" sz="1600"/>
          </a:p>
          <a:p>
            <a:pPr algn="l" marL="0" indent="0">
              <a:lnSpc>
                <a:spcPct val="90000"/>
              </a:lnSpc>
              <a:buNone/>
            </a:pPr>
            <a:r>
              <a:rPr lang="ru-RU" sz="16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помещения</a:t>
            </a:r>
            <a:endParaRPr lang="ru-RU" sz="1600"/>
          </a:p>
        </p:txBody>
      </p:sp>
      <p:sp>
        <p:nvSpPr>
          <p:cNvPr id="708" name="Share 708"/>
          <p:cNvSpPr txBox="1"/>
          <p:nvPr/>
        </p:nvSpPr>
        <p:spPr>
          <a:xfrm>
            <a:off x="6330928" y="2475995"/>
            <a:ext cx="1673225" cy="24485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90000"/>
              </a:lnSpc>
              <a:buNone/>
            </a:pPr>
            <a:r>
              <a:rPr lang="ru-RU" sz="1600" b="1" cap="none" spc="0" baseline="0" dirty="0">
                <a:solidFill>
                  <a:srgbClr val="0077FF"/>
                </a:solidFill>
                <a:latin typeface="Play"/>
                <a:cs typeface="Play"/>
              </a:rPr>
              <a:t>900 000 ₽  ·  30%</a:t>
            </a:r>
            <a:endParaRPr lang="ru-RU" sz="1600"/>
          </a:p>
        </p:txBody>
      </p:sp>
      <p:sp>
        <p:nvSpPr>
          <p:cNvPr id="709" name="Swatch 709"/>
          <p:cNvSpPr/>
          <p:nvPr/>
        </p:nvSpPr>
        <p:spPr>
          <a:xfrm>
            <a:off x="3340617" y="3078483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E8FFF"/>
          </a:solidFill>
          <a:ln>
            <a:noFill/>
          </a:ln>
        </p:spPr>
      </p:sp>
      <p:sp>
        <p:nvSpPr>
          <p:cNvPr id="710" name="Legend 710"/>
          <p:cNvSpPr txBox="1"/>
          <p:nvPr/>
        </p:nvSpPr>
        <p:spPr>
          <a:xfrm>
            <a:off x="3603964" y="3041907"/>
            <a:ext cx="2726964" cy="24485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16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Оборотный резерв</a:t>
            </a:r>
            <a:endParaRPr lang="ru-RU" sz="1600"/>
          </a:p>
        </p:txBody>
      </p:sp>
      <p:sp>
        <p:nvSpPr>
          <p:cNvPr id="711" name="Share 711"/>
          <p:cNvSpPr txBox="1"/>
          <p:nvPr/>
        </p:nvSpPr>
        <p:spPr>
          <a:xfrm>
            <a:off x="6330928" y="3041907"/>
            <a:ext cx="1673225" cy="24485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90000"/>
              </a:lnSpc>
              <a:buNone/>
            </a:pPr>
            <a:r>
              <a:rPr lang="ru-RU" sz="1600" b="1" cap="none" spc="0" baseline="0" dirty="0">
                <a:solidFill>
                  <a:srgbClr val="FFFFFF"/>
                </a:solidFill>
                <a:latin typeface="Play"/>
                <a:cs typeface="Play"/>
              </a:rPr>
              <a:t>850 000 ₽  ·  28%</a:t>
            </a:r>
            <a:endParaRPr lang="ru-RU" sz="1600"/>
          </a:p>
        </p:txBody>
      </p:sp>
      <p:sp>
        <p:nvSpPr>
          <p:cNvPr id="712" name="Swatch 712"/>
          <p:cNvSpPr/>
          <p:nvPr/>
        </p:nvSpPr>
        <p:spPr>
          <a:xfrm>
            <a:off x="3340617" y="3424939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5CA8FF"/>
          </a:solidFill>
          <a:ln>
            <a:noFill/>
          </a:ln>
        </p:spPr>
      </p:sp>
      <p:sp>
        <p:nvSpPr>
          <p:cNvPr id="713" name="Legend 713"/>
          <p:cNvSpPr txBox="1"/>
          <p:nvPr/>
        </p:nvSpPr>
        <p:spPr>
          <a:xfrm>
            <a:off x="3603964" y="3388363"/>
            <a:ext cx="2726964" cy="24485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16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Оборудование и инвентарь</a:t>
            </a:r>
            <a:endParaRPr lang="ru-RU" sz="1600"/>
          </a:p>
        </p:txBody>
      </p:sp>
      <p:sp>
        <p:nvSpPr>
          <p:cNvPr id="714" name="Share 714"/>
          <p:cNvSpPr txBox="1"/>
          <p:nvPr/>
        </p:nvSpPr>
        <p:spPr>
          <a:xfrm>
            <a:off x="6330928" y="3388363"/>
            <a:ext cx="1673225" cy="24485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90000"/>
              </a:lnSpc>
              <a:buNone/>
            </a:pPr>
            <a:r>
              <a:rPr lang="ru-RU" sz="1600" b="1" cap="none" spc="0" baseline="0" dirty="0">
                <a:solidFill>
                  <a:srgbClr val="FFFFFF"/>
                </a:solidFill>
                <a:latin typeface="Play"/>
                <a:cs typeface="Play"/>
              </a:rPr>
              <a:t>650 000 ₽  ·  22%</a:t>
            </a:r>
            <a:endParaRPr lang="ru-RU" sz="1600"/>
          </a:p>
        </p:txBody>
      </p:sp>
      <p:sp>
        <p:nvSpPr>
          <p:cNvPr id="715" name="Swatch 715"/>
          <p:cNvSpPr/>
          <p:nvPr/>
        </p:nvSpPr>
        <p:spPr>
          <a:xfrm>
            <a:off x="3340617" y="3771395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8AC0FF"/>
          </a:solidFill>
          <a:ln>
            <a:noFill/>
          </a:ln>
        </p:spPr>
      </p:sp>
      <p:sp>
        <p:nvSpPr>
          <p:cNvPr id="716" name="Legend 716"/>
          <p:cNvSpPr txBox="1"/>
          <p:nvPr/>
        </p:nvSpPr>
        <p:spPr>
          <a:xfrm>
            <a:off x="3603964" y="3734819"/>
            <a:ext cx="2726964" cy="46431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16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Мебель и обустройство</a:t>
            </a:r>
            <a:endParaRPr lang="ru-RU" sz="1600"/>
          </a:p>
          <a:p>
            <a:pPr algn="l" marL="0" indent="0">
              <a:lnSpc>
                <a:spcPct val="90000"/>
              </a:lnSpc>
              <a:buNone/>
            </a:pPr>
            <a:r>
              <a:rPr lang="ru-RU" sz="16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раздевалок</a:t>
            </a:r>
            <a:endParaRPr lang="ru-RU" sz="1600"/>
          </a:p>
        </p:txBody>
      </p:sp>
      <p:sp>
        <p:nvSpPr>
          <p:cNvPr id="717" name="Share 717"/>
          <p:cNvSpPr txBox="1"/>
          <p:nvPr/>
        </p:nvSpPr>
        <p:spPr>
          <a:xfrm>
            <a:off x="6330928" y="3734819"/>
            <a:ext cx="1673225" cy="24485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90000"/>
              </a:lnSpc>
              <a:buNone/>
            </a:pPr>
            <a:r>
              <a:rPr lang="ru-RU" sz="1600" b="1" cap="none" spc="0" baseline="0" dirty="0">
                <a:solidFill>
                  <a:srgbClr val="FFFFFF"/>
                </a:solidFill>
                <a:latin typeface="Play"/>
                <a:cs typeface="Play"/>
              </a:rPr>
              <a:t>300 000 ₽  ·  10%</a:t>
            </a:r>
            <a:endParaRPr lang="ru-RU" sz="1600"/>
          </a:p>
        </p:txBody>
      </p:sp>
      <p:sp>
        <p:nvSpPr>
          <p:cNvPr id="718" name="Swatch 718"/>
          <p:cNvSpPr/>
          <p:nvPr/>
        </p:nvSpPr>
        <p:spPr>
          <a:xfrm>
            <a:off x="3340617" y="4337307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B8D9FF"/>
          </a:solidFill>
          <a:ln>
            <a:noFill/>
          </a:ln>
        </p:spPr>
      </p:sp>
      <p:sp>
        <p:nvSpPr>
          <p:cNvPr id="719" name="Legend 719"/>
          <p:cNvSpPr txBox="1"/>
          <p:nvPr/>
        </p:nvSpPr>
        <p:spPr>
          <a:xfrm>
            <a:off x="3603964" y="4300731"/>
            <a:ext cx="2726964" cy="46431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16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Обеспечительный платеж</a:t>
            </a:r>
            <a:endParaRPr lang="ru-RU" sz="1600"/>
          </a:p>
          <a:p>
            <a:pPr algn="l" marL="0" indent="0">
              <a:lnSpc>
                <a:spcPct val="90000"/>
              </a:lnSpc>
              <a:buNone/>
            </a:pPr>
            <a:r>
              <a:rPr lang="ru-RU" sz="16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по аренде</a:t>
            </a:r>
            <a:endParaRPr lang="ru-RU" sz="1600"/>
          </a:p>
        </p:txBody>
      </p:sp>
      <p:sp>
        <p:nvSpPr>
          <p:cNvPr id="720" name="Share 720"/>
          <p:cNvSpPr txBox="1"/>
          <p:nvPr/>
        </p:nvSpPr>
        <p:spPr>
          <a:xfrm>
            <a:off x="6330928" y="4300731"/>
            <a:ext cx="1673225" cy="24485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90000"/>
              </a:lnSpc>
              <a:buNone/>
            </a:pPr>
            <a:r>
              <a:rPr lang="ru-RU" sz="1600" b="1" cap="none" spc="0" baseline="0" dirty="0">
                <a:solidFill>
                  <a:srgbClr val="FFFFFF"/>
                </a:solidFill>
                <a:latin typeface="Play"/>
                <a:cs typeface="Play"/>
              </a:rPr>
              <a:t>180 000 ₽  ·  6%</a:t>
            </a:r>
            <a:endParaRPr lang="ru-RU" sz="1600"/>
          </a:p>
        </p:txBody>
      </p:sp>
      <p:sp>
        <p:nvSpPr>
          <p:cNvPr id="721" name="Swatch 721"/>
          <p:cNvSpPr/>
          <p:nvPr/>
        </p:nvSpPr>
        <p:spPr>
          <a:xfrm>
            <a:off x="3340617" y="4903219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E6F1FF"/>
          </a:solidFill>
          <a:ln>
            <a:noFill/>
          </a:ln>
        </p:spPr>
      </p:sp>
      <p:sp>
        <p:nvSpPr>
          <p:cNvPr id="722" name="Legend 722"/>
          <p:cNvSpPr txBox="1"/>
          <p:nvPr/>
        </p:nvSpPr>
        <p:spPr>
          <a:xfrm>
            <a:off x="3603964" y="4866643"/>
            <a:ext cx="2726964" cy="24485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16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Сайт и система записи</a:t>
            </a:r>
            <a:endParaRPr lang="ru-RU" sz="1600"/>
          </a:p>
        </p:txBody>
      </p:sp>
      <p:sp>
        <p:nvSpPr>
          <p:cNvPr id="723" name="Share 723"/>
          <p:cNvSpPr txBox="1"/>
          <p:nvPr/>
        </p:nvSpPr>
        <p:spPr>
          <a:xfrm>
            <a:off x="6330928" y="4866643"/>
            <a:ext cx="1673225" cy="24485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90000"/>
              </a:lnSpc>
              <a:buNone/>
            </a:pPr>
            <a:r>
              <a:rPr lang="ru-RU" sz="1600" b="1" cap="none" spc="0" baseline="0" dirty="0">
                <a:solidFill>
                  <a:srgbClr val="FFFFFF"/>
                </a:solidFill>
                <a:latin typeface="Play"/>
                <a:cs typeface="Play"/>
              </a:rPr>
              <a:t>120 000 ₽  ·  4%</a:t>
            </a:r>
            <a:endParaRPr lang="ru-RU" sz="1600"/>
          </a:p>
        </p:txBody>
      </p:sp>
      <p:sp>
        <p:nvSpPr>
          <p:cNvPr id="724" name="Rule 724"/>
          <p:cNvSpPr/>
          <p:nvPr/>
        </p:nvSpPr>
        <p:spPr>
          <a:xfrm>
            <a:off x="8589369" y="1869443"/>
            <a:ext cx="480060" cy="3810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725" name="Figure 725"/>
          <p:cNvSpPr txBox="1"/>
          <p:nvPr/>
        </p:nvSpPr>
        <p:spPr>
          <a:xfrm>
            <a:off x="8589369" y="1916801"/>
            <a:ext cx="3173378" cy="78867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5400" b="1" cap="none" spc="0" baseline="0" dirty="0">
                <a:solidFill>
                  <a:srgbClr val="0077FF"/>
                </a:solidFill>
                <a:latin typeface="Play"/>
                <a:cs typeface="Play"/>
              </a:rPr>
              <a:t>850 000</a:t>
            </a:r>
            <a:r>
              <a:rPr lang="ru-RU" sz="2800" b="1" cap="none" spc="0" baseline="0" dirty="0">
                <a:solidFill>
                  <a:srgbClr val="0077FF"/>
                </a:solidFill>
                <a:latin typeface="Play"/>
                <a:cs typeface="Play"/>
              </a:rPr>
              <a:t> ₽</a:t>
            </a:r>
            <a:endParaRPr lang="ru-RU" sz="5400"/>
          </a:p>
        </p:txBody>
      </p:sp>
      <p:sp>
        <p:nvSpPr>
          <p:cNvPr id="726" name="Label 726"/>
          <p:cNvSpPr txBox="1"/>
          <p:nvPr/>
        </p:nvSpPr>
        <p:spPr>
          <a:xfrm>
            <a:off x="8589369" y="2767193"/>
            <a:ext cx="3173378" cy="8483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Еще 850 000 рублей составят оборотный резерв</a:t>
            </a:r>
            <a:endParaRPr lang="ru-RU" sz="20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3" name="Google Shape;703;p32"/>
          <p:cNvSpPr txBox="1"/>
          <p:nvPr>
            <p:ph type="title"/>
          </p:nvPr>
        </p:nvSpPr>
        <p:spPr>
          <a:xfrm>
            <a:off x="429253" y="424691"/>
            <a:ext cx="8893991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>При 250 клиентах ожидается операционная прибыль 224 375 рублей</a:t>
            </a:r>
            <a:endParaRPr/>
          </a:p>
        </p:txBody>
      </p:sp>
      <p:graphicFrame>
        <p:nvGraphicFramePr>
          <p:cNvPr id="704" name="Chart 703"/>
          <p:cNvGraphicFramePr>
            <a:graphicFrameLocks noGrp="1"/>
          </p:cNvGraphicFramePr>
          <p:nvPr/>
        </p:nvGraphicFramePr>
        <p:xfrm>
          <a:off x="429253" y="1869443"/>
          <a:ext cx="7574900" cy="332502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05" name="Rule 705"/>
          <p:cNvSpPr/>
          <p:nvPr/>
        </p:nvSpPr>
        <p:spPr>
          <a:xfrm>
            <a:off x="8589369" y="1869443"/>
            <a:ext cx="480060" cy="3810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706" name="Figure 706"/>
          <p:cNvSpPr txBox="1"/>
          <p:nvPr/>
        </p:nvSpPr>
        <p:spPr>
          <a:xfrm>
            <a:off x="8535013" y="1832105"/>
            <a:ext cx="3227734" cy="11684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8000" b="1" cap="none" spc="0" baseline="0" dirty="0">
                <a:solidFill>
                  <a:srgbClr val="0077FF"/>
                </a:solidFill>
                <a:latin typeface="Play"/>
                <a:cs typeface="Play"/>
              </a:rPr>
              <a:t>17,8%</a:t>
            </a:r>
            <a:endParaRPr lang="ru-RU" sz="8000"/>
          </a:p>
        </p:txBody>
      </p:sp>
      <p:sp>
        <p:nvSpPr>
          <p:cNvPr id="707" name="Label 707"/>
          <p:cNvSpPr txBox="1"/>
          <p:nvPr/>
        </p:nvSpPr>
        <p:spPr>
          <a:xfrm>
            <a:off x="8589369" y="3062227"/>
            <a:ext cx="3173378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Рентабельность</a:t>
            </a:r>
            <a:endParaRPr lang="ru-RU" sz="2000"/>
          </a:p>
        </p:txBody>
      </p:sp>
      <p:sp>
        <p:nvSpPr>
          <p:cNvPr id="708" name="Chart note 708"/>
          <p:cNvSpPr txBox="1"/>
          <p:nvPr/>
        </p:nvSpPr>
        <p:spPr>
          <a:xfrm>
            <a:off x="8589369" y="3598547"/>
            <a:ext cx="3173378" cy="167335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223520" indent="-223520">
              <a:lnSpc>
                <a:spcPct val="90000"/>
              </a:lnSpc>
              <a:spcAft>
                <a:spcPts val="880"/>
              </a:spcAft>
              <a:buClr>
                <a:srgbClr val="0077FF"/>
              </a:buClr>
              <a:buFont typeface="Arial"/>
              <a:buChar char="•"/>
            </a:pPr>
            <a:r>
              <a:rPr lang="ru-RU" sz="16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При 250 активных клиентах и средней выручке 5 050 рублей на клиента</a:t>
            </a:r>
            <a:endParaRPr lang="ru-RU" sz="1600"/>
          </a:p>
          <a:p>
            <a:pPr algn="l" marL="223520" indent="-223520">
              <a:lnSpc>
                <a:spcPct val="90000"/>
              </a:lnSpc>
              <a:spcAft>
                <a:spcPts val="880"/>
              </a:spcAft>
              <a:buClr>
                <a:srgbClr val="0077FF"/>
              </a:buClr>
              <a:buFont typeface="Arial"/>
              <a:buChar char="•"/>
            </a:pPr>
            <a:r>
              <a:rPr lang="ru-RU" sz="16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Постоянные расходы — 975 000 рублей, переменные — 5% от выручки — 63 125 рублей</a:t>
            </a:r>
            <a:endParaRPr lang="ru-RU" sz="1600"/>
          </a:p>
        </p:txBody>
      </p:sp>
      <p:sp>
        <p:nvSpPr>
          <p:cNvPr id="709" name="Footnote 709"/>
          <p:cNvSpPr txBox="1"/>
          <p:nvPr/>
        </p:nvSpPr>
        <p:spPr>
          <a:xfrm>
            <a:off x="429253" y="5730494"/>
            <a:ext cx="11333494" cy="18999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1200" b="0" cap="none" spc="0" baseline="0" dirty="0">
                <a:solidFill>
                  <a:srgbClr val="AFB8C2"/>
                </a:solidFill>
                <a:latin typeface="Play"/>
                <a:cs typeface="Play"/>
              </a:rPr>
              <a:t>Налоги, амортизация и проценты по кредитам не учтены</a:t>
            </a:r>
            <a:endParaRPr lang="ru-RU" sz="12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3" name="Google Shape;703;p32"/>
          <p:cNvSpPr txBox="1"/>
          <p:nvPr>
            <p:ph type="title"/>
          </p:nvPr>
        </p:nvSpPr>
        <p:spPr>
          <a:xfrm>
            <a:off x="429253" y="424691"/>
            <a:ext cx="9819467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>Студия окупится к пятому месяцу</a:t>
            </a:r>
            <a:endParaRPr/>
          </a:p>
        </p:txBody>
      </p:sp>
      <p:sp>
        <p:nvSpPr>
          <p:cNvPr id="704" name="Chart title 704"/>
          <p:cNvSpPr txBox="1"/>
          <p:nvPr/>
        </p:nvSpPr>
        <p:spPr>
          <a:xfrm>
            <a:off x="429253" y="1375667"/>
            <a:ext cx="5300987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Рост активных клиентов, человек</a:t>
            </a:r>
            <a:endParaRPr lang="ru-RU" sz="2000"/>
          </a:p>
        </p:txBody>
      </p:sp>
      <p:graphicFrame>
        <p:nvGraphicFramePr>
          <p:cNvPr id="705" name="Chart 704"/>
          <p:cNvGraphicFramePr>
            <a:graphicFrameLocks noGrp="1"/>
          </p:cNvGraphicFramePr>
          <p:nvPr/>
        </p:nvGraphicFramePr>
        <p:xfrm>
          <a:off x="429253" y="1798831"/>
          <a:ext cx="5300987" cy="326008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06" name="Chart title 706"/>
          <p:cNvSpPr txBox="1"/>
          <p:nvPr/>
        </p:nvSpPr>
        <p:spPr>
          <a:xfrm>
            <a:off x="6461760" y="1375667"/>
            <a:ext cx="5300987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Операционный результат</a:t>
            </a:r>
            <a:endParaRPr lang="ru-RU" sz="2000"/>
          </a:p>
        </p:txBody>
      </p:sp>
      <p:graphicFrame>
        <p:nvGraphicFramePr>
          <p:cNvPr id="707" name="Chart 706"/>
          <p:cNvGraphicFramePr>
            <a:graphicFrameLocks noGrp="1"/>
          </p:cNvGraphicFramePr>
          <p:nvPr/>
        </p:nvGraphicFramePr>
        <p:xfrm>
          <a:off x="6461760" y="1798831"/>
          <a:ext cx="5300987" cy="3260087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08" name="Conclusion strip 708"/>
          <p:cNvSpPr/>
          <p:nvPr/>
        </p:nvSpPr>
        <p:spPr>
          <a:xfrm>
            <a:off x="429253" y="5305806"/>
            <a:ext cx="11333494" cy="614680"/>
          </a:xfrm>
          <a:prstGeom prst="roundRect">
            <a:avLst>
              <a:gd fmla="val 24659" name="adj"/>
            </a:avLst>
          </a:prstGeom>
          <a:solidFill>
            <a:srgbClr val="212121"/>
          </a:solidFill>
          <a:ln>
            <a:noFill/>
          </a:ln>
        </p:spPr>
      </p:sp>
      <p:sp>
        <p:nvSpPr>
          <p:cNvPr id="709" name="Conclusion bar 709"/>
          <p:cNvSpPr/>
          <p:nvPr/>
        </p:nvSpPr>
        <p:spPr>
          <a:xfrm>
            <a:off x="683253" y="5493766"/>
            <a:ext cx="41148" cy="23876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710" name="Conclusion 710"/>
          <p:cNvSpPr txBox="1"/>
          <p:nvPr/>
        </p:nvSpPr>
        <p:spPr>
          <a:xfrm>
            <a:off x="927601" y="5463286"/>
            <a:ext cx="10581146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Операционная прибыль станет положительной к пятому месяцу</a:t>
            </a:r>
            <a:endParaRPr lang="ru-RU" sz="20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3" name="Google Shape;703;p32"/>
          <p:cNvSpPr txBox="1"/>
          <p:nvPr>
            <p:ph type="title"/>
          </p:nvPr>
        </p:nvSpPr>
        <p:spPr>
          <a:xfrm>
            <a:off x="429253" y="424691"/>
            <a:ext cx="8922882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>Суммарный операционный убыток за первые четыре месяца — 1 237 388 ₽</a:t>
            </a:r>
            <a:endParaRPr/>
          </a:p>
        </p:txBody>
      </p:sp>
      <p:sp>
        <p:nvSpPr>
          <p:cNvPr id="704" name="Unit 704"/>
          <p:cNvSpPr txBox="1"/>
          <p:nvPr/>
        </p:nvSpPr>
        <p:spPr>
          <a:xfrm>
            <a:off x="429253" y="1869443"/>
            <a:ext cx="7574900" cy="18999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1200" b="0" cap="none" spc="0" baseline="0" dirty="0">
                <a:solidFill>
                  <a:srgbClr val="AFB8C2"/>
                </a:solidFill>
                <a:latin typeface="Play"/>
                <a:cs typeface="Play"/>
              </a:rPr>
              <a:t>Сумма</a:t>
            </a:r>
            <a:endParaRPr lang="ru-RU" sz="1200"/>
          </a:p>
        </p:txBody>
      </p:sp>
      <p:graphicFrame>
        <p:nvGraphicFramePr>
          <p:cNvPr id="705" name="Chart 704"/>
          <p:cNvGraphicFramePr>
            <a:graphicFrameLocks noGrp="1"/>
          </p:cNvGraphicFramePr>
          <p:nvPr/>
        </p:nvGraphicFramePr>
        <p:xfrm>
          <a:off x="429253" y="2121157"/>
          <a:ext cx="7574900" cy="24302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06" name="Rule 706"/>
          <p:cNvSpPr/>
          <p:nvPr/>
        </p:nvSpPr>
        <p:spPr>
          <a:xfrm>
            <a:off x="8589369" y="1869443"/>
            <a:ext cx="480060" cy="3810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707" name="Figure 707"/>
          <p:cNvSpPr txBox="1"/>
          <p:nvPr/>
        </p:nvSpPr>
        <p:spPr>
          <a:xfrm>
            <a:off x="8589369" y="2001498"/>
            <a:ext cx="3173378" cy="40894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800" b="1" cap="none" spc="0" baseline="0" dirty="0">
                <a:solidFill>
                  <a:srgbClr val="0077FF"/>
                </a:solidFill>
                <a:latin typeface="Play"/>
                <a:cs typeface="Play"/>
              </a:rPr>
              <a:t>387 388 ₽</a:t>
            </a:r>
            <a:endParaRPr lang="ru-RU" sz="2800"/>
          </a:p>
        </p:txBody>
      </p:sp>
      <p:sp>
        <p:nvSpPr>
          <p:cNvPr id="708" name="Label 708"/>
          <p:cNvSpPr txBox="1"/>
          <p:nvPr/>
        </p:nvSpPr>
        <p:spPr>
          <a:xfrm>
            <a:off x="8589369" y="2472160"/>
            <a:ext cx="3173378" cy="24485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1600" b="0" cap="none" spc="0" baseline="0" dirty="0">
                <a:solidFill>
                  <a:srgbClr val="AFB8C2"/>
                </a:solidFill>
                <a:latin typeface="Play"/>
                <a:cs typeface="Play"/>
              </a:rPr>
              <a:t>Недостаток оборотных средств</a:t>
            </a:r>
            <a:endParaRPr lang="ru-RU" sz="1600"/>
          </a:p>
        </p:txBody>
      </p:sp>
      <p:sp>
        <p:nvSpPr>
          <p:cNvPr id="709" name="Rule 709"/>
          <p:cNvSpPr/>
          <p:nvPr/>
        </p:nvSpPr>
        <p:spPr>
          <a:xfrm>
            <a:off x="8589369" y="2953616"/>
            <a:ext cx="480060" cy="3810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710" name="Figure 710"/>
          <p:cNvSpPr txBox="1"/>
          <p:nvPr/>
        </p:nvSpPr>
        <p:spPr>
          <a:xfrm>
            <a:off x="8589369" y="3085671"/>
            <a:ext cx="3173378" cy="40894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800" b="1" cap="none" spc="0" baseline="0" dirty="0">
                <a:solidFill>
                  <a:srgbClr val="0077FF"/>
                </a:solidFill>
                <a:latin typeface="Play"/>
                <a:cs typeface="Play"/>
              </a:rPr>
              <a:t>3 387 388 ₽</a:t>
            </a:r>
            <a:endParaRPr lang="ru-RU" sz="2800"/>
          </a:p>
        </p:txBody>
      </p:sp>
      <p:sp>
        <p:nvSpPr>
          <p:cNvPr id="711" name="Label 711"/>
          <p:cNvSpPr txBox="1"/>
          <p:nvPr/>
        </p:nvSpPr>
        <p:spPr>
          <a:xfrm>
            <a:off x="8589369" y="3556333"/>
            <a:ext cx="3173378" cy="46431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1600" b="0" cap="none" spc="0" baseline="0" dirty="0">
                <a:solidFill>
                  <a:srgbClr val="AFB8C2"/>
                </a:solidFill>
                <a:latin typeface="Play"/>
                <a:cs typeface="Play"/>
              </a:rPr>
              <a:t>Общий бюджет проекта нужно увеличить</a:t>
            </a:r>
            <a:endParaRPr lang="ru-RU" sz="1600"/>
          </a:p>
        </p:txBody>
      </p:sp>
      <p:sp>
        <p:nvSpPr>
          <p:cNvPr id="712" name="Chart note 712"/>
          <p:cNvSpPr txBox="1"/>
          <p:nvPr/>
        </p:nvSpPr>
        <p:spPr>
          <a:xfrm>
            <a:off x="8589369" y="4257245"/>
            <a:ext cx="3173378" cy="46431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spcAft>
                <a:spcPts val="880"/>
              </a:spcAft>
              <a:buNone/>
            </a:pPr>
            <a:r>
              <a:rPr lang="ru-RU" sz="16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Или сократить затраты до запуска</a:t>
            </a:r>
            <a:endParaRPr lang="ru-RU" sz="1600"/>
          </a:p>
        </p:txBody>
      </p:sp>
      <p:sp>
        <p:nvSpPr>
          <p:cNvPr id="713" name="Conclusion strip 713"/>
          <p:cNvSpPr/>
          <p:nvPr/>
        </p:nvSpPr>
        <p:spPr>
          <a:xfrm>
            <a:off x="429253" y="5009593"/>
            <a:ext cx="11333494" cy="889000"/>
          </a:xfrm>
          <a:prstGeom prst="roundRect">
            <a:avLst>
              <a:gd fmla="val 17049" name="adj"/>
            </a:avLst>
          </a:prstGeom>
          <a:solidFill>
            <a:srgbClr val="212121"/>
          </a:solidFill>
          <a:ln>
            <a:noFill/>
          </a:ln>
        </p:spPr>
      </p:sp>
      <p:sp>
        <p:nvSpPr>
          <p:cNvPr id="714" name="Conclusion bar 714"/>
          <p:cNvSpPr/>
          <p:nvPr/>
        </p:nvSpPr>
        <p:spPr>
          <a:xfrm>
            <a:off x="683253" y="5197553"/>
            <a:ext cx="41148" cy="51308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715" name="Conclusion 715"/>
          <p:cNvSpPr txBox="1"/>
          <p:nvPr/>
        </p:nvSpPr>
        <p:spPr>
          <a:xfrm>
            <a:off x="927601" y="5167073"/>
            <a:ext cx="10581146" cy="5740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Проект может выйти на операционную прибыль к пятому месяцу, но для запуска необходимо заранее закрыть недостаток оборотных средств</a:t>
            </a:r>
            <a:endParaRPr lang="ru-RU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Контентные">
  <a:themeElements>
    <a:clrScheme name="VK Tech 2024">
      <a:dk1>
        <a:srgbClr val="000000"/>
      </a:dk1>
      <a:lt1>
        <a:srgbClr val="FFFFFF"/>
      </a:lt1>
      <a:dk2>
        <a:srgbClr val="0077FF"/>
      </a:dk2>
      <a:lt2>
        <a:srgbClr val="FFFFFF"/>
      </a:lt2>
      <a:accent1>
        <a:srgbClr val="0077FF"/>
      </a:accent1>
      <a:accent2>
        <a:srgbClr val="00E9FF"/>
      </a:accent2>
      <a:accent3>
        <a:srgbClr val="AAFBFF"/>
      </a:accent3>
      <a:accent4>
        <a:srgbClr val="EDF3FC"/>
      </a:accent4>
      <a:accent5>
        <a:srgbClr val="7C8A9A"/>
      </a:accent5>
      <a:accent6>
        <a:srgbClr val="202020"/>
      </a:accent6>
      <a:hlink>
        <a:srgbClr val="0077FF"/>
      </a:hlink>
      <a:folHlink>
        <a:srgbClr val="00E9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