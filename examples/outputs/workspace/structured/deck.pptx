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507"/>
          <c:y val="0.0132"/>
          <c:w val="0.5422"/>
          <c:h val="0.973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4594"/>
            </a:solidFill>
            <a:ln>
              <a:noFill/>
            </a:ln>
          </c:spPr>
          <c:invertIfNegative val="0"/>
          <c:dPt>
            <c:idx val="3"/>
            <c:spPr>
              <a:solidFill>
                <a:srgbClr val="0077FF"/>
              </a:solidFill>
              <a:ln>
                <a:noFill/>
              </a:ln>
            </c:spPr>
          </c:dPt>
          <c:dLbls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0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Жители района</c:v>
                </c:pt>
                <c:pt idx="1">
                  <c:v>Выбранная возрастная аудитория</c:v>
                </c:pt>
                <c:pt idx="2">
                  <c:v>Потенциально заинтересованные</c:v>
                </c:pt>
                <c:pt idx="3">
                  <c:v>Целевое количество клиентов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18000.0</c:v>
                </c:pt>
                <c:pt idx="1">
                  <c:v>8000.0</c:v>
                </c:pt>
                <c:pt idx="2">
                  <c:v>1200.0</c:v>
                </c:pt>
                <c:pt idx="3">
                  <c:v>250.0</c:v>
                </c:pt>
              </c:numCache>
            </c:numRef>
          </c:val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8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19"/>
          <c:y val="0.0219"/>
          <c:w val="0.9563"/>
          <c:h val="0.956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3895FF"/>
              </a:solidFill>
              <a:ln w="1905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70B3FF"/>
              </a:solidFill>
              <a:ln w="1905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ADD3FF"/>
              </a:solidFill>
              <a:ln w="19050">
                <a:solidFill>
                  <a:srgbClr val="000000"/>
                </a:solidFill>
              </a:ln>
            </c:spPr>
          </c:dPt>
          <c:dPt>
            <c:idx val="4"/>
            <c:spPr>
              <a:solidFill>
                <a:srgbClr val="E6F1FF"/>
              </a:solidFill>
              <a:ln w="19050">
                <a:solidFill>
                  <a:srgbClr val="000000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Близость к дому</c:v>
                </c:pt>
                <c:pt idx="1">
                  <c:v>Расписание</c:v>
                </c:pt>
                <c:pt idx="2">
                  <c:v>Стоимость</c:v>
                </c:pt>
                <c:pt idx="3">
                  <c:v>Тренеры</c:v>
                </c:pt>
                <c:pt idx="4">
                  <c:v>Атмосфера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35.0</c:v>
                </c:pt>
                <c:pt idx="1">
                  <c:v>25.0</c:v>
                </c:pt>
                <c:pt idx="2">
                  <c:v>20.0</c:v>
                </c:pt>
                <c:pt idx="3">
                  <c:v>12.5</c:v>
                </c:pt>
                <c:pt idx="4">
                  <c:v>7.5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1"/>
          <c:y val="0.1386"/>
          <c:w val="0.9978"/>
          <c:h val="0.744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Месячная вместимость</c:v>
                </c:pt>
                <c:pt idx="1">
                  <c:v>Ожидаемые посещения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2700.0</c:v>
                </c:pt>
                <c:pt idx="1">
                  <c:v>2000.0</c:v>
                </c:pt>
              </c:numCache>
            </c:numRef>
          </c:val>
        </c:ser>
        <c:dLbls>
          <c:numFmt formatCode="#,##0&quot; посещений&quot;;&quot;−&quot;#,##0&quot; посещений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70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42"/>
          <c:y val="0.0242"/>
          <c:w val="0.9516"/>
          <c:h val="0.951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Команда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4DA0FF"/>
              </a:solidFill>
              <a:ln w="1905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99C9FF"/>
              </a:solidFill>
              <a:ln w="1905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E6F1FF"/>
              </a:solidFill>
              <a:ln w="19050">
                <a:solidFill>
                  <a:srgbClr val="000000"/>
                </a:solidFill>
              </a:ln>
            </c:spP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Оплата работы тренеров</c:v>
                </c:pt>
                <c:pt idx="1">
                  <c:v>Администраторов</c:v>
                </c:pt>
                <c:pt idx="2">
                  <c:v>Уборки</c:v>
                </c:pt>
                <c:pt idx="3">
                  <c:v>Резерв на замены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260000.0</c:v>
                </c:pt>
                <c:pt idx="1">
                  <c:v>110000.0</c:v>
                </c:pt>
                <c:pt idx="2">
                  <c:v>30000.0</c:v>
                </c:pt>
                <c:pt idx="3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358"/>
          <c:y val="0.0116"/>
          <c:w val="0.6347"/>
          <c:h val="0.97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Реклама в соцсетях</c:v>
                </c:pt>
                <c:pt idx="1">
                  <c:v>Районные сообщества</c:v>
                </c:pt>
                <c:pt idx="2">
                  <c:v>Партнерства</c:v>
                </c:pt>
                <c:pt idx="3">
                  <c:v>Мероприятия</c:v>
                </c:pt>
                <c:pt idx="4">
                  <c:v>Печатные материалы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90000.0</c:v>
                </c:pt>
                <c:pt idx="1">
                  <c:v>60000.0</c:v>
                </c:pt>
                <c:pt idx="2">
                  <c:v>40000.0</c:v>
                </c:pt>
                <c:pt idx="3">
                  <c:v>30000.0</c:v>
                </c:pt>
                <c:pt idx="4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90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312"/>
          <c:y val="0.0312"/>
          <c:w val="0.9377"/>
          <c:h val="0.937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Вложения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2E8FFF"/>
              </a:solidFill>
              <a:ln w="1905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5CA8FF"/>
              </a:solidFill>
              <a:ln w="1905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8AC0FF"/>
              </a:solidFill>
              <a:ln w="19050">
                <a:solidFill>
                  <a:srgbClr val="000000"/>
                </a:solidFill>
              </a:ln>
            </c:spPr>
          </c:dPt>
          <c:dPt>
            <c:idx val="4"/>
            <c:spPr>
              <a:solidFill>
                <a:srgbClr val="B8D9FF"/>
              </a:solidFill>
              <a:ln w="19050">
                <a:solidFill>
                  <a:srgbClr val="000000"/>
                </a:solidFill>
              </a:ln>
            </c:spPr>
          </c:dPt>
          <c:dPt>
            <c:idx val="5"/>
            <c:spPr>
              <a:solidFill>
                <a:srgbClr val="E6F1FF"/>
              </a:solidFill>
              <a:ln w="19050">
                <a:solidFill>
                  <a:srgbClr val="000000"/>
                </a:solidFill>
              </a:ln>
            </c:spP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Ремонт и подготовка помещения</c:v>
                </c:pt>
                <c:pt idx="1">
                  <c:v>Оборотный резерв</c:v>
                </c:pt>
                <c:pt idx="2">
                  <c:v>Оборудование и инвентарь</c:v>
                </c:pt>
                <c:pt idx="3">
                  <c:v>Мебель и обустройство раздевалок</c:v>
                </c:pt>
                <c:pt idx="4">
                  <c:v>Обеспечительный платеж по аренде</c:v>
                </c:pt>
                <c:pt idx="5">
                  <c:v>Сайт и система записи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900000.0</c:v>
                </c:pt>
                <c:pt idx="1">
                  <c:v>850000.0</c:v>
                </c:pt>
                <c:pt idx="2">
                  <c:v>650000.0</c:v>
                </c:pt>
                <c:pt idx="3">
                  <c:v>300000.0</c:v>
                </c:pt>
                <c:pt idx="4">
                  <c:v>180000.0</c:v>
                </c:pt>
                <c:pt idx="5">
                  <c:v>120000.0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509"/>
          <c:y val="0.0175"/>
          <c:w val="0.5807"/>
          <c:h val="0.964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Значения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Выручка</c:v>
                </c:pt>
                <c:pt idx="1">
                  <c:v>Расходы</c:v>
                </c:pt>
                <c:pt idx="2">
                  <c:v>Операционная прибыль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1262500.0</c:v>
                </c:pt>
                <c:pt idx="1">
                  <c:v>1038125.0</c:v>
                </c:pt>
                <c:pt idx="2">
                  <c:v>224375.0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625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24"/>
          <c:y val="0.1363"/>
          <c:w val="0.9952"/>
          <c:h val="0.77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Активные клиенты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000000"/>
                  </a:solidFill>
                </a:ln>
              </c:spPr>
            </c:marker>
          </c:dPt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484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484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0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месяц</c:v>
                </c:pt>
                <c:pt idx="1">
                  <c:v>2-й месяц</c:v>
                </c:pt>
                <c:pt idx="2">
                  <c:v>3-й месяц</c:v>
                </c:pt>
                <c:pt idx="3">
                  <c:v>4-й месяц</c:v>
                </c:pt>
                <c:pt idx="4">
                  <c:v>5-й месяц</c:v>
                </c:pt>
                <c:pt idx="5">
                  <c:v>6-й месяц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80.0</c:v>
                </c:pt>
                <c:pt idx="1">
                  <c:v>120.0</c:v>
                </c:pt>
                <c:pt idx="2">
                  <c:v>160.0</c:v>
                </c:pt>
                <c:pt idx="3">
                  <c:v>195.0</c:v>
                </c:pt>
                <c:pt idx="4">
                  <c:v>225.0</c:v>
                </c:pt>
                <c:pt idx="5">
                  <c:v>250.0</c:v>
                </c:pt>
              </c:numCache>
            </c:numRef>
          </c:val>
          <c:smooth val="0"/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5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71"/>
          <c:y val="0.1120"/>
          <c:w val="0.9858"/>
          <c:h val="0.801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Операционный результат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000000"/>
                  </a:solidFill>
                </a:ln>
              </c:spPr>
            </c:marke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90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90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0.081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0.0823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5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месяц</c:v>
                </c:pt>
                <c:pt idx="1">
                  <c:v>2-й месяц</c:v>
                </c:pt>
                <c:pt idx="2">
                  <c:v>3-й месяц</c:v>
                </c:pt>
                <c:pt idx="3">
                  <c:v>4-й месяц</c:v>
                </c:pt>
                <c:pt idx="4">
                  <c:v>5-й месяц</c:v>
                </c:pt>
                <c:pt idx="5">
                  <c:v>6-й месяц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-591200.0</c:v>
                </c:pt>
                <c:pt idx="1">
                  <c:v>-399300.0</c:v>
                </c:pt>
                <c:pt idx="2">
                  <c:v>-207400.0</c:v>
                </c:pt>
                <c:pt idx="3">
                  <c:v>-39487.5</c:v>
                </c:pt>
                <c:pt idx="4">
                  <c:v>104437.5</c:v>
                </c:pt>
                <c:pt idx="5">
                  <c:v>224375.0</c:v>
                </c:pt>
              </c:numCache>
            </c:numRef>
          </c:val>
          <c:smooth val="0"/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24375.0"/>
          <c:min val="-795093.75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096"/>
          <c:y val="0.0188"/>
          <c:w val="0.5219"/>
          <c:h val="0.962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Сумма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Имеющийся резерв</c:v>
                </c:pt>
                <c:pt idx="1">
                  <c:v>Прогнозируемая потребность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850000.0</c:v>
                </c:pt>
                <c:pt idx="1">
                  <c:v>1237388.0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1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37388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Фитнес-студия «Движение» предназначена для групповых тренировок вблизи жилья. Основные направления включают силовые занятия, растяжку, йогу и функциональные тренировки. Цель проекта — привлечь 250 постоянных клиентов и выйти на ежемесячную операционную прибыль 225 000 рублей к шестому месяцу работы.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районе проживает 18 000 человек. Из них 8 000 относятся к возрастной группе от 23 до 45 лет. Для достижения цели необходимо привлечь 21% этой аудитории — 250 человек.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Данные основаны на опросе 200 жителей района. Каждый участник указал один основной критерий выбора фитнес-студии.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Средняя выручка на клиента рассчитана на основе ожидаемого распределения покупателей абонементов: 25% выберут четыре занятия, 50% — восемь занятий, 25% — двенадцать занятий.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Месячная вместимость студии составляет 2 700 посещений, а ожидаемое количество посещений — 2 000. Это означает, что загрузка студии составит около 74%.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Общая площадь студии — 180 м². Тренировочный зал занимает 100 м², что составляет больше половины площади. Остальные зоны включают раздевалки и душевые (35 м²), зону ресепшена и ожидания (25 м²), подсобные помещения (20 м²).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Для запуска потребуются четыре тренера, два администратора, работающих посменно, и специалист по уборке на частичной занятости. Управление студией на первом этапе возьмет на себя владелец. Месячный бюджет команды — 420 000 рублей: оплата работы тренеров — 260 000 рублей, администраторов — 110 000 рублей, уборки — 30 000 рублей, резерв на замены — 20 000 рублей. Это совокупный бюджет с учетом предусмотренных начислений. Отдельная зарплата владельца в модель не включена.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Бюджет на продвижение — 240 000 ₽. План привлечения клиентов включает 1 000 обращений и 175 проданных абонементов. Средняя стоимость привлечения покупателя — 1 371 ₽.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Стартовый бюджет проекта — 3 000 000 рублей. На ремонт и подготовку помещения приходится 900 000 рублей.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 250 активных клиентах и средней месячной выручке на клиента 5 050 рублей студия получит 1 262 500 рублей выручки. Постоянные ежемесячные расходы составят 975 000 рублей, переменные — 5% от выручки, или 63 125 рублей. Общие расходы — 1 038 125 рублей. Операционная прибыль — 224 375 рублей, рентабельность — 17,8%. Налоги, амортизация и проценты по кредитам не учтены.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Прогноз показывает, что операционный результат станет плюсовым в пятом месяце, когда выручка достигнет 1 136 250, а расходы останутся на уровне 975 000 ₽ плюс 5% от выручки.</a:t>
            </a:r>
          </a:p>
          <a:p>
            <a:r>
              <a:t>[verstka:sl12]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Суммарный операционный убыток за первые четыре месяца составит около 1 237 388 рублей. Имеющийся резерв — 850 000 рублей — недостаточен, поэтому потребность в финансировании — не менее 387 388 рублей.</a:t>
            </a:r>
          </a:p>
          <a:p>
            <a:r>
              <a:t>[verstka:sl13]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41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43846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Фитнес-⁠студия «Движение»: 250 клиентов и 225 000 ₽ прибыли к 6-⁠му месяцу</a:t>
            </a:r>
            <a:endParaRPr/>
          </a:p>
        </p:txBody>
      </p:sp>
      <p:sp>
        <p:nvSpPr>
          <p:cNvPr id="704" name="Card 704"/>
          <p:cNvSpPr/>
          <p:nvPr/>
        </p:nvSpPr>
        <p:spPr>
          <a:xfrm>
            <a:off x="429253" y="1869443"/>
            <a:ext cx="3582759" cy="3040737"/>
          </a:xfrm>
          <a:prstGeom prst="roundRect">
            <a:avLst>
              <a:gd fmla="val 4984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5" name="Index 705"/>
          <p:cNvSpPr txBox="1"/>
          <p:nvPr/>
        </p:nvSpPr>
        <p:spPr>
          <a:xfrm>
            <a:off x="733787" y="2173977"/>
            <a:ext cx="2973691" cy="4389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2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3200"/>
          </a:p>
        </p:txBody>
      </p:sp>
      <p:sp>
        <p:nvSpPr>
          <p:cNvPr id="706" name="Card text 706"/>
          <p:cNvSpPr txBox="1"/>
          <p:nvPr/>
        </p:nvSpPr>
        <p:spPr>
          <a:xfrm>
            <a:off x="733787" y="2684898"/>
            <a:ext cx="2973691" cy="19207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1100"/>
              </a:spcAft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Основные направления</a:t>
            </a:r>
            <a:endParaRPr lang="ru-RU" sz="2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Силовые занятия, растяжка, йога, функциональные тренировки</a:t>
            </a:r>
            <a:endParaRPr lang="ru-RU" sz="2000"/>
          </a:p>
        </p:txBody>
      </p:sp>
      <p:sp>
        <p:nvSpPr>
          <p:cNvPr id="707" name="Card 707"/>
          <p:cNvSpPr/>
          <p:nvPr/>
        </p:nvSpPr>
        <p:spPr>
          <a:xfrm>
            <a:off x="4304620" y="1869443"/>
            <a:ext cx="3582759" cy="3040737"/>
          </a:xfrm>
          <a:prstGeom prst="roundRect">
            <a:avLst>
              <a:gd fmla="val 4984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8" name="Index 708"/>
          <p:cNvSpPr txBox="1"/>
          <p:nvPr/>
        </p:nvSpPr>
        <p:spPr>
          <a:xfrm>
            <a:off x="4609154" y="2173977"/>
            <a:ext cx="2973691" cy="4389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2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3200"/>
          </a:p>
        </p:txBody>
      </p:sp>
      <p:sp>
        <p:nvSpPr>
          <p:cNvPr id="709" name="Card text 709"/>
          <p:cNvSpPr txBox="1"/>
          <p:nvPr/>
        </p:nvSpPr>
        <p:spPr>
          <a:xfrm>
            <a:off x="4609154" y="2684898"/>
            <a:ext cx="2973691" cy="19207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1100"/>
              </a:spcAft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Площадь и вместимость</a:t>
            </a:r>
            <a:endParaRPr lang="ru-RU" sz="2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180 м², до 12 человек на занятии</a:t>
            </a:r>
            <a:endParaRPr lang="ru-RU" sz="2000"/>
          </a:p>
        </p:txBody>
      </p:sp>
      <p:sp>
        <p:nvSpPr>
          <p:cNvPr id="710" name="Card 710"/>
          <p:cNvSpPr/>
          <p:nvPr/>
        </p:nvSpPr>
        <p:spPr>
          <a:xfrm>
            <a:off x="8179987" y="1869443"/>
            <a:ext cx="3582759" cy="3040737"/>
          </a:xfrm>
          <a:prstGeom prst="roundRect">
            <a:avLst>
              <a:gd fmla="val 4984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11" name="Index 711"/>
          <p:cNvSpPr txBox="1"/>
          <p:nvPr/>
        </p:nvSpPr>
        <p:spPr>
          <a:xfrm>
            <a:off x="8484521" y="2173977"/>
            <a:ext cx="2973691" cy="4389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2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3200"/>
          </a:p>
        </p:txBody>
      </p:sp>
      <p:sp>
        <p:nvSpPr>
          <p:cNvPr id="712" name="Card text 712"/>
          <p:cNvSpPr txBox="1"/>
          <p:nvPr/>
        </p:nvSpPr>
        <p:spPr>
          <a:xfrm>
            <a:off x="8484521" y="2684898"/>
            <a:ext cx="2973691" cy="19207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3692"/>
              </a:spcAft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Цель проекта</a:t>
            </a:r>
            <a:endParaRPr lang="ru-RU" sz="2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250 постоянных клиентов и 225 000 ₽ операционной прибыли к 6-⁠му месяцу</a:t>
            </a:r>
            <a:endParaRPr lang="ru-RU" sz="2000"/>
          </a:p>
        </p:txBody>
      </p:sp>
      <p:sp>
        <p:nvSpPr>
          <p:cNvPr id="713" name="Footnote 713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Все цифры условные и используются для учебного бизнес-⁠плана</a:t>
            </a:r>
            <a:endParaRPr lang="ru-RU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069509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Целевая аудитория — 250 клиентов из 1 200 потенциальных</a:t>
            </a:r>
            <a:endParaRPr/>
          </a:p>
        </p:txBody>
      </p:sp>
      <p:sp>
        <p:nvSpPr>
          <p:cNvPr id="704" name="Unit 704"/>
          <p:cNvSpPr txBox="1"/>
          <p:nvPr/>
        </p:nvSpPr>
        <p:spPr>
          <a:xfrm>
            <a:off x="429253" y="1869443"/>
            <a:ext cx="7253436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Потенциальные клиенты, человек</a:t>
            </a:r>
            <a:endParaRPr lang="ru-RU" sz="12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2121157"/>
          <a:ext cx="7253436" cy="34752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706" name="Line 706"/>
          <p:cNvCxnSpPr/>
          <p:nvPr/>
        </p:nvCxnSpPr>
        <p:spPr>
          <a:xfrm>
            <a:off x="7975297" y="2556550"/>
            <a:ext cx="0" cy="208788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7" name="Takeaway 707"/>
          <p:cNvSpPr txBox="1"/>
          <p:nvPr/>
        </p:nvSpPr>
        <p:spPr>
          <a:xfrm>
            <a:off x="8267905" y="2556550"/>
            <a:ext cx="3494842" cy="20878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15% возрастной группы заинтересованы в занятиях рядом с домом</a:t>
            </a:r>
            <a:endParaRPr lang="ru-RU" sz="2000"/>
          </a:p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Для достижения цели нужно привлечь 21% аудитории</a:t>
            </a:r>
            <a:endParaRPr lang="ru-RU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Близость к дому важна для 35% опрошенных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2098796" y="1375667"/>
          <a:ext cx="4181233" cy="418123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Legend title 705"/>
          <p:cNvSpPr txBox="1"/>
          <p:nvPr/>
        </p:nvSpPr>
        <p:spPr>
          <a:xfrm>
            <a:off x="6865245" y="2224223"/>
            <a:ext cx="3227958" cy="477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Что важно посетителям</a:t>
            </a:r>
            <a:endParaRPr lang="ru-RU" sz="2000"/>
          </a:p>
        </p:txBody>
      </p:sp>
      <p:sp>
        <p:nvSpPr>
          <p:cNvPr id="706" name="Swatch 706"/>
          <p:cNvSpPr/>
          <p:nvPr/>
        </p:nvSpPr>
        <p:spPr>
          <a:xfrm>
            <a:off x="6865245" y="274746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7" name="Legend 707"/>
          <p:cNvSpPr txBox="1"/>
          <p:nvPr/>
        </p:nvSpPr>
        <p:spPr>
          <a:xfrm>
            <a:off x="7194429" y="270174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Близость к дому</a:t>
            </a:r>
            <a:endParaRPr lang="ru-RU" sz="2000"/>
          </a:p>
        </p:txBody>
      </p:sp>
      <p:sp>
        <p:nvSpPr>
          <p:cNvPr id="708" name="Share 708"/>
          <p:cNvSpPr txBox="1"/>
          <p:nvPr/>
        </p:nvSpPr>
        <p:spPr>
          <a:xfrm>
            <a:off x="9243891" y="270174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35%</a:t>
            </a:r>
            <a:endParaRPr lang="ru-RU" sz="2000"/>
          </a:p>
        </p:txBody>
      </p:sp>
      <p:sp>
        <p:nvSpPr>
          <p:cNvPr id="709" name="Swatch 709"/>
          <p:cNvSpPr/>
          <p:nvPr/>
        </p:nvSpPr>
        <p:spPr>
          <a:xfrm>
            <a:off x="6865245" y="317418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895FF"/>
          </a:solidFill>
          <a:ln>
            <a:noFill/>
          </a:ln>
        </p:spPr>
      </p:sp>
      <p:sp>
        <p:nvSpPr>
          <p:cNvPr id="710" name="Legend 710"/>
          <p:cNvSpPr txBox="1"/>
          <p:nvPr/>
        </p:nvSpPr>
        <p:spPr>
          <a:xfrm>
            <a:off x="7194429" y="312846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Расписание</a:t>
            </a:r>
            <a:endParaRPr lang="ru-RU" sz="2000"/>
          </a:p>
        </p:txBody>
      </p:sp>
      <p:sp>
        <p:nvSpPr>
          <p:cNvPr id="711" name="Share 711"/>
          <p:cNvSpPr txBox="1"/>
          <p:nvPr/>
        </p:nvSpPr>
        <p:spPr>
          <a:xfrm>
            <a:off x="9243891" y="312846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25%</a:t>
            </a:r>
            <a:endParaRPr lang="ru-RU" sz="2000"/>
          </a:p>
        </p:txBody>
      </p:sp>
      <p:sp>
        <p:nvSpPr>
          <p:cNvPr id="712" name="Swatch 712"/>
          <p:cNvSpPr/>
          <p:nvPr/>
        </p:nvSpPr>
        <p:spPr>
          <a:xfrm>
            <a:off x="6865245" y="360090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70B3FF"/>
          </a:solidFill>
          <a:ln>
            <a:noFill/>
          </a:ln>
        </p:spPr>
      </p:sp>
      <p:sp>
        <p:nvSpPr>
          <p:cNvPr id="713" name="Legend 713"/>
          <p:cNvSpPr txBox="1"/>
          <p:nvPr/>
        </p:nvSpPr>
        <p:spPr>
          <a:xfrm>
            <a:off x="7194429" y="355518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Стоимость</a:t>
            </a:r>
            <a:endParaRPr lang="ru-RU" sz="2000"/>
          </a:p>
        </p:txBody>
      </p:sp>
      <p:sp>
        <p:nvSpPr>
          <p:cNvPr id="714" name="Share 714"/>
          <p:cNvSpPr txBox="1"/>
          <p:nvPr/>
        </p:nvSpPr>
        <p:spPr>
          <a:xfrm>
            <a:off x="9243891" y="355518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20%</a:t>
            </a:r>
            <a:endParaRPr lang="ru-RU" sz="2000"/>
          </a:p>
        </p:txBody>
      </p:sp>
      <p:sp>
        <p:nvSpPr>
          <p:cNvPr id="715" name="Swatch 715"/>
          <p:cNvSpPr/>
          <p:nvPr/>
        </p:nvSpPr>
        <p:spPr>
          <a:xfrm>
            <a:off x="6865245" y="402762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ADD3FF"/>
          </a:solidFill>
          <a:ln>
            <a:noFill/>
          </a:ln>
        </p:spPr>
      </p:sp>
      <p:sp>
        <p:nvSpPr>
          <p:cNvPr id="716" name="Legend 716"/>
          <p:cNvSpPr txBox="1"/>
          <p:nvPr/>
        </p:nvSpPr>
        <p:spPr>
          <a:xfrm>
            <a:off x="7194429" y="398190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Тренеры</a:t>
            </a:r>
            <a:endParaRPr lang="ru-RU" sz="2000"/>
          </a:p>
        </p:txBody>
      </p:sp>
      <p:sp>
        <p:nvSpPr>
          <p:cNvPr id="717" name="Share 717"/>
          <p:cNvSpPr txBox="1"/>
          <p:nvPr/>
        </p:nvSpPr>
        <p:spPr>
          <a:xfrm>
            <a:off x="9243891" y="398190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12,5%</a:t>
            </a:r>
            <a:endParaRPr lang="ru-RU" sz="2000"/>
          </a:p>
        </p:txBody>
      </p:sp>
      <p:sp>
        <p:nvSpPr>
          <p:cNvPr id="718" name="Swatch 718"/>
          <p:cNvSpPr/>
          <p:nvPr/>
        </p:nvSpPr>
        <p:spPr>
          <a:xfrm>
            <a:off x="6865245" y="445434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19" name="Legend 719"/>
          <p:cNvSpPr txBox="1"/>
          <p:nvPr/>
        </p:nvSpPr>
        <p:spPr>
          <a:xfrm>
            <a:off x="7194429" y="440862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Атмосфера</a:t>
            </a:r>
            <a:endParaRPr lang="ru-RU" sz="2000"/>
          </a:p>
        </p:txBody>
      </p:sp>
      <p:sp>
        <p:nvSpPr>
          <p:cNvPr id="720" name="Share 720"/>
          <p:cNvSpPr txBox="1"/>
          <p:nvPr/>
        </p:nvSpPr>
        <p:spPr>
          <a:xfrm>
            <a:off x="9243891" y="440862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7,5%</a:t>
            </a:r>
            <a:endParaRPr lang="ru-RU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20831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Средняя месячная выручка на клиента — 5 050 ₽</a:t>
            </a:r>
            <a:endParaRPr/>
          </a:p>
        </p:txBody>
      </p:sp>
      <p:graphicFrame>
        <p:nvGraphicFramePr>
          <p:cNvPr id="704" name="Table"/>
          <p:cNvGraphicFramePr>
            <a:graphicFrameLocks noGrp="1"/>
          </p:cNvGraphicFramePr>
          <p:nvPr/>
        </p:nvGraphicFramePr>
        <p:xfrm>
          <a:off x="429253" y="1869443"/>
          <a:ext cx="11333494" cy="255140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112960"/>
                <a:gridCol w="2740178"/>
                <a:gridCol w="2740178"/>
                <a:gridCol w="2740178"/>
              </a:tblGrid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Абонемент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AEE8"/>
                        </a:gs>
                        <a:gs pos="3641">
                          <a:srgbClr val="00AEE8"/>
                        </a:gs>
                        <a:gs pos="100000">
                          <a:srgbClr val="009FEE">
                            <a:alpha val="8983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Цена, ₽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9FEE">
                            <a:alpha val="89831"/>
                          </a:srgbClr>
                        </a:gs>
                        <a:gs pos="100000">
                          <a:srgbClr val="0092F4">
                            <a:alpha val="8054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Количество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92F4">
                            <a:alpha val="80541"/>
                          </a:srgbClr>
                        </a:gs>
                        <a:gs pos="100000">
                          <a:srgbClr val="0084F9">
                            <a:alpha val="7125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Стоимость одного занятия, ₽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84F9">
                            <a:alpha val="71251"/>
                          </a:srgbClr>
                        </a:gs>
                        <a:gs pos="100000">
                          <a:srgbClr val="0077FF">
                            <a:alpha val="61961"/>
                          </a:srgbClr>
                        </a:gs>
                      </a:gsLst>
                      <a:lin ang="0" scaled="0"/>
                    </a:gradFill>
                  </a:tcPr>
                </a:tc>
              </a:tr>
              <a:tr h="6218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Четыре занятия в месяц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3200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4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800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  <a:tr h="6218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Восемь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5200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8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650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  <a:tr h="6218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Двенадцать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6600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12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550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05" name="Conclusion strip 705"/>
          <p:cNvSpPr/>
          <p:nvPr/>
        </p:nvSpPr>
        <p:spPr>
          <a:xfrm>
            <a:off x="429253" y="4708880"/>
            <a:ext cx="11333494" cy="614680"/>
          </a:xfrm>
          <a:prstGeom prst="roundRect">
            <a:avLst>
              <a:gd fmla="val 2465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6" name="Conclusion bar 706"/>
          <p:cNvSpPr/>
          <p:nvPr/>
        </p:nvSpPr>
        <p:spPr>
          <a:xfrm>
            <a:off x="683253" y="4896840"/>
            <a:ext cx="41148" cy="23876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7" name="Conclusion 707"/>
          <p:cNvSpPr txBox="1"/>
          <p:nvPr/>
        </p:nvSpPr>
        <p:spPr>
          <a:xfrm>
            <a:off x="927601" y="4866360"/>
            <a:ext cx="10581146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Разовое посещение обойдется в 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рублей</a:t>
            </a: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, пробная тренировка — в 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500 рублей</a:t>
            </a:r>
            <a:endParaRPr lang="ru-RU" sz="2000"/>
          </a:p>
        </p:txBody>
      </p:sp>
      <p:sp>
        <p:nvSpPr>
          <p:cNvPr id="708" name="Footnote 708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Доход от разовых и пробных посещений в основной финансовый прогноз не включен</a:t>
            </a:r>
            <a:endParaRPr lang="ru-RU"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937279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Месячная вместимость превышает ожидаемые посещения</a:t>
            </a:r>
            <a:endParaRPr/>
          </a:p>
        </p:txBody>
      </p:sp>
      <p:sp>
        <p:nvSpPr>
          <p:cNvPr id="704" name="Unit 704"/>
          <p:cNvSpPr txBox="1"/>
          <p:nvPr/>
        </p:nvSpPr>
        <p:spPr>
          <a:xfrm>
            <a:off x="429253" y="1869443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Месячная вместимость и ожидаемые посещения, посещений</a:t>
            </a:r>
            <a:endParaRPr lang="ru-RU" sz="12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2121157"/>
          <a:ext cx="11333494" cy="236365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6" name="Conclusion strip 706"/>
          <p:cNvSpPr/>
          <p:nvPr/>
        </p:nvSpPr>
        <p:spPr>
          <a:xfrm>
            <a:off x="429253" y="4772848"/>
            <a:ext cx="11333494" cy="614680"/>
          </a:xfrm>
          <a:prstGeom prst="roundRect">
            <a:avLst>
              <a:gd fmla="val 2465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7" name="Conclusion bar 707"/>
          <p:cNvSpPr/>
          <p:nvPr/>
        </p:nvSpPr>
        <p:spPr>
          <a:xfrm>
            <a:off x="683253" y="4960808"/>
            <a:ext cx="41148" cy="23876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8" name="Conclusion 708"/>
          <p:cNvSpPr txBox="1"/>
          <p:nvPr/>
        </p:nvSpPr>
        <p:spPr>
          <a:xfrm>
            <a:off x="927601" y="4930328"/>
            <a:ext cx="10581146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2 700 </a:t>
            </a: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вместимости vs 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2 000 </a:t>
            </a: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посещений</a:t>
            </a:r>
            <a:endParaRPr lang="ru-RU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80389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Тренировочный зал занимает больше половины площади</a:t>
            </a:r>
            <a:endParaRPr/>
          </a:p>
        </p:txBody>
      </p:sp>
      <p:sp>
        <p:nvSpPr>
          <p:cNvPr id="704" name="Место для фото" descr="Фото помещения: место оставлено свободным — вставьте фото в плейсхолдер или через «Формат фигуры → Заливка → Рисунок»"/>
          <p:cNvSpPr/>
          <p:nvPr/>
        </p:nvSpPr>
        <p:spPr>
          <a:xfrm>
            <a:off x="7229350" y="1869443"/>
            <a:ext cx="4533397" cy="3993388"/>
          </a:xfrm>
          <a:prstGeom prst="roundRect">
            <a:avLst>
              <a:gd name="adj" fmla="val 2708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5" name="Figure 705"/>
          <p:cNvSpPr txBox="1"/>
          <p:nvPr/>
        </p:nvSpPr>
        <p:spPr>
          <a:xfrm>
            <a:off x="422395" y="1869443"/>
            <a:ext cx="1504006" cy="52578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100 м²</a:t>
            </a:r>
            <a:endParaRPr lang="ru-RU" sz="3600"/>
          </a:p>
        </p:txBody>
      </p:sp>
      <p:sp>
        <p:nvSpPr>
          <p:cNvPr id="706" name="Label 706"/>
          <p:cNvSpPr txBox="1"/>
          <p:nvPr/>
        </p:nvSpPr>
        <p:spPr>
          <a:xfrm>
            <a:off x="2365313" y="2041109"/>
            <a:ext cx="443731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Тренировочный зал</a:t>
            </a:r>
            <a:endParaRPr lang="ru-RU" sz="2000"/>
          </a:p>
        </p:txBody>
      </p:sp>
      <p:cxnSp>
        <p:nvCxnSpPr>
          <p:cNvPr id="707" name="Line 707"/>
          <p:cNvCxnSpPr/>
          <p:nvPr/>
        </p:nvCxnSpPr>
        <p:spPr>
          <a:xfrm>
            <a:off x="429253" y="2559815"/>
            <a:ext cx="6373377" cy="0"/>
          </a:xfrm>
          <a:prstGeom prst="line">
            <a:avLst/>
          </a:prstGeom>
          <a:ln w="9525">
            <a:solidFill>
              <a:srgbClr val="212121"/>
            </a:solidFill>
          </a:ln>
        </p:spPr>
      </p:cxnSp>
      <p:sp>
        <p:nvSpPr>
          <p:cNvPr id="708" name="Figure 708"/>
          <p:cNvSpPr txBox="1"/>
          <p:nvPr/>
        </p:nvSpPr>
        <p:spPr>
          <a:xfrm>
            <a:off x="429253" y="2724407"/>
            <a:ext cx="1497148" cy="52578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35 м²</a:t>
            </a:r>
            <a:endParaRPr lang="ru-RU" sz="3600"/>
          </a:p>
        </p:txBody>
      </p:sp>
      <p:sp>
        <p:nvSpPr>
          <p:cNvPr id="709" name="Label 709"/>
          <p:cNvSpPr txBox="1"/>
          <p:nvPr/>
        </p:nvSpPr>
        <p:spPr>
          <a:xfrm>
            <a:off x="2365313" y="2896073"/>
            <a:ext cx="443731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Раздевалки и душевые</a:t>
            </a:r>
            <a:endParaRPr lang="ru-RU" sz="2000"/>
          </a:p>
        </p:txBody>
      </p:sp>
      <p:cxnSp>
        <p:nvCxnSpPr>
          <p:cNvPr id="710" name="Line 710"/>
          <p:cNvCxnSpPr/>
          <p:nvPr/>
        </p:nvCxnSpPr>
        <p:spPr>
          <a:xfrm>
            <a:off x="429253" y="3414779"/>
            <a:ext cx="6373377" cy="0"/>
          </a:xfrm>
          <a:prstGeom prst="line">
            <a:avLst/>
          </a:prstGeom>
          <a:ln w="9525">
            <a:solidFill>
              <a:srgbClr val="212121"/>
            </a:solidFill>
          </a:ln>
        </p:spPr>
      </p:cxnSp>
      <p:sp>
        <p:nvSpPr>
          <p:cNvPr id="711" name="Figure 711"/>
          <p:cNvSpPr txBox="1"/>
          <p:nvPr/>
        </p:nvSpPr>
        <p:spPr>
          <a:xfrm>
            <a:off x="429253" y="3579371"/>
            <a:ext cx="1497148" cy="52578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25 м²</a:t>
            </a:r>
            <a:endParaRPr lang="ru-RU" sz="3600"/>
          </a:p>
        </p:txBody>
      </p:sp>
      <p:sp>
        <p:nvSpPr>
          <p:cNvPr id="712" name="Label 712"/>
          <p:cNvSpPr txBox="1"/>
          <p:nvPr/>
        </p:nvSpPr>
        <p:spPr>
          <a:xfrm>
            <a:off x="2365313" y="3751037"/>
            <a:ext cx="443731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Зона ресепшена и ожидания</a:t>
            </a:r>
            <a:endParaRPr lang="ru-RU" sz="2000"/>
          </a:p>
        </p:txBody>
      </p:sp>
      <p:cxnSp>
        <p:nvCxnSpPr>
          <p:cNvPr id="713" name="Line 713"/>
          <p:cNvCxnSpPr/>
          <p:nvPr/>
        </p:nvCxnSpPr>
        <p:spPr>
          <a:xfrm>
            <a:off x="429253" y="4269743"/>
            <a:ext cx="6373377" cy="0"/>
          </a:xfrm>
          <a:prstGeom prst="line">
            <a:avLst/>
          </a:prstGeom>
          <a:ln w="9525">
            <a:solidFill>
              <a:srgbClr val="212121"/>
            </a:solidFill>
          </a:ln>
        </p:spPr>
      </p:cxnSp>
      <p:sp>
        <p:nvSpPr>
          <p:cNvPr id="714" name="Figure 714"/>
          <p:cNvSpPr txBox="1"/>
          <p:nvPr/>
        </p:nvSpPr>
        <p:spPr>
          <a:xfrm>
            <a:off x="429253" y="4434335"/>
            <a:ext cx="1497148" cy="52578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20 м²</a:t>
            </a:r>
            <a:endParaRPr lang="ru-RU" sz="3600"/>
          </a:p>
        </p:txBody>
      </p:sp>
      <p:sp>
        <p:nvSpPr>
          <p:cNvPr id="715" name="Label 715"/>
          <p:cNvSpPr txBox="1"/>
          <p:nvPr/>
        </p:nvSpPr>
        <p:spPr>
          <a:xfrm>
            <a:off x="2365313" y="4606001"/>
            <a:ext cx="443731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Подсобные помещения</a:t>
            </a:r>
            <a:endParaRPr lang="ru-RU" sz="2000"/>
          </a:p>
        </p:txBody>
      </p:sp>
      <p:sp>
        <p:nvSpPr>
          <p:cNvPr id="716" name="Conclusion strip 716"/>
          <p:cNvSpPr/>
          <p:nvPr/>
        </p:nvSpPr>
        <p:spPr>
          <a:xfrm>
            <a:off x="429253" y="5248151"/>
            <a:ext cx="6373377" cy="614680"/>
          </a:xfrm>
          <a:prstGeom prst="roundRect">
            <a:avLst>
              <a:gd fmla="val 2465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17" name="Conclusion bar 717"/>
          <p:cNvSpPr/>
          <p:nvPr/>
        </p:nvSpPr>
        <p:spPr>
          <a:xfrm>
            <a:off x="683253" y="5436111"/>
            <a:ext cx="41148" cy="23876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8" name="Conclusion 718"/>
          <p:cNvSpPr txBox="1"/>
          <p:nvPr/>
        </p:nvSpPr>
        <p:spPr>
          <a:xfrm>
            <a:off x="927601" y="5405631"/>
            <a:ext cx="562102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Тренировочный зал — основная зона студии</a:t>
            </a:r>
            <a:endParaRPr lang="ru-RU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Команда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1148823" y="1375667"/>
          <a:ext cx="3779303" cy="377930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Legend title 705"/>
          <p:cNvSpPr txBox="1"/>
          <p:nvPr/>
        </p:nvSpPr>
        <p:spPr>
          <a:xfrm>
            <a:off x="5513342" y="2099458"/>
            <a:ext cx="5529834" cy="7518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Команда</a:t>
            </a:r>
            <a:endParaRPr lang="ru-RU" sz="20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 · доля от общей суммы</a:t>
            </a:r>
            <a:endParaRPr lang="ru-RU" sz="2000"/>
          </a:p>
        </p:txBody>
      </p:sp>
      <p:sp>
        <p:nvSpPr>
          <p:cNvPr id="706" name="Swatch 706"/>
          <p:cNvSpPr/>
          <p:nvPr/>
        </p:nvSpPr>
        <p:spPr>
          <a:xfrm>
            <a:off x="5513342" y="289701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7" name="Legend 707"/>
          <p:cNvSpPr txBox="1"/>
          <p:nvPr/>
        </p:nvSpPr>
        <p:spPr>
          <a:xfrm>
            <a:off x="5842526" y="285129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Оплата работы тренеров</a:t>
            </a:r>
            <a:endParaRPr lang="ru-RU" sz="2000"/>
          </a:p>
        </p:txBody>
      </p:sp>
      <p:sp>
        <p:nvSpPr>
          <p:cNvPr id="708" name="Share 708"/>
          <p:cNvSpPr txBox="1"/>
          <p:nvPr/>
        </p:nvSpPr>
        <p:spPr>
          <a:xfrm>
            <a:off x="8951645" y="285129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260 000 ₽  ·  62%</a:t>
            </a:r>
            <a:endParaRPr lang="ru-RU" sz="2000"/>
          </a:p>
        </p:txBody>
      </p:sp>
      <p:sp>
        <p:nvSpPr>
          <p:cNvPr id="709" name="Swatch 709"/>
          <p:cNvSpPr/>
          <p:nvPr/>
        </p:nvSpPr>
        <p:spPr>
          <a:xfrm>
            <a:off x="5513342" y="332373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4DA0FF"/>
          </a:solidFill>
          <a:ln>
            <a:noFill/>
          </a:ln>
        </p:spPr>
      </p:sp>
      <p:sp>
        <p:nvSpPr>
          <p:cNvPr id="710" name="Legend 710"/>
          <p:cNvSpPr txBox="1"/>
          <p:nvPr/>
        </p:nvSpPr>
        <p:spPr>
          <a:xfrm>
            <a:off x="5842526" y="327801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Администраторов</a:t>
            </a:r>
            <a:endParaRPr lang="ru-RU" sz="2000"/>
          </a:p>
        </p:txBody>
      </p:sp>
      <p:sp>
        <p:nvSpPr>
          <p:cNvPr id="711" name="Share 711"/>
          <p:cNvSpPr txBox="1"/>
          <p:nvPr/>
        </p:nvSpPr>
        <p:spPr>
          <a:xfrm>
            <a:off x="8951645" y="327801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110 000 ₽  ·  26%</a:t>
            </a:r>
            <a:endParaRPr lang="ru-RU" sz="2000"/>
          </a:p>
        </p:txBody>
      </p:sp>
      <p:sp>
        <p:nvSpPr>
          <p:cNvPr id="712" name="Swatch 712"/>
          <p:cNvSpPr/>
          <p:nvPr/>
        </p:nvSpPr>
        <p:spPr>
          <a:xfrm>
            <a:off x="5513342" y="375045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99C9FF"/>
          </a:solidFill>
          <a:ln>
            <a:noFill/>
          </a:ln>
        </p:spPr>
      </p:sp>
      <p:sp>
        <p:nvSpPr>
          <p:cNvPr id="713" name="Legend 713"/>
          <p:cNvSpPr txBox="1"/>
          <p:nvPr/>
        </p:nvSpPr>
        <p:spPr>
          <a:xfrm>
            <a:off x="5842526" y="370473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Уборки</a:t>
            </a:r>
            <a:endParaRPr lang="ru-RU" sz="2000"/>
          </a:p>
        </p:txBody>
      </p:sp>
      <p:sp>
        <p:nvSpPr>
          <p:cNvPr id="714" name="Share 714"/>
          <p:cNvSpPr txBox="1"/>
          <p:nvPr/>
        </p:nvSpPr>
        <p:spPr>
          <a:xfrm>
            <a:off x="8951645" y="370473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30 000 ₽  ·  7%</a:t>
            </a:r>
            <a:endParaRPr lang="ru-RU" sz="2000"/>
          </a:p>
        </p:txBody>
      </p:sp>
      <p:sp>
        <p:nvSpPr>
          <p:cNvPr id="715" name="Swatch 715"/>
          <p:cNvSpPr/>
          <p:nvPr/>
        </p:nvSpPr>
        <p:spPr>
          <a:xfrm>
            <a:off x="5513342" y="417717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16" name="Legend 716"/>
          <p:cNvSpPr txBox="1"/>
          <p:nvPr/>
        </p:nvSpPr>
        <p:spPr>
          <a:xfrm>
            <a:off x="5842526" y="413145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Резерв на замены</a:t>
            </a:r>
            <a:endParaRPr lang="ru-RU" sz="2000"/>
          </a:p>
        </p:txBody>
      </p:sp>
      <p:sp>
        <p:nvSpPr>
          <p:cNvPr id="717" name="Share 717"/>
          <p:cNvSpPr txBox="1"/>
          <p:nvPr/>
        </p:nvSpPr>
        <p:spPr>
          <a:xfrm>
            <a:off x="8951645" y="413145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20 000 ₽  ·  5%</a:t>
            </a:r>
            <a:endParaRPr lang="ru-RU" sz="2000"/>
          </a:p>
        </p:txBody>
      </p:sp>
      <p:sp>
        <p:nvSpPr>
          <p:cNvPr id="718" name="Footnote 718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Отдельная зарплата владельца в модель не включена</a:t>
            </a:r>
            <a:endParaRPr lang="ru-RU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90 000 ₽ на соцсети — основа продвижения</a:t>
            </a:r>
            <a:endParaRPr/>
          </a:p>
        </p:txBody>
      </p:sp>
      <p:sp>
        <p:nvSpPr>
          <p:cNvPr id="704" name="Unit 704"/>
          <p:cNvSpPr txBox="1"/>
          <p:nvPr/>
        </p:nvSpPr>
        <p:spPr>
          <a:xfrm>
            <a:off x="429253" y="1375667"/>
            <a:ext cx="7253436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Распределение бюджета на продвижение</a:t>
            </a:r>
            <a:endParaRPr lang="ru-RU" sz="12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1627381"/>
          <a:ext cx="7253436" cy="3929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706" name="Line 706"/>
          <p:cNvCxnSpPr/>
          <p:nvPr/>
        </p:nvCxnSpPr>
        <p:spPr>
          <a:xfrm>
            <a:off x="7975297" y="2331607"/>
            <a:ext cx="0" cy="181356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7" name="Takeaway 707"/>
          <p:cNvSpPr txBox="1"/>
          <p:nvPr/>
        </p:nvSpPr>
        <p:spPr>
          <a:xfrm>
            <a:off x="8267905" y="2331607"/>
            <a:ext cx="3494842" cy="1813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План: 1 000 обращений → 500 записей → 350 посещений → 175 покупателей</a:t>
            </a:r>
            <a:endParaRPr lang="ru-RU" sz="2000"/>
          </a:p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Средняя стоимость привлечения — 1 371 ₽</a:t>
            </a:r>
            <a:endParaRPr lang="ru-RU"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347207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Начальный бюджет проекта — 3 000 000 рублей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1233446" y="1869443"/>
          <a:ext cx="2934317" cy="29343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Legend title 705"/>
          <p:cNvSpPr txBox="1"/>
          <p:nvPr/>
        </p:nvSpPr>
        <p:spPr>
          <a:xfrm>
            <a:off x="4752979" y="1894389"/>
            <a:ext cx="6205575" cy="6791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8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Распределение стартового бюджета</a:t>
            </a:r>
            <a:endParaRPr lang="ru-RU" sz="18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8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 · доля от общей суммы</a:t>
            </a:r>
            <a:endParaRPr lang="ru-RU" sz="1800"/>
          </a:p>
        </p:txBody>
      </p:sp>
      <p:sp>
        <p:nvSpPr>
          <p:cNvPr id="706" name="Swatch 706"/>
          <p:cNvSpPr/>
          <p:nvPr/>
        </p:nvSpPr>
        <p:spPr>
          <a:xfrm>
            <a:off x="4752979" y="2614733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7" name="Legend 707"/>
          <p:cNvSpPr txBox="1"/>
          <p:nvPr/>
        </p:nvSpPr>
        <p:spPr>
          <a:xfrm>
            <a:off x="5049244" y="2573585"/>
            <a:ext cx="4026932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Ремонт и подготовка помещения</a:t>
            </a:r>
            <a:endParaRPr lang="ru-RU" sz="1800"/>
          </a:p>
        </p:txBody>
      </p:sp>
      <p:sp>
        <p:nvSpPr>
          <p:cNvPr id="708" name="Share 708"/>
          <p:cNvSpPr txBox="1"/>
          <p:nvPr/>
        </p:nvSpPr>
        <p:spPr>
          <a:xfrm>
            <a:off x="9076176" y="2573585"/>
            <a:ext cx="1882378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8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900 000 ₽  ·  30%</a:t>
            </a:r>
            <a:endParaRPr lang="ru-RU" sz="1800"/>
          </a:p>
        </p:txBody>
      </p:sp>
      <p:sp>
        <p:nvSpPr>
          <p:cNvPr id="709" name="Swatch 709"/>
          <p:cNvSpPr/>
          <p:nvPr/>
        </p:nvSpPr>
        <p:spPr>
          <a:xfrm>
            <a:off x="4752979" y="3001321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2E8FFF"/>
          </a:solidFill>
          <a:ln>
            <a:noFill/>
          </a:ln>
        </p:spPr>
      </p:sp>
      <p:sp>
        <p:nvSpPr>
          <p:cNvPr id="710" name="Legend 710"/>
          <p:cNvSpPr txBox="1"/>
          <p:nvPr/>
        </p:nvSpPr>
        <p:spPr>
          <a:xfrm>
            <a:off x="5049244" y="2960173"/>
            <a:ext cx="4026932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Оборотный резерв</a:t>
            </a:r>
            <a:endParaRPr lang="ru-RU" sz="1800"/>
          </a:p>
        </p:txBody>
      </p:sp>
      <p:sp>
        <p:nvSpPr>
          <p:cNvPr id="711" name="Share 711"/>
          <p:cNvSpPr txBox="1"/>
          <p:nvPr/>
        </p:nvSpPr>
        <p:spPr>
          <a:xfrm>
            <a:off x="9076176" y="2960173"/>
            <a:ext cx="1882378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8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850 000 ₽  ·  28%</a:t>
            </a:r>
            <a:endParaRPr lang="ru-RU" sz="1800"/>
          </a:p>
        </p:txBody>
      </p:sp>
      <p:sp>
        <p:nvSpPr>
          <p:cNvPr id="712" name="Swatch 712"/>
          <p:cNvSpPr/>
          <p:nvPr/>
        </p:nvSpPr>
        <p:spPr>
          <a:xfrm>
            <a:off x="4752979" y="3387909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5CA8FF"/>
          </a:solidFill>
          <a:ln>
            <a:noFill/>
          </a:ln>
        </p:spPr>
      </p:sp>
      <p:sp>
        <p:nvSpPr>
          <p:cNvPr id="713" name="Legend 713"/>
          <p:cNvSpPr txBox="1"/>
          <p:nvPr/>
        </p:nvSpPr>
        <p:spPr>
          <a:xfrm>
            <a:off x="5049244" y="3346761"/>
            <a:ext cx="4026932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Оборудование и инвентарь</a:t>
            </a:r>
            <a:endParaRPr lang="ru-RU" sz="1800"/>
          </a:p>
        </p:txBody>
      </p:sp>
      <p:sp>
        <p:nvSpPr>
          <p:cNvPr id="714" name="Share 714"/>
          <p:cNvSpPr txBox="1"/>
          <p:nvPr/>
        </p:nvSpPr>
        <p:spPr>
          <a:xfrm>
            <a:off x="9076176" y="3346761"/>
            <a:ext cx="1882378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8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650 000 ₽  ·  22%</a:t>
            </a:r>
            <a:endParaRPr lang="ru-RU" sz="1800"/>
          </a:p>
        </p:txBody>
      </p:sp>
      <p:sp>
        <p:nvSpPr>
          <p:cNvPr id="715" name="Swatch 715"/>
          <p:cNvSpPr/>
          <p:nvPr/>
        </p:nvSpPr>
        <p:spPr>
          <a:xfrm>
            <a:off x="4752979" y="3774497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8AC0FF"/>
          </a:solidFill>
          <a:ln>
            <a:noFill/>
          </a:ln>
        </p:spPr>
      </p:sp>
      <p:sp>
        <p:nvSpPr>
          <p:cNvPr id="716" name="Legend 716"/>
          <p:cNvSpPr txBox="1"/>
          <p:nvPr/>
        </p:nvSpPr>
        <p:spPr>
          <a:xfrm>
            <a:off x="5049244" y="3733349"/>
            <a:ext cx="4026932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Мебель и обустройство раздевалок</a:t>
            </a:r>
            <a:endParaRPr lang="ru-RU" sz="1800"/>
          </a:p>
        </p:txBody>
      </p:sp>
      <p:sp>
        <p:nvSpPr>
          <p:cNvPr id="717" name="Share 717"/>
          <p:cNvSpPr txBox="1"/>
          <p:nvPr/>
        </p:nvSpPr>
        <p:spPr>
          <a:xfrm>
            <a:off x="9076176" y="3733349"/>
            <a:ext cx="1882378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8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300 000 ₽  ·  10%</a:t>
            </a:r>
            <a:endParaRPr lang="ru-RU" sz="1800"/>
          </a:p>
        </p:txBody>
      </p:sp>
      <p:sp>
        <p:nvSpPr>
          <p:cNvPr id="718" name="Swatch 718"/>
          <p:cNvSpPr/>
          <p:nvPr/>
        </p:nvSpPr>
        <p:spPr>
          <a:xfrm>
            <a:off x="4752979" y="4161085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B8D9FF"/>
          </a:solidFill>
          <a:ln>
            <a:noFill/>
          </a:ln>
        </p:spPr>
      </p:sp>
      <p:sp>
        <p:nvSpPr>
          <p:cNvPr id="719" name="Legend 719"/>
          <p:cNvSpPr txBox="1"/>
          <p:nvPr/>
        </p:nvSpPr>
        <p:spPr>
          <a:xfrm>
            <a:off x="5049244" y="4119937"/>
            <a:ext cx="4026932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Обеспечительный платеж по аренде</a:t>
            </a:r>
            <a:endParaRPr lang="ru-RU" sz="1800"/>
          </a:p>
        </p:txBody>
      </p:sp>
      <p:sp>
        <p:nvSpPr>
          <p:cNvPr id="720" name="Share 720"/>
          <p:cNvSpPr txBox="1"/>
          <p:nvPr/>
        </p:nvSpPr>
        <p:spPr>
          <a:xfrm>
            <a:off x="9076176" y="4119937"/>
            <a:ext cx="1882378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8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180 000 ₽  ·  6%</a:t>
            </a:r>
            <a:endParaRPr lang="ru-RU" sz="1800"/>
          </a:p>
        </p:txBody>
      </p:sp>
      <p:sp>
        <p:nvSpPr>
          <p:cNvPr id="721" name="Swatch 721"/>
          <p:cNvSpPr/>
          <p:nvPr/>
        </p:nvSpPr>
        <p:spPr>
          <a:xfrm>
            <a:off x="4752979" y="4547673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22" name="Legend 722"/>
          <p:cNvSpPr txBox="1"/>
          <p:nvPr/>
        </p:nvSpPr>
        <p:spPr>
          <a:xfrm>
            <a:off x="5049244" y="4506525"/>
            <a:ext cx="4026932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Сайт и система записи</a:t>
            </a:r>
            <a:endParaRPr lang="ru-RU" sz="1800"/>
          </a:p>
        </p:txBody>
      </p:sp>
      <p:sp>
        <p:nvSpPr>
          <p:cNvPr id="723" name="Share 723"/>
          <p:cNvSpPr txBox="1"/>
          <p:nvPr/>
        </p:nvSpPr>
        <p:spPr>
          <a:xfrm>
            <a:off x="9076176" y="4506525"/>
            <a:ext cx="1882378" cy="2722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8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120 000 ₽  ·  4%</a:t>
            </a:r>
            <a:endParaRPr lang="ru-RU" sz="1800"/>
          </a:p>
        </p:txBody>
      </p:sp>
      <p:sp>
        <p:nvSpPr>
          <p:cNvPr id="724" name="Conclusion strip 724"/>
          <p:cNvSpPr/>
          <p:nvPr/>
        </p:nvSpPr>
        <p:spPr>
          <a:xfrm>
            <a:off x="429253" y="5091796"/>
            <a:ext cx="11333494" cy="614680"/>
          </a:xfrm>
          <a:prstGeom prst="roundRect">
            <a:avLst>
              <a:gd fmla="val 2465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25" name="Conclusion bar 725"/>
          <p:cNvSpPr/>
          <p:nvPr/>
        </p:nvSpPr>
        <p:spPr>
          <a:xfrm>
            <a:off x="683253" y="5279756"/>
            <a:ext cx="41148" cy="23876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26" name="Conclusion 726"/>
          <p:cNvSpPr txBox="1"/>
          <p:nvPr/>
        </p:nvSpPr>
        <p:spPr>
          <a:xfrm>
            <a:off x="927601" y="5249276"/>
            <a:ext cx="10581146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Еще 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850 000 рублей</a:t>
            </a: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 составят оборотный резерв</a:t>
            </a:r>
            <a:endParaRPr lang="ru-RU"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89399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При 250 клиентах ожидается операционная прибыль 224 375 рублей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9253" y="1869443"/>
          <a:ext cx="7253436" cy="26080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705" name="Line 705"/>
          <p:cNvCxnSpPr/>
          <p:nvPr/>
        </p:nvCxnSpPr>
        <p:spPr>
          <a:xfrm>
            <a:off x="7975297" y="1938872"/>
            <a:ext cx="0" cy="263652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6" name="Takeaway 706"/>
          <p:cNvSpPr txBox="1"/>
          <p:nvPr/>
        </p:nvSpPr>
        <p:spPr>
          <a:xfrm>
            <a:off x="8267905" y="1938872"/>
            <a:ext cx="3494842" cy="2636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При 250 активных клиентах и средней выручке 5 050 рублей на клиента</a:t>
            </a:r>
            <a:endParaRPr lang="ru-RU" sz="2000"/>
          </a:p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Постоянные расходы — 975 000 рублей, переменные — 5% от выручки — 63 125 рублей</a:t>
            </a:r>
            <a:endParaRPr lang="ru-RU" sz="2000"/>
          </a:p>
        </p:txBody>
      </p:sp>
      <p:sp>
        <p:nvSpPr>
          <p:cNvPr id="707" name="Conclusion strip 707"/>
          <p:cNvSpPr/>
          <p:nvPr/>
        </p:nvSpPr>
        <p:spPr>
          <a:xfrm>
            <a:off x="429253" y="4863428"/>
            <a:ext cx="11333494" cy="614680"/>
          </a:xfrm>
          <a:prstGeom prst="roundRect">
            <a:avLst>
              <a:gd fmla="val 2465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8" name="Conclusion bar 708"/>
          <p:cNvSpPr/>
          <p:nvPr/>
        </p:nvSpPr>
        <p:spPr>
          <a:xfrm>
            <a:off x="683253" y="5051388"/>
            <a:ext cx="41148" cy="23876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9" name="Conclusion 709"/>
          <p:cNvSpPr txBox="1"/>
          <p:nvPr/>
        </p:nvSpPr>
        <p:spPr>
          <a:xfrm>
            <a:off x="927601" y="5020908"/>
            <a:ext cx="10581146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Рентабельность — 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17,8%</a:t>
            </a:r>
            <a:endParaRPr lang="ru-RU" sz="2000"/>
          </a:p>
        </p:txBody>
      </p:sp>
      <p:sp>
        <p:nvSpPr>
          <p:cNvPr id="710" name="Footnote 710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Налоги, амортизация и проценты по кредитам не учтены</a:t>
            </a:r>
            <a:endParaRPr lang="ru-RU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Студия окупится к пятому месяцу</a:t>
            </a:r>
            <a:endParaRPr/>
          </a:p>
        </p:txBody>
      </p:sp>
      <p:sp>
        <p:nvSpPr>
          <p:cNvPr id="704" name="Chart title 704"/>
          <p:cNvSpPr txBox="1"/>
          <p:nvPr/>
        </p:nvSpPr>
        <p:spPr>
          <a:xfrm>
            <a:off x="429253" y="1375667"/>
            <a:ext cx="530098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Активные клиенты, человек</a:t>
            </a:r>
            <a:endParaRPr lang="ru-RU" sz="20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1798831"/>
          <a:ext cx="5300987" cy="32600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6" name="Chart title 706"/>
          <p:cNvSpPr txBox="1"/>
          <p:nvPr/>
        </p:nvSpPr>
        <p:spPr>
          <a:xfrm>
            <a:off x="6461760" y="1375667"/>
            <a:ext cx="530098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Операционный результат</a:t>
            </a:r>
            <a:endParaRPr lang="ru-RU" sz="2000"/>
          </a:p>
        </p:txBody>
      </p:sp>
      <p:graphicFrame>
        <p:nvGraphicFramePr>
          <p:cNvPr id="707" name="Chart 706"/>
          <p:cNvGraphicFramePr>
            <a:graphicFrameLocks noGrp="1"/>
          </p:cNvGraphicFramePr>
          <p:nvPr/>
        </p:nvGraphicFramePr>
        <p:xfrm>
          <a:off x="6461760" y="1798831"/>
          <a:ext cx="5300987" cy="326008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08" name="Conclusion strip 708"/>
          <p:cNvSpPr/>
          <p:nvPr/>
        </p:nvSpPr>
        <p:spPr>
          <a:xfrm>
            <a:off x="429253" y="5305806"/>
            <a:ext cx="11333494" cy="614680"/>
          </a:xfrm>
          <a:prstGeom prst="roundRect">
            <a:avLst>
              <a:gd fmla="val 2465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9" name="Conclusion bar 709"/>
          <p:cNvSpPr/>
          <p:nvPr/>
        </p:nvSpPr>
        <p:spPr>
          <a:xfrm>
            <a:off x="683253" y="5493766"/>
            <a:ext cx="41148" cy="23876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0" name="Conclusion 710"/>
          <p:cNvSpPr txBox="1"/>
          <p:nvPr/>
        </p:nvSpPr>
        <p:spPr>
          <a:xfrm>
            <a:off x="927601" y="5463286"/>
            <a:ext cx="10581146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Операционная прибыль станет положительной к пятому месяцу</a:t>
            </a:r>
            <a:endParaRPr lang="ru-RU" sz="2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92288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Суммарный операционный убыток за первые четыре месяца — 1 237 388 ₽</a:t>
            </a:r>
            <a:endParaRPr/>
          </a:p>
        </p:txBody>
      </p:sp>
      <p:sp>
        <p:nvSpPr>
          <p:cNvPr id="704" name="Unit 704"/>
          <p:cNvSpPr txBox="1"/>
          <p:nvPr/>
        </p:nvSpPr>
        <p:spPr>
          <a:xfrm>
            <a:off x="429253" y="1869443"/>
            <a:ext cx="7253436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</a:t>
            </a:r>
            <a:endParaRPr lang="ru-RU" sz="12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2121157"/>
          <a:ext cx="7253436" cy="24302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706" name="Line 706"/>
          <p:cNvCxnSpPr/>
          <p:nvPr/>
        </p:nvCxnSpPr>
        <p:spPr>
          <a:xfrm>
            <a:off x="7975297" y="2109205"/>
            <a:ext cx="0" cy="223012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7" name="Takeaway 707"/>
          <p:cNvSpPr txBox="1"/>
          <p:nvPr/>
        </p:nvSpPr>
        <p:spPr>
          <a:xfrm>
            <a:off x="8267905" y="2109205"/>
            <a:ext cx="3494842" cy="22301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Недостаток оборотных средств — 387 388 ₽</a:t>
            </a:r>
            <a:endParaRPr lang="ru-RU" sz="2000"/>
          </a:p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Общий бюджет проекта нужно увеличить до 3 387 388 ₽</a:t>
            </a:r>
            <a:endParaRPr lang="ru-RU" sz="2000"/>
          </a:p>
          <a:p>
            <a:pPr algn="l" marL="279400" indent="-279400">
              <a:lnSpc>
                <a:spcPct val="90000"/>
              </a:lnSpc>
              <a:spcAft>
                <a:spcPts val="112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Или сократить затраты до запуска</a:t>
            </a:r>
            <a:endParaRPr lang="ru-RU" sz="2000"/>
          </a:p>
        </p:txBody>
      </p:sp>
      <p:sp>
        <p:nvSpPr>
          <p:cNvPr id="708" name="Conclusion strip 708"/>
          <p:cNvSpPr/>
          <p:nvPr/>
        </p:nvSpPr>
        <p:spPr>
          <a:xfrm>
            <a:off x="429253" y="4839421"/>
            <a:ext cx="11333494" cy="889000"/>
          </a:xfrm>
          <a:prstGeom prst="roundRect">
            <a:avLst>
              <a:gd fmla="val 1704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9" name="Conclusion bar 709"/>
          <p:cNvSpPr/>
          <p:nvPr/>
        </p:nvSpPr>
        <p:spPr>
          <a:xfrm>
            <a:off x="683253" y="5027381"/>
            <a:ext cx="41148" cy="5130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0" name="Conclusion 710"/>
          <p:cNvSpPr txBox="1"/>
          <p:nvPr/>
        </p:nvSpPr>
        <p:spPr>
          <a:xfrm>
            <a:off x="927601" y="4996901"/>
            <a:ext cx="10581146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Проект может выйти на операционную прибыль к пятому месяцу, но для запуска необходимо заранее закрыть недостаток оборотных средств</a:t>
            </a:r>
            <a:endParaRPr lang="ru-RU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