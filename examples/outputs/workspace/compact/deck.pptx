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3" r:id="rId5"/>
  </p:sldMasterIdLst>
  <p:notesMasterIdLst>
    <p:notesMasterId r:id="rId6"/>
  </p:notesMasterIdLst>
  <p:sldIdLst>
    <p:sldId id="285" r:id="rId38"/>
    <p:sldId id="286" r:id="rId39"/>
    <p:sldId id="287" r:id="rId40"/>
    <p:sldId id="288" r:id="rId41"/>
    <p:sldId id="289" r:id="rId42"/>
    <p:sldId id="290" r:id="rId43"/>
    <p:sldId id="291" r:id="rId44"/>
    <p:sldId id="292" r:id="rId45"/>
    <p:sldId id="293" r:id="rId46"/>
    <p:sldId id="294" r:id="rId47"/>
    <p:sldId id="295" r:id="rId48"/>
    <p:sldId id="296" r:id="rId49"/>
  </p:sldIdLst>
  <p:sldSz cy="6858000" cx="12192000"/>
  <p:notesSz cx="6858000" cy="9144000"/>
  <p:embeddedFontLst>
    <p:embeddedFont>
      <p:font typeface="Play"/>
      <p:regular r:id="rId36"/>
      <p:bold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547">
          <p15:clr>
            <a:srgbClr val="A4A3A4"/>
          </p15:clr>
        </p15:guide>
        <p15:guide id="4" orient="horz" pos="77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AC9AF0A-6FEA-4B71-B213-FBF42B605303}">
  <a:tblStyle styleId="{5AC9AF0A-6FEA-4B71-B213-FBF42B605303}" styleName="Table_0">
    <a:wholeTbl>
      <a:tcTxStyle b="off" i="off">
        <a:font>
          <a:latin typeface="SF Pro Text Light"/>
          <a:ea typeface="SF Pro Text Light"/>
          <a:cs typeface="SF Pro Text Light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6EBFF"/>
          </a:solidFill>
        </a:fill>
      </a:tcStyle>
    </a:wholeTbl>
    <a:band1H>
      <a:tcTxStyle/>
      <a:tcStyle>
        <a:fill>
          <a:solidFill>
            <a:srgbClr val="CAD5FF"/>
          </a:solidFill>
        </a:fill>
      </a:tcStyle>
    </a:band1H>
    <a:band2H>
      <a:tcTxStyle/>
    </a:band2H>
    <a:band1V>
      <a:tcTxStyle/>
      <a:tcStyle>
        <a:fill>
          <a:solidFill>
            <a:srgbClr val="CAD5FF"/>
          </a:solidFill>
        </a:fill>
      </a:tcStyle>
    </a:band1V>
    <a:band2V>
      <a:tcTxStyle/>
    </a:band2V>
    <a:lastCol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  <p:guide pos="2547"/>
        <p:guide pos="777" orient="horz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36" Type="http://schemas.openxmlformats.org/officeDocument/2006/relationships/font" Target="fonts/Play-regular.fntdata"/><Relationship Id="rId37" Type="http://schemas.openxmlformats.org/officeDocument/2006/relationships/font" Target="fonts/Play-bold.fntdata"/><Relationship Id="rId38" Type="http://schemas.openxmlformats.org/officeDocument/2006/relationships/slide" Target="slides/slide1.xml"/><Relationship Id="rId39" Type="http://schemas.openxmlformats.org/officeDocument/2006/relationships/slide" Target="slides/slide2.xml"/><Relationship Id="rId40" Type="http://schemas.openxmlformats.org/officeDocument/2006/relationships/slide" Target="slides/slide3.xml"/><Relationship Id="rId41" Type="http://schemas.openxmlformats.org/officeDocument/2006/relationships/slide" Target="slides/slide4.xml"/><Relationship Id="rId42" Type="http://schemas.openxmlformats.org/officeDocument/2006/relationships/slide" Target="slides/slide5.xml"/><Relationship Id="rId43" Type="http://schemas.openxmlformats.org/officeDocument/2006/relationships/slide" Target="slides/slide6.xml"/><Relationship Id="rId44" Type="http://schemas.openxmlformats.org/officeDocument/2006/relationships/slide" Target="slides/slide7.xml"/><Relationship Id="rId45" Type="http://schemas.openxmlformats.org/officeDocument/2006/relationships/slide" Target="slides/slide8.xml"/><Relationship Id="rId46" Type="http://schemas.openxmlformats.org/officeDocument/2006/relationships/slide" Target="slides/slide9.xml"/><Relationship Id="rId47" Type="http://schemas.openxmlformats.org/officeDocument/2006/relationships/slide" Target="slides/slide10.xml"/><Relationship Id="rId48" Type="http://schemas.openxmlformats.org/officeDocument/2006/relationships/slide" Target="slides/slide11.xml"/><Relationship Id="rId49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3689"/>
          <c:y val="0.0132"/>
          <c:w val="0.5184"/>
          <c:h val="0.9737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Количество</c:v>
                </c:pt>
              </c:strCache>
            </c:strRef>
          </c:tx>
          <c:spPr>
            <a:solidFill>
              <a:srgbClr val="004594"/>
            </a:solidFill>
            <a:ln>
              <a:noFill/>
            </a:ln>
          </c:spPr>
          <c:invertIfNegative val="0"/>
          <c:dPt>
            <c:idx val="3"/>
            <c:spPr>
              <a:solidFill>
                <a:srgbClr val="0077FF"/>
              </a:solidFill>
              <a:ln>
                <a:noFill/>
              </a:ln>
            </c:spPr>
          </c:dPt>
          <c:dLbls>
            <c:dLbl>
              <c:idx val="3"/>
              <c:numFmt formatCode="#,##0;&quot;−&quot;#,##0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2000" b="0">
                      <a:solidFill>
                        <a:srgbClr val="0077FF"/>
                      </a:solidFill>
                      <a:latin typeface="Play"/>
                      <a:ea typeface="Play"/>
                      <a:cs typeface="Play"/>
                    </a:defRPr>
                  </a:pPr>
                  <a:endParaRPr lang="ru-RU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;&quot;−&quot;#,##0;" sourceLinked="0"/>
            <c:spPr>
              <a:noFill/>
              <a:ln>
                <a:noFill/>
              </a:ln>
            </c:spPr>
            <c:txPr>
              <a:bodyPr wrap="none"/>
              <a:lstStyle/>
              <a:p>
                <a:pPr>
                  <a:defRPr sz="1600" b="0">
                    <a:solidFill>
                      <a:srgbClr val="FFFFFF"/>
                    </a:solidFill>
                    <a:latin typeface="Play"/>
                    <a:ea typeface="Play"/>
                    <a:cs typeface="Play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Жители района</c:v>
                </c:pt>
                <c:pt idx="1">
                  <c:v>Выбранная возрастная аудитория</c:v>
                </c:pt>
                <c:pt idx="2">
                  <c:v>Потенциально заинтересованные</c:v>
                </c:pt>
                <c:pt idx="3">
                  <c:v>Целевое количество клиентов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18000.0</c:v>
                </c:pt>
                <c:pt idx="1">
                  <c:v>8000.0</c:v>
                </c:pt>
                <c:pt idx="2">
                  <c:v>1200.0</c:v>
                </c:pt>
                <c:pt idx="3">
                  <c:v>250.0</c:v>
                </c:pt>
              </c:numCache>
            </c:numRef>
          </c:val>
        </c:ser>
        <c:dLbls>
          <c:numFmt formatCode="#,##0&quot; человек&quot;;&quot;−&quot;#,##0&quot; человек&quot;;" sourceLinked="0"/>
          <c:spPr>
            <a:noFill/>
            <a:ln>
              <a:noFill/>
            </a:ln>
          </c:spPr>
          <c:txPr>
            <a:bodyPr wrap="none"/>
            <a:lstStyle/>
            <a:p>
              <a:pPr>
                <a:defRPr sz="1600" b="0">
                  <a:solidFill>
                    <a:srgbClr val="FFFFFF"/>
                  </a:solidFill>
                  <a:latin typeface="Play"/>
                  <a:ea typeface="Play"/>
                  <a:cs typeface="Play"/>
                </a:defRPr>
              </a:pPr>
              <a:endParaRPr lang="ru-RU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510000001"/>
        <c:axId val="510000002"/>
      </c:barChart>
      <c:catAx>
        <c:axId val="510000001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 rot="0" vert="horz"/>
          <a:lstStyle/>
          <a:p>
            <a:pPr>
              <a:defRPr sz="1200" b="0">
                <a:solidFill>
                  <a:srgbClr val="A8A8A8"/>
                </a:solidFill>
                <a:latin typeface="Play"/>
                <a:ea typeface="Play"/>
                <a:cs typeface="Play"/>
              </a:defRPr>
            </a:pPr>
            <a:endParaRPr lang="ru-RU"/>
          </a:p>
        </c:txPr>
        <c:crossAx val="510000002"/>
        <c:crosses val="autoZero"/>
        <c:auto val="1"/>
        <c:lblAlgn val="ctr"/>
        <c:lblOffset val="100"/>
        <c:tickLblSkip val="1"/>
        <c:noMultiLvlLbl val="0"/>
      </c:catAx>
      <c:valAx>
        <c:axId val="510000002"/>
        <c:scaling>
          <c:max val="18000.0"/>
          <c:min val="0.0"/>
        </c:scaling>
        <c:delete val="1"/>
        <c:axPos val="b"/>
        <c:majorTickMark val="out"/>
        <c:minorTickMark val="none"/>
        <c:tickLblPos val="nextTo"/>
        <c:crossAx val="510000001"/>
        <c:crosses val="autoZero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1200">
          <a:solidFill>
            <a:srgbClr val="FFFFFF"/>
          </a:solidFill>
          <a:latin typeface="Play"/>
          <a:ea typeface="Play"/>
          <a:cs typeface="Play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chart>
    <c:autoTitleDeleted val="1"/>
    <c:plotArea>
      <c:layout>
        <c:manualLayout>
          <c:layoutTarget val="inner"/>
          <c:xMode val="edge"/>
          <c:yMode val="edge"/>
          <c:x val="0.0219"/>
          <c:y val="0.0219"/>
          <c:w val="0.9563"/>
          <c:h val="0.9563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Доля</c:v>
                </c:pt>
              </c:strCache>
            </c:strRef>
          </c:tx>
          <c:dPt>
            <c:idx val="0"/>
            <c:spPr>
              <a:solidFill>
                <a:srgbClr val="0077FF"/>
              </a:solidFill>
              <a:ln w="19050">
                <a:solidFill>
                  <a:srgbClr val="000000"/>
                </a:solidFill>
              </a:ln>
            </c:spPr>
          </c:dPt>
          <c:dPt>
            <c:idx val="1"/>
            <c:spPr>
              <a:solidFill>
                <a:srgbClr val="3895FF"/>
              </a:solidFill>
              <a:ln w="19050">
                <a:solidFill>
                  <a:srgbClr val="000000"/>
                </a:solidFill>
              </a:ln>
            </c:spPr>
          </c:dPt>
          <c:dPt>
            <c:idx val="2"/>
            <c:spPr>
              <a:solidFill>
                <a:srgbClr val="70B3FF"/>
              </a:solidFill>
              <a:ln w="19050">
                <a:solidFill>
                  <a:srgbClr val="000000"/>
                </a:solidFill>
              </a:ln>
            </c:spPr>
          </c:dPt>
          <c:dPt>
            <c:idx val="3"/>
            <c:spPr>
              <a:solidFill>
                <a:srgbClr val="ADD3FF"/>
              </a:solidFill>
              <a:ln w="19050">
                <a:solidFill>
                  <a:srgbClr val="000000"/>
                </a:solidFill>
              </a:ln>
            </c:spPr>
          </c:dPt>
          <c:dPt>
            <c:idx val="4"/>
            <c:spPr>
              <a:solidFill>
                <a:srgbClr val="E6F1FF"/>
              </a:solidFill>
              <a:ln w="19050">
                <a:solidFill>
                  <a:srgbClr val="000000"/>
                </a:solidFill>
              </a:ln>
            </c:spPr>
          </c:dPt>
          <c:dLbls>
            <c:dLbl>
              <c:idx val="0"/>
              <c:numFmt formatCode="0&quot;%&quot;;&quot;−&quot;0&quot;%&quot;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600" b="0">
                      <a:solidFill>
                        <a:srgbClr val="FFFFFF"/>
                      </a:solidFill>
                      <a:latin typeface="Play"/>
                      <a:ea typeface="Play"/>
                      <a:cs typeface="Play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0&quot;%&quot;;&quot;−&quot;0&quot;%&quot;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600" b="0">
                      <a:solidFill>
                        <a:srgbClr val="FFFFFF"/>
                      </a:solidFill>
                      <a:latin typeface="Play"/>
                      <a:ea typeface="Play"/>
                      <a:cs typeface="Play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0&quot;%&quot;;&quot;−&quot;0&quot;%&quot;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600" b="0">
                      <a:solidFill>
                        <a:srgbClr val="000000"/>
                      </a:solidFill>
                      <a:latin typeface="Play"/>
                      <a:ea typeface="Play"/>
                      <a:cs typeface="Play"/>
                    </a:defRPr>
                  </a:pPr>
                  <a:endParaRPr lang="ru-RU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0.0&quot;%&quot;;&quot;−&quot;0.0&quot;%&quot;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600" b="0">
                      <a:solidFill>
                        <a:srgbClr val="000000"/>
                      </a:solidFill>
                      <a:latin typeface="Play"/>
                      <a:ea typeface="Play"/>
                      <a:cs typeface="Play"/>
                    </a:defRPr>
                  </a:pPr>
                  <a:endParaRPr lang="ru-RU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0.0&quot;%&quot;;&quot;−&quot;0.0&quot;%&quot;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600" b="0">
                      <a:solidFill>
                        <a:srgbClr val="000000"/>
                      </a:solidFill>
                      <a:latin typeface="Play"/>
                      <a:ea typeface="Play"/>
                      <a:cs typeface="Play"/>
                    </a:defRPr>
                  </a:pPr>
                  <a:endParaRPr lang="ru-RU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;&quot;−&quot;0&quot;%&quot;;" sourceLinked="0"/>
            <c:spPr>
              <a:noFill/>
              <a:ln>
                <a:noFill/>
              </a:ln>
            </c:spPr>
            <c:txPr>
              <a:bodyPr wrap="none"/>
              <a:lstStyle/>
              <a:p>
                <a:pPr>
                  <a:defRPr sz="1600" b="0">
                    <a:solidFill>
                      <a:srgbClr val="FFFFFF"/>
                    </a:solidFill>
                    <a:latin typeface="Play"/>
                    <a:ea typeface="Play"/>
                    <a:cs typeface="Play"/>
                  </a:defRPr>
                </a:pPr>
                <a:endParaRPr lang="ru-RU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Близость к дому</c:v>
                </c:pt>
                <c:pt idx="1">
                  <c:v>Расписание</c:v>
                </c:pt>
                <c:pt idx="2">
                  <c:v>Стоимость</c:v>
                </c:pt>
                <c:pt idx="3">
                  <c:v>Тренеры</c:v>
                </c:pt>
                <c:pt idx="4">
                  <c:v>Атмосфера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35.0</c:v>
                </c:pt>
                <c:pt idx="1">
                  <c:v>25.0</c:v>
                </c:pt>
                <c:pt idx="2">
                  <c:v>20.0</c:v>
                </c:pt>
                <c:pt idx="3">
                  <c:v>12.5</c:v>
                </c:pt>
                <c:pt idx="4">
                  <c:v>7.5</c:v>
                </c:pt>
              </c:numCache>
            </c:numRef>
          </c:val>
        </c:ser>
        <c:dLbls>
          <c:numFmt formatCode="0&quot;%&quot;;&quot;−&quot;0&quot;%&quot;;" sourceLinked="0"/>
          <c:spPr>
            <a:noFill/>
            <a:ln>
              <a:noFill/>
            </a:ln>
          </c:spPr>
          <c:txPr>
            <a:bodyPr wrap="none"/>
            <a:lstStyle/>
            <a:p>
              <a:pPr>
                <a:defRPr sz="1600" b="0">
                  <a:solidFill>
                    <a:srgbClr val="FFFFFF"/>
                  </a:solidFill>
                  <a:latin typeface="Play"/>
                  <a:ea typeface="Play"/>
                  <a:cs typeface="Play"/>
                </a:defRPr>
              </a:pPr>
              <a:endParaRPr lang="ru-RU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1200">
          <a:solidFill>
            <a:srgbClr val="FFFFFF"/>
          </a:solidFill>
          <a:latin typeface="Play"/>
          <a:ea typeface="Play"/>
          <a:cs typeface="Play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0018"/>
          <c:y val="0.0943"/>
          <c:w val="0.9963"/>
          <c:h val="0.825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Количество</c:v>
                </c:pt>
              </c:strCache>
            </c:strRef>
          </c:tx>
          <c:spPr>
            <a:solidFill>
              <a:srgbClr val="0077FF"/>
            </a:solidFill>
            <a:ln>
              <a:noFill/>
            </a:ln>
          </c:spPr>
          <c:invertIfNegative val="0"/>
          <c:dLbls>
            <c:dLbl>
              <c:idx val="0"/>
              <c:numFmt formatCode="#,##0;&quot;−&quot;#,##0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600" b="0">
                      <a:solidFill>
                        <a:srgbClr val="FFFFFF"/>
                      </a:solidFill>
                      <a:latin typeface="Play"/>
                      <a:ea typeface="Play"/>
                      <a:cs typeface="Play"/>
                    </a:defRPr>
                  </a:pPr>
                  <a:endParaRPr lang="ru-RU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;&quot;−&quot;#,##0;" sourceLinked="0"/>
            <c:spPr>
              <a:noFill/>
              <a:ln>
                <a:noFill/>
              </a:ln>
            </c:spPr>
            <c:txPr>
              <a:bodyPr wrap="none"/>
              <a:lstStyle/>
              <a:p>
                <a:pPr>
                  <a:defRPr sz="1600" b="0">
                    <a:solidFill>
                      <a:srgbClr val="FFFFFF"/>
                    </a:solidFill>
                    <a:latin typeface="Play"/>
                    <a:ea typeface="Play"/>
                    <a:cs typeface="Play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Месячная вместимость</c:v>
                </c:pt>
                <c:pt idx="1">
                  <c:v>Ожидаемые посещения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2700.0</c:v>
                </c:pt>
                <c:pt idx="1">
                  <c:v>2000.0</c:v>
                </c:pt>
              </c:numCache>
            </c:numRef>
          </c:val>
        </c:ser>
        <c:dLbls>
          <c:numFmt formatCode="#,##0&quot; посещений&quot;;&quot;−&quot;#,##0&quot; посещений&quot;;" sourceLinked="0"/>
          <c:spPr>
            <a:noFill/>
            <a:ln>
              <a:noFill/>
            </a:ln>
          </c:spPr>
          <c:txPr>
            <a:bodyPr wrap="none"/>
            <a:lstStyle/>
            <a:p>
              <a:pPr>
                <a:defRPr sz="1600" b="0">
                  <a:solidFill>
                    <a:srgbClr val="FFFFFF"/>
                  </a:solidFill>
                  <a:latin typeface="Play"/>
                  <a:ea typeface="Play"/>
                  <a:cs typeface="Play"/>
                </a:defRPr>
              </a:pPr>
              <a:endParaRPr lang="ru-RU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6"/>
        <c:axId val="510000001"/>
        <c:axId val="510000002"/>
      </c:barChart>
      <c:catAx>
        <c:axId val="510000001"/>
        <c:scaling>
          <c:orientation val="minMax"/>
        </c:scaling>
        <c:delete val="0"/>
        <c:axPos val="b"/>
        <c:majorTickMark val="none"/>
        <c:minorTickMark val="none"/>
        <c:tickLblPos val="low"/>
        <c:spPr>
          <a:ln w="9525">
            <a:solidFill>
              <a:srgbClr val="404040"/>
            </a:solidFill>
          </a:ln>
        </c:spPr>
        <c:txPr>
          <a:bodyPr rot="0" vert="horz"/>
          <a:lstStyle/>
          <a:p>
            <a:pPr>
              <a:defRPr sz="1200" b="0">
                <a:solidFill>
                  <a:srgbClr val="A8A8A8"/>
                </a:solidFill>
                <a:latin typeface="Play"/>
                <a:ea typeface="Play"/>
                <a:cs typeface="Play"/>
              </a:defRPr>
            </a:pPr>
            <a:endParaRPr lang="ru-RU"/>
          </a:p>
        </c:txPr>
        <c:crossAx val="510000002"/>
        <c:crosses val="autoZero"/>
        <c:auto val="1"/>
        <c:lblAlgn val="ctr"/>
        <c:lblOffset val="100"/>
        <c:tickLblSkip val="1"/>
        <c:noMultiLvlLbl val="0"/>
      </c:catAx>
      <c:valAx>
        <c:axId val="510000002"/>
        <c:scaling>
          <c:max val="2700.0"/>
          <c:min val="0.0"/>
        </c:scaling>
        <c:delete val="1"/>
        <c:axPos val="l"/>
        <c:majorTickMark val="out"/>
        <c:minorTickMark val="none"/>
        <c:tickLblPos val="nextTo"/>
        <c:crossAx val="510000001"/>
        <c:crosses val="autoZero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1200">
          <a:solidFill>
            <a:srgbClr val="FFFFFF"/>
          </a:solidFill>
          <a:latin typeface="Play"/>
          <a:ea typeface="Play"/>
          <a:cs typeface="Play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chart>
    <c:autoTitleDeleted val="1"/>
    <c:plotArea>
      <c:layout>
        <c:manualLayout>
          <c:layoutTarget val="inner"/>
          <c:xMode val="edge"/>
          <c:yMode val="edge"/>
          <c:x val="0.0242"/>
          <c:y val="0.0242"/>
          <c:w val="0.9516"/>
          <c:h val="0.9516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Команда</c:v>
                </c:pt>
              </c:strCache>
            </c:strRef>
          </c:tx>
          <c:dPt>
            <c:idx val="0"/>
            <c:spPr>
              <a:solidFill>
                <a:srgbClr val="0077FF"/>
              </a:solidFill>
              <a:ln w="19050">
                <a:solidFill>
                  <a:srgbClr val="000000"/>
                </a:solidFill>
              </a:ln>
            </c:spPr>
          </c:dPt>
          <c:dPt>
            <c:idx val="1"/>
            <c:spPr>
              <a:solidFill>
                <a:srgbClr val="4DA0FF"/>
              </a:solidFill>
              <a:ln w="19050">
                <a:solidFill>
                  <a:srgbClr val="000000"/>
                </a:solidFill>
              </a:ln>
            </c:spPr>
          </c:dPt>
          <c:dPt>
            <c:idx val="2"/>
            <c:spPr>
              <a:solidFill>
                <a:srgbClr val="99C9FF"/>
              </a:solidFill>
              <a:ln w="19050">
                <a:solidFill>
                  <a:srgbClr val="000000"/>
                </a:solidFill>
              </a:ln>
            </c:spPr>
          </c:dPt>
          <c:dPt>
            <c:idx val="3"/>
            <c:spPr>
              <a:solidFill>
                <a:srgbClr val="E6F1FF"/>
              </a:solidFill>
              <a:ln w="19050">
                <a:solidFill>
                  <a:srgbClr val="000000"/>
                </a:solidFill>
              </a:ln>
            </c:spPr>
          </c:dPt>
          <c:dLbls>
            <c:dLbl>
              <c:idx val="0"/>
              <c:numFmt formatCode="#,##0&quot; ₽&quot;;&quot;−&quot;#,##0&quot; ₽&quot;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600" b="0">
                      <a:solidFill>
                        <a:srgbClr val="FFFFFF"/>
                      </a:solidFill>
                      <a:latin typeface="Play"/>
                      <a:ea typeface="Play"/>
                      <a:cs typeface="Play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#,##0&quot; ₽&quot;;&quot;−&quot;#,##0&quot; ₽&quot;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600" b="0">
                      <a:solidFill>
                        <a:srgbClr val="000000"/>
                      </a:solidFill>
                      <a:latin typeface="Play"/>
                      <a:ea typeface="Play"/>
                      <a:cs typeface="Play"/>
                    </a:defRPr>
                  </a:pPr>
                  <a:endParaRPr lang="ru-RU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delete val="1"/>
            </c:dLbl>
            <c:dLbl>
              <c:idx val="3"/>
              <c:delete val="1"/>
            </c:dLbl>
            <c:numFmt formatCode="#,##0&quot; ₽&quot;;&quot;−&quot;#,##0&quot; ₽&quot;;" sourceLinked="0"/>
            <c:spPr>
              <a:noFill/>
              <a:ln>
                <a:noFill/>
              </a:ln>
            </c:spPr>
            <c:txPr>
              <a:bodyPr wrap="none"/>
              <a:lstStyle/>
              <a:p>
                <a:pPr>
                  <a:defRPr sz="1600" b="0">
                    <a:solidFill>
                      <a:srgbClr val="FFFFFF"/>
                    </a:solidFill>
                    <a:latin typeface="Play"/>
                    <a:ea typeface="Play"/>
                    <a:cs typeface="Play"/>
                  </a:defRPr>
                </a:pPr>
                <a:endParaRPr lang="ru-RU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Оплата работы тренеров</c:v>
                </c:pt>
                <c:pt idx="1">
                  <c:v>Администраторов</c:v>
                </c:pt>
                <c:pt idx="2">
                  <c:v>Уборки</c:v>
                </c:pt>
                <c:pt idx="3">
                  <c:v>Резерв на замены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260000.0</c:v>
                </c:pt>
                <c:pt idx="1">
                  <c:v>110000.0</c:v>
                </c:pt>
                <c:pt idx="2">
                  <c:v>30000.0</c:v>
                </c:pt>
                <c:pt idx="3">
                  <c:v>20000.0</c:v>
                </c:pt>
              </c:numCache>
            </c:numRef>
          </c:val>
        </c:ser>
        <c:dLbls>
          <c:numFmt formatCode="#,##0&quot; ₽&quot;;&quot;−&quot;#,##0&quot; ₽&quot;;" sourceLinked="0"/>
          <c:spPr>
            <a:noFill/>
            <a:ln>
              <a:noFill/>
            </a:ln>
          </c:spPr>
          <c:txPr>
            <a:bodyPr wrap="none"/>
            <a:lstStyle/>
            <a:p>
              <a:pPr>
                <a:defRPr sz="1600" b="0">
                  <a:solidFill>
                    <a:srgbClr val="FFFFFF"/>
                  </a:solidFill>
                  <a:latin typeface="Play"/>
                  <a:ea typeface="Play"/>
                  <a:cs typeface="Play"/>
                </a:defRPr>
              </a:pPr>
              <a:endParaRPr lang="ru-RU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1200">
          <a:solidFill>
            <a:srgbClr val="FFFFFF"/>
          </a:solidFill>
          <a:latin typeface="Play"/>
          <a:ea typeface="Play"/>
          <a:cs typeface="Play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2480"/>
          <c:y val="0.0116"/>
          <c:w val="0.6157"/>
          <c:h val="0.9767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Бюджет</c:v>
                </c:pt>
              </c:strCache>
            </c:strRef>
          </c:tx>
          <c:spPr>
            <a:solidFill>
              <a:srgbClr val="0077FF"/>
            </a:solidFill>
            <a:ln>
              <a:noFill/>
            </a:ln>
          </c:spPr>
          <c:invertIfNegative val="0"/>
          <c:dLbls>
            <c:dLbl>
              <c:idx val="0"/>
              <c:numFmt formatCode="#,##0&quot; ₽&quot;;&quot;−&quot;#,##0&quot; ₽&quot;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600" b="0">
                      <a:solidFill>
                        <a:srgbClr val="FFFFFF"/>
                      </a:solidFill>
                      <a:latin typeface="Play"/>
                      <a:ea typeface="Play"/>
                      <a:cs typeface="Play"/>
                    </a:defRPr>
                  </a:pPr>
                  <a:endParaRPr lang="ru-RU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&quot; ₽&quot;;&quot;−&quot;#,##0&quot; ₽&quot;;" sourceLinked="0"/>
            <c:spPr>
              <a:noFill/>
              <a:ln>
                <a:noFill/>
              </a:ln>
            </c:spPr>
            <c:txPr>
              <a:bodyPr wrap="none"/>
              <a:lstStyle/>
              <a:p>
                <a:pPr>
                  <a:defRPr sz="1600" b="0">
                    <a:solidFill>
                      <a:srgbClr val="FFFFFF"/>
                    </a:solidFill>
                    <a:latin typeface="Play"/>
                    <a:ea typeface="Play"/>
                    <a:cs typeface="Play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Реклама в соцсетях</c:v>
                </c:pt>
                <c:pt idx="1">
                  <c:v>Районные сообщества</c:v>
                </c:pt>
                <c:pt idx="2">
                  <c:v>Партнерства</c:v>
                </c:pt>
                <c:pt idx="3">
                  <c:v>Мероприятия</c:v>
                </c:pt>
                <c:pt idx="4">
                  <c:v>Печатные материалы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90000.0</c:v>
                </c:pt>
                <c:pt idx="1">
                  <c:v>60000.0</c:v>
                </c:pt>
                <c:pt idx="2">
                  <c:v>40000.0</c:v>
                </c:pt>
                <c:pt idx="3">
                  <c:v>30000.0</c:v>
                </c:pt>
                <c:pt idx="4">
                  <c:v>20000.0</c:v>
                </c:pt>
              </c:numCache>
            </c:numRef>
          </c:val>
        </c:ser>
        <c:dLbls>
          <c:numFmt formatCode="#,##0&quot; ₽&quot;;&quot;−&quot;#,##0&quot; ₽&quot;;" sourceLinked="0"/>
          <c:spPr>
            <a:noFill/>
            <a:ln>
              <a:noFill/>
            </a:ln>
          </c:spPr>
          <c:txPr>
            <a:bodyPr wrap="none"/>
            <a:lstStyle/>
            <a:p>
              <a:pPr>
                <a:defRPr sz="1600" b="0">
                  <a:solidFill>
                    <a:srgbClr val="FFFFFF"/>
                  </a:solidFill>
                  <a:latin typeface="Play"/>
                  <a:ea typeface="Play"/>
                  <a:cs typeface="Play"/>
                </a:defRPr>
              </a:pPr>
              <a:endParaRPr lang="ru-RU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510000001"/>
        <c:axId val="510000002"/>
      </c:barChart>
      <c:catAx>
        <c:axId val="510000001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 rot="0" vert="horz"/>
          <a:lstStyle/>
          <a:p>
            <a:pPr>
              <a:defRPr sz="1200" b="0">
                <a:solidFill>
                  <a:srgbClr val="A8A8A8"/>
                </a:solidFill>
                <a:latin typeface="Play"/>
                <a:ea typeface="Play"/>
                <a:cs typeface="Play"/>
              </a:defRPr>
            </a:pPr>
            <a:endParaRPr lang="ru-RU"/>
          </a:p>
        </c:txPr>
        <c:crossAx val="510000002"/>
        <c:crosses val="autoZero"/>
        <c:auto val="1"/>
        <c:lblAlgn val="ctr"/>
        <c:lblOffset val="100"/>
        <c:tickLblSkip val="1"/>
        <c:noMultiLvlLbl val="0"/>
      </c:catAx>
      <c:valAx>
        <c:axId val="510000002"/>
        <c:scaling>
          <c:max val="90000.0"/>
          <c:min val="0.0"/>
        </c:scaling>
        <c:delete val="1"/>
        <c:axPos val="b"/>
        <c:majorTickMark val="out"/>
        <c:minorTickMark val="none"/>
        <c:tickLblPos val="nextTo"/>
        <c:crossAx val="510000001"/>
        <c:crosses val="autoZero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1200">
          <a:solidFill>
            <a:srgbClr val="FFFFFF"/>
          </a:solidFill>
          <a:latin typeface="Play"/>
          <a:ea typeface="Play"/>
          <a:cs typeface="Play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chart>
    <c:autoTitleDeleted val="1"/>
    <c:plotArea>
      <c:layout>
        <c:manualLayout>
          <c:layoutTarget val="inner"/>
          <c:xMode val="edge"/>
          <c:yMode val="edge"/>
          <c:x val="0.0429"/>
          <c:y val="0.0429"/>
          <c:w val="0.9143"/>
          <c:h val="0.9143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Вложения</c:v>
                </c:pt>
              </c:strCache>
            </c:strRef>
          </c:tx>
          <c:dPt>
            <c:idx val="0"/>
            <c:spPr>
              <a:solidFill>
                <a:srgbClr val="0077FF"/>
              </a:solidFill>
              <a:ln w="19050">
                <a:solidFill>
                  <a:srgbClr val="000000"/>
                </a:solidFill>
              </a:ln>
            </c:spPr>
          </c:dPt>
          <c:dPt>
            <c:idx val="1"/>
            <c:spPr>
              <a:solidFill>
                <a:srgbClr val="2E8FFF"/>
              </a:solidFill>
              <a:ln w="19050">
                <a:solidFill>
                  <a:srgbClr val="000000"/>
                </a:solidFill>
              </a:ln>
            </c:spPr>
          </c:dPt>
          <c:dPt>
            <c:idx val="2"/>
            <c:spPr>
              <a:solidFill>
                <a:srgbClr val="5CA8FF"/>
              </a:solidFill>
              <a:ln w="19050">
                <a:solidFill>
                  <a:srgbClr val="000000"/>
                </a:solidFill>
              </a:ln>
            </c:spPr>
          </c:dPt>
          <c:dPt>
            <c:idx val="3"/>
            <c:spPr>
              <a:solidFill>
                <a:srgbClr val="8AC0FF"/>
              </a:solidFill>
              <a:ln w="19050">
                <a:solidFill>
                  <a:srgbClr val="000000"/>
                </a:solidFill>
              </a:ln>
            </c:spPr>
          </c:dPt>
          <c:dPt>
            <c:idx val="4"/>
            <c:spPr>
              <a:solidFill>
                <a:srgbClr val="B8D9FF"/>
              </a:solidFill>
              <a:ln w="19050">
                <a:solidFill>
                  <a:srgbClr val="000000"/>
                </a:solidFill>
              </a:ln>
            </c:spPr>
          </c:dPt>
          <c:dPt>
            <c:idx val="5"/>
            <c:spPr>
              <a:solidFill>
                <a:srgbClr val="E6F1FF"/>
              </a:solidFill>
              <a:ln w="19050">
                <a:solidFill>
                  <a:srgbClr val="000000"/>
                </a:solidFill>
              </a:ln>
            </c:spPr>
          </c:dPt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numFmt formatCode="#,##0&quot; ₽&quot;;&quot;−&quot;#,##0&quot; ₽&quot;;" sourceLinked="0"/>
            <c:spPr>
              <a:noFill/>
              <a:ln>
                <a:noFill/>
              </a:ln>
            </c:spPr>
            <c:txPr>
              <a:bodyPr wrap="none"/>
              <a:lstStyle/>
              <a:p>
                <a:pPr>
                  <a:defRPr sz="1600" b="0">
                    <a:solidFill>
                      <a:srgbClr val="FFFFFF"/>
                    </a:solidFill>
                    <a:latin typeface="Play"/>
                    <a:ea typeface="Play"/>
                    <a:cs typeface="Play"/>
                  </a:defRPr>
                </a:pPr>
                <a:endParaRPr lang="ru-RU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Ремонт и подготовка помещения</c:v>
                </c:pt>
                <c:pt idx="1">
                  <c:v>Оборотный резерв</c:v>
                </c:pt>
                <c:pt idx="2">
                  <c:v>Оборудование и инвентарь</c:v>
                </c:pt>
                <c:pt idx="3">
                  <c:v>Мебель и обустройство раздевалок</c:v>
                </c:pt>
                <c:pt idx="4">
                  <c:v>Обеспечительный платеж по аренде</c:v>
                </c:pt>
                <c:pt idx="5">
                  <c:v>Сайт и система записи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900000.0</c:v>
                </c:pt>
                <c:pt idx="1">
                  <c:v>850000.0</c:v>
                </c:pt>
                <c:pt idx="2">
                  <c:v>650000.0</c:v>
                </c:pt>
                <c:pt idx="3">
                  <c:v>300000.0</c:v>
                </c:pt>
                <c:pt idx="4">
                  <c:v>180000.0</c:v>
                </c:pt>
                <c:pt idx="5">
                  <c:v>120000.0</c:v>
                </c:pt>
              </c:numCache>
            </c:numRef>
          </c:val>
        </c:ser>
        <c:dLbls>
          <c:numFmt formatCode="#,##0&quot; ₽&quot;;&quot;−&quot;#,##0&quot; ₽&quot;;" sourceLinked="0"/>
          <c:spPr>
            <a:noFill/>
            <a:ln>
              <a:noFill/>
            </a:ln>
          </c:spPr>
          <c:txPr>
            <a:bodyPr wrap="none"/>
            <a:lstStyle/>
            <a:p>
              <a:pPr>
                <a:defRPr sz="1600" b="0">
                  <a:solidFill>
                    <a:srgbClr val="FFFFFF"/>
                  </a:solidFill>
                  <a:latin typeface="Play"/>
                  <a:ea typeface="Play"/>
                  <a:cs typeface="Play"/>
                </a:defRPr>
              </a:pPr>
              <a:endParaRPr lang="ru-RU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1200">
          <a:solidFill>
            <a:srgbClr val="FFFFFF"/>
          </a:solidFill>
          <a:latin typeface="Play"/>
          <a:ea typeface="Play"/>
          <a:cs typeface="Play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2639"/>
          <c:y val="0.0138"/>
          <c:w val="0.5589"/>
          <c:h val="0.9725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Значения</c:v>
                </c:pt>
              </c:strCache>
            </c:strRef>
          </c:tx>
          <c:spPr>
            <a:solidFill>
              <a:srgbClr val="0077FF"/>
            </a:solidFill>
            <a:ln>
              <a:noFill/>
            </a:ln>
          </c:spPr>
          <c:invertIfNegative val="0"/>
          <c:dLbls>
            <c:dLbl>
              <c:idx val="0"/>
              <c:numFmt formatCode="#,##0&quot; ₽&quot;;&quot;−&quot;#,##0&quot; ₽&quot;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600" b="0">
                      <a:solidFill>
                        <a:srgbClr val="FFFFFF"/>
                      </a:solidFill>
                      <a:latin typeface="Play"/>
                      <a:ea typeface="Play"/>
                      <a:cs typeface="Play"/>
                    </a:defRPr>
                  </a:pPr>
                  <a:endParaRPr lang="ru-RU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&quot; ₽&quot;;&quot;−&quot;#,##0&quot; ₽&quot;;" sourceLinked="0"/>
            <c:spPr>
              <a:noFill/>
              <a:ln>
                <a:noFill/>
              </a:ln>
            </c:spPr>
            <c:txPr>
              <a:bodyPr wrap="none"/>
              <a:lstStyle/>
              <a:p>
                <a:pPr>
                  <a:defRPr sz="1600" b="0">
                    <a:solidFill>
                      <a:srgbClr val="FFFFFF"/>
                    </a:solidFill>
                    <a:latin typeface="Play"/>
                    <a:ea typeface="Play"/>
                    <a:cs typeface="Play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Выручка</c:v>
                </c:pt>
                <c:pt idx="1">
                  <c:v>Расходы</c:v>
                </c:pt>
                <c:pt idx="2">
                  <c:v>Операционная прибыль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1262500.0</c:v>
                </c:pt>
                <c:pt idx="1">
                  <c:v>1038125.0</c:v>
                </c:pt>
                <c:pt idx="2">
                  <c:v>224375.0</c:v>
                </c:pt>
              </c:numCache>
            </c:numRef>
          </c:val>
        </c:ser>
        <c:dLbls>
          <c:numFmt formatCode="#,##0&quot; ₽&quot;;&quot;−&quot;#,##0&quot; ₽&quot;;" sourceLinked="0"/>
          <c:spPr>
            <a:noFill/>
            <a:ln>
              <a:noFill/>
            </a:ln>
          </c:spPr>
          <c:txPr>
            <a:bodyPr wrap="none"/>
            <a:lstStyle/>
            <a:p>
              <a:pPr>
                <a:defRPr sz="1600" b="0">
                  <a:solidFill>
                    <a:srgbClr val="FFFFFF"/>
                  </a:solidFill>
                  <a:latin typeface="Play"/>
                  <a:ea typeface="Play"/>
                  <a:cs typeface="Play"/>
                </a:defRPr>
              </a:pPr>
              <a:endParaRPr lang="ru-RU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4"/>
        <c:axId val="510000001"/>
        <c:axId val="510000002"/>
      </c:barChart>
      <c:catAx>
        <c:axId val="510000001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 rot="0" vert="horz"/>
          <a:lstStyle/>
          <a:p>
            <a:pPr>
              <a:defRPr sz="1200" b="0">
                <a:solidFill>
                  <a:srgbClr val="A8A8A8"/>
                </a:solidFill>
                <a:latin typeface="Play"/>
                <a:ea typeface="Play"/>
                <a:cs typeface="Play"/>
              </a:defRPr>
            </a:pPr>
            <a:endParaRPr lang="ru-RU"/>
          </a:p>
        </c:txPr>
        <c:crossAx val="510000002"/>
        <c:crosses val="autoZero"/>
        <c:auto val="1"/>
        <c:lblAlgn val="ctr"/>
        <c:lblOffset val="100"/>
        <c:tickLblSkip val="1"/>
        <c:noMultiLvlLbl val="0"/>
      </c:catAx>
      <c:valAx>
        <c:axId val="510000002"/>
        <c:scaling>
          <c:max val="1262500.0"/>
          <c:min val="0.0"/>
        </c:scaling>
        <c:delete val="1"/>
        <c:axPos val="b"/>
        <c:majorTickMark val="out"/>
        <c:minorTickMark val="none"/>
        <c:tickLblPos val="nextTo"/>
        <c:crossAx val="510000001"/>
        <c:crosses val="autoZero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1200">
          <a:solidFill>
            <a:srgbClr val="FFFFFF"/>
          </a:solidFill>
          <a:latin typeface="Play"/>
          <a:ea typeface="Play"/>
          <a:cs typeface="Play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0039"/>
          <c:y val="0.1155"/>
          <c:w val="0.9921"/>
          <c:h val="0.8112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Активные клиенты</c:v>
                </c:pt>
              </c:strCache>
            </c:strRef>
          </c:tx>
          <c:spPr>
            <a:ln w="28575">
              <a:solidFill>
                <a:srgbClr val="0077FF"/>
              </a:solidFill>
            </a:ln>
          </c:spPr>
          <c:marker>
            <c:symbol val="circle"/>
            <c:size val="8"/>
            <c:spPr>
              <a:solidFill>
                <a:srgbClr val="0077FF"/>
              </a:solidFill>
              <a:ln w="19050">
                <a:solidFill>
                  <a:srgbClr val="000000"/>
                </a:solidFill>
              </a:ln>
            </c:spPr>
          </c:marker>
          <c:dPt>
            <c:idx val="5"/>
            <c:marker>
              <c:symbol val="circle"/>
              <c:size val="11"/>
              <c:spPr>
                <a:solidFill>
                  <a:srgbClr val="0077FF"/>
                </a:solidFill>
                <a:ln w="25400">
                  <a:solidFill>
                    <a:srgbClr val="000000"/>
                  </a:solidFill>
                </a:ln>
              </c:spPr>
            </c:marker>
          </c:dPt>
          <c:dLbls>
            <c:dLbl>
              <c:idx val="0"/>
              <c:numFmt formatCode="#,##0;&quot;−&quot;#,##0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600" b="0">
                      <a:solidFill>
                        <a:srgbClr val="FFFFFF"/>
                      </a:solidFill>
                      <a:latin typeface="Play"/>
                      <a:ea typeface="Play"/>
                      <a:cs typeface="Play"/>
                    </a:defRPr>
                  </a:pPr>
                  <a:endParaRPr lang="ru-RU"/>
                </a:p>
              </c:txPr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-0.0792"/>
                  <c:y val="0.0000"/>
                </c:manualLayout>
              </c:layout>
              <c:numFmt formatCode="#,##0;&quot;−&quot;#,##0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600" b="0">
                      <a:solidFill>
                        <a:srgbClr val="FFFFFF"/>
                      </a:solidFill>
                      <a:latin typeface="Play"/>
                      <a:ea typeface="Play"/>
                      <a:cs typeface="Play"/>
                    </a:defRPr>
                  </a:pPr>
                  <a:endParaRPr lang="ru-RU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>
                <c:manualLayout>
                  <c:x val="-0.0792"/>
                  <c:y val="0.0000"/>
                </c:manualLayout>
              </c:layout>
              <c:numFmt formatCode="#,##0;&quot;−&quot;#,##0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600" b="0">
                      <a:solidFill>
                        <a:srgbClr val="FFFFFF"/>
                      </a:solidFill>
                      <a:latin typeface="Play"/>
                      <a:ea typeface="Play"/>
                      <a:cs typeface="Play"/>
                    </a:defRPr>
                  </a:pPr>
                  <a:endParaRPr lang="ru-RU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layout>
                <c:manualLayout>
                  <c:x val="-0.0792"/>
                  <c:y val="0.0000"/>
                </c:manualLayout>
              </c:layout>
              <c:numFmt formatCode="#,##0;&quot;−&quot;#,##0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600" b="0">
                      <a:solidFill>
                        <a:srgbClr val="FFFFFF"/>
                      </a:solidFill>
                      <a:latin typeface="Play"/>
                      <a:ea typeface="Play"/>
                      <a:cs typeface="Play"/>
                    </a:defRPr>
                  </a:pPr>
                  <a:endParaRPr lang="ru-RU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layout>
                <c:manualLayout>
                  <c:x val="-0.0792"/>
                  <c:y val="0.0000"/>
                </c:manualLayout>
              </c:layout>
              <c:numFmt formatCode="#,##0;&quot;−&quot;#,##0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600" b="0">
                      <a:solidFill>
                        <a:srgbClr val="FFFFFF"/>
                      </a:solidFill>
                      <a:latin typeface="Play"/>
                      <a:ea typeface="Play"/>
                      <a:cs typeface="Play"/>
                    </a:defRPr>
                  </a:pPr>
                  <a:endParaRPr lang="ru-RU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numFmt formatCode="#,##0;&quot;−&quot;#,##0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2000" b="0">
                      <a:solidFill>
                        <a:srgbClr val="0077FF"/>
                      </a:solidFill>
                      <a:latin typeface="Play"/>
                      <a:ea typeface="Play"/>
                      <a:cs typeface="Play"/>
                    </a:defRPr>
                  </a:pPr>
                  <a:endParaRPr lang="ru-RU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;&quot;−&quot;#,##0;" sourceLinked="0"/>
            <c:spPr>
              <a:noFill/>
              <a:ln>
                <a:noFill/>
              </a:ln>
            </c:spPr>
            <c:txPr>
              <a:bodyPr wrap="none"/>
              <a:lstStyle/>
              <a:p>
                <a:pPr>
                  <a:defRPr sz="1600" b="0">
                    <a:solidFill>
                      <a:srgbClr val="FFFFFF"/>
                    </a:solidFill>
                    <a:latin typeface="Play"/>
                    <a:ea typeface="Play"/>
                    <a:cs typeface="Play"/>
                  </a:defRPr>
                </a:pPr>
                <a:endParaRPr lang="ru-RU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1 мес.</c:v>
                </c:pt>
                <c:pt idx="1">
                  <c:v>2 мес.</c:v>
                </c:pt>
                <c:pt idx="2">
                  <c:v>3 мес.</c:v>
                </c:pt>
                <c:pt idx="3">
                  <c:v>4 мес.</c:v>
                </c:pt>
                <c:pt idx="4">
                  <c:v>5 мес.</c:v>
                </c:pt>
                <c:pt idx="5">
                  <c:v>6 мес.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80.0</c:v>
                </c:pt>
                <c:pt idx="1">
                  <c:v>120.0</c:v>
                </c:pt>
                <c:pt idx="2">
                  <c:v>160.0</c:v>
                </c:pt>
                <c:pt idx="3">
                  <c:v>195.0</c:v>
                </c:pt>
                <c:pt idx="4">
                  <c:v>225.0</c:v>
                </c:pt>
                <c:pt idx="5">
                  <c:v>250.0</c:v>
                </c:pt>
              </c:numCache>
            </c:numRef>
          </c:val>
          <c:smooth val="0"/>
        </c:ser>
        <c:dLbls>
          <c:numFmt formatCode="#,##0&quot; человек&quot;;&quot;−&quot;#,##0&quot; человек&quot;;" sourceLinked="0"/>
          <c:spPr>
            <a:noFill/>
            <a:ln>
              <a:noFill/>
            </a:ln>
          </c:spPr>
          <c:txPr>
            <a:bodyPr wrap="none"/>
            <a:lstStyle/>
            <a:p>
              <a:pPr>
                <a:defRPr sz="1600" b="0">
                  <a:solidFill>
                    <a:srgbClr val="FFFFFF"/>
                  </a:solidFill>
                  <a:latin typeface="Play"/>
                  <a:ea typeface="Play"/>
                  <a:cs typeface="Play"/>
                </a:defRPr>
              </a:pPr>
              <a:endParaRPr lang="ru-RU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smooth val="0"/>
        <c:axId val="510000001"/>
        <c:axId val="510000002"/>
      </c:lineChart>
      <c:catAx>
        <c:axId val="510000001"/>
        <c:scaling>
          <c:orientation val="minMax"/>
        </c:scaling>
        <c:delete val="0"/>
        <c:axPos val="b"/>
        <c:majorTickMark val="none"/>
        <c:minorTickMark val="none"/>
        <c:tickLblPos val="low"/>
        <c:spPr>
          <a:ln w="9525">
            <a:solidFill>
              <a:srgbClr val="404040"/>
            </a:solidFill>
          </a:ln>
        </c:spPr>
        <c:txPr>
          <a:bodyPr rot="0" vert="horz"/>
          <a:lstStyle/>
          <a:p>
            <a:pPr>
              <a:defRPr sz="1200" b="0">
                <a:solidFill>
                  <a:srgbClr val="A8A8A8"/>
                </a:solidFill>
                <a:latin typeface="Play"/>
                <a:ea typeface="Play"/>
                <a:cs typeface="Play"/>
              </a:defRPr>
            </a:pPr>
            <a:endParaRPr lang="ru-RU"/>
          </a:p>
        </c:txPr>
        <c:crossAx val="510000002"/>
        <c:crosses val="autoZero"/>
        <c:auto val="1"/>
        <c:lblAlgn val="ctr"/>
        <c:lblOffset val="100"/>
        <c:tickLblSkip val="1"/>
        <c:noMultiLvlLbl val="0"/>
      </c:catAx>
      <c:valAx>
        <c:axId val="510000002"/>
        <c:scaling>
          <c:max val="250.0"/>
          <c:min val="0.0"/>
        </c:scaling>
        <c:delete val="1"/>
        <c:axPos val="l"/>
        <c:majorTickMark val="out"/>
        <c:minorTickMark val="none"/>
        <c:tickLblPos val="nextTo"/>
        <c:crossAx val="510000001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200">
          <a:solidFill>
            <a:srgbClr val="FFFFFF"/>
          </a:solidFill>
          <a:latin typeface="Play"/>
          <a:ea typeface="Play"/>
          <a:cs typeface="Play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2567"/>
          <c:y val="0.0333"/>
          <c:w val="0.4957"/>
          <c:h val="0.8307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Операционный результат</c:v>
                </c:pt>
              </c:strCache>
            </c:strRef>
          </c:tx>
          <c:spPr>
            <a:ln w="28575">
              <a:solidFill>
                <a:srgbClr val="0077FF"/>
              </a:solidFill>
            </a:ln>
          </c:spPr>
          <c:marker>
            <c:symbol val="circle"/>
            <c:size val="8"/>
            <c:spPr>
              <a:solidFill>
                <a:srgbClr val="0077FF"/>
              </a:solidFill>
              <a:ln w="19050">
                <a:solidFill>
                  <a:srgbClr val="000000"/>
                </a:solidFill>
              </a:ln>
            </c:spPr>
          </c:marker>
          <c:dPt>
            <c:idx val="5"/>
            <c:marker>
              <c:symbol val="circle"/>
              <c:size val="11"/>
              <c:spPr>
                <a:solidFill>
                  <a:srgbClr val="0077FF"/>
                </a:solidFill>
                <a:ln w="25400">
                  <a:solidFill>
                    <a:srgbClr val="000000"/>
                  </a:solidFill>
                </a:ln>
              </c:spPr>
            </c:marker>
          </c:dPt>
          <c:dLbls>
            <c:dLbl>
              <c:idx val="5"/>
              <c:numFmt formatCode="#,##0&quot; ₽&quot;;&quot;−&quot;#,##0&quot; ₽&quot;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500" b="0">
                      <a:solidFill>
                        <a:srgbClr val="0077FF"/>
                      </a:solidFill>
                      <a:latin typeface="Play"/>
                      <a:ea typeface="Play"/>
                      <a:cs typeface="Play"/>
                    </a:defRPr>
                  </a:pPr>
                  <a:endParaRPr lang="ru-RU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&quot; ₽&quot;;&quot;−&quot;#,##0&quot; ₽&quot;;" sourceLinked="0"/>
            <c:spPr>
              <a:noFill/>
              <a:ln>
                <a:noFill/>
              </a:ln>
            </c:spPr>
            <c:txPr>
              <a:bodyPr wrap="none"/>
              <a:lstStyle/>
              <a:p>
                <a:pPr>
                  <a:defRPr sz="1200" b="0">
                    <a:solidFill>
                      <a:srgbClr val="0077FF"/>
                    </a:solidFill>
                    <a:latin typeface="Play"/>
                    <a:ea typeface="Play"/>
                    <a:cs typeface="Play"/>
                  </a:defRPr>
                </a:pPr>
                <a:endParaRPr lang="ru-RU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/>
                </c:pt>
                <c:pt idx="1">
                  <c:v>2 мес.</c:v>
                </c:pt>
                <c:pt idx="2">
                  <c:v/>
                </c:pt>
                <c:pt idx="3">
                  <c:v>4 мес.</c:v>
                </c:pt>
                <c:pt idx="4">
                  <c:v/>
                </c:pt>
                <c:pt idx="5">
                  <c:v>6 мес.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-591200.0</c:v>
                </c:pt>
                <c:pt idx="1">
                  <c:v>-399300.0</c:v>
                </c:pt>
                <c:pt idx="2">
                  <c:v>-207400.0</c:v>
                </c:pt>
                <c:pt idx="3">
                  <c:v>-39487.5</c:v>
                </c:pt>
                <c:pt idx="4">
                  <c:v>104437.5</c:v>
                </c:pt>
                <c:pt idx="5">
                  <c:v>224375.0</c:v>
                </c:pt>
              </c:numCache>
            </c:numRef>
          </c:val>
          <c:smooth val="0"/>
        </c:ser>
        <c:dLbls>
          <c:numFmt formatCode="#,##0&quot; ₽&quot;;&quot;−&quot;#,##0&quot; ₽&quot;;" sourceLinked="0"/>
          <c:spPr>
            <a:noFill/>
            <a:ln>
              <a:noFill/>
            </a:ln>
          </c:spPr>
          <c:txPr>
            <a:bodyPr wrap="none"/>
            <a:lstStyle/>
            <a:p>
              <a:pPr>
                <a:defRPr sz="1200" b="0">
                  <a:solidFill>
                    <a:srgbClr val="FFFFFF"/>
                  </a:solidFill>
                  <a:latin typeface="Play"/>
                  <a:ea typeface="Play"/>
                  <a:cs typeface="Play"/>
                </a:defRPr>
              </a:pPr>
              <a:endParaRPr lang="ru-RU"/>
            </a:p>
          </c:txPr>
          <c:dLblPos val="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smooth val="0"/>
        <c:axId val="510000001"/>
        <c:axId val="510000002"/>
      </c:lineChart>
      <c:catAx>
        <c:axId val="510000001"/>
        <c:scaling>
          <c:orientation val="minMax"/>
        </c:scaling>
        <c:delete val="0"/>
        <c:axPos val="b"/>
        <c:majorTickMark val="none"/>
        <c:minorTickMark val="none"/>
        <c:tickLblPos val="low"/>
        <c:spPr>
          <a:ln w="9525">
            <a:solidFill>
              <a:srgbClr val="404040"/>
            </a:solidFill>
          </a:ln>
        </c:spPr>
        <c:txPr>
          <a:bodyPr rot="-2700000"/>
          <a:lstStyle/>
          <a:p>
            <a:pPr>
              <a:defRPr sz="1200" b="0">
                <a:solidFill>
                  <a:srgbClr val="A8A8A8"/>
                </a:solidFill>
                <a:latin typeface="Play"/>
                <a:ea typeface="Play"/>
                <a:cs typeface="Play"/>
              </a:defRPr>
            </a:pPr>
            <a:endParaRPr lang="ru-RU"/>
          </a:p>
        </c:txPr>
        <c:crossAx val="510000002"/>
        <c:crosses val="autoZero"/>
        <c:auto val="1"/>
        <c:lblAlgn val="ctr"/>
        <c:lblOffset val="100"/>
        <c:tickLblSkip val="1"/>
        <c:noMultiLvlLbl val="0"/>
      </c:catAx>
      <c:valAx>
        <c:axId val="510000002"/>
        <c:scaling>
          <c:max val="400000.0"/>
          <c:min val="-600000.0"/>
        </c:scaling>
        <c:delete val="0"/>
        <c:axPos val="l"/>
        <c:majorGridlines>
          <c:spPr>
            <a:ln w="6350">
              <a:solidFill>
                <a:srgbClr val="2D2D2D"/>
              </a:solidFill>
            </a:ln>
          </c:spPr>
        </c:majorGridlines>
        <c:numFmt formatCode="#,##0&quot; ₽&quot;" sourceLinked="0"/>
        <c:majorTickMark val="none"/>
        <c:minorTickMark val="none"/>
        <c:tickLblPos val="nextTo"/>
        <c:spPr>
          <a:ln>
            <a:noFill/>
          </a:ln>
        </c:spPr>
        <c:txPr>
          <a:bodyPr rot="0" vert="horz"/>
          <a:lstStyle/>
          <a:p>
            <a:pPr>
              <a:defRPr sz="1200" b="0">
                <a:solidFill>
                  <a:srgbClr val="A8A8A8"/>
                </a:solidFill>
                <a:latin typeface="Play"/>
                <a:ea typeface="Play"/>
                <a:cs typeface="Play"/>
              </a:defRPr>
            </a:pPr>
            <a:endParaRPr lang="ru-RU"/>
          </a:p>
        </c:txPr>
        <c:crossAx val="510000001"/>
        <c:crosses val="autoZero"/>
        <c:crossBetween val="between"/>
        <c:majorUnit val="200000.0"/>
      </c:valAx>
      <c:spPr>
        <a:noFill/>
        <a:ln>
          <a:noFill/>
        </a:ln>
      </c:spPr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200">
          <a:solidFill>
            <a:srgbClr val="FFFFFF"/>
          </a:solidFill>
          <a:latin typeface="Play"/>
          <a:ea typeface="Play"/>
          <a:cs typeface="Play"/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3487"/>
          <c:y val="0.0132"/>
          <c:w val="0.4617"/>
          <c:h val="0.9737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Сумма</c:v>
                </c:pt>
              </c:strCache>
            </c:strRef>
          </c:tx>
          <c:spPr>
            <a:solidFill>
              <a:srgbClr val="0077FF"/>
            </a:solidFill>
            <a:ln>
              <a:noFill/>
            </a:ln>
          </c:spPr>
          <c:invertIfNegative val="0"/>
          <c:dLbls>
            <c:dLbl>
              <c:idx val="0"/>
              <c:numFmt formatCode="#,##0&quot; ₽&quot;;&quot;−&quot;#,##0&quot; ₽&quot;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600" b="0">
                      <a:solidFill>
                        <a:srgbClr val="FFFFFF"/>
                      </a:solidFill>
                      <a:latin typeface="Play"/>
                      <a:ea typeface="Play"/>
                      <a:cs typeface="Play"/>
                    </a:defRPr>
                  </a:pPr>
                  <a:endParaRPr lang="ru-RU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&quot; ₽&quot;;&quot;−&quot;#,##0&quot; ₽&quot;;" sourceLinked="0"/>
            <c:spPr>
              <a:noFill/>
              <a:ln>
                <a:noFill/>
              </a:ln>
            </c:spPr>
            <c:txPr>
              <a:bodyPr wrap="none"/>
              <a:lstStyle/>
              <a:p>
                <a:pPr>
                  <a:defRPr sz="1600" b="0">
                    <a:solidFill>
                      <a:srgbClr val="FFFFFF"/>
                    </a:solidFill>
                    <a:latin typeface="Play"/>
                    <a:ea typeface="Play"/>
                    <a:cs typeface="Play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Имеющийся резерв</c:v>
                </c:pt>
                <c:pt idx="1">
                  <c:v>Прогнозируемая потребность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850000.0</c:v>
                </c:pt>
                <c:pt idx="1">
                  <c:v>1237388.0</c:v>
                </c:pt>
              </c:numCache>
            </c:numRef>
          </c:val>
        </c:ser>
        <c:dLbls>
          <c:numFmt formatCode="#,##0&quot; ₽&quot;;&quot;−&quot;#,##0&quot; ₽&quot;;" sourceLinked="0"/>
          <c:spPr>
            <a:noFill/>
            <a:ln>
              <a:noFill/>
            </a:ln>
          </c:spPr>
          <c:txPr>
            <a:bodyPr wrap="none"/>
            <a:lstStyle/>
            <a:p>
              <a:pPr>
                <a:defRPr sz="1600" b="0">
                  <a:solidFill>
                    <a:srgbClr val="FFFFFF"/>
                  </a:solidFill>
                  <a:latin typeface="Play"/>
                  <a:ea typeface="Play"/>
                  <a:cs typeface="Play"/>
                </a:defRPr>
              </a:pPr>
              <a:endParaRPr lang="ru-RU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220"/>
        <c:axId val="510000001"/>
        <c:axId val="510000002"/>
      </c:barChart>
      <c:catAx>
        <c:axId val="510000001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 rot="0" vert="horz"/>
          <a:lstStyle/>
          <a:p>
            <a:pPr>
              <a:defRPr sz="1200" b="0">
                <a:solidFill>
                  <a:srgbClr val="A8A8A8"/>
                </a:solidFill>
                <a:latin typeface="Play"/>
                <a:ea typeface="Play"/>
                <a:cs typeface="Play"/>
              </a:defRPr>
            </a:pPr>
            <a:endParaRPr lang="ru-RU"/>
          </a:p>
        </c:txPr>
        <c:crossAx val="510000002"/>
        <c:crosses val="autoZero"/>
        <c:auto val="1"/>
        <c:lblAlgn val="ctr"/>
        <c:lblOffset val="100"/>
        <c:tickLblSkip val="1"/>
        <c:noMultiLvlLbl val="0"/>
      </c:catAx>
      <c:valAx>
        <c:axId val="510000002"/>
        <c:scaling>
          <c:max val="1237388.0"/>
          <c:min val="0.0"/>
        </c:scaling>
        <c:delete val="1"/>
        <c:axPos val="b"/>
        <c:majorTickMark val="out"/>
        <c:minorTickMark val="none"/>
        <c:tickLblPos val="nextTo"/>
        <c:crossAx val="510000001"/>
        <c:crosses val="autoZero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1200">
          <a:solidFill>
            <a:srgbClr val="FFFFFF"/>
          </a:solidFill>
          <a:latin typeface="Play"/>
          <a:ea typeface="Play"/>
          <a:cs typeface="Play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Фитнес-студия «Движение» предназначена для групповых тренировок вблизи жилья. Основные направления включают силовые занятия, растяжку, йогу и функциональные тренировки. Цель проекта — привлечь 250 постоянных клиентов и выйти на ежемесячную операционную прибыль 225 000 рублей к шестому месяцу работы.</a:t>
            </a:r>
          </a:p>
          <a:p>
            <a:r>
              <a:t>[verstka:sl2]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В районе проживает 18 000 человек. Из них 8 000 относятся к возрастной группе от 23 до 45 лет. Для достижения цели необходимо привлечь 21% этой аудитории — 250 человек.</a:t>
            </a:r>
          </a:p>
          <a:p>
            <a:r>
              <a:t>[verstka:sl3]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Данные основаны на опросе 200 жителей района. Каждый участник указал один основной критерий выбора фитнес-студии.</a:t>
            </a:r>
          </a:p>
          <a:p>
            <a:r>
              <a:t>[verstka:sl4]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Средняя выручка на клиента рассчитана на основе ожидаемого распределения покупателей абонементов: 25% выберут четыре занятия, 50% — восемь занятий, 25% — двенадцать занятий.</a:t>
            </a:r>
          </a:p>
          <a:p>
            <a:r>
              <a:t>[verstka:sl5]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Месячная вместимость студии составляет 2 700 посещений, а ожидаемое количество посещений — 2 000. Это означает, что загрузка студии составит около 74%.</a:t>
            </a:r>
          </a:p>
          <a:p>
            <a:r>
              <a:t>[verstka:sl6]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Общая площадь студии — 180 м². Тренировочный зал занимает 100 м², что составляет больше половины площади. Остальные зоны включают раздевалки и душевые (35 м²), зону ресепшена и ожидания (25 м²), подсобные помещения (20 м²).</a:t>
            </a:r>
          </a:p>
          <a:p>
            <a:r>
              <a:t>[verstka:sl7]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Для запуска потребуются четыре тренера, два администратора, работающих посменно, и специалист по уборке на частичной занятости. Управление студией на первом этапе возьмет на себя владелец. Месячный бюджет команды — 420 000 рублей: оплата работы тренеров — 260 000 рублей, администраторов — 110 000 рублей, уборки — 30 000 рублей, резерв на замены — 20 000 рублей. Это совокупный бюджет с учетом предусмотренных начислений. Отдельная зарплата владельца в модель не включена.</a:t>
            </a:r>
          </a:p>
          <a:p>
            <a:r>
              <a:t>[verstka:sl8]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Бюджет на продвижение — 240 000 ₽. План привлечения клиентов включает 1 000 обращений и 175 проданных абонементов. Средняя стоимость привлечения покупателя — 1 371 ₽.</a:t>
            </a:r>
          </a:p>
          <a:p>
            <a:r>
              <a:t>[verstka:sl9]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Стартовый бюджет проекта — 3 000 000 рублей. На ремонт и подготовку помещения приходится 900 000 рублей.</a:t>
            </a:r>
          </a:p>
          <a:p>
            <a:r>
              <a:t>[verstka:sl10]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При 250 активных клиентах и средней месячной выручке на клиента 5 050 рублей студия получит 1 262 500 рублей выручки. Постоянные ежемесячные расходы составят 975 000 рублей, переменные — 5% от выручки, или 63 125 рублей. Общие расходы — 1 038 125 рублей. Операционная прибыль — 224 375 рублей, рентабельность — 17,8%. Налоги, амортизация и проценты по кредитам не учтены.</a:t>
            </a:r>
          </a:p>
          <a:p>
            <a:r>
              <a:t>[verstka:sl11]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Прогноз показывает, что операционный результат станет плюсовым в пятом месяце, когда выручка достигнет 1 136 250, а расходы останутся на уровне 975 000 ₽ плюс 5% от выручки.</a:t>
            </a:r>
          </a:p>
          <a:p>
            <a:r>
              <a:t>[verstka:sl12]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Суммарный операционный убыток за первые четыре месяца составит около 1 237 388 рублей. Имеющийся резерв — 850 000 рублей — недостаточен, поэтому потребность в финансировании — не менее 387 388 рублей.</a:t>
            </a:r>
          </a:p>
          <a:p>
            <a:r>
              <a:t>[verstka:sl13]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4.png"/><Relationship Id="rId5" Type="http://schemas.openxmlformats.org/officeDocument/2006/relationships/image" Target="../media/image8.png"/><Relationship Id="rId6" Type="http://schemas.openxmlformats.org/officeDocument/2006/relationships/image" Target="../media/image7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4.png"/><Relationship Id="rId6" Type="http://schemas.openxmlformats.org/officeDocument/2006/relationships/image" Target="../media/image7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11.png"/><Relationship Id="rId4" Type="http://schemas.openxmlformats.org/officeDocument/2006/relationships/image" Target="../media/image4.png"/><Relationship Id="rId5" Type="http://schemas.openxmlformats.org/officeDocument/2006/relationships/image" Target="../media/image7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4.png"/><Relationship Id="rId4" Type="http://schemas.openxmlformats.org/officeDocument/2006/relationships/image" Target="../media/image12.png"/><Relationship Id="rId5" Type="http://schemas.openxmlformats.org/officeDocument/2006/relationships/image" Target="../media/image7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23.png"/><Relationship Id="rId4" Type="http://schemas.openxmlformats.org/officeDocument/2006/relationships/image" Target="../media/image7.png"/><Relationship Id="rId5" Type="http://schemas.openxmlformats.org/officeDocument/2006/relationships/image" Target="../media/image4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Титульный слайд">
  <p:cSld name="7_Титульный слайд">
    <p:bg>
      <p:bgPr>
        <a:solidFill>
          <a:schemeClr val="dk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oogle Shape;55;p2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56" name="Google Shape;56;p2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7" name="Google Shape;57;p2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8" name="Google Shape;58;p2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9" name="Google Shape;59;p2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0" name="Google Shape;60;p2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1" name="Google Shape;61;p2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2" name="Google Shape;62;p2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3" name="Google Shape;63;p2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4" name="Google Shape;64;p2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5" name="Google Shape;65;p2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6" name="Google Shape;66;p2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7" name="Google Shape;67;p2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8" name="Google Shape;68;p2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9" name="Google Shape;69;p2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70" name="Google Shape;70;p2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71" name="Google Shape;71;p2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72" name="Google Shape;72;p2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73" name="Google Shape;73;p2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74" name="Google Shape;74;p2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75" name="Google Shape;75;p2"/>
          <p:cNvSpPr txBox="1"/>
          <p:nvPr>
            <p:ph type="title"/>
          </p:nvPr>
        </p:nvSpPr>
        <p:spPr>
          <a:xfrm>
            <a:off x="429253" y="2546255"/>
            <a:ext cx="7827335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76" name="Google Shape;76;p2"/>
          <p:cNvGrpSpPr/>
          <p:nvPr/>
        </p:nvGrpSpPr>
        <p:grpSpPr>
          <a:xfrm>
            <a:off x="1" y="6350"/>
            <a:ext cx="12192792" cy="6851649"/>
            <a:chOff x="0" y="6350"/>
            <a:chExt cx="24396891" cy="13709651"/>
          </a:xfrm>
        </p:grpSpPr>
        <p:pic>
          <p:nvPicPr>
            <p:cNvPr id="77" name="Google Shape;77;p2"/>
            <p:cNvPicPr preferRelativeResize="0"/>
            <p:nvPr/>
          </p:nvPicPr>
          <p:blipFill rotWithShape="1">
            <a:blip r:embed="rId2">
              <a:alphaModFix/>
            </a:blip>
            <a:srcRect b="0" l="0" r="50023" t="80662"/>
            <a:stretch/>
          </p:blipFill>
          <p:spPr>
            <a:xfrm>
              <a:off x="1587" y="11064874"/>
              <a:ext cx="12192000" cy="26511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8" name="Google Shape;78;p2"/>
            <p:cNvSpPr/>
            <p:nvPr/>
          </p:nvSpPr>
          <p:spPr>
            <a:xfrm>
              <a:off x="0" y="10657492"/>
              <a:ext cx="8335061" cy="3058509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79" name="Google Shape;79;p2"/>
            <p:cNvPicPr preferRelativeResize="0"/>
            <p:nvPr/>
          </p:nvPicPr>
          <p:blipFill rotWithShape="1">
            <a:blip r:embed="rId2">
              <a:alphaModFix/>
            </a:blip>
            <a:srcRect b="0" l="52729" r="0" t="82751"/>
            <a:stretch/>
          </p:blipFill>
          <p:spPr>
            <a:xfrm>
              <a:off x="12853797" y="11351172"/>
              <a:ext cx="11531791" cy="236482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0" name="Google Shape;80;p2"/>
            <p:cNvPicPr preferRelativeResize="0"/>
            <p:nvPr/>
          </p:nvPicPr>
          <p:blipFill rotWithShape="1">
            <a:blip r:embed="rId2">
              <a:alphaModFix/>
            </a:blip>
            <a:srcRect b="76357" l="52729" r="0" t="0"/>
            <a:stretch/>
          </p:blipFill>
          <p:spPr>
            <a:xfrm>
              <a:off x="12865099" y="6350"/>
              <a:ext cx="11531792" cy="324134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1" name="Google Shape;81;p2"/>
            <p:cNvPicPr preferRelativeResize="0"/>
            <p:nvPr/>
          </p:nvPicPr>
          <p:blipFill rotWithShape="1">
            <a:blip r:embed="rId2">
              <a:alphaModFix/>
            </a:blip>
            <a:srcRect b="69917" l="0" r="47271" t="0"/>
            <a:stretch/>
          </p:blipFill>
          <p:spPr>
            <a:xfrm>
              <a:off x="1587" y="6350"/>
              <a:ext cx="12863512" cy="4124216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82" name="Google Shape;8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035040"/>
            <a:ext cx="2653844" cy="4181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83" name="Google Shape;83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58522" y="6160788"/>
            <a:ext cx="934755" cy="29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Титульный слайд">
  <p:cSld name="9_Титульный слайд">
    <p:bg>
      <p:bgPr>
        <a:solidFill>
          <a:schemeClr val="dk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3"/>
          <p:cNvPicPr preferRelativeResize="0"/>
          <p:nvPr/>
        </p:nvPicPr>
        <p:blipFill rotWithShape="1">
          <a:blip r:embed="rId2">
            <a:alphaModFix/>
          </a:blip>
          <a:srcRect b="-1" l="0" r="50023" t="66636"/>
          <a:stretch/>
        </p:blipFill>
        <p:spPr>
          <a:xfrm>
            <a:off x="794" y="4572000"/>
            <a:ext cx="6093175" cy="228599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3"/>
          <p:cNvSpPr/>
          <p:nvPr/>
        </p:nvSpPr>
        <p:spPr>
          <a:xfrm>
            <a:off x="1" y="5747081"/>
            <a:ext cx="4487332" cy="111091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745067" y="6160788"/>
            <a:ext cx="4487332" cy="69721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8" name="Google Shape;88;p3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89" name="Google Shape;89;p3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0" name="Google Shape;90;p3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1" name="Google Shape;91;p3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2" name="Google Shape;92;p3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3" name="Google Shape;93;p3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4" name="Google Shape;94;p3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5" name="Google Shape;95;p3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6" name="Google Shape;96;p3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7" name="Google Shape;97;p3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8" name="Google Shape;98;p3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9" name="Google Shape;99;p3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0" name="Google Shape;100;p3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1" name="Google Shape;101;p3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2" name="Google Shape;102;p3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3" name="Google Shape;103;p3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4" name="Google Shape;104;p3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5" name="Google Shape;105;p3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6" name="Google Shape;106;p3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7" name="Google Shape;107;p3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108" name="Google Shape;108;p3"/>
          <p:cNvSpPr txBox="1"/>
          <p:nvPr>
            <p:ph type="title"/>
          </p:nvPr>
        </p:nvSpPr>
        <p:spPr>
          <a:xfrm>
            <a:off x="429254" y="1609196"/>
            <a:ext cx="4803146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09" name="Google Shape;109;p3"/>
          <p:cNvPicPr preferRelativeResize="0"/>
          <p:nvPr/>
        </p:nvPicPr>
        <p:blipFill rotWithShape="1">
          <a:blip r:embed="rId2">
            <a:alphaModFix/>
          </a:blip>
          <a:srcRect b="77450" l="52729" r="0" t="17827"/>
          <a:stretch/>
        </p:blipFill>
        <p:spPr>
          <a:xfrm flipH="1">
            <a:off x="0" y="0"/>
            <a:ext cx="5763224" cy="3235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3"/>
          <p:cNvSpPr/>
          <p:nvPr/>
        </p:nvSpPr>
        <p:spPr>
          <a:xfrm>
            <a:off x="4487333" y="4377664"/>
            <a:ext cx="1608667" cy="248033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112" name="Google Shape;112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9_Заголовок">
  <p:cSld name="19_Заголовок">
    <p:bg>
      <p:bgPr>
        <a:solidFill>
          <a:schemeClr val="dk1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114" name="Google Shape;114;p4"/>
          <p:cNvPicPr preferRelativeResize="0"/>
          <p:nvPr/>
        </p:nvPicPr>
        <p:blipFill rotWithShape="1">
          <a:blip r:embed="rId2">
            <a:alphaModFix/>
          </a:blip>
          <a:srcRect b="0" l="0" r="61122" t="0"/>
          <a:stretch/>
        </p:blipFill>
        <p:spPr>
          <a:xfrm>
            <a:off x="0" y="0"/>
            <a:ext cx="4739951" cy="6857143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4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16" name="Google Shape;11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8_Титульный слайд">
  <p:cSld name="18_Титульный слайд">
    <p:bg>
      <p:bgPr>
        <a:solidFill>
          <a:schemeClr val="dk1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5"/>
          <p:cNvPicPr preferRelativeResize="0"/>
          <p:nvPr/>
        </p:nvPicPr>
        <p:blipFill rotWithShape="1">
          <a:blip r:embed="rId2">
            <a:alphaModFix/>
          </a:blip>
          <a:srcRect b="2847" l="52053" r="0" t="90954"/>
          <a:stretch/>
        </p:blipFill>
        <p:spPr>
          <a:xfrm flipH="1">
            <a:off x="-2" y="6433309"/>
            <a:ext cx="5845629" cy="4246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5"/>
          <p:cNvPicPr preferRelativeResize="0"/>
          <p:nvPr/>
        </p:nvPicPr>
        <p:blipFill rotWithShape="1">
          <a:blip r:embed="rId3">
            <a:alphaModFix/>
          </a:blip>
          <a:srcRect b="0" l="0" r="26515" t="13089"/>
          <a:stretch/>
        </p:blipFill>
        <p:spPr>
          <a:xfrm rot="10800000">
            <a:off x="-1" y="1831974"/>
            <a:ext cx="4249647" cy="502602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0" name="Google Shape;120;p5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121" name="Google Shape;121;p5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2" name="Google Shape;122;p5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3" name="Google Shape;123;p5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4" name="Google Shape;124;p5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5" name="Google Shape;125;p5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6" name="Google Shape;126;p5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7" name="Google Shape;127;p5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8" name="Google Shape;128;p5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9" name="Google Shape;129;p5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0" name="Google Shape;130;p5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1" name="Google Shape;131;p5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2" name="Google Shape;132;p5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3" name="Google Shape;133;p5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4" name="Google Shape;134;p5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5" name="Google Shape;135;p5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6" name="Google Shape;136;p5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7" name="Google Shape;137;p5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8" name="Google Shape;138;p5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9" name="Google Shape;139;p5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140" name="Google Shape;140;p5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41" name="Google Shape;141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42" name="Google Shape;142;p5"/>
          <p:cNvPicPr preferRelativeResize="0"/>
          <p:nvPr/>
        </p:nvPicPr>
        <p:blipFill rotWithShape="1">
          <a:blip r:embed="rId5">
            <a:alphaModFix/>
          </a:blip>
          <a:srcRect b="86725" l="0" r="72339" t="0"/>
          <a:stretch/>
        </p:blipFill>
        <p:spPr>
          <a:xfrm flipH="1">
            <a:off x="8819540" y="0"/>
            <a:ext cx="3372437" cy="910269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5"/>
          <p:cNvSpPr/>
          <p:nvPr/>
        </p:nvSpPr>
        <p:spPr>
          <a:xfrm>
            <a:off x="8613058" y="322621"/>
            <a:ext cx="1407652" cy="58764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5"/>
          <p:cNvSpPr/>
          <p:nvPr/>
        </p:nvSpPr>
        <p:spPr>
          <a:xfrm>
            <a:off x="10858521" y="0"/>
            <a:ext cx="1049981" cy="2613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5"/>
          <p:cNvSpPr/>
          <p:nvPr/>
        </p:nvSpPr>
        <p:spPr>
          <a:xfrm>
            <a:off x="10760947" y="616445"/>
            <a:ext cx="582556" cy="3386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146" name="Google Shape;146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5_Титульный слайд">
  <p:cSld name="15_Титульный слайд">
    <p:bg>
      <p:bgPr>
        <a:solidFill>
          <a:schemeClr val="dk1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148" name="Google Shape;148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393786"/>
            <a:ext cx="4655279" cy="46421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49" name="Google Shape;1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31600" y="0"/>
            <a:ext cx="1760400" cy="243127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50" name="Google Shape;150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31498" y="6290333"/>
            <a:ext cx="2860502" cy="56766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1" name="Google Shape;151;p6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152" name="Google Shape;152;p6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3" name="Google Shape;153;p6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4" name="Google Shape;154;p6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5" name="Google Shape;155;p6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6" name="Google Shape;156;p6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7" name="Google Shape;157;p6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8" name="Google Shape;158;p6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9" name="Google Shape;159;p6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0" name="Google Shape;160;p6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1" name="Google Shape;161;p6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2" name="Google Shape;162;p6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3" name="Google Shape;163;p6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4" name="Google Shape;164;p6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5" name="Google Shape;165;p6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6" name="Google Shape;166;p6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7" name="Google Shape;167;p6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8" name="Google Shape;168;p6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9" name="Google Shape;169;p6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0" name="Google Shape;170;p6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171" name="Google Shape;171;p6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72" name="Google Shape;172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73" name="Google Shape;173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_Титульный слайд">
  <p:cSld name="13_Титульный слайд">
    <p:bg>
      <p:bgPr>
        <a:solidFill>
          <a:schemeClr val="dk1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5" name="Google Shape;175;p7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176" name="Google Shape;176;p7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7" name="Google Shape;177;p7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8" name="Google Shape;178;p7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9" name="Google Shape;179;p7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0" name="Google Shape;180;p7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1" name="Google Shape;181;p7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2" name="Google Shape;182;p7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3" name="Google Shape;183;p7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4" name="Google Shape;184;p7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5" name="Google Shape;185;p7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6" name="Google Shape;186;p7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7" name="Google Shape;187;p7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8" name="Google Shape;188;p7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9" name="Google Shape;189;p7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0" name="Google Shape;190;p7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1" name="Google Shape;191;p7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2" name="Google Shape;192;p7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3" name="Google Shape;193;p7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4" name="Google Shape;194;p7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195" name="Google Shape;195;p7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96" name="Google Shape;19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97" name="Google Shape;197;p7"/>
          <p:cNvPicPr preferRelativeResize="0"/>
          <p:nvPr/>
        </p:nvPicPr>
        <p:blipFill rotWithShape="1">
          <a:blip r:embed="rId3">
            <a:alphaModFix/>
          </a:blip>
          <a:srcRect b="86725" l="0" r="72339" t="0"/>
          <a:stretch/>
        </p:blipFill>
        <p:spPr>
          <a:xfrm flipH="1">
            <a:off x="8819540" y="0"/>
            <a:ext cx="3372437" cy="910269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7"/>
          <p:cNvSpPr/>
          <p:nvPr/>
        </p:nvSpPr>
        <p:spPr>
          <a:xfrm>
            <a:off x="8613058" y="322621"/>
            <a:ext cx="1407652" cy="58764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7"/>
          <p:cNvSpPr/>
          <p:nvPr/>
        </p:nvSpPr>
        <p:spPr>
          <a:xfrm>
            <a:off x="10858521" y="0"/>
            <a:ext cx="1049981" cy="2613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7"/>
          <p:cNvSpPr/>
          <p:nvPr/>
        </p:nvSpPr>
        <p:spPr>
          <a:xfrm>
            <a:off x="10760947" y="616445"/>
            <a:ext cx="582556" cy="3386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201" name="Google Shape;201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Заголовок">
  <p:cSld name="8_Заголовок">
    <p:bg>
      <p:bgPr>
        <a:solidFill>
          <a:schemeClr val="dk1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p8"/>
          <p:cNvPicPr preferRelativeResize="0"/>
          <p:nvPr/>
        </p:nvPicPr>
        <p:blipFill rotWithShape="1">
          <a:blip r:embed="rId2">
            <a:alphaModFix/>
          </a:blip>
          <a:srcRect b="25668" l="13456" r="0" t="10446"/>
          <a:stretch/>
        </p:blipFill>
        <p:spPr>
          <a:xfrm flipH="1">
            <a:off x="2907772" y="-1"/>
            <a:ext cx="9284228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8"/>
          <p:cNvPicPr preferRelativeResize="0"/>
          <p:nvPr/>
        </p:nvPicPr>
        <p:blipFill rotWithShape="1">
          <a:blip r:embed="rId3">
            <a:alphaModFix/>
          </a:blip>
          <a:srcRect b="8691" l="36156" r="0" t="22176"/>
          <a:stretch/>
        </p:blipFill>
        <p:spPr>
          <a:xfrm flipH="1">
            <a:off x="5862319" y="-2"/>
            <a:ext cx="6329681" cy="6863317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8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06" name="Google Shape;206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07" name="Google Shape;207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7_Титульный слайд">
  <p:cSld name="17_Титульный слайд">
    <p:bg>
      <p:bgPr>
        <a:solidFill>
          <a:schemeClr val="dk1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9" name="Google Shape;209;p9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210" name="Google Shape;210;p9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1" name="Google Shape;211;p9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2" name="Google Shape;212;p9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3" name="Google Shape;213;p9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4" name="Google Shape;214;p9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5" name="Google Shape;215;p9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6" name="Google Shape;216;p9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7" name="Google Shape;217;p9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8" name="Google Shape;218;p9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9" name="Google Shape;219;p9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0" name="Google Shape;220;p9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1" name="Google Shape;221;p9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2" name="Google Shape;222;p9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3" name="Google Shape;223;p9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4" name="Google Shape;224;p9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5" name="Google Shape;225;p9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6" name="Google Shape;226;p9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7" name="Google Shape;227;p9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8" name="Google Shape;228;p9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229" name="Google Shape;229;p9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 " id="230" name="Google Shape;230;p9"/>
          <p:cNvPicPr preferRelativeResize="0"/>
          <p:nvPr/>
        </p:nvPicPr>
        <p:blipFill rotWithShape="1">
          <a:blip r:embed="rId2">
            <a:alphaModFix/>
          </a:blip>
          <a:srcRect b="86725" l="0" r="72339" t="0"/>
          <a:stretch/>
        </p:blipFill>
        <p:spPr>
          <a:xfrm flipH="1">
            <a:off x="8819540" y="0"/>
            <a:ext cx="3372437" cy="91026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9"/>
          <p:cNvSpPr/>
          <p:nvPr/>
        </p:nvSpPr>
        <p:spPr>
          <a:xfrm>
            <a:off x="8613058" y="322621"/>
            <a:ext cx="1407652" cy="58764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9"/>
          <p:cNvSpPr/>
          <p:nvPr/>
        </p:nvSpPr>
        <p:spPr>
          <a:xfrm>
            <a:off x="10858521" y="0"/>
            <a:ext cx="1049981" cy="2613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9"/>
          <p:cNvSpPr/>
          <p:nvPr/>
        </p:nvSpPr>
        <p:spPr>
          <a:xfrm>
            <a:off x="10760947" y="616445"/>
            <a:ext cx="582556" cy="3386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_Титульный слайд">
  <p:cSld name="14_Титульный слайд">
    <p:bg>
      <p:bgPr>
        <a:solidFill>
          <a:schemeClr val="dk1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35" name="Google Shape;235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96000" y="5844358"/>
            <a:ext cx="6096000" cy="101364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6" name="Google Shape;236;p10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237" name="Google Shape;237;p10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38" name="Google Shape;238;p10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39" name="Google Shape;239;p10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0" name="Google Shape;240;p10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1" name="Google Shape;241;p10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2" name="Google Shape;242;p10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3" name="Google Shape;243;p10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4" name="Google Shape;244;p10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5" name="Google Shape;245;p10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6" name="Google Shape;246;p10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7" name="Google Shape;247;p10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8" name="Google Shape;248;p10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9" name="Google Shape;249;p10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0" name="Google Shape;250;p10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1" name="Google Shape;251;p10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2" name="Google Shape;252;p10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3" name="Google Shape;253;p10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4" name="Google Shape;254;p10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5" name="Google Shape;255;p10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256" name="Google Shape;256;p10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7" name="Google Shape;25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8" name="Google Shape;25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66292" y="0"/>
            <a:ext cx="1325708" cy="37239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9" name="Google Shape;259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Заголовок">
  <p:cSld name="11_Заголовок">
    <p:bg>
      <p:bgPr>
        <a:solidFill>
          <a:schemeClr val="dk1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1" name="Google Shape;261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11"/>
          <p:cNvSpPr txBox="1"/>
          <p:nvPr>
            <p:ph type="title"/>
          </p:nvPr>
        </p:nvSpPr>
        <p:spPr>
          <a:xfrm>
            <a:off x="429253" y="424691"/>
            <a:ext cx="11354760" cy="7672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63" name="Google Shape;26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64" name="Google Shape;264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7_Заголовок">
  <p:cSld name="17_Заголовок">
    <p:bg>
      <p:bgPr>
        <a:solidFill>
          <a:schemeClr val="dk1"/>
        </a:soli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" name="Google Shape;266;p12"/>
          <p:cNvPicPr preferRelativeResize="0"/>
          <p:nvPr/>
        </p:nvPicPr>
        <p:blipFill rotWithShape="1">
          <a:blip r:embed="rId2">
            <a:alphaModFix/>
          </a:blip>
          <a:srcRect b="25668" l="13456" r="0" t="10446"/>
          <a:stretch/>
        </p:blipFill>
        <p:spPr>
          <a:xfrm>
            <a:off x="-1" y="-1"/>
            <a:ext cx="9284228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12"/>
          <p:cNvPicPr preferRelativeResize="0"/>
          <p:nvPr/>
        </p:nvPicPr>
        <p:blipFill rotWithShape="1">
          <a:blip r:embed="rId3">
            <a:alphaModFix/>
          </a:blip>
          <a:srcRect b="8691" l="36156" r="0" t="22176"/>
          <a:stretch/>
        </p:blipFill>
        <p:spPr>
          <a:xfrm>
            <a:off x="-1" y="-2"/>
            <a:ext cx="6329681" cy="6863317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12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 " id="269" name="Google Shape;269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58522" y="6160788"/>
            <a:ext cx="934755" cy="29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Титульный слайд">
  <p:cSld name="11_Титульный слайд">
    <p:bg>
      <p:bgPr>
        <a:solidFill>
          <a:schemeClr val="dk1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2" name="Google Shape;272;p13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273" name="Google Shape;273;p13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4" name="Google Shape;274;p13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5" name="Google Shape;275;p13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6" name="Google Shape;276;p13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7" name="Google Shape;277;p13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8" name="Google Shape;278;p13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9" name="Google Shape;279;p13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0" name="Google Shape;280;p13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1" name="Google Shape;281;p13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2" name="Google Shape;282;p13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3" name="Google Shape;283;p13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4" name="Google Shape;284;p13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5" name="Google Shape;285;p13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6" name="Google Shape;286;p13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7" name="Google Shape;287;p13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8" name="Google Shape;288;p13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9" name="Google Shape;289;p13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90" name="Google Shape;290;p13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91" name="Google Shape;291;p13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292" name="Google Shape;292;p13"/>
          <p:cNvSpPr txBox="1"/>
          <p:nvPr>
            <p:ph type="title"/>
          </p:nvPr>
        </p:nvSpPr>
        <p:spPr>
          <a:xfrm>
            <a:off x="429254" y="1609196"/>
            <a:ext cx="4803146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93" name="Google Shape;293;p13"/>
          <p:cNvPicPr preferRelativeResize="0"/>
          <p:nvPr/>
        </p:nvPicPr>
        <p:blipFill rotWithShape="1">
          <a:blip r:embed="rId2">
            <a:alphaModFix/>
          </a:blip>
          <a:srcRect b="77450" l="52729" r="0" t="17827"/>
          <a:stretch/>
        </p:blipFill>
        <p:spPr>
          <a:xfrm flipH="1">
            <a:off x="0" y="0"/>
            <a:ext cx="5763224" cy="3235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95" name="Google Shape;29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6_Титульный слайд">
  <p:cSld name="16_Титульный слайд">
    <p:bg>
      <p:bgPr>
        <a:solidFill>
          <a:schemeClr val="dk1"/>
        </a:solidFill>
      </p:bgPr>
    </p:bg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97" name="Google Shape;297;p14"/>
          <p:cNvPicPr preferRelativeResize="0"/>
          <p:nvPr/>
        </p:nvPicPr>
        <p:blipFill rotWithShape="1">
          <a:blip r:embed="rId2">
            <a:alphaModFix/>
          </a:blip>
          <a:srcRect b="0" l="20444" r="24824" t="0"/>
          <a:stretch/>
        </p:blipFill>
        <p:spPr>
          <a:xfrm>
            <a:off x="5519099" y="0"/>
            <a:ext cx="6672901" cy="685713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8" name="Google Shape;298;p14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299" name="Google Shape;299;p14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0" name="Google Shape;300;p14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1" name="Google Shape;301;p14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2" name="Google Shape;302;p14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3" name="Google Shape;303;p14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4" name="Google Shape;304;p14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5" name="Google Shape;305;p14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6" name="Google Shape;306;p14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7" name="Google Shape;307;p14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8" name="Google Shape;308;p14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9" name="Google Shape;309;p14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0" name="Google Shape;310;p14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1" name="Google Shape;311;p14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2" name="Google Shape;312;p14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3" name="Google Shape;313;p14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4" name="Google Shape;314;p14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5" name="Google Shape;315;p14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6" name="Google Shape;316;p14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7" name="Google Shape;317;p14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318" name="Google Shape;318;p14"/>
          <p:cNvSpPr txBox="1"/>
          <p:nvPr>
            <p:ph type="title"/>
          </p:nvPr>
        </p:nvSpPr>
        <p:spPr>
          <a:xfrm>
            <a:off x="429253" y="2291422"/>
            <a:ext cx="7827335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"/>
              <a:buNone/>
              <a:defRPr b="0" i="0" sz="54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 " id="319" name="Google Shape;31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58522" y="6160788"/>
            <a:ext cx="934755" cy="2924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14"/>
          <p:cNvSpPr/>
          <p:nvPr/>
        </p:nvSpPr>
        <p:spPr>
          <a:xfrm>
            <a:off x="5404757" y="4555671"/>
            <a:ext cx="1926772" cy="58782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14"/>
          <p:cNvSpPr/>
          <p:nvPr/>
        </p:nvSpPr>
        <p:spPr>
          <a:xfrm>
            <a:off x="8490856" y="5372100"/>
            <a:ext cx="767443" cy="58782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14"/>
          <p:cNvSpPr/>
          <p:nvPr/>
        </p:nvSpPr>
        <p:spPr>
          <a:xfrm>
            <a:off x="6498771" y="342900"/>
            <a:ext cx="767443" cy="58782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14"/>
          <p:cNvSpPr/>
          <p:nvPr/>
        </p:nvSpPr>
        <p:spPr>
          <a:xfrm>
            <a:off x="7903028" y="32658"/>
            <a:ext cx="767443" cy="58782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14"/>
          <p:cNvSpPr/>
          <p:nvPr/>
        </p:nvSpPr>
        <p:spPr>
          <a:xfrm>
            <a:off x="5323114" y="930729"/>
            <a:ext cx="1175657" cy="97333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5" name="Google Shape;32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8723" y="6035040"/>
            <a:ext cx="2653844" cy="4181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_Титульный слайд">
  <p:cSld name="12_Титульный слайд">
    <p:bg>
      <p:bgPr>
        <a:solidFill>
          <a:schemeClr val="dk1"/>
        </a:solidFill>
      </p:bgPr>
    </p:bg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327" name="Google Shape;327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1979" cy="6857131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15"/>
          <p:cNvSpPr/>
          <p:nvPr/>
        </p:nvSpPr>
        <p:spPr>
          <a:xfrm>
            <a:off x="0" y="4499104"/>
            <a:ext cx="6792686" cy="166168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15"/>
          <p:cNvSpPr/>
          <p:nvPr/>
        </p:nvSpPr>
        <p:spPr>
          <a:xfrm>
            <a:off x="1" y="5501389"/>
            <a:ext cx="4811842" cy="135660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30" name="Google Shape;330;p15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331" name="Google Shape;331;p15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2" name="Google Shape;332;p15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3" name="Google Shape;333;p15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4" name="Google Shape;334;p15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5" name="Google Shape;335;p15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6" name="Google Shape;336;p15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7" name="Google Shape;337;p15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8" name="Google Shape;338;p15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9" name="Google Shape;339;p15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0" name="Google Shape;340;p15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1" name="Google Shape;341;p15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2" name="Google Shape;342;p15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3" name="Google Shape;343;p15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4" name="Google Shape;344;p15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5" name="Google Shape;345;p15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6" name="Google Shape;346;p15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7" name="Google Shape;347;p15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8" name="Google Shape;348;p15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9" name="Google Shape;349;p15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350" name="Google Shape;350;p15"/>
          <p:cNvSpPr txBox="1"/>
          <p:nvPr>
            <p:ph type="title"/>
          </p:nvPr>
        </p:nvSpPr>
        <p:spPr>
          <a:xfrm>
            <a:off x="429253" y="2291422"/>
            <a:ext cx="7827335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"/>
              <a:buNone/>
              <a:defRPr b="0" i="0" sz="54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51" name="Google Shape;35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5895936"/>
            <a:ext cx="3536690" cy="55725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52" name="Google Shape;35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58522" y="6160788"/>
            <a:ext cx="934755" cy="29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Титульный слайд">
  <p:cSld name="10_Титульный слайд">
    <p:bg>
      <p:bgPr>
        <a:solidFill>
          <a:schemeClr val="dk1"/>
        </a:solidFill>
      </p:bgPr>
    </p:bg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4" name="Google Shape;354;p16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355" name="Google Shape;355;p16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6" name="Google Shape;356;p16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7" name="Google Shape;357;p16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8" name="Google Shape;358;p16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9" name="Google Shape;359;p16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0" name="Google Shape;360;p16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1" name="Google Shape;361;p16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2" name="Google Shape;362;p16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3" name="Google Shape;363;p16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4" name="Google Shape;364;p16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5" name="Google Shape;365;p16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6" name="Google Shape;366;p16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7" name="Google Shape;367;p16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8" name="Google Shape;368;p16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9" name="Google Shape;369;p16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0" name="Google Shape;370;p16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1" name="Google Shape;371;p16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2" name="Google Shape;372;p16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3" name="Google Shape;373;p16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374" name="Google Shape;374;p16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5" name="Google Shape;375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76" name="Google Shape;37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27866" y="662333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b="0" i="0" sz="3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658813" y="1773239"/>
            <a:ext cx="10855852" cy="4392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17500" lvl="1" marL="9144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-295275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Char char="•"/>
              <a:defRPr b="0" i="0" sz="105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1" type="ftr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rgbClr val="A6A6A6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13" name="Google Shape;13;p1"/>
          <p:cNvGrpSpPr/>
          <p:nvPr/>
        </p:nvGrpSpPr>
        <p:grpSpPr>
          <a:xfrm>
            <a:off x="0" y="-114752"/>
            <a:ext cx="12188148" cy="64309"/>
            <a:chOff x="0" y="1773238"/>
            <a:chExt cx="12188148" cy="735184"/>
          </a:xfrm>
        </p:grpSpPr>
        <p:cxnSp>
          <p:nvCxnSpPr>
            <p:cNvPr id="14" name="Google Shape;14;p1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" name="Google Shape;15;p1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" name="Google Shape;16;p1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" name="Google Shape;17;p1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" name="Google Shape;18;p1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" name="Google Shape;19;p1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" name="Google Shape;20;p1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" name="Google Shape;21;p1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" name="Google Shape;22;p1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3" name="Google Shape;23;p1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" name="Google Shape;24;p1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" name="Google Shape;25;p1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6" name="Google Shape;26;p1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" name="Google Shape;27;p1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" name="Google Shape;28;p1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9" name="Google Shape;29;p1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" name="Google Shape;30;p1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" name="Google Shape;31;p1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2" name="Google Shape;32;p1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grpSp>
        <p:nvGrpSpPr>
          <p:cNvPr id="33" name="Google Shape;33;p1"/>
          <p:cNvGrpSpPr/>
          <p:nvPr/>
        </p:nvGrpSpPr>
        <p:grpSpPr>
          <a:xfrm>
            <a:off x="-3" y="6987088"/>
            <a:ext cx="12188148" cy="64309"/>
            <a:chOff x="0" y="1773238"/>
            <a:chExt cx="12188148" cy="735184"/>
          </a:xfrm>
        </p:grpSpPr>
        <p:cxnSp>
          <p:nvCxnSpPr>
            <p:cNvPr id="34" name="Google Shape;34;p1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" name="Google Shape;35;p1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" name="Google Shape;36;p1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" name="Google Shape;37;p1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8" name="Google Shape;38;p1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9" name="Google Shape;39;p1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0" name="Google Shape;40;p1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1" name="Google Shape;41;p1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2" name="Google Shape;42;p1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3" name="Google Shape;43;p1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4" name="Google Shape;44;p1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5" name="Google Shape;45;p1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6" name="Google Shape;46;p1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7" name="Google Shape;47;p1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8" name="Google Shape;48;p1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9" name="Google Shape;49;p1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0" name="Google Shape;50;p1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1" name="Google Shape;51;p1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2" name="Google Shape;52;p1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pic>
        <p:nvPicPr>
          <p:cNvPr id="53" name="Google Shape;53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419564" y="6161239"/>
            <a:ext cx="932071" cy="2880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57">
          <p15:clr>
            <a:srgbClr val="FDE53C"/>
          </p15:clr>
        </p15:guide>
        <p15:guide id="2" pos="7423">
          <p15:clr>
            <a:srgbClr val="FDE53C"/>
          </p15:clr>
        </p15:guide>
        <p15:guide id="3" orient="horz" pos="4065">
          <p15:clr>
            <a:srgbClr val="FDE53C"/>
          </p15:clr>
        </p15:guide>
        <p15:guide id="4" pos="5201">
          <p15:clr>
            <a:srgbClr val="FDE53C"/>
          </p15:clr>
        </p15:guide>
        <p15:guide id="5" pos="2479">
          <p15:clr>
            <a:srgbClr val="FDE53C"/>
          </p15:clr>
        </p15:guide>
        <p15:guide id="6" pos="3840">
          <p15:clr>
            <a:srgbClr val="FDE53C"/>
          </p15:clr>
        </p15:guide>
        <p15:guide id="7" orient="horz" pos="640">
          <p15:clr>
            <a:srgbClr val="FDE53C"/>
          </p15:clr>
        </p15:guide>
        <p15:guide id="8" orient="horz" pos="1003">
          <p15:clr>
            <a:srgbClr val="FDE53C"/>
          </p15:clr>
        </p15:guide>
        <p15:guide id="9" pos="1073">
          <p15:clr>
            <a:srgbClr val="FDE53C"/>
          </p15:clr>
        </p15:guide>
        <p15:guide id="10" pos="6584">
          <p15:clr>
            <a:srgbClr val="FDE53C"/>
          </p15:clr>
        </p15:guide>
        <p15:guide id="11" orient="horz" pos="255">
          <p15:clr>
            <a:srgbClr val="FDE53C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0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3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3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chart" Target="../charts/chart3.xml"/><Relationship Id="rId3" Type="http://schemas.openxmlformats.org/officeDocument/2006/relationships/notesSlide" Target="../notesSlides/notesSlide3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chart" Target="../charts/chart4.xml"/><Relationship Id="rId3" Type="http://schemas.openxmlformats.org/officeDocument/2006/relationships/notesSlide" Target="../notesSlides/notesSlide3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chart" Target="../charts/chart5.xml"/><Relationship Id="rId3" Type="http://schemas.openxmlformats.org/officeDocument/2006/relationships/notesSlide" Target="../notesSlides/notesSlide3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chart" Target="../charts/chart6.xml"/><Relationship Id="rId3" Type="http://schemas.openxmlformats.org/officeDocument/2006/relationships/notesSlide" Target="../notesSlides/notesSlide3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chart" Target="../charts/chart7.xml"/><Relationship Id="rId3" Type="http://schemas.openxmlformats.org/officeDocument/2006/relationships/notesSlide" Target="../notesSlides/notesSlide3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chart" Target="../charts/chart8.xml"/><Relationship Id="rId3" Type="http://schemas.openxmlformats.org/officeDocument/2006/relationships/chart" Target="../charts/chart9.xml"/><Relationship Id="rId4" Type="http://schemas.openxmlformats.org/officeDocument/2006/relationships/notesSlide" Target="../notesSlides/notesSlide4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chart" Target="../charts/chart10.xml"/><Relationship Id="rId3" Type="http://schemas.openxmlformats.org/officeDocument/2006/relationships/notesSlide" Target="../notesSlides/notesSlide4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03" name="Google Shape;703;p32"/>
          <p:cNvSpPr txBox="1"/>
          <p:nvPr>
            <p:ph type="title"/>
          </p:nvPr>
        </p:nvSpPr>
        <p:spPr>
          <a:xfrm>
            <a:off x="429253" y="424691"/>
            <a:ext cx="9438461" cy="10789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3600"/>
              <a:t>Фитнес-⁠студия «Движение»: 250 клиентов и 225 000 ₽ прибыли к 6-⁠му месяцу</a:t>
            </a:r>
            <a:endParaRPr/>
          </a:p>
        </p:txBody>
      </p:sp>
      <p:sp>
        <p:nvSpPr>
          <p:cNvPr id="716" name="Card 716"/>
          <p:cNvSpPr/>
          <p:nvPr/>
        </p:nvSpPr>
        <p:spPr>
          <a:xfrm>
            <a:off x="429253" y="1869443"/>
            <a:ext cx="3582759" cy="3432238"/>
          </a:xfrm>
          <a:prstGeom prst="roundRect">
            <a:avLst>
              <a:gd fmla="val 4416" name="adj"/>
            </a:avLst>
          </a:prstGeom>
          <a:solidFill>
            <a:srgbClr val="212121"/>
          </a:solidFill>
          <a:ln>
            <a:noFill/>
          </a:ln>
        </p:spPr>
      </p:sp>
      <p:sp>
        <p:nvSpPr>
          <p:cNvPr id="717" name="Rule 717"/>
          <p:cNvSpPr/>
          <p:nvPr/>
        </p:nvSpPr>
        <p:spPr>
          <a:xfrm>
            <a:off x="680046" y="2120236"/>
            <a:ext cx="480060" cy="38100"/>
          </a:xfrm>
          <a:prstGeom prst="rect">
            <a:avLst/>
          </a:prstGeom>
          <a:solidFill>
            <a:srgbClr val="0077FF"/>
          </a:solidFill>
          <a:ln>
            <a:noFill/>
          </a:ln>
        </p:spPr>
      </p:sp>
      <p:sp>
        <p:nvSpPr>
          <p:cNvPr id="718" name="Column title 718"/>
          <p:cNvSpPr txBox="1"/>
          <p:nvPr/>
        </p:nvSpPr>
        <p:spPr>
          <a:xfrm>
            <a:off x="680046" y="2281780"/>
            <a:ext cx="3081173" cy="150672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90000"/>
              </a:lnSpc>
              <a:buNone/>
            </a:pPr>
            <a:r>
              <a:rPr lang="ru-RU" sz="3600" b="0" cap="none" spc="0" baseline="0" dirty="0">
                <a:solidFill>
                  <a:srgbClr val="FFFFFF"/>
                </a:solidFill>
                <a:latin typeface="Play"/>
                <a:cs typeface="Play"/>
              </a:rPr>
              <a:t>Основные направления</a:t>
            </a:r>
            <a:endParaRPr lang="ru-RU" sz="3600"/>
          </a:p>
        </p:txBody>
      </p:sp>
      <p:sp>
        <p:nvSpPr>
          <p:cNvPr id="719" name="Column 719"/>
          <p:cNvSpPr txBox="1"/>
          <p:nvPr/>
        </p:nvSpPr>
        <p:spPr>
          <a:xfrm>
            <a:off x="680046" y="3928208"/>
            <a:ext cx="3081173" cy="112268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279400" indent="-279400">
              <a:lnSpc>
                <a:spcPct val="90000"/>
              </a:lnSpc>
              <a:buClr>
                <a:srgbClr val="0077FF"/>
              </a:buClr>
              <a:buFont typeface="Arial"/>
              <a:buChar char="•"/>
            </a:pPr>
            <a:r>
              <a:rPr lang="ru-RU" sz="2000" b="0" cap="none" spc="0" baseline="0" dirty="0">
                <a:solidFill>
                  <a:srgbClr val="FFFFFF"/>
                </a:solidFill>
                <a:latin typeface="Play"/>
                <a:cs typeface="Play"/>
              </a:rPr>
              <a:t>Силовые занятия, растяжка, йога, функциональные тренировки</a:t>
            </a:r>
            <a:endParaRPr lang="ru-RU" sz="2000"/>
          </a:p>
        </p:txBody>
      </p:sp>
      <p:sp>
        <p:nvSpPr>
          <p:cNvPr id="720" name="Card 720"/>
          <p:cNvSpPr/>
          <p:nvPr/>
        </p:nvSpPr>
        <p:spPr>
          <a:xfrm>
            <a:off x="4304620" y="1869443"/>
            <a:ext cx="3582759" cy="3432238"/>
          </a:xfrm>
          <a:prstGeom prst="roundRect">
            <a:avLst>
              <a:gd fmla="val 4416" name="adj"/>
            </a:avLst>
          </a:prstGeom>
          <a:solidFill>
            <a:srgbClr val="212121"/>
          </a:solidFill>
          <a:ln>
            <a:noFill/>
          </a:ln>
        </p:spPr>
      </p:sp>
      <p:sp>
        <p:nvSpPr>
          <p:cNvPr id="721" name="Rule 721"/>
          <p:cNvSpPr/>
          <p:nvPr/>
        </p:nvSpPr>
        <p:spPr>
          <a:xfrm>
            <a:off x="4555413" y="2120236"/>
            <a:ext cx="480060" cy="38100"/>
          </a:xfrm>
          <a:prstGeom prst="rect">
            <a:avLst/>
          </a:prstGeom>
          <a:solidFill>
            <a:srgbClr val="0077FF"/>
          </a:solidFill>
          <a:ln>
            <a:noFill/>
          </a:ln>
        </p:spPr>
      </p:sp>
      <p:sp>
        <p:nvSpPr>
          <p:cNvPr id="722" name="Column title 722"/>
          <p:cNvSpPr txBox="1"/>
          <p:nvPr/>
        </p:nvSpPr>
        <p:spPr>
          <a:xfrm>
            <a:off x="4555413" y="2281780"/>
            <a:ext cx="3081173" cy="150672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90000"/>
              </a:lnSpc>
              <a:buNone/>
            </a:pPr>
            <a:r>
              <a:rPr lang="ru-RU" sz="3200" b="0" cap="none" spc="0" baseline="0" dirty="0">
                <a:solidFill>
                  <a:srgbClr val="FFFFFF"/>
                </a:solidFill>
                <a:latin typeface="Play"/>
                <a:cs typeface="Play"/>
              </a:rPr>
              <a:t>Площадь и вместимость</a:t>
            </a:r>
            <a:endParaRPr lang="ru-RU" sz="3600"/>
          </a:p>
        </p:txBody>
      </p:sp>
      <p:sp>
        <p:nvSpPr>
          <p:cNvPr id="723" name="Column 723"/>
          <p:cNvSpPr txBox="1"/>
          <p:nvPr/>
        </p:nvSpPr>
        <p:spPr>
          <a:xfrm>
            <a:off x="4555413" y="3928208"/>
            <a:ext cx="3081173" cy="112268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279400" indent="-279400">
              <a:lnSpc>
                <a:spcPct val="90000"/>
              </a:lnSpc>
              <a:buClr>
                <a:srgbClr val="0077FF"/>
              </a:buClr>
              <a:buFont typeface="Arial"/>
              <a:buChar char="•"/>
            </a:pPr>
            <a:r>
              <a:rPr lang="ru-RU" sz="2000" b="0" cap="none" spc="0" baseline="0" dirty="0">
                <a:solidFill>
                  <a:srgbClr val="FFFFFF"/>
                </a:solidFill>
                <a:latin typeface="Play"/>
                <a:cs typeface="Play"/>
              </a:rPr>
              <a:t>180 м², до 12 человек на занятии</a:t>
            </a:r>
            <a:endParaRPr lang="ru-RU" sz="2000"/>
          </a:p>
        </p:txBody>
      </p:sp>
      <p:sp>
        <p:nvSpPr>
          <p:cNvPr id="724" name="Card 724"/>
          <p:cNvSpPr/>
          <p:nvPr/>
        </p:nvSpPr>
        <p:spPr>
          <a:xfrm>
            <a:off x="8179987" y="1869443"/>
            <a:ext cx="3582759" cy="3432238"/>
          </a:xfrm>
          <a:prstGeom prst="roundRect">
            <a:avLst>
              <a:gd fmla="val 4416" name="adj"/>
            </a:avLst>
          </a:prstGeom>
          <a:solidFill>
            <a:srgbClr val="212121"/>
          </a:solidFill>
          <a:ln>
            <a:noFill/>
          </a:ln>
        </p:spPr>
      </p:sp>
      <p:sp>
        <p:nvSpPr>
          <p:cNvPr id="725" name="Rule 725"/>
          <p:cNvSpPr/>
          <p:nvPr/>
        </p:nvSpPr>
        <p:spPr>
          <a:xfrm>
            <a:off x="8430780" y="2120236"/>
            <a:ext cx="480060" cy="38100"/>
          </a:xfrm>
          <a:prstGeom prst="rect">
            <a:avLst/>
          </a:prstGeom>
          <a:solidFill>
            <a:srgbClr val="0077FF"/>
          </a:solidFill>
          <a:ln>
            <a:noFill/>
          </a:ln>
        </p:spPr>
      </p:sp>
      <p:sp>
        <p:nvSpPr>
          <p:cNvPr id="726" name="Column title 726"/>
          <p:cNvSpPr txBox="1"/>
          <p:nvPr/>
        </p:nvSpPr>
        <p:spPr>
          <a:xfrm>
            <a:off x="8430780" y="2281780"/>
            <a:ext cx="3081173" cy="150672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90000"/>
              </a:lnSpc>
              <a:buNone/>
            </a:pPr>
            <a:r>
              <a:rPr lang="ru-RU" sz="3600" b="0" cap="none" spc="0" baseline="0" dirty="0">
                <a:solidFill>
                  <a:srgbClr val="FFFFFF"/>
                </a:solidFill>
                <a:latin typeface="Play"/>
                <a:cs typeface="Play"/>
              </a:rPr>
              <a:t>Цель проекта</a:t>
            </a:r>
            <a:endParaRPr lang="ru-RU" sz="3600"/>
          </a:p>
        </p:txBody>
      </p:sp>
      <p:sp>
        <p:nvSpPr>
          <p:cNvPr id="727" name="Column 727"/>
          <p:cNvSpPr txBox="1"/>
          <p:nvPr/>
        </p:nvSpPr>
        <p:spPr>
          <a:xfrm>
            <a:off x="8430780" y="3928208"/>
            <a:ext cx="3081173" cy="112268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279400" indent="-279400">
              <a:lnSpc>
                <a:spcPct val="90000"/>
              </a:lnSpc>
              <a:buClr>
                <a:srgbClr val="0077FF"/>
              </a:buClr>
              <a:buFont typeface="Arial"/>
              <a:buChar char="•"/>
            </a:pPr>
            <a:r>
              <a:rPr lang="ru-RU" sz="2000" b="0" cap="none" spc="0" baseline="0" dirty="0">
                <a:solidFill>
                  <a:srgbClr val="FFFFFF"/>
                </a:solidFill>
                <a:latin typeface="Play"/>
                <a:cs typeface="Play"/>
              </a:rPr>
              <a:t>250 постоянных клиентов и 225 000 ₽ операционной прибыли к 6-⁠му месяцу</a:t>
            </a:r>
            <a:endParaRPr lang="ru-RU" sz="2000"/>
          </a:p>
        </p:txBody>
      </p:sp>
      <p:sp>
        <p:nvSpPr>
          <p:cNvPr id="728" name="Footnote 728"/>
          <p:cNvSpPr txBox="1"/>
          <p:nvPr/>
        </p:nvSpPr>
        <p:spPr>
          <a:xfrm>
            <a:off x="429253" y="5730494"/>
            <a:ext cx="11333494" cy="189992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90000"/>
              </a:lnSpc>
              <a:buNone/>
            </a:pPr>
            <a:r>
              <a:rPr lang="ru-RU" sz="1200" b="0" cap="none" spc="0" baseline="0" dirty="0">
                <a:solidFill>
                  <a:srgbClr val="AFB8C2"/>
                </a:solidFill>
                <a:latin typeface="Play"/>
                <a:cs typeface="Play"/>
              </a:rPr>
              <a:t>Все цифры условные и используются для учебного бизнес-⁠плана</a:t>
            </a:r>
            <a:endParaRPr lang="ru-RU" sz="1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03" name="Google Shape;703;p32"/>
          <p:cNvSpPr txBox="1"/>
          <p:nvPr>
            <p:ph type="title"/>
          </p:nvPr>
        </p:nvSpPr>
        <p:spPr>
          <a:xfrm>
            <a:off x="429253" y="424691"/>
            <a:ext cx="8069509" cy="10789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3600"/>
              <a:t>Целевая аудитория — 250 клиентов из 1 200 потенциальных</a:t>
            </a:r>
            <a:endParaRPr/>
          </a:p>
        </p:txBody>
      </p:sp>
      <p:sp>
        <p:nvSpPr>
          <p:cNvPr id="704" name="Chart note 704"/>
          <p:cNvSpPr txBox="1"/>
          <p:nvPr/>
        </p:nvSpPr>
        <p:spPr>
          <a:xfrm>
            <a:off x="429253" y="1869443"/>
            <a:ext cx="3853387" cy="14986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279400" indent="-279400">
              <a:lnSpc>
                <a:spcPct val="90000"/>
              </a:lnSpc>
              <a:spcAft>
                <a:spcPts val="800"/>
              </a:spcAft>
              <a:buClr>
                <a:srgbClr val="0077FF"/>
              </a:buClr>
              <a:buFont typeface="Arial"/>
              <a:buChar char="•"/>
            </a:pPr>
            <a:r>
              <a:rPr lang="ru-RU" sz="2000" b="0" cap="none" spc="0" baseline="0" dirty="0">
                <a:solidFill>
                  <a:srgbClr val="FFFFFF"/>
                </a:solidFill>
                <a:latin typeface="Play"/>
                <a:cs typeface="Play"/>
              </a:rPr>
              <a:t>15% возрастной группы заинтересованы в занятиях рядом с домом</a:t>
            </a:r>
            <a:endParaRPr lang="ru-RU" sz="2000"/>
          </a:p>
          <a:p>
            <a:pPr algn="l" marL="279400" indent="-279400">
              <a:lnSpc>
                <a:spcPct val="90000"/>
              </a:lnSpc>
              <a:buClr>
                <a:srgbClr val="0077FF"/>
              </a:buClr>
              <a:buFont typeface="Arial"/>
              <a:buChar char="•"/>
            </a:pPr>
            <a:r>
              <a:rPr lang="ru-RU" sz="2000" b="0" cap="none" spc="0" baseline="0" dirty="0">
                <a:solidFill>
                  <a:srgbClr val="FFFFFF"/>
                </a:solidFill>
                <a:latin typeface="Play"/>
                <a:cs typeface="Play"/>
              </a:rPr>
              <a:t>Для достижения цели нужно привлечь 21% аудитории</a:t>
            </a:r>
            <a:endParaRPr lang="ru-RU" sz="2000"/>
          </a:p>
        </p:txBody>
      </p:sp>
      <p:cxnSp>
        <p:nvCxnSpPr>
          <p:cNvPr id="705" name="Line 705"/>
          <p:cNvCxnSpPr/>
          <p:nvPr/>
        </p:nvCxnSpPr>
        <p:spPr>
          <a:xfrm>
            <a:off x="4575248" y="1869443"/>
            <a:ext cx="0" cy="1498600"/>
          </a:xfrm>
          <a:prstGeom prst="line">
            <a:avLst/>
          </a:prstGeom>
          <a:ln w="12700">
            <a:solidFill>
              <a:srgbClr val="212121"/>
            </a:solidFill>
          </a:ln>
        </p:spPr>
      </p:cxnSp>
      <p:sp>
        <p:nvSpPr>
          <p:cNvPr id="706" name="Unit 706"/>
          <p:cNvSpPr txBox="1"/>
          <p:nvPr/>
        </p:nvSpPr>
        <p:spPr>
          <a:xfrm>
            <a:off x="4867856" y="1869443"/>
            <a:ext cx="6894891" cy="189992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90000"/>
              </a:lnSpc>
              <a:buNone/>
            </a:pPr>
            <a:r>
              <a:rPr lang="ru-RU" sz="1200" b="0" cap="none" spc="0" baseline="0" dirty="0">
                <a:solidFill>
                  <a:srgbClr val="AFB8C2"/>
                </a:solidFill>
                <a:latin typeface="Play"/>
                <a:cs typeface="Play"/>
              </a:rPr>
              <a:t>Потенциальные клиенты, человек</a:t>
            </a:r>
            <a:endParaRPr lang="ru-RU" sz="1200"/>
          </a:p>
        </p:txBody>
      </p:sp>
      <p:graphicFrame>
        <p:nvGraphicFramePr>
          <p:cNvPr id="707" name="Chart 706"/>
          <p:cNvGraphicFramePr>
            <a:graphicFrameLocks noGrp="1"/>
          </p:cNvGraphicFramePr>
          <p:nvPr/>
        </p:nvGraphicFramePr>
        <p:xfrm>
          <a:off x="4867856" y="2121157"/>
          <a:ext cx="6894891" cy="347524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03" name="Google Shape;703;p32"/>
          <p:cNvSpPr txBox="1"/>
          <p:nvPr>
            <p:ph type="title"/>
          </p:nvPr>
        </p:nvSpPr>
        <p:spPr>
          <a:xfrm>
            <a:off x="429253" y="424691"/>
            <a:ext cx="9819467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3600"/>
              <a:t>Близость к дому важна для 35% опрошенных</a:t>
            </a:r>
            <a:endParaRPr/>
          </a:p>
        </p:txBody>
      </p:sp>
      <p:graphicFrame>
        <p:nvGraphicFramePr>
          <p:cNvPr id="704" name="Chart 703"/>
          <p:cNvGraphicFramePr>
            <a:graphicFrameLocks noGrp="1"/>
          </p:cNvGraphicFramePr>
          <p:nvPr/>
        </p:nvGraphicFramePr>
        <p:xfrm>
          <a:off x="5911970" y="1375667"/>
          <a:ext cx="4181233" cy="4181233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05" name="Legend title 705"/>
          <p:cNvSpPr txBox="1"/>
          <p:nvPr/>
        </p:nvSpPr>
        <p:spPr>
          <a:xfrm>
            <a:off x="2098796" y="2224223"/>
            <a:ext cx="3227958" cy="4775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90000"/>
              </a:lnSpc>
              <a:buNone/>
            </a:pPr>
            <a:r>
              <a:rPr lang="ru-RU" sz="2000" b="0" cap="none" spc="0" baseline="0" dirty="0">
                <a:solidFill>
                  <a:srgbClr val="AFB8C2"/>
                </a:solidFill>
                <a:latin typeface="Play"/>
                <a:cs typeface="Play"/>
              </a:rPr>
              <a:t>Что важно посетителям</a:t>
            </a:r>
            <a:endParaRPr lang="ru-RU" sz="2000"/>
          </a:p>
        </p:txBody>
      </p:sp>
      <p:sp>
        <p:nvSpPr>
          <p:cNvPr id="706" name="Swatch 706"/>
          <p:cNvSpPr/>
          <p:nvPr/>
        </p:nvSpPr>
        <p:spPr>
          <a:xfrm>
            <a:off x="2098796" y="2747463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0077FF"/>
          </a:solidFill>
          <a:ln>
            <a:noFill/>
          </a:ln>
        </p:spPr>
      </p:sp>
      <p:sp>
        <p:nvSpPr>
          <p:cNvPr id="707" name="Legend 707"/>
          <p:cNvSpPr txBox="1"/>
          <p:nvPr/>
        </p:nvSpPr>
        <p:spPr>
          <a:xfrm>
            <a:off x="2427980" y="2701743"/>
            <a:ext cx="2049462" cy="2997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90000"/>
              </a:lnSpc>
              <a:buNone/>
            </a:pPr>
            <a:r>
              <a:rPr lang="ru-RU" sz="2000" b="0" cap="none" spc="0" baseline="0" dirty="0">
                <a:solidFill>
                  <a:srgbClr val="FFFFFF"/>
                </a:solidFill>
                <a:latin typeface="Play"/>
                <a:cs typeface="Play"/>
              </a:rPr>
              <a:t>Близость к дому</a:t>
            </a:r>
            <a:endParaRPr lang="ru-RU" sz="2000"/>
          </a:p>
        </p:txBody>
      </p:sp>
      <p:sp>
        <p:nvSpPr>
          <p:cNvPr id="708" name="Share 708"/>
          <p:cNvSpPr txBox="1"/>
          <p:nvPr/>
        </p:nvSpPr>
        <p:spPr>
          <a:xfrm>
            <a:off x="4477442" y="2701743"/>
            <a:ext cx="849312" cy="2997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 marL="0" indent="0">
              <a:lnSpc>
                <a:spcPct val="90000"/>
              </a:lnSpc>
              <a:buNone/>
            </a:pPr>
            <a:r>
              <a:rPr lang="ru-RU" sz="2000" b="1" cap="none" spc="0" baseline="0" dirty="0">
                <a:solidFill>
                  <a:srgbClr val="0077FF"/>
                </a:solidFill>
                <a:latin typeface="Play"/>
                <a:cs typeface="Play"/>
              </a:rPr>
              <a:t>35%</a:t>
            </a:r>
            <a:endParaRPr lang="ru-RU" sz="2000"/>
          </a:p>
        </p:txBody>
      </p:sp>
      <p:sp>
        <p:nvSpPr>
          <p:cNvPr id="709" name="Swatch 709"/>
          <p:cNvSpPr/>
          <p:nvPr/>
        </p:nvSpPr>
        <p:spPr>
          <a:xfrm>
            <a:off x="2098796" y="3174183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3895FF"/>
          </a:solidFill>
          <a:ln>
            <a:noFill/>
          </a:ln>
        </p:spPr>
      </p:sp>
      <p:sp>
        <p:nvSpPr>
          <p:cNvPr id="710" name="Legend 710"/>
          <p:cNvSpPr txBox="1"/>
          <p:nvPr/>
        </p:nvSpPr>
        <p:spPr>
          <a:xfrm>
            <a:off x="2427980" y="3128463"/>
            <a:ext cx="2049462" cy="2997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90000"/>
              </a:lnSpc>
              <a:buNone/>
            </a:pPr>
            <a:r>
              <a:rPr lang="ru-RU" sz="2000" b="0" cap="none" spc="0" baseline="0" dirty="0">
                <a:solidFill>
                  <a:srgbClr val="FFFFFF"/>
                </a:solidFill>
                <a:latin typeface="Play"/>
                <a:cs typeface="Play"/>
              </a:rPr>
              <a:t>Расписание</a:t>
            </a:r>
            <a:endParaRPr lang="ru-RU" sz="2000"/>
          </a:p>
        </p:txBody>
      </p:sp>
      <p:sp>
        <p:nvSpPr>
          <p:cNvPr id="711" name="Share 711"/>
          <p:cNvSpPr txBox="1"/>
          <p:nvPr/>
        </p:nvSpPr>
        <p:spPr>
          <a:xfrm>
            <a:off x="4477442" y="3128463"/>
            <a:ext cx="849312" cy="2997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 marL="0" indent="0">
              <a:lnSpc>
                <a:spcPct val="90000"/>
              </a:lnSpc>
              <a:buNone/>
            </a:pPr>
            <a:r>
              <a:rPr lang="ru-RU" sz="2000" b="1" cap="none" spc="0" baseline="0" dirty="0">
                <a:solidFill>
                  <a:srgbClr val="FFFFFF"/>
                </a:solidFill>
                <a:latin typeface="Play"/>
                <a:cs typeface="Play"/>
              </a:rPr>
              <a:t>25%</a:t>
            </a:r>
            <a:endParaRPr lang="ru-RU" sz="2000"/>
          </a:p>
        </p:txBody>
      </p:sp>
      <p:sp>
        <p:nvSpPr>
          <p:cNvPr id="712" name="Swatch 712"/>
          <p:cNvSpPr/>
          <p:nvPr/>
        </p:nvSpPr>
        <p:spPr>
          <a:xfrm>
            <a:off x="2098796" y="3600903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70B3FF"/>
          </a:solidFill>
          <a:ln>
            <a:noFill/>
          </a:ln>
        </p:spPr>
      </p:sp>
      <p:sp>
        <p:nvSpPr>
          <p:cNvPr id="713" name="Legend 713"/>
          <p:cNvSpPr txBox="1"/>
          <p:nvPr/>
        </p:nvSpPr>
        <p:spPr>
          <a:xfrm>
            <a:off x="2427980" y="3555183"/>
            <a:ext cx="2049462" cy="2997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90000"/>
              </a:lnSpc>
              <a:buNone/>
            </a:pPr>
            <a:r>
              <a:rPr lang="ru-RU" sz="2000" b="0" cap="none" spc="0" baseline="0" dirty="0">
                <a:solidFill>
                  <a:srgbClr val="FFFFFF"/>
                </a:solidFill>
                <a:latin typeface="Play"/>
                <a:cs typeface="Play"/>
              </a:rPr>
              <a:t>Стоимость</a:t>
            </a:r>
            <a:endParaRPr lang="ru-RU" sz="2000"/>
          </a:p>
        </p:txBody>
      </p:sp>
      <p:sp>
        <p:nvSpPr>
          <p:cNvPr id="714" name="Share 714"/>
          <p:cNvSpPr txBox="1"/>
          <p:nvPr/>
        </p:nvSpPr>
        <p:spPr>
          <a:xfrm>
            <a:off x="4477442" y="3555183"/>
            <a:ext cx="849312" cy="2997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 marL="0" indent="0">
              <a:lnSpc>
                <a:spcPct val="90000"/>
              </a:lnSpc>
              <a:buNone/>
            </a:pPr>
            <a:r>
              <a:rPr lang="ru-RU" sz="2000" b="1" cap="none" spc="0" baseline="0" dirty="0">
                <a:solidFill>
                  <a:srgbClr val="FFFFFF"/>
                </a:solidFill>
                <a:latin typeface="Play"/>
                <a:cs typeface="Play"/>
              </a:rPr>
              <a:t>20%</a:t>
            </a:r>
            <a:endParaRPr lang="ru-RU" sz="2000"/>
          </a:p>
        </p:txBody>
      </p:sp>
      <p:sp>
        <p:nvSpPr>
          <p:cNvPr id="715" name="Swatch 715"/>
          <p:cNvSpPr/>
          <p:nvPr/>
        </p:nvSpPr>
        <p:spPr>
          <a:xfrm>
            <a:off x="2098796" y="4027623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ADD3FF"/>
          </a:solidFill>
          <a:ln>
            <a:noFill/>
          </a:ln>
        </p:spPr>
      </p:sp>
      <p:sp>
        <p:nvSpPr>
          <p:cNvPr id="716" name="Legend 716"/>
          <p:cNvSpPr txBox="1"/>
          <p:nvPr/>
        </p:nvSpPr>
        <p:spPr>
          <a:xfrm>
            <a:off x="2427980" y="3981903"/>
            <a:ext cx="2049462" cy="2997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90000"/>
              </a:lnSpc>
              <a:buNone/>
            </a:pPr>
            <a:r>
              <a:rPr lang="ru-RU" sz="2000" b="0" cap="none" spc="0" baseline="0" dirty="0">
                <a:solidFill>
                  <a:srgbClr val="FFFFFF"/>
                </a:solidFill>
                <a:latin typeface="Play"/>
                <a:cs typeface="Play"/>
              </a:rPr>
              <a:t>Тренеры</a:t>
            </a:r>
            <a:endParaRPr lang="ru-RU" sz="2000"/>
          </a:p>
        </p:txBody>
      </p:sp>
      <p:sp>
        <p:nvSpPr>
          <p:cNvPr id="717" name="Share 717"/>
          <p:cNvSpPr txBox="1"/>
          <p:nvPr/>
        </p:nvSpPr>
        <p:spPr>
          <a:xfrm>
            <a:off x="4477442" y="3981903"/>
            <a:ext cx="849312" cy="2997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 marL="0" indent="0">
              <a:lnSpc>
                <a:spcPct val="90000"/>
              </a:lnSpc>
              <a:buNone/>
            </a:pPr>
            <a:r>
              <a:rPr lang="ru-RU" sz="2000" b="1" cap="none" spc="0" baseline="0" dirty="0">
                <a:solidFill>
                  <a:srgbClr val="FFFFFF"/>
                </a:solidFill>
                <a:latin typeface="Play"/>
                <a:cs typeface="Play"/>
              </a:rPr>
              <a:t>12,5%</a:t>
            </a:r>
            <a:endParaRPr lang="ru-RU" sz="2000"/>
          </a:p>
        </p:txBody>
      </p:sp>
      <p:sp>
        <p:nvSpPr>
          <p:cNvPr id="718" name="Swatch 718"/>
          <p:cNvSpPr/>
          <p:nvPr/>
        </p:nvSpPr>
        <p:spPr>
          <a:xfrm>
            <a:off x="2098796" y="4454343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E6F1FF"/>
          </a:solidFill>
          <a:ln>
            <a:noFill/>
          </a:ln>
        </p:spPr>
      </p:sp>
      <p:sp>
        <p:nvSpPr>
          <p:cNvPr id="719" name="Legend 719"/>
          <p:cNvSpPr txBox="1"/>
          <p:nvPr/>
        </p:nvSpPr>
        <p:spPr>
          <a:xfrm>
            <a:off x="2427980" y="4408623"/>
            <a:ext cx="2049462" cy="2997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90000"/>
              </a:lnSpc>
              <a:buNone/>
            </a:pPr>
            <a:r>
              <a:rPr lang="ru-RU" sz="2000" b="0" cap="none" spc="0" baseline="0" dirty="0">
                <a:solidFill>
                  <a:srgbClr val="FFFFFF"/>
                </a:solidFill>
                <a:latin typeface="Play"/>
                <a:cs typeface="Play"/>
              </a:rPr>
              <a:t>Атмосфера</a:t>
            </a:r>
            <a:endParaRPr lang="ru-RU" sz="2000"/>
          </a:p>
        </p:txBody>
      </p:sp>
      <p:sp>
        <p:nvSpPr>
          <p:cNvPr id="720" name="Share 720"/>
          <p:cNvSpPr txBox="1"/>
          <p:nvPr/>
        </p:nvSpPr>
        <p:spPr>
          <a:xfrm>
            <a:off x="4477442" y="4408623"/>
            <a:ext cx="849312" cy="2997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 marL="0" indent="0">
              <a:lnSpc>
                <a:spcPct val="90000"/>
              </a:lnSpc>
              <a:buNone/>
            </a:pPr>
            <a:r>
              <a:rPr lang="ru-RU" sz="2000" b="1" cap="none" spc="0" baseline="0" dirty="0">
                <a:solidFill>
                  <a:srgbClr val="FFFFFF"/>
                </a:solidFill>
                <a:latin typeface="Play"/>
                <a:cs typeface="Play"/>
              </a:rPr>
              <a:t>7,5%</a:t>
            </a:r>
            <a:endParaRPr lang="ru-RU" sz="2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03" name="Google Shape;703;p32"/>
          <p:cNvSpPr txBox="1"/>
          <p:nvPr>
            <p:ph type="title"/>
          </p:nvPr>
        </p:nvSpPr>
        <p:spPr>
          <a:xfrm>
            <a:off x="429253" y="424691"/>
            <a:ext cx="6208311" cy="10789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3600"/>
              <a:t>Средняя месячная выручка на клиента — 5 050 ₽</a:t>
            </a:r>
            <a:endParaRPr/>
          </a:p>
        </p:txBody>
      </p:sp>
      <p:sp>
        <p:nvSpPr>
          <p:cNvPr id="706" name="Conclusion bar 706"/>
          <p:cNvSpPr/>
          <p:nvPr/>
        </p:nvSpPr>
        <p:spPr>
          <a:xfrm>
            <a:off x="429253" y="1899923"/>
            <a:ext cx="41148" cy="513080"/>
          </a:xfrm>
          <a:prstGeom prst="rect">
            <a:avLst/>
          </a:prstGeom>
          <a:solidFill>
            <a:srgbClr val="0077FF"/>
          </a:solidFill>
          <a:ln>
            <a:noFill/>
          </a:ln>
        </p:spPr>
      </p:sp>
      <p:sp>
        <p:nvSpPr>
          <p:cNvPr id="707" name="Conclusion 707"/>
          <p:cNvSpPr txBox="1"/>
          <p:nvPr/>
        </p:nvSpPr>
        <p:spPr>
          <a:xfrm>
            <a:off x="673601" y="1869443"/>
            <a:ext cx="9955796" cy="57404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90000"/>
              </a:lnSpc>
              <a:buNone/>
            </a:pPr>
            <a:r>
              <a:rPr lang="ru-RU" sz="2000" b="1" cap="none" spc="0" baseline="0" dirty="0">
                <a:solidFill>
                  <a:srgbClr val="FFFFFF"/>
                </a:solidFill>
                <a:latin typeface="Play"/>
                <a:cs typeface="Play"/>
              </a:rPr>
              <a:t>Разовое посещение обойдется в </a:t>
            </a:r>
            <a:r>
              <a:rPr lang="ru-RU" sz="2000" b="1" cap="none" spc="0" baseline="0" dirty="0">
                <a:solidFill>
                  <a:srgbClr val="0077FF"/>
                </a:solidFill>
                <a:latin typeface="Play"/>
                <a:cs typeface="Play"/>
              </a:rPr>
              <a:t>900 рублей</a:t>
            </a:r>
            <a:r>
              <a:rPr lang="ru-RU" sz="2000" b="1" cap="none" spc="0" baseline="0" dirty="0">
                <a:solidFill>
                  <a:srgbClr val="FFFFFF"/>
                </a:solidFill>
                <a:latin typeface="Play"/>
                <a:cs typeface="Play"/>
              </a:rPr>
              <a:t>, пробная тренировка — в </a:t>
            </a:r>
            <a:r>
              <a:rPr lang="ru-RU" sz="2000" b="1" cap="none" spc="0" baseline="0" dirty="0">
                <a:solidFill>
                  <a:srgbClr val="0077FF"/>
                </a:solidFill>
                <a:latin typeface="Play"/>
                <a:cs typeface="Play"/>
              </a:rPr>
              <a:t>500 рублей</a:t>
            </a:r>
            <a:endParaRPr lang="ru-RU" sz="2000"/>
          </a:p>
        </p:txBody>
      </p:sp>
      <p:graphicFrame>
        <p:nvGraphicFramePr>
          <p:cNvPr id="708" name="Table"/>
          <p:cNvGraphicFramePr>
            <a:graphicFrameLocks noGrp="1"/>
          </p:cNvGraphicFramePr>
          <p:nvPr/>
        </p:nvGraphicFramePr>
        <p:xfrm>
          <a:off x="429253" y="2690371"/>
          <a:ext cx="11333494" cy="2023110"/>
        </p:xfrm>
        <a:graphic>
          <a:graphicData uri="http://schemas.openxmlformats.org/drawingml/2006/table">
            <a:tbl>
              <a:tblPr firstRow="1" bandRow="0">
                <a:tableStyleId>{2D5ABB26-0587-4C30-8999-92F81FD0307C}</a:tableStyleId>
              </a:tblPr>
              <a:tblGrid>
                <a:gridCol w="3112960"/>
                <a:gridCol w="2740178"/>
                <a:gridCol w="2740178"/>
                <a:gridCol w="2740178"/>
              </a:tblGrid>
              <a:tr h="68580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 cap="none" spc="0" baseline="0" lang="ru-RU">
                          <a:solidFill>
                            <a:srgbClr val="FFFFFF"/>
                          </a:solidFill>
                          <a:latin typeface="Play"/>
                          <a:ea typeface="Play"/>
                          <a:cs typeface="Play"/>
                        </a:rPr>
                        <a:t>Абонемент</a:t>
                      </a:r>
                    </a:p>
                  </a:txBody>
                  <a:tcPr marL="160020" marR="160020" marT="68580" marB="6858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gradFill>
                      <a:gsLst>
                        <a:gs pos="0">
                          <a:srgbClr val="00AEE8"/>
                        </a:gs>
                        <a:gs pos="3641">
                          <a:srgbClr val="00AEE8"/>
                        </a:gs>
                        <a:gs pos="100000">
                          <a:srgbClr val="009FEE">
                            <a:alpha val="89831"/>
                          </a:srgbClr>
                        </a:gs>
                      </a:gsLst>
                      <a:lin ang="0" scaled="0"/>
                    </a:gra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 cap="none" spc="0" baseline="0" lang="ru-RU">
                          <a:solidFill>
                            <a:srgbClr val="FFFFFF"/>
                          </a:solidFill>
                          <a:latin typeface="Play"/>
                          <a:ea typeface="Play"/>
                          <a:cs typeface="Play"/>
                        </a:rPr>
                        <a:t>Цена, ₽</a:t>
                      </a:r>
                    </a:p>
                  </a:txBody>
                  <a:tcPr marL="160020" marR="160020" marT="68580" marB="6858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gradFill>
                      <a:gsLst>
                        <a:gs pos="0">
                          <a:srgbClr val="009FEE">
                            <a:alpha val="89831"/>
                          </a:srgbClr>
                        </a:gs>
                        <a:gs pos="100000">
                          <a:srgbClr val="0092F4">
                            <a:alpha val="80541"/>
                          </a:srgbClr>
                        </a:gs>
                      </a:gsLst>
                      <a:lin ang="0" scaled="0"/>
                    </a:gra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 cap="none" spc="0" baseline="0" lang="ru-RU">
                          <a:solidFill>
                            <a:srgbClr val="FFFFFF"/>
                          </a:solidFill>
                          <a:latin typeface="Play"/>
                          <a:ea typeface="Play"/>
                          <a:cs typeface="Play"/>
                        </a:rPr>
                        <a:t>Количество занятий</a:t>
                      </a:r>
                    </a:p>
                  </a:txBody>
                  <a:tcPr marL="160020" marR="160020" marT="68580" marB="6858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gradFill>
                      <a:gsLst>
                        <a:gs pos="0">
                          <a:srgbClr val="0092F4">
                            <a:alpha val="80541"/>
                          </a:srgbClr>
                        </a:gs>
                        <a:gs pos="100000">
                          <a:srgbClr val="0084F9">
                            <a:alpha val="71251"/>
                          </a:srgbClr>
                        </a:gs>
                      </a:gsLst>
                      <a:lin ang="0" scaled="0"/>
                    </a:gra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 cap="none" spc="0" baseline="0" lang="ru-RU">
                          <a:solidFill>
                            <a:srgbClr val="FFFFFF"/>
                          </a:solidFill>
                          <a:latin typeface="Play"/>
                          <a:ea typeface="Play"/>
                          <a:cs typeface="Play"/>
                        </a:rPr>
                        <a:t>Стоимость одного занятия, ₽</a:t>
                      </a:r>
                    </a:p>
                  </a:txBody>
                  <a:tcPr marL="160020" marR="160020" marT="68580" marB="6858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gradFill>
                      <a:gsLst>
                        <a:gs pos="0">
                          <a:srgbClr val="0084F9">
                            <a:alpha val="71251"/>
                          </a:srgbClr>
                        </a:gs>
                        <a:gs pos="100000">
                          <a:srgbClr val="0077FF">
                            <a:alpha val="61961"/>
                          </a:srgbClr>
                        </a:gs>
                      </a:gsLst>
                      <a:lin ang="0" scaled="0"/>
                    </a:gradFill>
                  </a:tcPr>
                </a:tc>
              </a:tr>
              <a:tr h="44577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 cap="none" spc="0" baseline="0" lang="ru-RU">
                          <a:solidFill>
                            <a:srgbClr val="FFFFFF"/>
                          </a:solidFill>
                          <a:latin typeface="Play"/>
                          <a:ea typeface="Play"/>
                          <a:cs typeface="Play"/>
                        </a:rPr>
                        <a:t>Четыре занятия в месяц</a:t>
                      </a:r>
                    </a:p>
                  </a:txBody>
                  <a:tcPr marL="160020" marR="160020" marT="68580" marB="6858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21212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 cap="none" spc="0" baseline="0">
                          <a:solidFill>
                            <a:srgbClr val="FFFFFF"/>
                          </a:solidFill>
                          <a:latin typeface="Play"/>
                          <a:ea typeface="Play"/>
                          <a:cs typeface="Play"/>
                        </a:rPr>
                        <a:t>3200</a:t>
                      </a:r>
                    </a:p>
                  </a:txBody>
                  <a:tcPr marL="160020" marR="160020" marT="68580" marB="6858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21212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 cap="none" spc="0" baseline="0">
                          <a:solidFill>
                            <a:srgbClr val="FFFFFF"/>
                          </a:solidFill>
                          <a:latin typeface="Play"/>
                          <a:ea typeface="Play"/>
                          <a:cs typeface="Play"/>
                        </a:rPr>
                        <a:t>4</a:t>
                      </a:r>
                    </a:p>
                  </a:txBody>
                  <a:tcPr marL="160020" marR="160020" marT="68580" marB="6858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21212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 cap="none" spc="0" baseline="0">
                          <a:solidFill>
                            <a:srgbClr val="FFFFFF"/>
                          </a:solidFill>
                          <a:latin typeface="Play"/>
                          <a:ea typeface="Play"/>
                          <a:cs typeface="Play"/>
                        </a:rPr>
                        <a:t>800</a:t>
                      </a:r>
                    </a:p>
                  </a:txBody>
                  <a:tcPr marL="160020" marR="160020" marT="68580" marB="6858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212121"/>
                    </a:solidFill>
                  </a:tcPr>
                </a:tc>
              </a:tr>
              <a:tr h="44577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 cap="none" spc="0" baseline="0" lang="ru-RU">
                          <a:solidFill>
                            <a:srgbClr val="FFFFFF"/>
                          </a:solidFill>
                          <a:latin typeface="Play"/>
                          <a:ea typeface="Play"/>
                          <a:cs typeface="Play"/>
                        </a:rPr>
                        <a:t>Восемь занятий</a:t>
                      </a:r>
                    </a:p>
                  </a:txBody>
                  <a:tcPr marL="160020" marR="160020" marT="68580" marB="6858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21212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 cap="none" spc="0" baseline="0">
                          <a:solidFill>
                            <a:srgbClr val="FFFFFF"/>
                          </a:solidFill>
                          <a:latin typeface="Play"/>
                          <a:ea typeface="Play"/>
                          <a:cs typeface="Play"/>
                        </a:rPr>
                        <a:t>5200</a:t>
                      </a:r>
                    </a:p>
                  </a:txBody>
                  <a:tcPr marL="160020" marR="160020" marT="68580" marB="6858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21212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 cap="none" spc="0" baseline="0">
                          <a:solidFill>
                            <a:srgbClr val="FFFFFF"/>
                          </a:solidFill>
                          <a:latin typeface="Play"/>
                          <a:ea typeface="Play"/>
                          <a:cs typeface="Play"/>
                        </a:rPr>
                        <a:t>8</a:t>
                      </a:r>
                    </a:p>
                  </a:txBody>
                  <a:tcPr marL="160020" marR="160020" marT="68580" marB="6858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21212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 cap="none" spc="0" baseline="0">
                          <a:solidFill>
                            <a:srgbClr val="FFFFFF"/>
                          </a:solidFill>
                          <a:latin typeface="Play"/>
                          <a:ea typeface="Play"/>
                          <a:cs typeface="Play"/>
                        </a:rPr>
                        <a:t>650</a:t>
                      </a:r>
                    </a:p>
                  </a:txBody>
                  <a:tcPr marL="160020" marR="160020" marT="68580" marB="6858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212121"/>
                    </a:solidFill>
                  </a:tcPr>
                </a:tc>
              </a:tr>
              <a:tr h="44577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 cap="none" spc="0" baseline="0" lang="ru-RU">
                          <a:solidFill>
                            <a:srgbClr val="FFFFFF"/>
                          </a:solidFill>
                          <a:latin typeface="Play"/>
                          <a:ea typeface="Play"/>
                          <a:cs typeface="Play"/>
                        </a:rPr>
                        <a:t>Двенадцать занятий</a:t>
                      </a:r>
                    </a:p>
                  </a:txBody>
                  <a:tcPr marL="160020" marR="160020" marT="68580" marB="6858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21212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 cap="none" spc="0" baseline="0">
                          <a:solidFill>
                            <a:srgbClr val="FFFFFF"/>
                          </a:solidFill>
                          <a:latin typeface="Play"/>
                          <a:ea typeface="Play"/>
                          <a:cs typeface="Play"/>
                        </a:rPr>
                        <a:t>6600</a:t>
                      </a:r>
                    </a:p>
                  </a:txBody>
                  <a:tcPr marL="160020" marR="160020" marT="68580" marB="6858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21212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 cap="none" spc="0" baseline="0">
                          <a:solidFill>
                            <a:srgbClr val="FFFFFF"/>
                          </a:solidFill>
                          <a:latin typeface="Play"/>
                          <a:ea typeface="Play"/>
                          <a:cs typeface="Play"/>
                        </a:rPr>
                        <a:t>12</a:t>
                      </a:r>
                    </a:p>
                  </a:txBody>
                  <a:tcPr marL="160020" marR="160020" marT="68580" marB="6858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21212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 cap="none" spc="0" baseline="0">
                          <a:solidFill>
                            <a:srgbClr val="FFFFFF"/>
                          </a:solidFill>
                          <a:latin typeface="Play"/>
                          <a:ea typeface="Play"/>
                          <a:cs typeface="Play"/>
                        </a:rPr>
                        <a:t>550</a:t>
                      </a:r>
                    </a:p>
                  </a:txBody>
                  <a:tcPr marL="160020" marR="160020" marT="68580" marB="6858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212121"/>
                    </a:solidFill>
                  </a:tcPr>
                </a:tc>
              </a:tr>
            </a:tbl>
          </a:graphicData>
        </a:graphic>
      </p:graphicFrame>
      <p:sp>
        <p:nvSpPr>
          <p:cNvPr id="709" name="Footnote 709"/>
          <p:cNvSpPr txBox="1"/>
          <p:nvPr/>
        </p:nvSpPr>
        <p:spPr>
          <a:xfrm>
            <a:off x="429253" y="5730494"/>
            <a:ext cx="11333494" cy="189992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90000"/>
              </a:lnSpc>
              <a:buNone/>
            </a:pPr>
            <a:r>
              <a:rPr lang="ru-RU" sz="1200" b="0" cap="none" spc="0" baseline="0" dirty="0">
                <a:solidFill>
                  <a:srgbClr val="AFB8C2"/>
                </a:solidFill>
                <a:latin typeface="Play"/>
                <a:cs typeface="Play"/>
              </a:rPr>
              <a:t>Доход от разовых и пробных посещений в основной финансовый прогноз не включен</a:t>
            </a:r>
            <a:endParaRPr lang="ru-RU" sz="12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03" name="Google Shape;703;p32"/>
          <p:cNvSpPr txBox="1"/>
          <p:nvPr>
            <p:ph type="title"/>
          </p:nvPr>
        </p:nvSpPr>
        <p:spPr>
          <a:xfrm>
            <a:off x="429253" y="424691"/>
            <a:ext cx="7937279" cy="10789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3600"/>
              <a:t>Месячная вместимость превышает ожидаемые посещения</a:t>
            </a:r>
            <a:endParaRPr/>
          </a:p>
        </p:txBody>
      </p:sp>
      <p:sp>
        <p:nvSpPr>
          <p:cNvPr id="704" name="Chart note 704"/>
          <p:cNvSpPr txBox="1"/>
          <p:nvPr/>
        </p:nvSpPr>
        <p:spPr>
          <a:xfrm>
            <a:off x="429253" y="1869443"/>
            <a:ext cx="3853387" cy="57404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90000"/>
              </a:lnSpc>
              <a:buNone/>
            </a:pPr>
            <a:r>
              <a:rPr lang="ru-RU" sz="2000" b="1" cap="none" spc="0" baseline="0" dirty="0">
                <a:solidFill>
                  <a:srgbClr val="0077FF"/>
                </a:solidFill>
                <a:latin typeface="Play"/>
                <a:cs typeface="Play"/>
              </a:rPr>
              <a:t>2 700 </a:t>
            </a:r>
            <a:r>
              <a:rPr lang="ru-RU" sz="2000" b="1" cap="none" spc="0" baseline="0" dirty="0">
                <a:solidFill>
                  <a:srgbClr val="FFFFFF"/>
                </a:solidFill>
                <a:latin typeface="Play"/>
                <a:cs typeface="Play"/>
              </a:rPr>
              <a:t>вместимости vs </a:t>
            </a:r>
            <a:r>
              <a:rPr lang="ru-RU" sz="2000" b="1" cap="none" spc="0" baseline="0" dirty="0">
                <a:solidFill>
                  <a:srgbClr val="0077FF"/>
                </a:solidFill>
                <a:latin typeface="Play"/>
                <a:cs typeface="Play"/>
              </a:rPr>
              <a:t>2 000 </a:t>
            </a:r>
            <a:r>
              <a:rPr lang="ru-RU" sz="2000" b="1" cap="none" spc="0" baseline="0" dirty="0">
                <a:solidFill>
                  <a:srgbClr val="FFFFFF"/>
                </a:solidFill>
                <a:latin typeface="Play"/>
                <a:cs typeface="Play"/>
              </a:rPr>
              <a:t>посещений</a:t>
            </a:r>
            <a:endParaRPr lang="ru-RU" sz="2000"/>
          </a:p>
        </p:txBody>
      </p:sp>
      <p:cxnSp>
        <p:nvCxnSpPr>
          <p:cNvPr id="705" name="Line 705"/>
          <p:cNvCxnSpPr/>
          <p:nvPr/>
        </p:nvCxnSpPr>
        <p:spPr>
          <a:xfrm>
            <a:off x="4575248" y="1869443"/>
            <a:ext cx="0" cy="574040"/>
          </a:xfrm>
          <a:prstGeom prst="line">
            <a:avLst/>
          </a:prstGeom>
          <a:ln w="12700">
            <a:solidFill>
              <a:srgbClr val="212121"/>
            </a:solidFill>
          </a:ln>
        </p:spPr>
      </p:cxnSp>
      <p:sp>
        <p:nvSpPr>
          <p:cNvPr id="706" name="Unit 706"/>
          <p:cNvSpPr txBox="1"/>
          <p:nvPr/>
        </p:nvSpPr>
        <p:spPr>
          <a:xfrm>
            <a:off x="4867856" y="1869443"/>
            <a:ext cx="6894891" cy="189992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90000"/>
              </a:lnSpc>
              <a:buNone/>
            </a:pPr>
            <a:r>
              <a:rPr lang="ru-RU" sz="1200" b="0" cap="none" spc="0" baseline="0" dirty="0">
                <a:solidFill>
                  <a:srgbClr val="AFB8C2"/>
                </a:solidFill>
                <a:latin typeface="Play"/>
                <a:cs typeface="Play"/>
              </a:rPr>
              <a:t>Месячная вместимость и ожидаемые посещения, посещений</a:t>
            </a:r>
            <a:endParaRPr lang="ru-RU" sz="1200"/>
          </a:p>
        </p:txBody>
      </p:sp>
      <p:graphicFrame>
        <p:nvGraphicFramePr>
          <p:cNvPr id="707" name="Chart 706"/>
          <p:cNvGraphicFramePr>
            <a:graphicFrameLocks noGrp="1"/>
          </p:cNvGraphicFramePr>
          <p:nvPr/>
        </p:nvGraphicFramePr>
        <p:xfrm>
          <a:off x="4867856" y="2121157"/>
          <a:ext cx="6894891" cy="347524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03" name="Google Shape;703;p32"/>
          <p:cNvSpPr txBox="1"/>
          <p:nvPr>
            <p:ph type="title"/>
          </p:nvPr>
        </p:nvSpPr>
        <p:spPr>
          <a:xfrm>
            <a:off x="429253" y="424691"/>
            <a:ext cx="6803894" cy="10789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3600"/>
              <a:t>Тренировочный зал занимает больше половины площади</a:t>
            </a:r>
            <a:endParaRPr/>
          </a:p>
        </p:txBody>
      </p:sp>
      <p:sp>
        <p:nvSpPr>
          <p:cNvPr id="704" name="Место для фото" descr="Фото помещения: место оставлено свободным — вставьте фото в плейсхолдер или через «Формат фигуры → Заливка → Рисунок»"/>
          <p:cNvSpPr/>
          <p:nvPr/>
        </p:nvSpPr>
        <p:spPr>
          <a:xfrm>
            <a:off x="7229350" y="1869443"/>
            <a:ext cx="4533397" cy="3481350"/>
          </a:xfrm>
          <a:prstGeom prst="roundRect">
            <a:avLst>
              <a:gd name="adj" fmla="val 2708"/>
            </a:avLst>
          </a:prstGeom>
          <a:solidFill>
            <a:srgbClr val="212121"/>
          </a:solidFill>
          <a:ln>
            <a:noFill/>
          </a:ln>
        </p:spPr>
      </p:sp>
      <p:sp>
        <p:nvSpPr>
          <p:cNvPr id="705" name="Conclusion bar 705"/>
          <p:cNvSpPr/>
          <p:nvPr/>
        </p:nvSpPr>
        <p:spPr>
          <a:xfrm>
            <a:off x="429253" y="1899923"/>
            <a:ext cx="41148" cy="513080"/>
          </a:xfrm>
          <a:prstGeom prst="rect">
            <a:avLst/>
          </a:prstGeom>
          <a:solidFill>
            <a:srgbClr val="0077FF"/>
          </a:solidFill>
          <a:ln>
            <a:noFill/>
          </a:ln>
        </p:spPr>
      </p:sp>
      <p:sp>
        <p:nvSpPr>
          <p:cNvPr id="706" name="Conclusion 706"/>
          <p:cNvSpPr txBox="1"/>
          <p:nvPr/>
        </p:nvSpPr>
        <p:spPr>
          <a:xfrm>
            <a:off x="673601" y="1869443"/>
            <a:ext cx="5491691" cy="57404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90000"/>
              </a:lnSpc>
              <a:buNone/>
            </a:pPr>
            <a:r>
              <a:rPr lang="ru-RU" sz="2000" b="1" cap="none" spc="0" baseline="0" dirty="0">
                <a:solidFill>
                  <a:srgbClr val="FFFFFF"/>
                </a:solidFill>
                <a:latin typeface="Play"/>
                <a:cs typeface="Play"/>
              </a:rPr>
              <a:t>Тренировочный зал — основная зона студии</a:t>
            </a:r>
            <a:endParaRPr lang="ru-RU" sz="2000"/>
          </a:p>
        </p:txBody>
      </p:sp>
      <p:sp>
        <p:nvSpPr>
          <p:cNvPr id="707" name="Rule 707"/>
          <p:cNvSpPr/>
          <p:nvPr/>
        </p:nvSpPr>
        <p:spPr>
          <a:xfrm>
            <a:off x="429253" y="2690371"/>
            <a:ext cx="617220" cy="38100"/>
          </a:xfrm>
          <a:prstGeom prst="rect">
            <a:avLst/>
          </a:prstGeom>
          <a:solidFill>
            <a:srgbClr val="0077FF"/>
          </a:solidFill>
          <a:ln>
            <a:noFill/>
          </a:ln>
        </p:spPr>
      </p:sp>
      <p:sp>
        <p:nvSpPr>
          <p:cNvPr id="708" name="Figure 708"/>
          <p:cNvSpPr txBox="1"/>
          <p:nvPr/>
        </p:nvSpPr>
        <p:spPr>
          <a:xfrm>
            <a:off x="390010" y="2636917"/>
            <a:ext cx="3079627" cy="963930"/>
          </a:xfrm>
          <a:prstGeom prst="rect">
            <a:avLst/>
          </a:prstGeom>
          <a:noFill/>
        </p:spPr>
        <p:txBody>
          <a:bodyPr wrap="square" lIns="0" tIns="0" rIns="0" bIns="0" anchor="b" rtlCol="0">
            <a:noAutofit/>
          </a:bodyPr>
          <a:lstStyle/>
          <a:p>
            <a:pPr algn="l" marL="0" indent="0">
              <a:lnSpc>
                <a:spcPct val="90000"/>
              </a:lnSpc>
              <a:buNone/>
            </a:pPr>
            <a:r>
              <a:rPr lang="ru-RU" sz="6600" b="1" cap="none" spc="0" baseline="0" dirty="0">
                <a:solidFill>
                  <a:srgbClr val="0077FF"/>
                </a:solidFill>
                <a:latin typeface="Play"/>
                <a:cs typeface="Play"/>
              </a:rPr>
              <a:t>100</a:t>
            </a:r>
            <a:r>
              <a:rPr lang="ru-RU" sz="3200" b="1" cap="none" spc="0" baseline="0" dirty="0">
                <a:solidFill>
                  <a:srgbClr val="0077FF"/>
                </a:solidFill>
                <a:latin typeface="Play"/>
                <a:cs typeface="Play"/>
              </a:rPr>
              <a:t> м²</a:t>
            </a:r>
            <a:endParaRPr lang="ru-RU" sz="6600"/>
          </a:p>
        </p:txBody>
      </p:sp>
      <p:sp>
        <p:nvSpPr>
          <p:cNvPr id="709" name="Label 709"/>
          <p:cNvSpPr txBox="1"/>
          <p:nvPr/>
        </p:nvSpPr>
        <p:spPr>
          <a:xfrm>
            <a:off x="429253" y="3672856"/>
            <a:ext cx="3040384" cy="244856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90000"/>
              </a:lnSpc>
              <a:buNone/>
            </a:pPr>
            <a:r>
              <a:rPr lang="ru-RU" sz="1600" b="0" cap="none" spc="0" baseline="0" dirty="0">
                <a:solidFill>
                  <a:srgbClr val="AFB8C2"/>
                </a:solidFill>
                <a:latin typeface="Play"/>
                <a:cs typeface="Play"/>
              </a:rPr>
              <a:t>Тренировочный зал</a:t>
            </a:r>
            <a:endParaRPr lang="ru-RU" sz="1600"/>
          </a:p>
        </p:txBody>
      </p:sp>
      <p:sp>
        <p:nvSpPr>
          <p:cNvPr id="710" name="Rule 710"/>
          <p:cNvSpPr/>
          <p:nvPr/>
        </p:nvSpPr>
        <p:spPr>
          <a:xfrm>
            <a:off x="3762245" y="2690371"/>
            <a:ext cx="617220" cy="38100"/>
          </a:xfrm>
          <a:prstGeom prst="rect">
            <a:avLst/>
          </a:prstGeom>
          <a:solidFill>
            <a:srgbClr val="0077FF"/>
          </a:solidFill>
          <a:ln>
            <a:noFill/>
          </a:ln>
        </p:spPr>
      </p:sp>
      <p:sp>
        <p:nvSpPr>
          <p:cNvPr id="711" name="Figure 711"/>
          <p:cNvSpPr txBox="1"/>
          <p:nvPr/>
        </p:nvSpPr>
        <p:spPr>
          <a:xfrm>
            <a:off x="3756530" y="2636917"/>
            <a:ext cx="3046099" cy="963930"/>
          </a:xfrm>
          <a:prstGeom prst="rect">
            <a:avLst/>
          </a:prstGeom>
          <a:noFill/>
        </p:spPr>
        <p:txBody>
          <a:bodyPr wrap="square" lIns="0" tIns="0" rIns="0" bIns="0" anchor="b" rtlCol="0">
            <a:noAutofit/>
          </a:bodyPr>
          <a:lstStyle/>
          <a:p>
            <a:pPr algn="l" marL="0" indent="0">
              <a:lnSpc>
                <a:spcPct val="90000"/>
              </a:lnSpc>
              <a:buNone/>
            </a:pPr>
            <a:r>
              <a:rPr lang="ru-RU" sz="6600" b="1" cap="none" spc="0" baseline="0" dirty="0">
                <a:solidFill>
                  <a:srgbClr val="0077FF"/>
                </a:solidFill>
                <a:latin typeface="Play"/>
                <a:cs typeface="Play"/>
              </a:rPr>
              <a:t>35</a:t>
            </a:r>
            <a:r>
              <a:rPr lang="ru-RU" sz="3200" b="1" cap="none" spc="0" baseline="0" dirty="0">
                <a:solidFill>
                  <a:srgbClr val="0077FF"/>
                </a:solidFill>
                <a:latin typeface="Play"/>
                <a:cs typeface="Play"/>
              </a:rPr>
              <a:t> м²</a:t>
            </a:r>
            <a:endParaRPr lang="ru-RU" sz="6600"/>
          </a:p>
        </p:txBody>
      </p:sp>
      <p:sp>
        <p:nvSpPr>
          <p:cNvPr id="712" name="Label 712"/>
          <p:cNvSpPr txBox="1"/>
          <p:nvPr/>
        </p:nvSpPr>
        <p:spPr>
          <a:xfrm>
            <a:off x="3762245" y="3672856"/>
            <a:ext cx="3040384" cy="244856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90000"/>
              </a:lnSpc>
              <a:buNone/>
            </a:pPr>
            <a:r>
              <a:rPr lang="ru-RU" sz="1600" b="0" cap="none" spc="0" baseline="0" dirty="0">
                <a:solidFill>
                  <a:srgbClr val="AFB8C2"/>
                </a:solidFill>
                <a:latin typeface="Play"/>
                <a:cs typeface="Play"/>
              </a:rPr>
              <a:t>Раздевалки и душевые</a:t>
            </a:r>
            <a:endParaRPr lang="ru-RU" sz="1600"/>
          </a:p>
        </p:txBody>
      </p:sp>
      <p:sp>
        <p:nvSpPr>
          <p:cNvPr id="713" name="Rule 713"/>
          <p:cNvSpPr/>
          <p:nvPr/>
        </p:nvSpPr>
        <p:spPr>
          <a:xfrm>
            <a:off x="429253" y="4123452"/>
            <a:ext cx="617220" cy="38100"/>
          </a:xfrm>
          <a:prstGeom prst="rect">
            <a:avLst/>
          </a:prstGeom>
          <a:solidFill>
            <a:srgbClr val="0077FF"/>
          </a:solidFill>
          <a:ln>
            <a:noFill/>
          </a:ln>
        </p:spPr>
      </p:sp>
      <p:sp>
        <p:nvSpPr>
          <p:cNvPr id="714" name="Figure 714"/>
          <p:cNvSpPr txBox="1"/>
          <p:nvPr/>
        </p:nvSpPr>
        <p:spPr>
          <a:xfrm>
            <a:off x="415156" y="4069998"/>
            <a:ext cx="3054481" cy="963930"/>
          </a:xfrm>
          <a:prstGeom prst="rect">
            <a:avLst/>
          </a:prstGeom>
          <a:noFill/>
        </p:spPr>
        <p:txBody>
          <a:bodyPr wrap="square" lIns="0" tIns="0" rIns="0" bIns="0" anchor="b" rtlCol="0">
            <a:noAutofit/>
          </a:bodyPr>
          <a:lstStyle/>
          <a:p>
            <a:pPr algn="l" marL="0" indent="0">
              <a:lnSpc>
                <a:spcPct val="90000"/>
              </a:lnSpc>
              <a:buNone/>
            </a:pPr>
            <a:r>
              <a:rPr lang="ru-RU" sz="6600" b="1" cap="none" spc="0" baseline="0" dirty="0">
                <a:solidFill>
                  <a:srgbClr val="0077FF"/>
                </a:solidFill>
                <a:latin typeface="Play"/>
                <a:cs typeface="Play"/>
              </a:rPr>
              <a:t>25</a:t>
            </a:r>
            <a:r>
              <a:rPr lang="ru-RU" sz="3200" b="1" cap="none" spc="0" baseline="0" dirty="0">
                <a:solidFill>
                  <a:srgbClr val="0077FF"/>
                </a:solidFill>
                <a:latin typeface="Play"/>
                <a:cs typeface="Play"/>
              </a:rPr>
              <a:t> м²</a:t>
            </a:r>
            <a:endParaRPr lang="ru-RU" sz="6600"/>
          </a:p>
        </p:txBody>
      </p:sp>
      <p:sp>
        <p:nvSpPr>
          <p:cNvPr id="715" name="Label 715"/>
          <p:cNvSpPr txBox="1"/>
          <p:nvPr/>
        </p:nvSpPr>
        <p:spPr>
          <a:xfrm>
            <a:off x="429253" y="5105937"/>
            <a:ext cx="3040384" cy="244856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90000"/>
              </a:lnSpc>
              <a:buNone/>
            </a:pPr>
            <a:r>
              <a:rPr lang="ru-RU" sz="1600" b="0" cap="none" spc="0" baseline="0" dirty="0">
                <a:solidFill>
                  <a:srgbClr val="AFB8C2"/>
                </a:solidFill>
                <a:latin typeface="Play"/>
                <a:cs typeface="Play"/>
              </a:rPr>
              <a:t>Зона ресепшена и ожидания</a:t>
            </a:r>
            <a:endParaRPr lang="ru-RU" sz="1600"/>
          </a:p>
        </p:txBody>
      </p:sp>
      <p:sp>
        <p:nvSpPr>
          <p:cNvPr id="716" name="Rule 716"/>
          <p:cNvSpPr/>
          <p:nvPr/>
        </p:nvSpPr>
        <p:spPr>
          <a:xfrm>
            <a:off x="3762245" y="4123452"/>
            <a:ext cx="617220" cy="38100"/>
          </a:xfrm>
          <a:prstGeom prst="rect">
            <a:avLst/>
          </a:prstGeom>
          <a:solidFill>
            <a:srgbClr val="0077FF"/>
          </a:solidFill>
          <a:ln>
            <a:noFill/>
          </a:ln>
        </p:spPr>
      </p:sp>
      <p:sp>
        <p:nvSpPr>
          <p:cNvPr id="717" name="Figure 717"/>
          <p:cNvSpPr txBox="1"/>
          <p:nvPr/>
        </p:nvSpPr>
        <p:spPr>
          <a:xfrm>
            <a:off x="3748148" y="4069998"/>
            <a:ext cx="3054481" cy="963930"/>
          </a:xfrm>
          <a:prstGeom prst="rect">
            <a:avLst/>
          </a:prstGeom>
          <a:noFill/>
        </p:spPr>
        <p:txBody>
          <a:bodyPr wrap="square" lIns="0" tIns="0" rIns="0" bIns="0" anchor="b" rtlCol="0">
            <a:noAutofit/>
          </a:bodyPr>
          <a:lstStyle/>
          <a:p>
            <a:pPr algn="l" marL="0" indent="0">
              <a:lnSpc>
                <a:spcPct val="90000"/>
              </a:lnSpc>
              <a:buNone/>
            </a:pPr>
            <a:r>
              <a:rPr lang="ru-RU" sz="6600" b="1" cap="none" spc="0" baseline="0" dirty="0">
                <a:solidFill>
                  <a:srgbClr val="0077FF"/>
                </a:solidFill>
                <a:latin typeface="Play"/>
                <a:cs typeface="Play"/>
              </a:rPr>
              <a:t>20</a:t>
            </a:r>
            <a:r>
              <a:rPr lang="ru-RU" sz="3200" b="1" cap="none" spc="0" baseline="0" dirty="0">
                <a:solidFill>
                  <a:srgbClr val="0077FF"/>
                </a:solidFill>
                <a:latin typeface="Play"/>
                <a:cs typeface="Play"/>
              </a:rPr>
              <a:t> м²</a:t>
            </a:r>
            <a:endParaRPr lang="ru-RU" sz="6600"/>
          </a:p>
        </p:txBody>
      </p:sp>
      <p:sp>
        <p:nvSpPr>
          <p:cNvPr id="718" name="Label 718"/>
          <p:cNvSpPr txBox="1"/>
          <p:nvPr/>
        </p:nvSpPr>
        <p:spPr>
          <a:xfrm>
            <a:off x="3762245" y="5105937"/>
            <a:ext cx="3040384" cy="244856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90000"/>
              </a:lnSpc>
              <a:buNone/>
            </a:pPr>
            <a:r>
              <a:rPr lang="ru-RU" sz="1600" b="0" cap="none" spc="0" baseline="0" dirty="0">
                <a:solidFill>
                  <a:srgbClr val="AFB8C2"/>
                </a:solidFill>
                <a:latin typeface="Play"/>
                <a:cs typeface="Play"/>
              </a:rPr>
              <a:t>Подсобные помещения</a:t>
            </a:r>
            <a:endParaRPr lang="ru-RU" sz="16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03" name="Google Shape;703;p32"/>
          <p:cNvSpPr txBox="1"/>
          <p:nvPr>
            <p:ph type="title"/>
          </p:nvPr>
        </p:nvSpPr>
        <p:spPr>
          <a:xfrm>
            <a:off x="429253" y="424691"/>
            <a:ext cx="9819467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3600"/>
              <a:t>Команда</a:t>
            </a:r>
            <a:endParaRPr/>
          </a:p>
        </p:txBody>
      </p:sp>
      <p:graphicFrame>
        <p:nvGraphicFramePr>
          <p:cNvPr id="704" name="Chart 703"/>
          <p:cNvGraphicFramePr>
            <a:graphicFrameLocks noGrp="1"/>
          </p:cNvGraphicFramePr>
          <p:nvPr/>
        </p:nvGraphicFramePr>
        <p:xfrm>
          <a:off x="7263873" y="1375667"/>
          <a:ext cx="3779303" cy="3779303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05" name="Legend title 705"/>
          <p:cNvSpPr txBox="1"/>
          <p:nvPr/>
        </p:nvSpPr>
        <p:spPr>
          <a:xfrm>
            <a:off x="1148823" y="2099458"/>
            <a:ext cx="5529834" cy="75184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90000"/>
              </a:lnSpc>
              <a:buNone/>
            </a:pPr>
            <a:r>
              <a:rPr lang="ru-RU" sz="2000" b="0" cap="none" spc="0" baseline="0" dirty="0">
                <a:solidFill>
                  <a:srgbClr val="AFB8C2"/>
                </a:solidFill>
                <a:latin typeface="Play"/>
                <a:cs typeface="Play"/>
              </a:rPr>
              <a:t>Команда</a:t>
            </a:r>
            <a:endParaRPr lang="ru-RU" sz="2000"/>
          </a:p>
          <a:p>
            <a:pPr algn="l" marL="0" indent="0">
              <a:lnSpc>
                <a:spcPct val="90000"/>
              </a:lnSpc>
              <a:buNone/>
            </a:pPr>
            <a:r>
              <a:rPr lang="ru-RU" sz="2000" b="0" cap="none" spc="0" baseline="0" dirty="0">
                <a:solidFill>
                  <a:srgbClr val="AFB8C2"/>
                </a:solidFill>
                <a:latin typeface="Play"/>
                <a:cs typeface="Play"/>
              </a:rPr>
              <a:t>сумма · доля от общей суммы</a:t>
            </a:r>
            <a:endParaRPr lang="ru-RU" sz="2000"/>
          </a:p>
        </p:txBody>
      </p:sp>
      <p:sp>
        <p:nvSpPr>
          <p:cNvPr id="706" name="Swatch 706"/>
          <p:cNvSpPr/>
          <p:nvPr/>
        </p:nvSpPr>
        <p:spPr>
          <a:xfrm>
            <a:off x="1148823" y="2897018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0077FF"/>
          </a:solidFill>
          <a:ln>
            <a:noFill/>
          </a:ln>
        </p:spPr>
      </p:sp>
      <p:sp>
        <p:nvSpPr>
          <p:cNvPr id="707" name="Legend 707"/>
          <p:cNvSpPr txBox="1"/>
          <p:nvPr/>
        </p:nvSpPr>
        <p:spPr>
          <a:xfrm>
            <a:off x="1478007" y="2851298"/>
            <a:ext cx="3109119" cy="2997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90000"/>
              </a:lnSpc>
              <a:buNone/>
            </a:pPr>
            <a:r>
              <a:rPr lang="ru-RU" sz="2000" b="0" cap="none" spc="0" baseline="0" dirty="0">
                <a:solidFill>
                  <a:srgbClr val="FFFFFF"/>
                </a:solidFill>
                <a:latin typeface="Play"/>
                <a:cs typeface="Play"/>
              </a:rPr>
              <a:t>Оплата работы тренеров</a:t>
            </a:r>
            <a:endParaRPr lang="ru-RU" sz="2000"/>
          </a:p>
        </p:txBody>
      </p:sp>
      <p:sp>
        <p:nvSpPr>
          <p:cNvPr id="708" name="Share 708"/>
          <p:cNvSpPr txBox="1"/>
          <p:nvPr/>
        </p:nvSpPr>
        <p:spPr>
          <a:xfrm>
            <a:off x="4587126" y="2851298"/>
            <a:ext cx="2091531" cy="2997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 marL="0" indent="0">
              <a:lnSpc>
                <a:spcPct val="90000"/>
              </a:lnSpc>
              <a:buNone/>
            </a:pPr>
            <a:r>
              <a:rPr lang="ru-RU" sz="2000" b="1" cap="none" spc="0" baseline="0" dirty="0">
                <a:solidFill>
                  <a:srgbClr val="0077FF"/>
                </a:solidFill>
                <a:latin typeface="Play"/>
                <a:cs typeface="Play"/>
              </a:rPr>
              <a:t>260 000 ₽  ·  62%</a:t>
            </a:r>
            <a:endParaRPr lang="ru-RU" sz="2000"/>
          </a:p>
        </p:txBody>
      </p:sp>
      <p:sp>
        <p:nvSpPr>
          <p:cNvPr id="709" name="Swatch 709"/>
          <p:cNvSpPr/>
          <p:nvPr/>
        </p:nvSpPr>
        <p:spPr>
          <a:xfrm>
            <a:off x="1148823" y="3323738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4DA0FF"/>
          </a:solidFill>
          <a:ln>
            <a:noFill/>
          </a:ln>
        </p:spPr>
      </p:sp>
      <p:sp>
        <p:nvSpPr>
          <p:cNvPr id="710" name="Legend 710"/>
          <p:cNvSpPr txBox="1"/>
          <p:nvPr/>
        </p:nvSpPr>
        <p:spPr>
          <a:xfrm>
            <a:off x="1478007" y="3278018"/>
            <a:ext cx="3109119" cy="2997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90000"/>
              </a:lnSpc>
              <a:buNone/>
            </a:pPr>
            <a:r>
              <a:rPr lang="ru-RU" sz="2000" b="0" cap="none" spc="0" baseline="0" dirty="0">
                <a:solidFill>
                  <a:srgbClr val="FFFFFF"/>
                </a:solidFill>
                <a:latin typeface="Play"/>
                <a:cs typeface="Play"/>
              </a:rPr>
              <a:t>Администраторов</a:t>
            </a:r>
            <a:endParaRPr lang="ru-RU" sz="2000"/>
          </a:p>
        </p:txBody>
      </p:sp>
      <p:sp>
        <p:nvSpPr>
          <p:cNvPr id="711" name="Share 711"/>
          <p:cNvSpPr txBox="1"/>
          <p:nvPr/>
        </p:nvSpPr>
        <p:spPr>
          <a:xfrm>
            <a:off x="4587126" y="3278018"/>
            <a:ext cx="2091531" cy="2997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 marL="0" indent="0">
              <a:lnSpc>
                <a:spcPct val="90000"/>
              </a:lnSpc>
              <a:buNone/>
            </a:pPr>
            <a:r>
              <a:rPr lang="ru-RU" sz="2000" b="1" cap="none" spc="0" baseline="0" dirty="0">
                <a:solidFill>
                  <a:srgbClr val="FFFFFF"/>
                </a:solidFill>
                <a:latin typeface="Play"/>
                <a:cs typeface="Play"/>
              </a:rPr>
              <a:t>110 000 ₽  ·  26%</a:t>
            </a:r>
            <a:endParaRPr lang="ru-RU" sz="2000"/>
          </a:p>
        </p:txBody>
      </p:sp>
      <p:sp>
        <p:nvSpPr>
          <p:cNvPr id="712" name="Swatch 712"/>
          <p:cNvSpPr/>
          <p:nvPr/>
        </p:nvSpPr>
        <p:spPr>
          <a:xfrm>
            <a:off x="1148823" y="3750458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99C9FF"/>
          </a:solidFill>
          <a:ln>
            <a:noFill/>
          </a:ln>
        </p:spPr>
      </p:sp>
      <p:sp>
        <p:nvSpPr>
          <p:cNvPr id="713" name="Legend 713"/>
          <p:cNvSpPr txBox="1"/>
          <p:nvPr/>
        </p:nvSpPr>
        <p:spPr>
          <a:xfrm>
            <a:off x="1478007" y="3704738"/>
            <a:ext cx="3109119" cy="2997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90000"/>
              </a:lnSpc>
              <a:buNone/>
            </a:pPr>
            <a:r>
              <a:rPr lang="ru-RU" sz="2000" b="0" cap="none" spc="0" baseline="0" dirty="0">
                <a:solidFill>
                  <a:srgbClr val="FFFFFF"/>
                </a:solidFill>
                <a:latin typeface="Play"/>
                <a:cs typeface="Play"/>
              </a:rPr>
              <a:t>Уборки</a:t>
            </a:r>
            <a:endParaRPr lang="ru-RU" sz="2000"/>
          </a:p>
        </p:txBody>
      </p:sp>
      <p:sp>
        <p:nvSpPr>
          <p:cNvPr id="714" name="Share 714"/>
          <p:cNvSpPr txBox="1"/>
          <p:nvPr/>
        </p:nvSpPr>
        <p:spPr>
          <a:xfrm>
            <a:off x="4587126" y="3704738"/>
            <a:ext cx="2091531" cy="2997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 marL="0" indent="0">
              <a:lnSpc>
                <a:spcPct val="90000"/>
              </a:lnSpc>
              <a:buNone/>
            </a:pPr>
            <a:r>
              <a:rPr lang="ru-RU" sz="2000" b="1" cap="none" spc="0" baseline="0" dirty="0">
                <a:solidFill>
                  <a:srgbClr val="FFFFFF"/>
                </a:solidFill>
                <a:latin typeface="Play"/>
                <a:cs typeface="Play"/>
              </a:rPr>
              <a:t>30 000 ₽  ·  7%</a:t>
            </a:r>
            <a:endParaRPr lang="ru-RU" sz="2000"/>
          </a:p>
        </p:txBody>
      </p:sp>
      <p:sp>
        <p:nvSpPr>
          <p:cNvPr id="715" name="Swatch 715"/>
          <p:cNvSpPr/>
          <p:nvPr/>
        </p:nvSpPr>
        <p:spPr>
          <a:xfrm>
            <a:off x="1148823" y="4177178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E6F1FF"/>
          </a:solidFill>
          <a:ln>
            <a:noFill/>
          </a:ln>
        </p:spPr>
      </p:sp>
      <p:sp>
        <p:nvSpPr>
          <p:cNvPr id="716" name="Legend 716"/>
          <p:cNvSpPr txBox="1"/>
          <p:nvPr/>
        </p:nvSpPr>
        <p:spPr>
          <a:xfrm>
            <a:off x="1478007" y="4131458"/>
            <a:ext cx="3109119" cy="2997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90000"/>
              </a:lnSpc>
              <a:buNone/>
            </a:pPr>
            <a:r>
              <a:rPr lang="ru-RU" sz="2000" b="0" cap="none" spc="0" baseline="0" dirty="0">
                <a:solidFill>
                  <a:srgbClr val="FFFFFF"/>
                </a:solidFill>
                <a:latin typeface="Play"/>
                <a:cs typeface="Play"/>
              </a:rPr>
              <a:t>Резерв на замены</a:t>
            </a:r>
            <a:endParaRPr lang="ru-RU" sz="2000"/>
          </a:p>
        </p:txBody>
      </p:sp>
      <p:sp>
        <p:nvSpPr>
          <p:cNvPr id="717" name="Share 717"/>
          <p:cNvSpPr txBox="1"/>
          <p:nvPr/>
        </p:nvSpPr>
        <p:spPr>
          <a:xfrm>
            <a:off x="4587126" y="4131458"/>
            <a:ext cx="2091531" cy="2997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 marL="0" indent="0">
              <a:lnSpc>
                <a:spcPct val="90000"/>
              </a:lnSpc>
              <a:buNone/>
            </a:pPr>
            <a:r>
              <a:rPr lang="ru-RU" sz="2000" b="1" cap="none" spc="0" baseline="0" dirty="0">
                <a:solidFill>
                  <a:srgbClr val="FFFFFF"/>
                </a:solidFill>
                <a:latin typeface="Play"/>
                <a:cs typeface="Play"/>
              </a:rPr>
              <a:t>20 000 ₽  ·  5%</a:t>
            </a:r>
            <a:endParaRPr lang="ru-RU" sz="2000"/>
          </a:p>
        </p:txBody>
      </p:sp>
      <p:sp>
        <p:nvSpPr>
          <p:cNvPr id="718" name="Footnote 718"/>
          <p:cNvSpPr txBox="1"/>
          <p:nvPr/>
        </p:nvSpPr>
        <p:spPr>
          <a:xfrm>
            <a:off x="429253" y="5730494"/>
            <a:ext cx="11333494" cy="189992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90000"/>
              </a:lnSpc>
              <a:buNone/>
            </a:pPr>
            <a:r>
              <a:rPr lang="ru-RU" sz="1200" b="0" cap="none" spc="0" baseline="0" dirty="0">
                <a:solidFill>
                  <a:srgbClr val="AFB8C2"/>
                </a:solidFill>
                <a:latin typeface="Play"/>
                <a:cs typeface="Play"/>
              </a:rPr>
              <a:t>Отдельная зарплата владельца в модель не включена</a:t>
            </a:r>
            <a:endParaRPr lang="ru-RU" sz="12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03" name="Google Shape;703;p32"/>
          <p:cNvSpPr txBox="1"/>
          <p:nvPr>
            <p:ph type="title"/>
          </p:nvPr>
        </p:nvSpPr>
        <p:spPr>
          <a:xfrm>
            <a:off x="429253" y="424691"/>
            <a:ext cx="9819467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3600"/>
              <a:t>90 000 ₽ на соцсети — основа продвижения</a:t>
            </a:r>
            <a:endParaRPr/>
          </a:p>
        </p:txBody>
      </p:sp>
      <p:sp>
        <p:nvSpPr>
          <p:cNvPr id="704" name="Chart note 704"/>
          <p:cNvSpPr txBox="1"/>
          <p:nvPr/>
        </p:nvSpPr>
        <p:spPr>
          <a:xfrm>
            <a:off x="429253" y="1375667"/>
            <a:ext cx="3853387" cy="149860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279400" indent="-279400">
              <a:lnSpc>
                <a:spcPct val="90000"/>
              </a:lnSpc>
              <a:spcAft>
                <a:spcPts val="800"/>
              </a:spcAft>
              <a:buClr>
                <a:srgbClr val="0077FF"/>
              </a:buClr>
              <a:buFont typeface="Arial"/>
              <a:buChar char="•"/>
            </a:pPr>
            <a:r>
              <a:rPr lang="ru-RU" sz="2000" b="0" cap="none" spc="0" baseline="0" dirty="0">
                <a:solidFill>
                  <a:srgbClr val="FFFFFF"/>
                </a:solidFill>
                <a:latin typeface="Play"/>
                <a:cs typeface="Play"/>
              </a:rPr>
              <a:t>План: 1 000 обращений → 500 записей → 350 посещений → 175 покупателей</a:t>
            </a:r>
            <a:endParaRPr lang="ru-RU" sz="2000"/>
          </a:p>
          <a:p>
            <a:pPr algn="l" marL="279400" indent="-279400">
              <a:lnSpc>
                <a:spcPct val="90000"/>
              </a:lnSpc>
              <a:buClr>
                <a:srgbClr val="0077FF"/>
              </a:buClr>
              <a:buFont typeface="Arial"/>
              <a:buChar char="•"/>
            </a:pPr>
            <a:r>
              <a:rPr lang="ru-RU" sz="2000" b="0" cap="none" spc="0" baseline="0" dirty="0">
                <a:solidFill>
                  <a:srgbClr val="FFFFFF"/>
                </a:solidFill>
                <a:latin typeface="Play"/>
                <a:cs typeface="Play"/>
              </a:rPr>
              <a:t>Средняя стоимость привлечения — 1 371 ₽</a:t>
            </a:r>
            <a:endParaRPr lang="ru-RU" sz="2000"/>
          </a:p>
        </p:txBody>
      </p:sp>
      <p:cxnSp>
        <p:nvCxnSpPr>
          <p:cNvPr id="705" name="Line 705"/>
          <p:cNvCxnSpPr/>
          <p:nvPr/>
        </p:nvCxnSpPr>
        <p:spPr>
          <a:xfrm>
            <a:off x="4575248" y="1375667"/>
            <a:ext cx="0" cy="1498600"/>
          </a:xfrm>
          <a:prstGeom prst="line">
            <a:avLst/>
          </a:prstGeom>
          <a:ln w="12700">
            <a:solidFill>
              <a:srgbClr val="212121"/>
            </a:solidFill>
          </a:ln>
        </p:spPr>
      </p:cxnSp>
      <p:sp>
        <p:nvSpPr>
          <p:cNvPr id="706" name="Unit 706"/>
          <p:cNvSpPr txBox="1"/>
          <p:nvPr/>
        </p:nvSpPr>
        <p:spPr>
          <a:xfrm>
            <a:off x="4867856" y="1375667"/>
            <a:ext cx="6894891" cy="189992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90000"/>
              </a:lnSpc>
              <a:buNone/>
            </a:pPr>
            <a:r>
              <a:rPr lang="ru-RU" sz="1200" b="0" cap="none" spc="0" baseline="0" dirty="0">
                <a:solidFill>
                  <a:srgbClr val="AFB8C2"/>
                </a:solidFill>
                <a:latin typeface="Play"/>
                <a:cs typeface="Play"/>
              </a:rPr>
              <a:t>Распределение бюджета на продвижение</a:t>
            </a:r>
            <a:endParaRPr lang="ru-RU" sz="1200"/>
          </a:p>
        </p:txBody>
      </p:sp>
      <p:graphicFrame>
        <p:nvGraphicFramePr>
          <p:cNvPr id="707" name="Chart 706"/>
          <p:cNvGraphicFramePr>
            <a:graphicFrameLocks noGrp="1"/>
          </p:cNvGraphicFramePr>
          <p:nvPr/>
        </p:nvGraphicFramePr>
        <p:xfrm>
          <a:off x="4867856" y="1627381"/>
          <a:ext cx="6894891" cy="392951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03" name="Google Shape;703;p32"/>
          <p:cNvSpPr txBox="1"/>
          <p:nvPr>
            <p:ph type="title"/>
          </p:nvPr>
        </p:nvSpPr>
        <p:spPr>
          <a:xfrm>
            <a:off x="429253" y="424691"/>
            <a:ext cx="6347207" cy="10789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3600"/>
              <a:t>Начальный бюджет проекта — 3 000 000 рублей</a:t>
            </a:r>
            <a:endParaRPr/>
          </a:p>
        </p:txBody>
      </p:sp>
      <p:sp>
        <p:nvSpPr>
          <p:cNvPr id="704" name="Chart note 704"/>
          <p:cNvSpPr txBox="1"/>
          <p:nvPr/>
        </p:nvSpPr>
        <p:spPr>
          <a:xfrm>
            <a:off x="429253" y="1869443"/>
            <a:ext cx="3853387" cy="57404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90000"/>
              </a:lnSpc>
              <a:buNone/>
            </a:pPr>
            <a:r>
              <a:rPr lang="ru-RU" sz="2000" b="1" cap="none" spc="0" baseline="0" dirty="0">
                <a:solidFill>
                  <a:srgbClr val="FFFFFF"/>
                </a:solidFill>
                <a:latin typeface="Play"/>
                <a:cs typeface="Play"/>
              </a:rPr>
              <a:t>Еще </a:t>
            </a:r>
            <a:r>
              <a:rPr lang="ru-RU" sz="2000" b="1" cap="none" spc="0" baseline="0" dirty="0">
                <a:solidFill>
                  <a:srgbClr val="0077FF"/>
                </a:solidFill>
                <a:latin typeface="Play"/>
                <a:cs typeface="Play"/>
              </a:rPr>
              <a:t>850 000 рублей</a:t>
            </a:r>
            <a:r>
              <a:rPr lang="ru-RU" sz="2000" b="1" cap="none" spc="0" baseline="0" dirty="0">
                <a:solidFill>
                  <a:srgbClr val="FFFFFF"/>
                </a:solidFill>
                <a:latin typeface="Play"/>
                <a:cs typeface="Play"/>
              </a:rPr>
              <a:t> составят оборотный резерв</a:t>
            </a:r>
            <a:endParaRPr lang="ru-RU" sz="2000"/>
          </a:p>
        </p:txBody>
      </p:sp>
      <p:cxnSp>
        <p:nvCxnSpPr>
          <p:cNvPr id="705" name="Line 705"/>
          <p:cNvCxnSpPr/>
          <p:nvPr/>
        </p:nvCxnSpPr>
        <p:spPr>
          <a:xfrm>
            <a:off x="4575248" y="1869443"/>
            <a:ext cx="0" cy="574040"/>
          </a:xfrm>
          <a:prstGeom prst="line">
            <a:avLst/>
          </a:prstGeom>
          <a:ln w="12700">
            <a:solidFill>
              <a:srgbClr val="212121"/>
            </a:solidFill>
          </a:ln>
        </p:spPr>
      </p:cxnSp>
      <p:graphicFrame>
        <p:nvGraphicFramePr>
          <p:cNvPr id="706" name="Chart 705"/>
          <p:cNvGraphicFramePr>
            <a:graphicFrameLocks noGrp="1"/>
          </p:cNvGraphicFramePr>
          <p:nvPr/>
        </p:nvGraphicFramePr>
        <p:xfrm>
          <a:off x="4867856" y="1869443"/>
          <a:ext cx="2133015" cy="213301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07" name="Legend title 707"/>
          <p:cNvSpPr txBox="1"/>
          <p:nvPr/>
        </p:nvSpPr>
        <p:spPr>
          <a:xfrm>
            <a:off x="7586087" y="1869443"/>
            <a:ext cx="4176660" cy="53390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90000"/>
              </a:lnSpc>
              <a:buNone/>
            </a:pPr>
            <a:r>
              <a:rPr lang="ru-RU" sz="1400" b="0" cap="none" spc="0" baseline="0" dirty="0">
                <a:solidFill>
                  <a:srgbClr val="AFB8C2"/>
                </a:solidFill>
                <a:latin typeface="Play"/>
                <a:cs typeface="Play"/>
              </a:rPr>
              <a:t>Распределение стартового бюджета</a:t>
            </a:r>
            <a:endParaRPr lang="ru-RU" sz="1400"/>
          </a:p>
          <a:p>
            <a:pPr algn="l" marL="0" indent="0">
              <a:lnSpc>
                <a:spcPct val="90000"/>
              </a:lnSpc>
              <a:buNone/>
            </a:pPr>
            <a:r>
              <a:rPr lang="ru-RU" sz="1400" b="0" cap="none" spc="0" baseline="0" dirty="0">
                <a:solidFill>
                  <a:srgbClr val="AFB8C2"/>
                </a:solidFill>
                <a:latin typeface="Play"/>
                <a:cs typeface="Play"/>
              </a:rPr>
              <a:t>сумма · доля от общей суммы</a:t>
            </a:r>
            <a:endParaRPr lang="ru-RU" sz="1400"/>
          </a:p>
        </p:txBody>
      </p:sp>
      <p:sp>
        <p:nvSpPr>
          <p:cNvPr id="708" name="Swatch 708"/>
          <p:cNvSpPr/>
          <p:nvPr/>
        </p:nvSpPr>
        <p:spPr>
          <a:xfrm>
            <a:off x="7586087" y="2435355"/>
            <a:ext cx="128016" cy="128016"/>
          </a:xfrm>
          <a:prstGeom prst="roundRect">
            <a:avLst>
              <a:gd name="adj" fmla="val 25000"/>
            </a:avLst>
          </a:prstGeom>
          <a:solidFill>
            <a:srgbClr val="0077FF"/>
          </a:solidFill>
          <a:ln>
            <a:noFill/>
          </a:ln>
        </p:spPr>
      </p:sp>
      <p:sp>
        <p:nvSpPr>
          <p:cNvPr id="709" name="Legend 709"/>
          <p:cNvSpPr txBox="1"/>
          <p:nvPr/>
        </p:nvSpPr>
        <p:spPr>
          <a:xfrm>
            <a:off x="7816515" y="2403351"/>
            <a:ext cx="2482160" cy="40944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90000"/>
              </a:lnSpc>
              <a:buNone/>
            </a:pPr>
            <a:r>
              <a:rPr lang="ru-RU" sz="1400" b="0" cap="none" spc="0" baseline="0" dirty="0">
                <a:solidFill>
                  <a:srgbClr val="FFFFFF"/>
                </a:solidFill>
                <a:latin typeface="Play"/>
                <a:cs typeface="Play"/>
              </a:rPr>
              <a:t>Ремонт и подготовка</a:t>
            </a:r>
            <a:endParaRPr lang="ru-RU" sz="1400"/>
          </a:p>
          <a:p>
            <a:pPr algn="l" marL="0" indent="0">
              <a:lnSpc>
                <a:spcPct val="90000"/>
              </a:lnSpc>
              <a:buNone/>
            </a:pPr>
            <a:r>
              <a:rPr lang="ru-RU" sz="1400" b="0" cap="none" spc="0" baseline="0" dirty="0">
                <a:solidFill>
                  <a:srgbClr val="FFFFFF"/>
                </a:solidFill>
                <a:latin typeface="Play"/>
                <a:cs typeface="Play"/>
              </a:rPr>
              <a:t>помещения</a:t>
            </a:r>
            <a:endParaRPr lang="ru-RU" sz="1400"/>
          </a:p>
        </p:txBody>
      </p:sp>
      <p:sp>
        <p:nvSpPr>
          <p:cNvPr id="710" name="Share 710"/>
          <p:cNvSpPr txBox="1"/>
          <p:nvPr/>
        </p:nvSpPr>
        <p:spPr>
          <a:xfrm>
            <a:off x="10298675" y="2403351"/>
            <a:ext cx="1464072" cy="217424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 marL="0" indent="0">
              <a:lnSpc>
                <a:spcPct val="90000"/>
              </a:lnSpc>
              <a:buNone/>
            </a:pPr>
            <a:r>
              <a:rPr lang="ru-RU" sz="1400" b="1" cap="none" spc="0" baseline="0" dirty="0">
                <a:solidFill>
                  <a:srgbClr val="0077FF"/>
                </a:solidFill>
                <a:latin typeface="Play"/>
                <a:cs typeface="Play"/>
              </a:rPr>
              <a:t>900 000 ₽  ·  30%</a:t>
            </a:r>
            <a:endParaRPr lang="ru-RU" sz="1400"/>
          </a:p>
        </p:txBody>
      </p:sp>
      <p:sp>
        <p:nvSpPr>
          <p:cNvPr id="711" name="Swatch 711"/>
          <p:cNvSpPr/>
          <p:nvPr/>
        </p:nvSpPr>
        <p:spPr>
          <a:xfrm>
            <a:off x="7586087" y="2933703"/>
            <a:ext cx="128016" cy="128016"/>
          </a:xfrm>
          <a:prstGeom prst="roundRect">
            <a:avLst>
              <a:gd name="adj" fmla="val 25000"/>
            </a:avLst>
          </a:prstGeom>
          <a:solidFill>
            <a:srgbClr val="2E8FFF"/>
          </a:solidFill>
          <a:ln>
            <a:noFill/>
          </a:ln>
        </p:spPr>
      </p:sp>
      <p:sp>
        <p:nvSpPr>
          <p:cNvPr id="712" name="Legend 712"/>
          <p:cNvSpPr txBox="1"/>
          <p:nvPr/>
        </p:nvSpPr>
        <p:spPr>
          <a:xfrm>
            <a:off x="7816515" y="2901699"/>
            <a:ext cx="2482160" cy="217424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90000"/>
              </a:lnSpc>
              <a:buNone/>
            </a:pPr>
            <a:r>
              <a:rPr lang="ru-RU" sz="1400" b="0" cap="none" spc="0" baseline="0" dirty="0">
                <a:solidFill>
                  <a:srgbClr val="FFFFFF"/>
                </a:solidFill>
                <a:latin typeface="Play"/>
                <a:cs typeface="Play"/>
              </a:rPr>
              <a:t>Оборотный резерв</a:t>
            </a:r>
            <a:endParaRPr lang="ru-RU" sz="1400"/>
          </a:p>
        </p:txBody>
      </p:sp>
      <p:sp>
        <p:nvSpPr>
          <p:cNvPr id="713" name="Share 713"/>
          <p:cNvSpPr txBox="1"/>
          <p:nvPr/>
        </p:nvSpPr>
        <p:spPr>
          <a:xfrm>
            <a:off x="10298675" y="2901699"/>
            <a:ext cx="1464072" cy="217424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 marL="0" indent="0">
              <a:lnSpc>
                <a:spcPct val="90000"/>
              </a:lnSpc>
              <a:buNone/>
            </a:pPr>
            <a:r>
              <a:rPr lang="ru-RU" sz="1400" b="1" cap="none" spc="0" baseline="0" dirty="0">
                <a:solidFill>
                  <a:srgbClr val="FFFFFF"/>
                </a:solidFill>
                <a:latin typeface="Play"/>
                <a:cs typeface="Play"/>
              </a:rPr>
              <a:t>850 000 ₽  ·  28%</a:t>
            </a:r>
            <a:endParaRPr lang="ru-RU" sz="1400"/>
          </a:p>
        </p:txBody>
      </p:sp>
      <p:sp>
        <p:nvSpPr>
          <p:cNvPr id="714" name="Swatch 714"/>
          <p:cNvSpPr/>
          <p:nvPr/>
        </p:nvSpPr>
        <p:spPr>
          <a:xfrm>
            <a:off x="7586087" y="3240027"/>
            <a:ext cx="128016" cy="128016"/>
          </a:xfrm>
          <a:prstGeom prst="roundRect">
            <a:avLst>
              <a:gd name="adj" fmla="val 25000"/>
            </a:avLst>
          </a:prstGeom>
          <a:solidFill>
            <a:srgbClr val="5CA8FF"/>
          </a:solidFill>
          <a:ln>
            <a:noFill/>
          </a:ln>
        </p:spPr>
      </p:sp>
      <p:sp>
        <p:nvSpPr>
          <p:cNvPr id="715" name="Legend 715"/>
          <p:cNvSpPr txBox="1"/>
          <p:nvPr/>
        </p:nvSpPr>
        <p:spPr>
          <a:xfrm>
            <a:off x="7816515" y="3208023"/>
            <a:ext cx="2482160" cy="217424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90000"/>
              </a:lnSpc>
              <a:buNone/>
            </a:pPr>
            <a:r>
              <a:rPr lang="ru-RU" sz="1400" b="0" cap="none" spc="0" baseline="0" dirty="0">
                <a:solidFill>
                  <a:srgbClr val="FFFFFF"/>
                </a:solidFill>
                <a:latin typeface="Play"/>
                <a:cs typeface="Play"/>
              </a:rPr>
              <a:t>Оборудование и инвентарь</a:t>
            </a:r>
            <a:endParaRPr lang="ru-RU" sz="1400"/>
          </a:p>
        </p:txBody>
      </p:sp>
      <p:sp>
        <p:nvSpPr>
          <p:cNvPr id="716" name="Share 716"/>
          <p:cNvSpPr txBox="1"/>
          <p:nvPr/>
        </p:nvSpPr>
        <p:spPr>
          <a:xfrm>
            <a:off x="10298675" y="3208023"/>
            <a:ext cx="1464072" cy="217424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 marL="0" indent="0">
              <a:lnSpc>
                <a:spcPct val="90000"/>
              </a:lnSpc>
              <a:buNone/>
            </a:pPr>
            <a:r>
              <a:rPr lang="ru-RU" sz="1400" b="1" cap="none" spc="0" baseline="0" dirty="0">
                <a:solidFill>
                  <a:srgbClr val="FFFFFF"/>
                </a:solidFill>
                <a:latin typeface="Play"/>
                <a:cs typeface="Play"/>
              </a:rPr>
              <a:t>650 000 ₽  ·  22%</a:t>
            </a:r>
            <a:endParaRPr lang="ru-RU" sz="1400"/>
          </a:p>
        </p:txBody>
      </p:sp>
      <p:sp>
        <p:nvSpPr>
          <p:cNvPr id="717" name="Swatch 717"/>
          <p:cNvSpPr/>
          <p:nvPr/>
        </p:nvSpPr>
        <p:spPr>
          <a:xfrm>
            <a:off x="7586087" y="3546351"/>
            <a:ext cx="128016" cy="128016"/>
          </a:xfrm>
          <a:prstGeom prst="roundRect">
            <a:avLst>
              <a:gd name="adj" fmla="val 25000"/>
            </a:avLst>
          </a:prstGeom>
          <a:solidFill>
            <a:srgbClr val="8AC0FF"/>
          </a:solidFill>
          <a:ln>
            <a:noFill/>
          </a:ln>
        </p:spPr>
      </p:sp>
      <p:sp>
        <p:nvSpPr>
          <p:cNvPr id="718" name="Legend 718"/>
          <p:cNvSpPr txBox="1"/>
          <p:nvPr/>
        </p:nvSpPr>
        <p:spPr>
          <a:xfrm>
            <a:off x="7816515" y="3514347"/>
            <a:ext cx="2482160" cy="40944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90000"/>
              </a:lnSpc>
              <a:buNone/>
            </a:pPr>
            <a:r>
              <a:rPr lang="ru-RU" sz="1400" b="0" cap="none" spc="0" baseline="0" dirty="0">
                <a:solidFill>
                  <a:srgbClr val="FFFFFF"/>
                </a:solidFill>
                <a:latin typeface="Play"/>
                <a:cs typeface="Play"/>
              </a:rPr>
              <a:t>Мебель и обустройство</a:t>
            </a:r>
            <a:endParaRPr lang="ru-RU" sz="1400"/>
          </a:p>
          <a:p>
            <a:pPr algn="l" marL="0" indent="0">
              <a:lnSpc>
                <a:spcPct val="90000"/>
              </a:lnSpc>
              <a:buNone/>
            </a:pPr>
            <a:r>
              <a:rPr lang="ru-RU" sz="1400" b="0" cap="none" spc="0" baseline="0" dirty="0">
                <a:solidFill>
                  <a:srgbClr val="FFFFFF"/>
                </a:solidFill>
                <a:latin typeface="Play"/>
                <a:cs typeface="Play"/>
              </a:rPr>
              <a:t>раздевалок</a:t>
            </a:r>
            <a:endParaRPr lang="ru-RU" sz="1400"/>
          </a:p>
        </p:txBody>
      </p:sp>
      <p:sp>
        <p:nvSpPr>
          <p:cNvPr id="719" name="Share 719"/>
          <p:cNvSpPr txBox="1"/>
          <p:nvPr/>
        </p:nvSpPr>
        <p:spPr>
          <a:xfrm>
            <a:off x="10298675" y="3514347"/>
            <a:ext cx="1464072" cy="217424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 marL="0" indent="0">
              <a:lnSpc>
                <a:spcPct val="90000"/>
              </a:lnSpc>
              <a:buNone/>
            </a:pPr>
            <a:r>
              <a:rPr lang="ru-RU" sz="1400" b="1" cap="none" spc="0" baseline="0" dirty="0">
                <a:solidFill>
                  <a:srgbClr val="FFFFFF"/>
                </a:solidFill>
                <a:latin typeface="Play"/>
                <a:cs typeface="Play"/>
              </a:rPr>
              <a:t>300 000 ₽  ·  10%</a:t>
            </a:r>
            <a:endParaRPr lang="ru-RU" sz="1400"/>
          </a:p>
        </p:txBody>
      </p:sp>
      <p:sp>
        <p:nvSpPr>
          <p:cNvPr id="720" name="Swatch 720"/>
          <p:cNvSpPr/>
          <p:nvPr/>
        </p:nvSpPr>
        <p:spPr>
          <a:xfrm>
            <a:off x="7586087" y="4044699"/>
            <a:ext cx="128016" cy="128016"/>
          </a:xfrm>
          <a:prstGeom prst="roundRect">
            <a:avLst>
              <a:gd name="adj" fmla="val 25000"/>
            </a:avLst>
          </a:prstGeom>
          <a:solidFill>
            <a:srgbClr val="B8D9FF"/>
          </a:solidFill>
          <a:ln>
            <a:noFill/>
          </a:ln>
        </p:spPr>
      </p:sp>
      <p:sp>
        <p:nvSpPr>
          <p:cNvPr id="721" name="Legend 721"/>
          <p:cNvSpPr txBox="1"/>
          <p:nvPr/>
        </p:nvSpPr>
        <p:spPr>
          <a:xfrm>
            <a:off x="7816515" y="4012695"/>
            <a:ext cx="2482160" cy="40944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90000"/>
              </a:lnSpc>
              <a:buNone/>
            </a:pPr>
            <a:r>
              <a:rPr lang="ru-RU" sz="1400" b="0" cap="none" spc="0" baseline="0" dirty="0">
                <a:solidFill>
                  <a:srgbClr val="FFFFFF"/>
                </a:solidFill>
                <a:latin typeface="Play"/>
                <a:cs typeface="Play"/>
              </a:rPr>
              <a:t>Обеспечительный платеж</a:t>
            </a:r>
            <a:endParaRPr lang="ru-RU" sz="1400"/>
          </a:p>
          <a:p>
            <a:pPr algn="l" marL="0" indent="0">
              <a:lnSpc>
                <a:spcPct val="90000"/>
              </a:lnSpc>
              <a:buNone/>
            </a:pPr>
            <a:r>
              <a:rPr lang="ru-RU" sz="1400" b="0" cap="none" spc="0" baseline="0" dirty="0">
                <a:solidFill>
                  <a:srgbClr val="FFFFFF"/>
                </a:solidFill>
                <a:latin typeface="Play"/>
                <a:cs typeface="Play"/>
              </a:rPr>
              <a:t>по аренде</a:t>
            </a:r>
            <a:endParaRPr lang="ru-RU" sz="1400"/>
          </a:p>
        </p:txBody>
      </p:sp>
      <p:sp>
        <p:nvSpPr>
          <p:cNvPr id="722" name="Share 722"/>
          <p:cNvSpPr txBox="1"/>
          <p:nvPr/>
        </p:nvSpPr>
        <p:spPr>
          <a:xfrm>
            <a:off x="10298675" y="4012695"/>
            <a:ext cx="1464072" cy="217424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 marL="0" indent="0">
              <a:lnSpc>
                <a:spcPct val="90000"/>
              </a:lnSpc>
              <a:buNone/>
            </a:pPr>
            <a:r>
              <a:rPr lang="ru-RU" sz="1400" b="1" cap="none" spc="0" baseline="0" dirty="0">
                <a:solidFill>
                  <a:srgbClr val="FFFFFF"/>
                </a:solidFill>
                <a:latin typeface="Play"/>
                <a:cs typeface="Play"/>
              </a:rPr>
              <a:t>180 000 ₽  ·  6%</a:t>
            </a:r>
            <a:endParaRPr lang="ru-RU" sz="1400"/>
          </a:p>
        </p:txBody>
      </p:sp>
      <p:sp>
        <p:nvSpPr>
          <p:cNvPr id="723" name="Swatch 723"/>
          <p:cNvSpPr/>
          <p:nvPr/>
        </p:nvSpPr>
        <p:spPr>
          <a:xfrm>
            <a:off x="7586087" y="4543047"/>
            <a:ext cx="128016" cy="128016"/>
          </a:xfrm>
          <a:prstGeom prst="roundRect">
            <a:avLst>
              <a:gd name="adj" fmla="val 25000"/>
            </a:avLst>
          </a:prstGeom>
          <a:solidFill>
            <a:srgbClr val="E6F1FF"/>
          </a:solidFill>
          <a:ln>
            <a:noFill/>
          </a:ln>
        </p:spPr>
      </p:sp>
      <p:sp>
        <p:nvSpPr>
          <p:cNvPr id="724" name="Legend 724"/>
          <p:cNvSpPr txBox="1"/>
          <p:nvPr/>
        </p:nvSpPr>
        <p:spPr>
          <a:xfrm>
            <a:off x="7816515" y="4511043"/>
            <a:ext cx="2482160" cy="217424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90000"/>
              </a:lnSpc>
              <a:buNone/>
            </a:pPr>
            <a:r>
              <a:rPr lang="ru-RU" sz="1400" b="0" cap="none" spc="0" baseline="0" dirty="0">
                <a:solidFill>
                  <a:srgbClr val="FFFFFF"/>
                </a:solidFill>
                <a:latin typeface="Play"/>
                <a:cs typeface="Play"/>
              </a:rPr>
              <a:t>Сайт и система записи</a:t>
            </a:r>
            <a:endParaRPr lang="ru-RU" sz="1400"/>
          </a:p>
        </p:txBody>
      </p:sp>
      <p:sp>
        <p:nvSpPr>
          <p:cNvPr id="725" name="Share 725"/>
          <p:cNvSpPr txBox="1"/>
          <p:nvPr/>
        </p:nvSpPr>
        <p:spPr>
          <a:xfrm>
            <a:off x="10298675" y="4511043"/>
            <a:ext cx="1464072" cy="217424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r" marL="0" indent="0">
              <a:lnSpc>
                <a:spcPct val="90000"/>
              </a:lnSpc>
              <a:buNone/>
            </a:pPr>
            <a:r>
              <a:rPr lang="ru-RU" sz="1400" b="1" cap="none" spc="0" baseline="0" dirty="0">
                <a:solidFill>
                  <a:srgbClr val="FFFFFF"/>
                </a:solidFill>
                <a:latin typeface="Play"/>
                <a:cs typeface="Play"/>
              </a:rPr>
              <a:t>120 000 ₽  ·  4%</a:t>
            </a:r>
            <a:endParaRPr lang="ru-RU" sz="14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03" name="Google Shape;703;p32"/>
          <p:cNvSpPr txBox="1"/>
          <p:nvPr>
            <p:ph type="title"/>
          </p:nvPr>
        </p:nvSpPr>
        <p:spPr>
          <a:xfrm>
            <a:off x="429253" y="424691"/>
            <a:ext cx="8893991" cy="10789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3600"/>
              <a:t>При 250 клиентах ожидается операционная прибыль 224 375 рублей</a:t>
            </a:r>
            <a:endParaRPr/>
          </a:p>
        </p:txBody>
      </p:sp>
      <p:sp>
        <p:nvSpPr>
          <p:cNvPr id="704" name="Chart note 704"/>
          <p:cNvSpPr txBox="1"/>
          <p:nvPr/>
        </p:nvSpPr>
        <p:spPr>
          <a:xfrm>
            <a:off x="429253" y="1869443"/>
            <a:ext cx="3853387" cy="255016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90000"/>
              </a:lnSpc>
              <a:spcAft>
                <a:spcPts val="1800"/>
              </a:spcAft>
              <a:buNone/>
            </a:pPr>
            <a:r>
              <a:rPr lang="ru-RU" sz="2000" b="1" cap="none" spc="0" baseline="0" dirty="0">
                <a:solidFill>
                  <a:srgbClr val="FFFFFF"/>
                </a:solidFill>
                <a:latin typeface="Play"/>
                <a:cs typeface="Play"/>
              </a:rPr>
              <a:t>Рентабельность — </a:t>
            </a:r>
            <a:r>
              <a:rPr lang="ru-RU" sz="2000" b="1" cap="none" spc="0" baseline="0" dirty="0">
                <a:solidFill>
                  <a:srgbClr val="0077FF"/>
                </a:solidFill>
                <a:latin typeface="Play"/>
                <a:cs typeface="Play"/>
              </a:rPr>
              <a:t>17,8%</a:t>
            </a:r>
            <a:endParaRPr lang="ru-RU" sz="2000"/>
          </a:p>
          <a:p>
            <a:pPr algn="l" marL="279400" indent="-279400">
              <a:lnSpc>
                <a:spcPct val="90000"/>
              </a:lnSpc>
              <a:spcAft>
                <a:spcPts val="800"/>
              </a:spcAft>
              <a:buClr>
                <a:srgbClr val="0077FF"/>
              </a:buClr>
              <a:buFont typeface="Arial"/>
              <a:buChar char="•"/>
            </a:pPr>
            <a:r>
              <a:rPr lang="ru-RU" sz="2000" b="0" cap="none" spc="0" baseline="0" dirty="0">
                <a:solidFill>
                  <a:srgbClr val="FFFFFF"/>
                </a:solidFill>
                <a:latin typeface="Play"/>
                <a:cs typeface="Play"/>
              </a:rPr>
              <a:t>При 250 активных клиентах и средней выручке 5 050 рублей на клиента</a:t>
            </a:r>
            <a:endParaRPr lang="ru-RU" sz="2000"/>
          </a:p>
          <a:p>
            <a:pPr algn="l" marL="279400" indent="-279400">
              <a:lnSpc>
                <a:spcPct val="90000"/>
              </a:lnSpc>
              <a:buClr>
                <a:srgbClr val="0077FF"/>
              </a:buClr>
              <a:buFont typeface="Arial"/>
              <a:buChar char="•"/>
            </a:pPr>
            <a:r>
              <a:rPr lang="ru-RU" sz="2000" b="0" cap="none" spc="0" baseline="0" dirty="0">
                <a:solidFill>
                  <a:srgbClr val="FFFFFF"/>
                </a:solidFill>
                <a:latin typeface="Play"/>
                <a:cs typeface="Play"/>
              </a:rPr>
              <a:t>Постоянные расходы — 975 000 рублей, переменные — 5% от выручки — 63 125 рублей</a:t>
            </a:r>
            <a:endParaRPr lang="ru-RU" sz="2000"/>
          </a:p>
        </p:txBody>
      </p:sp>
      <p:cxnSp>
        <p:nvCxnSpPr>
          <p:cNvPr id="705" name="Line 705"/>
          <p:cNvCxnSpPr/>
          <p:nvPr/>
        </p:nvCxnSpPr>
        <p:spPr>
          <a:xfrm>
            <a:off x="4575248" y="1869443"/>
            <a:ext cx="0" cy="2550160"/>
          </a:xfrm>
          <a:prstGeom prst="line">
            <a:avLst/>
          </a:prstGeom>
          <a:ln w="12700">
            <a:solidFill>
              <a:srgbClr val="212121"/>
            </a:solidFill>
          </a:ln>
        </p:spPr>
      </p:cxnSp>
      <p:graphicFrame>
        <p:nvGraphicFramePr>
          <p:cNvPr id="706" name="Chart 705"/>
          <p:cNvGraphicFramePr>
            <a:graphicFrameLocks noGrp="1"/>
          </p:cNvGraphicFramePr>
          <p:nvPr/>
        </p:nvGraphicFramePr>
        <p:xfrm>
          <a:off x="4867856" y="1869443"/>
          <a:ext cx="6894891" cy="332502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07" name="Footnote 707"/>
          <p:cNvSpPr txBox="1"/>
          <p:nvPr/>
        </p:nvSpPr>
        <p:spPr>
          <a:xfrm>
            <a:off x="429253" y="5730494"/>
            <a:ext cx="11333494" cy="189992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90000"/>
              </a:lnSpc>
              <a:buNone/>
            </a:pPr>
            <a:r>
              <a:rPr lang="ru-RU" sz="1200" b="0" cap="none" spc="0" baseline="0" dirty="0">
                <a:solidFill>
                  <a:srgbClr val="AFB8C2"/>
                </a:solidFill>
                <a:latin typeface="Play"/>
                <a:cs typeface="Play"/>
              </a:rPr>
              <a:t>Налоги, амортизация и проценты по кредитам не учтены</a:t>
            </a:r>
            <a:endParaRPr lang="ru-RU" sz="12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03" name="Google Shape;703;p32"/>
          <p:cNvSpPr txBox="1"/>
          <p:nvPr>
            <p:ph type="title"/>
          </p:nvPr>
        </p:nvSpPr>
        <p:spPr>
          <a:xfrm>
            <a:off x="429253" y="424691"/>
            <a:ext cx="9819467" cy="5852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3600"/>
              <a:t>Студия окупится к пятому месяцу</a:t>
            </a:r>
            <a:endParaRPr/>
          </a:p>
        </p:txBody>
      </p:sp>
      <p:sp>
        <p:nvSpPr>
          <p:cNvPr id="704" name="Chart note 704"/>
          <p:cNvSpPr txBox="1"/>
          <p:nvPr/>
        </p:nvSpPr>
        <p:spPr>
          <a:xfrm>
            <a:off x="429253" y="1375667"/>
            <a:ext cx="3400048" cy="84836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90000"/>
              </a:lnSpc>
              <a:buNone/>
            </a:pPr>
            <a:r>
              <a:rPr lang="ru-RU" sz="2000" b="1" cap="none" spc="0" baseline="0" dirty="0">
                <a:solidFill>
                  <a:srgbClr val="FFFFFF"/>
                </a:solidFill>
                <a:latin typeface="Play"/>
                <a:cs typeface="Play"/>
              </a:rPr>
              <a:t>Операционная прибыль станет положительной к пятому месяцу</a:t>
            </a:r>
            <a:endParaRPr lang="ru-RU" sz="2000"/>
          </a:p>
        </p:txBody>
      </p:sp>
      <p:cxnSp>
        <p:nvCxnSpPr>
          <p:cNvPr id="705" name="Line 705"/>
          <p:cNvCxnSpPr/>
          <p:nvPr/>
        </p:nvCxnSpPr>
        <p:spPr>
          <a:xfrm>
            <a:off x="4195061" y="1375667"/>
            <a:ext cx="0" cy="848360"/>
          </a:xfrm>
          <a:prstGeom prst="line">
            <a:avLst/>
          </a:prstGeom>
          <a:ln w="12700">
            <a:solidFill>
              <a:srgbClr val="212121"/>
            </a:solidFill>
          </a:ln>
        </p:spPr>
      </p:cxnSp>
      <p:sp>
        <p:nvSpPr>
          <p:cNvPr id="706" name="Chart title 706"/>
          <p:cNvSpPr txBox="1"/>
          <p:nvPr/>
        </p:nvSpPr>
        <p:spPr>
          <a:xfrm>
            <a:off x="4560821" y="1375667"/>
            <a:ext cx="3235203" cy="57404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90000"/>
              </a:lnSpc>
              <a:buNone/>
            </a:pPr>
            <a:r>
              <a:rPr lang="ru-RU" sz="2000" b="0" cap="none" spc="0" baseline="0" dirty="0">
                <a:solidFill>
                  <a:srgbClr val="FFFFFF"/>
                </a:solidFill>
                <a:latin typeface="Play"/>
                <a:cs typeface="Play"/>
              </a:rPr>
              <a:t>Активные клиенты, человек</a:t>
            </a:r>
            <a:endParaRPr lang="ru-RU" sz="2000"/>
          </a:p>
        </p:txBody>
      </p:sp>
      <p:graphicFrame>
        <p:nvGraphicFramePr>
          <p:cNvPr id="707" name="Chart 706"/>
          <p:cNvGraphicFramePr>
            <a:graphicFrameLocks noGrp="1"/>
          </p:cNvGraphicFramePr>
          <p:nvPr/>
        </p:nvGraphicFramePr>
        <p:xfrm>
          <a:off x="4560821" y="2073151"/>
          <a:ext cx="3235203" cy="384733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08" name="Chart title 708"/>
          <p:cNvSpPr txBox="1"/>
          <p:nvPr/>
        </p:nvSpPr>
        <p:spPr>
          <a:xfrm>
            <a:off x="8527544" y="1375667"/>
            <a:ext cx="3235203" cy="2997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90000"/>
              </a:lnSpc>
              <a:buNone/>
            </a:pPr>
            <a:r>
              <a:rPr lang="ru-RU" sz="2000" b="0" cap="none" spc="0" baseline="0" dirty="0">
                <a:solidFill>
                  <a:srgbClr val="FFFFFF"/>
                </a:solidFill>
                <a:latin typeface="Play"/>
                <a:cs typeface="Play"/>
              </a:rPr>
              <a:t>Операционный результат</a:t>
            </a:r>
            <a:endParaRPr lang="ru-RU" sz="2000"/>
          </a:p>
        </p:txBody>
      </p:sp>
      <p:graphicFrame>
        <p:nvGraphicFramePr>
          <p:cNvPr id="709" name="Chart 708"/>
          <p:cNvGraphicFramePr>
            <a:graphicFrameLocks noGrp="1"/>
          </p:cNvGraphicFramePr>
          <p:nvPr/>
        </p:nvGraphicFramePr>
        <p:xfrm>
          <a:off x="8527544" y="1798831"/>
          <a:ext cx="3235203" cy="4121655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03" name="Google Shape;703;p32"/>
          <p:cNvSpPr txBox="1"/>
          <p:nvPr>
            <p:ph type="title"/>
          </p:nvPr>
        </p:nvSpPr>
        <p:spPr>
          <a:xfrm>
            <a:off x="429253" y="424691"/>
            <a:ext cx="8922882" cy="10789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3600"/>
              <a:t>Суммарный операционный убыток за первые четыре месяца — 1 237 388 ₽</a:t>
            </a:r>
            <a:endParaRPr/>
          </a:p>
        </p:txBody>
      </p:sp>
      <p:sp>
        <p:nvSpPr>
          <p:cNvPr id="704" name="Chart note 704"/>
          <p:cNvSpPr txBox="1"/>
          <p:nvPr/>
        </p:nvSpPr>
        <p:spPr>
          <a:xfrm>
            <a:off x="429253" y="1869443"/>
            <a:ext cx="4306727" cy="347472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90000"/>
              </a:lnSpc>
              <a:spcAft>
                <a:spcPts val="1800"/>
              </a:spcAft>
              <a:buNone/>
            </a:pPr>
            <a:r>
              <a:rPr lang="ru-RU" sz="2000" b="1" cap="none" spc="0" baseline="0" dirty="0">
                <a:solidFill>
                  <a:srgbClr val="FFFFFF"/>
                </a:solidFill>
                <a:latin typeface="Play"/>
                <a:cs typeface="Play"/>
              </a:rPr>
              <a:t>Проект может выйти на операционную прибыль к пятому месяцу, но для запуска необходимо заранее закрыть недостаток оборотных средств</a:t>
            </a:r>
            <a:endParaRPr lang="ru-RU" sz="2000"/>
          </a:p>
          <a:p>
            <a:pPr algn="l" marL="279400" indent="-279400">
              <a:lnSpc>
                <a:spcPct val="90000"/>
              </a:lnSpc>
              <a:spcAft>
                <a:spcPts val="800"/>
              </a:spcAft>
              <a:buClr>
                <a:srgbClr val="0077FF"/>
              </a:buClr>
              <a:buFont typeface="Arial"/>
              <a:buChar char="•"/>
            </a:pPr>
            <a:r>
              <a:rPr lang="ru-RU" sz="2000" b="0" cap="none" spc="0" baseline="0" dirty="0">
                <a:solidFill>
                  <a:srgbClr val="FFFFFF"/>
                </a:solidFill>
                <a:latin typeface="Play"/>
                <a:cs typeface="Play"/>
              </a:rPr>
              <a:t>Недостаток оборотных средств — 387 388 ₽</a:t>
            </a:r>
            <a:endParaRPr lang="ru-RU" sz="2000"/>
          </a:p>
          <a:p>
            <a:pPr algn="l" marL="279400" indent="-279400">
              <a:lnSpc>
                <a:spcPct val="90000"/>
              </a:lnSpc>
              <a:spcAft>
                <a:spcPts val="800"/>
              </a:spcAft>
              <a:buClr>
                <a:srgbClr val="0077FF"/>
              </a:buClr>
              <a:buFont typeface="Arial"/>
              <a:buChar char="•"/>
            </a:pPr>
            <a:r>
              <a:rPr lang="ru-RU" sz="2000" b="0" cap="none" spc="0" baseline="0" dirty="0">
                <a:solidFill>
                  <a:srgbClr val="FFFFFF"/>
                </a:solidFill>
                <a:latin typeface="Play"/>
                <a:cs typeface="Play"/>
              </a:rPr>
              <a:t>Общий бюджет проекта нужно увеличить до 3 387 388 ₽</a:t>
            </a:r>
            <a:endParaRPr lang="ru-RU" sz="2000"/>
          </a:p>
          <a:p>
            <a:pPr algn="l" marL="279400" indent="-279400">
              <a:lnSpc>
                <a:spcPct val="90000"/>
              </a:lnSpc>
              <a:buClr>
                <a:srgbClr val="0077FF"/>
              </a:buClr>
              <a:buFont typeface="Arial"/>
              <a:buChar char="•"/>
            </a:pPr>
            <a:r>
              <a:rPr lang="ru-RU" sz="2000" b="0" cap="none" spc="0" baseline="0" dirty="0">
                <a:solidFill>
                  <a:srgbClr val="FFFFFF"/>
                </a:solidFill>
                <a:latin typeface="Play"/>
                <a:cs typeface="Play"/>
              </a:rPr>
              <a:t>Или сократить затраты до запуска</a:t>
            </a:r>
            <a:endParaRPr lang="ru-RU" sz="2000"/>
          </a:p>
        </p:txBody>
      </p:sp>
      <p:cxnSp>
        <p:nvCxnSpPr>
          <p:cNvPr id="705" name="Line 705"/>
          <p:cNvCxnSpPr/>
          <p:nvPr/>
        </p:nvCxnSpPr>
        <p:spPr>
          <a:xfrm>
            <a:off x="5028588" y="1869443"/>
            <a:ext cx="0" cy="3474720"/>
          </a:xfrm>
          <a:prstGeom prst="line">
            <a:avLst/>
          </a:prstGeom>
          <a:ln w="12700">
            <a:solidFill>
              <a:srgbClr val="212121"/>
            </a:solidFill>
          </a:ln>
        </p:spPr>
      </p:cxnSp>
      <p:sp>
        <p:nvSpPr>
          <p:cNvPr id="706" name="Unit 706"/>
          <p:cNvSpPr txBox="1"/>
          <p:nvPr/>
        </p:nvSpPr>
        <p:spPr>
          <a:xfrm>
            <a:off x="5321196" y="1869443"/>
            <a:ext cx="6441551" cy="189992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lnSpc>
                <a:spcPct val="90000"/>
              </a:lnSpc>
              <a:buNone/>
            </a:pPr>
            <a:r>
              <a:rPr lang="ru-RU" sz="1200" b="0" cap="none" spc="0" baseline="0" dirty="0">
                <a:solidFill>
                  <a:srgbClr val="AFB8C2"/>
                </a:solidFill>
                <a:latin typeface="Play"/>
                <a:cs typeface="Play"/>
              </a:rPr>
              <a:t>Сумма</a:t>
            </a:r>
            <a:endParaRPr lang="ru-RU" sz="1200"/>
          </a:p>
        </p:txBody>
      </p:sp>
      <p:graphicFrame>
        <p:nvGraphicFramePr>
          <p:cNvPr id="707" name="Chart 706"/>
          <p:cNvGraphicFramePr>
            <a:graphicFrameLocks noGrp="1"/>
          </p:cNvGraphicFramePr>
          <p:nvPr/>
        </p:nvGraphicFramePr>
        <p:xfrm>
          <a:off x="5321196" y="2121157"/>
          <a:ext cx="6441551" cy="347524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Контентные">
  <a:themeElements>
    <a:clrScheme name="VK Tech 2024">
      <a:dk1>
        <a:srgbClr val="000000"/>
      </a:dk1>
      <a:lt1>
        <a:srgbClr val="FFFFFF"/>
      </a:lt1>
      <a:dk2>
        <a:srgbClr val="0077FF"/>
      </a:dk2>
      <a:lt2>
        <a:srgbClr val="FFFFFF"/>
      </a:lt2>
      <a:accent1>
        <a:srgbClr val="0077FF"/>
      </a:accent1>
      <a:accent2>
        <a:srgbClr val="00E9FF"/>
      </a:accent2>
      <a:accent3>
        <a:srgbClr val="AAFBFF"/>
      </a:accent3>
      <a:accent4>
        <a:srgbClr val="EDF3FC"/>
      </a:accent4>
      <a:accent5>
        <a:srgbClr val="7C8A9A"/>
      </a:accent5>
      <a:accent6>
        <a:srgbClr val="202020"/>
      </a:accent6>
      <a:hlink>
        <a:srgbClr val="0077FF"/>
      </a:hlink>
      <a:folHlink>
        <a:srgbClr val="00E9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