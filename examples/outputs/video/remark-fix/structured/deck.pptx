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Relationship Id="rId71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884"/>
          <c:y val="0.0132"/>
          <c:w val="0.8788"/>
          <c:h val="0.973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проверок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15"/>
          <c:y val="0.1139"/>
          <c:w val="0.9971"/>
          <c:h val="0.79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85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Подготовка презентации занимает часы или дни, и большая часть времени уходит на оформление, а не на содержание.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использует PowerPoint-шаблон как набор правил (палитра, кегли, сетка, поля, логотипы и колонтитулы), чтобы за 2–3 минуты создать три редактируемые презентации на основе предоставленного текста.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Одинаковое содержание, разная подача.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Диаграмма показывает распределение 41 проверки по категориям: целостность — 12, вёрстка — 11, шаблон — 7, контент — 6, плотность — 5.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плана проверяется дважды: до вёрстки и в готовом PPTX.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Регрессионный корпус состоит из 87 чужих шаблонов и 261 презентации на них. Средняя оценка проверки качества по корпусу — 99 из 100. Сервис поддерживает 12 форматов, включая pptx, potx, ppt, odp, thmx и другие.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шаблонов датасета: VK Tech — 113 секунд, VK Education — 145 секунд, VK WorkSpace — 175 секунд. Все значения значительно ниже установленного лимита в 5 минут.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Все модели используют лицензию Apache 2.0 и поддерживают до 35 миллиардов параметров.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Далее планируется внедрение генерации изображений и переход на инференс VK.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1.xml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755637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Оформление отнимает больше времени, чем содержание</a:t>
            </a:r>
            <a:endParaRPr/>
          </a:p>
        </p:txBody>
      </p:sp>
      <p:sp>
        <p:nvSpPr>
          <p:cNvPr id="1208" name="Card 1208"/>
          <p:cNvSpPr/>
          <p:nvPr/>
        </p:nvSpPr>
        <p:spPr>
          <a:xfrm>
            <a:off x="248929" y="1366182"/>
            <a:ext cx="2724231" cy="2247499"/>
          </a:xfrm>
          <a:prstGeom prst="roundRect">
            <a:avLst>
              <a:gd fmla="val 640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09" name="Index 1209"/>
          <p:cNvSpPr txBox="1"/>
          <p:nvPr/>
        </p:nvSpPr>
        <p:spPr>
          <a:xfrm>
            <a:off x="480488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2400"/>
          </a:p>
        </p:txBody>
      </p:sp>
      <p:sp>
        <p:nvSpPr>
          <p:cNvPr id="1210" name="Card text 1210"/>
          <p:cNvSpPr txBox="1"/>
          <p:nvPr/>
        </p:nvSpPr>
        <p:spPr>
          <a:xfrm>
            <a:off x="480488" y="201750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98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Ручная вёрстка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Подбор макета, подгонка блоков и цветов</a:t>
            </a:r>
            <a:endParaRPr lang="ru-RU" sz="1500"/>
          </a:p>
        </p:txBody>
      </p:sp>
      <p:sp>
        <p:nvSpPr>
          <p:cNvPr id="1211" name="Card 1211"/>
          <p:cNvSpPr/>
          <p:nvPr/>
        </p:nvSpPr>
        <p:spPr>
          <a:xfrm>
            <a:off x="3192616" y="1366182"/>
            <a:ext cx="2724231" cy="2247499"/>
          </a:xfrm>
          <a:prstGeom prst="roundRect">
            <a:avLst>
              <a:gd fmla="val 640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2" name="Index 1212"/>
          <p:cNvSpPr txBox="1"/>
          <p:nvPr/>
        </p:nvSpPr>
        <p:spPr>
          <a:xfrm>
            <a:off x="3424175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2400"/>
          </a:p>
        </p:txBody>
      </p:sp>
      <p:sp>
        <p:nvSpPr>
          <p:cNvPr id="1213" name="Card text 1213"/>
          <p:cNvSpPr txBox="1"/>
          <p:nvPr/>
        </p:nvSpPr>
        <p:spPr>
          <a:xfrm>
            <a:off x="3424175" y="201750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98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ИИ ломает стиль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Нейросети пишут текст, но не воспроизводят дизайн-⁠систему</a:t>
            </a:r>
            <a:endParaRPr lang="ru-RU" sz="1500"/>
          </a:p>
        </p:txBody>
      </p:sp>
      <p:sp>
        <p:nvSpPr>
          <p:cNvPr id="1214" name="Card 1214"/>
          <p:cNvSpPr/>
          <p:nvPr/>
        </p:nvSpPr>
        <p:spPr>
          <a:xfrm>
            <a:off x="6136303" y="1366182"/>
            <a:ext cx="2724231" cy="2247499"/>
          </a:xfrm>
          <a:prstGeom prst="roundRect">
            <a:avLst>
              <a:gd fmla="val 640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Index 1215"/>
          <p:cNvSpPr txBox="1"/>
          <p:nvPr/>
        </p:nvSpPr>
        <p:spPr>
          <a:xfrm>
            <a:off x="6367862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2400"/>
          </a:p>
        </p:txBody>
      </p:sp>
      <p:sp>
        <p:nvSpPr>
          <p:cNvPr id="1216" name="Card text 1216"/>
          <p:cNvSpPr txBox="1"/>
          <p:nvPr/>
        </p:nvSpPr>
        <p:spPr>
          <a:xfrm>
            <a:off x="6367862" y="201750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не инструкция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Плейсхолдеры не объясняют, как построить слайд</a:t>
            </a:r>
            <a:endParaRPr lang="ru-RU" sz="1500"/>
          </a:p>
        </p:txBody>
      </p:sp>
      <p:sp>
        <p:nvSpPr>
          <p:cNvPr id="1217" name="Conclusion bar 1217"/>
          <p:cNvSpPr/>
          <p:nvPr/>
        </p:nvSpPr>
        <p:spPr>
          <a:xfrm>
            <a:off x="248929" y="3852568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Conclusion 1218"/>
          <p:cNvSpPr txBox="1"/>
          <p:nvPr/>
        </p:nvSpPr>
        <p:spPr>
          <a:xfrm>
            <a:off x="439429" y="3829708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Время тратится на оформление, а не на суть</a:t>
            </a:r>
            <a:endParaRPr lang="ru-RU"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437276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Verstka создаёт три редактируемые презентации за 2⁠–⁠3 минуты</a:t>
            </a:r>
            <a:endParaRPr/>
          </a:p>
        </p:txBody>
      </p:sp>
      <p:sp>
        <p:nvSpPr>
          <p:cNvPr id="1208" name="Marker 1208"/>
          <p:cNvSpPr/>
          <p:nvPr/>
        </p:nvSpPr>
        <p:spPr>
          <a:xfrm>
            <a:off x="248929" y="145990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09" name="Item 1209"/>
          <p:cNvSpPr txBox="1"/>
          <p:nvPr/>
        </p:nvSpPr>
        <p:spPr>
          <a:xfrm>
            <a:off x="614689" y="136618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входе — шаблон и текст — исходные данные: PowerPoint-шаблон и текстовый материал</a:t>
            </a:r>
            <a:endParaRPr lang="ru-RU" sz="1800"/>
          </a:p>
        </p:txBody>
      </p:sp>
      <p:cxnSp>
        <p:nvCxnSpPr>
          <p:cNvPr id="1210" name="Line 1210"/>
          <p:cNvCxnSpPr/>
          <p:nvPr/>
        </p:nvCxnSpPr>
        <p:spPr>
          <a:xfrm>
            <a:off x="614689" y="211167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1" name="Marker 1211"/>
          <p:cNvSpPr/>
          <p:nvPr/>
        </p:nvSpPr>
        <p:spPr>
          <a:xfrm>
            <a:off x="248929" y="23768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2" name="Item 1212"/>
          <p:cNvSpPr txBox="1"/>
          <p:nvPr/>
        </p:nvSpPr>
        <p:spPr>
          <a:xfrm>
            <a:off x="614689" y="228312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набор правил — палитра, кегли, сетка, поля, логотипы и колонтитулы</a:t>
            </a:r>
            <a:endParaRPr lang="ru-RU" sz="1800"/>
          </a:p>
        </p:txBody>
      </p:sp>
      <p:cxnSp>
        <p:nvCxnSpPr>
          <p:cNvPr id="1213" name="Line 1213"/>
          <p:cNvCxnSpPr/>
          <p:nvPr/>
        </p:nvCxnSpPr>
        <p:spPr>
          <a:xfrm>
            <a:off x="614689" y="302861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4" name="Marker 1214"/>
          <p:cNvSpPr/>
          <p:nvPr/>
        </p:nvSpPr>
        <p:spPr>
          <a:xfrm>
            <a:off x="248929" y="329378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5" name="Item 1215"/>
          <p:cNvSpPr txBox="1"/>
          <p:nvPr/>
        </p:nvSpPr>
        <p:spPr>
          <a:xfrm>
            <a:off x="614689" y="320006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выходе — три редактируемые презентации — готовые презентации в стиле шаблона</a:t>
            </a:r>
            <a:endParaRPr lang="ru-RU" sz="1800"/>
          </a:p>
        </p:txBody>
      </p:sp>
      <p:sp>
        <p:nvSpPr>
          <p:cNvPr id="1216" name="Conclusion bar 1216"/>
          <p:cNvSpPr/>
          <p:nvPr/>
        </p:nvSpPr>
        <p:spPr>
          <a:xfrm>
            <a:off x="248929" y="4012989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7" name="Conclusion 1217"/>
          <p:cNvSpPr txBox="1"/>
          <p:nvPr/>
        </p:nvSpPr>
        <p:spPr>
          <a:xfrm>
            <a:off x="439429" y="3990129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Из шаблона и текста создаются три презентации в нужном стиле</a:t>
            </a:r>
            <a:endParaRPr lang="ru-RU"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Пять этапов работы агента</a:t>
            </a:r>
            <a:endParaRPr/>
          </a:p>
        </p:txBody>
      </p:sp>
      <p:cxnSp>
        <p:nvCxnSpPr>
          <p:cNvPr id="1241" name="Axis 1241"/>
          <p:cNvCxnSpPr/>
          <p:nvPr/>
        </p:nvCxnSpPr>
        <p:spPr>
          <a:xfrm>
            <a:off x="477529" y="1229022"/>
            <a:ext cx="6994624" cy="0"/>
          </a:xfrm>
          <a:prstGeom prst="line">
            <a:avLst/>
          </a:prstGeom>
          <a:ln w="19050">
            <a:solidFill>
              <a:srgbClr val="0077FF"/>
            </a:solidFill>
          </a:ln>
        </p:spPr>
      </p:cxnSp>
      <p:sp>
        <p:nvSpPr>
          <p:cNvPr id="1242" name="Badge 1242"/>
          <p:cNvSpPr/>
          <p:nvPr/>
        </p:nvSpPr>
        <p:spPr>
          <a:xfrm>
            <a:off x="248929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1</a:t>
            </a:r>
          </a:p>
        </p:txBody>
      </p:sp>
      <p:sp>
        <p:nvSpPr>
          <p:cNvPr id="1243" name="Step 1243"/>
          <p:cNvSpPr txBox="1"/>
          <p:nvPr/>
        </p:nvSpPr>
        <p:spPr>
          <a:xfrm>
            <a:off x="248929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Аналитик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Находит в тексте слайды, ряды данных и просьбы</a:t>
            </a:r>
            <a:endParaRPr lang="ru-RU" sz="1322"/>
          </a:p>
        </p:txBody>
      </p:sp>
      <p:sp>
        <p:nvSpPr>
          <p:cNvPr id="1244" name="Badge 1244"/>
          <p:cNvSpPr/>
          <p:nvPr/>
        </p:nvSpPr>
        <p:spPr>
          <a:xfrm>
            <a:off x="1997585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2</a:t>
            </a:r>
          </a:p>
        </p:txBody>
      </p:sp>
      <p:sp>
        <p:nvSpPr>
          <p:cNvPr id="1245" name="Step 1245"/>
          <p:cNvSpPr txBox="1"/>
          <p:nvPr/>
        </p:nvSpPr>
        <p:spPr>
          <a:xfrm>
            <a:off x="1997585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Дизайнер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Продумывает каждый слайд отдельно</a:t>
            </a:r>
            <a:endParaRPr lang="ru-RU" sz="1322"/>
          </a:p>
        </p:txBody>
      </p:sp>
      <p:sp>
        <p:nvSpPr>
          <p:cNvPr id="1246" name="Badge 1246"/>
          <p:cNvSpPr/>
          <p:nvPr/>
        </p:nvSpPr>
        <p:spPr>
          <a:xfrm>
            <a:off x="3746241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3</a:t>
            </a:r>
          </a:p>
        </p:txBody>
      </p:sp>
      <p:sp>
        <p:nvSpPr>
          <p:cNvPr id="1247" name="Step 1247"/>
          <p:cNvSpPr txBox="1"/>
          <p:nvPr/>
        </p:nvSpPr>
        <p:spPr>
          <a:xfrm>
            <a:off x="3746241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Сверяет план с текстом и правилами</a:t>
            </a:r>
            <a:endParaRPr lang="ru-RU" sz="1322"/>
          </a:p>
        </p:txBody>
      </p:sp>
      <p:sp>
        <p:nvSpPr>
          <p:cNvPr id="1248" name="Badge 1248"/>
          <p:cNvSpPr/>
          <p:nvPr/>
        </p:nvSpPr>
        <p:spPr>
          <a:xfrm>
            <a:off x="5494897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4</a:t>
            </a:r>
          </a:p>
        </p:txBody>
      </p:sp>
      <p:sp>
        <p:nvSpPr>
          <p:cNvPr id="1249" name="Step 1249"/>
          <p:cNvSpPr txBox="1"/>
          <p:nvPr/>
        </p:nvSpPr>
        <p:spPr>
          <a:xfrm>
            <a:off x="5494897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Компилятор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Проверяет каждое число</a:t>
            </a:r>
            <a:endParaRPr lang="ru-RU" sz="1322"/>
          </a:p>
        </p:txBody>
      </p:sp>
      <p:sp>
        <p:nvSpPr>
          <p:cNvPr id="1250" name="Badge 1250"/>
          <p:cNvSpPr/>
          <p:nvPr/>
        </p:nvSpPr>
        <p:spPr>
          <a:xfrm>
            <a:off x="7243553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5</a:t>
            </a:r>
          </a:p>
        </p:txBody>
      </p:sp>
      <p:sp>
        <p:nvSpPr>
          <p:cNvPr id="1251" name="Step 1251"/>
          <p:cNvSpPr txBox="1"/>
          <p:nvPr/>
        </p:nvSpPr>
        <p:spPr>
          <a:xfrm>
            <a:off x="7243553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Вёрстка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Собирает слайды по дизайн-⁠системе шаблона</a:t>
            </a:r>
            <a:endParaRPr lang="ru-RU" sz="1322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Одинаковое содержание, разная подача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Index 1227"/>
          <p:cNvSpPr txBox="1"/>
          <p:nvPr/>
        </p:nvSpPr>
        <p:spPr>
          <a:xfrm>
            <a:off x="480488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28" name="Card text 1228"/>
          <p:cNvSpPr txBox="1"/>
          <p:nvPr/>
        </p:nvSpPr>
        <p:spPr>
          <a:xfrm>
            <a:off x="480488" y="1834627"/>
            <a:ext cx="2261113" cy="19399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8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Структурный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Одна мысль на слайде, строгая сетка</a:t>
            </a:r>
            <a:endParaRPr lang="ru-RU" sz="1600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Index 1230"/>
          <p:cNvSpPr txBox="1"/>
          <p:nvPr/>
        </p:nvSpPr>
        <p:spPr>
          <a:xfrm>
            <a:off x="3424175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31" name="Card text 1231"/>
          <p:cNvSpPr txBox="1"/>
          <p:nvPr/>
        </p:nvSpPr>
        <p:spPr>
          <a:xfrm>
            <a:off x="3424175" y="1834627"/>
            <a:ext cx="2261113" cy="19399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8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Визуальный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Крупные цифры и наглядные схемы</a:t>
            </a:r>
            <a:endParaRPr lang="ru-RU" sz="1600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Index 1233"/>
          <p:cNvSpPr txBox="1"/>
          <p:nvPr/>
        </p:nvSpPr>
        <p:spPr>
          <a:xfrm>
            <a:off x="6367862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1234" name="Card text 1234"/>
          <p:cNvSpPr txBox="1"/>
          <p:nvPr/>
        </p:nvSpPr>
        <p:spPr>
          <a:xfrm>
            <a:off x="6367862" y="1834627"/>
            <a:ext cx="2261113" cy="19399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8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Компактный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Вывод первой строкой, данные справа</a:t>
            </a:r>
            <a:endParaRPr lang="ru-RU"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Целостность — основная категория проверок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8611607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Число проверок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8611607" cy="2602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Conclusion bar 1210"/>
          <p:cNvSpPr/>
          <p:nvPr/>
        </p:nvSpPr>
        <p:spPr>
          <a:xfrm>
            <a:off x="248929" y="405067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Conclusion 1211"/>
          <p:cNvSpPr txBox="1"/>
          <p:nvPr/>
        </p:nvSpPr>
        <p:spPr>
          <a:xfrm>
            <a:off x="439429" y="4027812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41 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проверка качества по категориям</a:t>
            </a:r>
            <a:endParaRPr lang="ru-RU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 презентаций без лишних чисел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2550819"/>
          </a:xfrm>
          <a:prstGeom prst="roundRect">
            <a:avLst>
              <a:gd fmla="val 564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Figure 1227"/>
          <p:cNvSpPr txBox="1"/>
          <p:nvPr/>
        </p:nvSpPr>
        <p:spPr>
          <a:xfrm>
            <a:off x="484768" y="1069383"/>
            <a:ext cx="2231217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</a:t>
            </a:r>
            <a:endParaRPr lang="ru-RU" sz="4800"/>
          </a:p>
        </p:txBody>
      </p:sp>
      <p:sp>
        <p:nvSpPr>
          <p:cNvPr id="1228" name="Label 1228"/>
          <p:cNvSpPr txBox="1"/>
          <p:nvPr/>
        </p:nvSpPr>
        <p:spPr>
          <a:xfrm>
            <a:off x="506104" y="1854909"/>
            <a:ext cx="2209881" cy="1439157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Демо-⁠презентаций</a:t>
            </a:r>
            <a:endParaRPr lang="ru-RU" sz="1500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2550819"/>
          </a:xfrm>
          <a:prstGeom prst="roundRect">
            <a:avLst>
              <a:gd fmla="val 564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Figure 1230"/>
          <p:cNvSpPr txBox="1"/>
          <p:nvPr/>
        </p:nvSpPr>
        <p:spPr>
          <a:xfrm>
            <a:off x="3429903" y="1069383"/>
            <a:ext cx="2229769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116</a:t>
            </a: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 → </a:t>
            </a: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123</a:t>
            </a:r>
            <a:endParaRPr lang="ru-RU" sz="4800"/>
          </a:p>
        </p:txBody>
      </p:sp>
      <p:sp>
        <p:nvSpPr>
          <p:cNvPr id="1231" name="Label 1231"/>
          <p:cNvSpPr txBox="1"/>
          <p:nvPr/>
        </p:nvSpPr>
        <p:spPr>
          <a:xfrm>
            <a:off x="3449791" y="1854909"/>
            <a:ext cx="2209881" cy="1439157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Сверенных чисел в каждой</a:t>
            </a:r>
            <a:endParaRPr lang="ru-RU" sz="1500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2550819"/>
          </a:xfrm>
          <a:prstGeom prst="roundRect">
            <a:avLst>
              <a:gd fmla="val 564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Figure 1233"/>
          <p:cNvSpPr txBox="1"/>
          <p:nvPr/>
        </p:nvSpPr>
        <p:spPr>
          <a:xfrm>
            <a:off x="6378238" y="1069383"/>
            <a:ext cx="2225121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</a:t>
            </a:r>
            <a:endParaRPr lang="ru-RU" sz="4800"/>
          </a:p>
        </p:txBody>
      </p:sp>
      <p:sp>
        <p:nvSpPr>
          <p:cNvPr id="1234" name="Label 1234"/>
          <p:cNvSpPr txBox="1"/>
          <p:nvPr/>
        </p:nvSpPr>
        <p:spPr>
          <a:xfrm>
            <a:off x="6393478" y="1854909"/>
            <a:ext cx="2209881" cy="1439157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Лишних чисел</a:t>
            </a:r>
            <a:endParaRPr lang="ru-RU" sz="15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87 шаблонов и 99 из 100 качества</a:t>
            </a:r>
            <a:endParaRPr/>
          </a:p>
        </p:txBody>
      </p:sp>
      <p:graphicFrame>
        <p:nvGraphicFramePr>
          <p:cNvPr id="1208" name="Table"/>
          <p:cNvGraphicFramePr>
            <a:graphicFrameLocks noGrp="1"/>
          </p:cNvGraphicFramePr>
          <p:nvPr/>
        </p:nvGraphicFramePr>
        <p:xfrm>
          <a:off x="248929" y="1000422"/>
          <a:ext cx="6200357" cy="25074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411562"/>
                <a:gridCol w="1788795"/>
              </a:tblGrid>
              <a:tr h="50149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Показатель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Значение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Чужих шаблонов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87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Средняя оценка качества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99 из 100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Форматов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Генерация шаблонов занимает до 175 секунд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8611607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Время генерации, секунд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8611607" cy="229692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Conclusion bar 1210"/>
          <p:cNvSpPr/>
          <p:nvPr/>
        </p:nvSpPr>
        <p:spPr>
          <a:xfrm>
            <a:off x="248929" y="3745089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Conclusion 1211"/>
          <p:cNvSpPr txBox="1"/>
          <p:nvPr/>
        </p:nvSpPr>
        <p:spPr>
          <a:xfrm>
            <a:off x="439429" y="3722229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шаблоны укладываются в лимит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 минут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 с запасом</a:t>
            </a:r>
            <a:endParaRPr lang="ru-RU" sz="15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Открытые модели</a:t>
            </a:r>
            <a:endParaRPr/>
          </a:p>
        </p:txBody>
      </p:sp>
      <p:sp>
        <p:nvSpPr>
          <p:cNvPr id="1217" name="Card 1217"/>
          <p:cNvSpPr/>
          <p:nvPr/>
        </p:nvSpPr>
        <p:spPr>
          <a:xfrm>
            <a:off x="248929" y="1000422"/>
            <a:ext cx="2724231" cy="2758928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8" name="Index 1218"/>
          <p:cNvSpPr txBox="1"/>
          <p:nvPr/>
        </p:nvSpPr>
        <p:spPr>
          <a:xfrm>
            <a:off x="480488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19" name="Card text 1219"/>
          <p:cNvSpPr txBox="1"/>
          <p:nvPr/>
        </p:nvSpPr>
        <p:spPr>
          <a:xfrm>
            <a:off x="480488" y="1834627"/>
            <a:ext cx="2261113" cy="16931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126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Qwen3.8-⁠27B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Основная модель, инференс VK, конфиг готов</a:t>
            </a:r>
            <a:endParaRPr lang="ru-RU" sz="1600"/>
          </a:p>
        </p:txBody>
      </p:sp>
      <p:sp>
        <p:nvSpPr>
          <p:cNvPr id="1220" name="Card 1220"/>
          <p:cNvSpPr/>
          <p:nvPr/>
        </p:nvSpPr>
        <p:spPr>
          <a:xfrm>
            <a:off x="3192616" y="1000422"/>
            <a:ext cx="2724231" cy="2758928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1" name="Index 1221"/>
          <p:cNvSpPr txBox="1"/>
          <p:nvPr/>
        </p:nvSpPr>
        <p:spPr>
          <a:xfrm>
            <a:off x="3424175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22" name="Card text 1222"/>
          <p:cNvSpPr txBox="1"/>
          <p:nvPr/>
        </p:nvSpPr>
        <p:spPr>
          <a:xfrm>
            <a:off x="3424175" y="1834627"/>
            <a:ext cx="2261113" cy="16931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126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Qwen3-⁠32B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Запасное звено, размещено на Cloud.ru</a:t>
            </a:r>
            <a:endParaRPr lang="ru-RU" sz="1600"/>
          </a:p>
        </p:txBody>
      </p:sp>
      <p:sp>
        <p:nvSpPr>
          <p:cNvPr id="1223" name="Card 1223"/>
          <p:cNvSpPr/>
          <p:nvPr/>
        </p:nvSpPr>
        <p:spPr>
          <a:xfrm>
            <a:off x="6136303" y="1000422"/>
            <a:ext cx="2724231" cy="2758928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4" name="Index 1224"/>
          <p:cNvSpPr txBox="1"/>
          <p:nvPr/>
        </p:nvSpPr>
        <p:spPr>
          <a:xfrm>
            <a:off x="6367862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1225" name="Card text 1225"/>
          <p:cNvSpPr txBox="1"/>
          <p:nvPr/>
        </p:nvSpPr>
        <p:spPr>
          <a:xfrm>
            <a:off x="6367862" y="1834627"/>
            <a:ext cx="2261113" cy="16931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8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Gemma 4 и Qwen3-⁠VL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Два дополнительных запасных звена</a:t>
            </a:r>
            <a:endParaRPr lang="ru-RU" sz="1600"/>
          </a:p>
        </p:txBody>
      </p:sp>
      <p:sp>
        <p:nvSpPr>
          <p:cNvPr id="1226" name="Conclusion bar 1226"/>
          <p:cNvSpPr/>
          <p:nvPr/>
        </p:nvSpPr>
        <p:spPr>
          <a:xfrm>
            <a:off x="248929" y="3998237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7" name="Conclusion 1227"/>
          <p:cNvSpPr txBox="1"/>
          <p:nvPr/>
        </p:nvSpPr>
        <p:spPr>
          <a:xfrm>
            <a:off x="439429" y="3975377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Основная модель и два запасных звена в цепочке</a:t>
            </a:r>
            <a:endParaRPr lang="ru-RU" sz="15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6369854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2 028 автотестов и редактируемые объекты — основа текущих возможностей</a:t>
            </a:r>
            <a:endParaRPr/>
          </a:p>
        </p:txBody>
      </p:sp>
      <p:sp>
        <p:nvSpPr>
          <p:cNvPr id="1230" name="Marker 1230"/>
          <p:cNvSpPr/>
          <p:nvPr/>
        </p:nvSpPr>
        <p:spPr>
          <a:xfrm>
            <a:off x="248929" y="145990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1" name="Item 1231"/>
          <p:cNvSpPr txBox="1"/>
          <p:nvPr/>
        </p:nvSpPr>
        <p:spPr>
          <a:xfrm>
            <a:off x="614689" y="136618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PPTX с редактируемыми объектами</a:t>
            </a:r>
            <a:endParaRPr lang="ru-RU" sz="1800"/>
          </a:p>
        </p:txBody>
      </p:sp>
      <p:cxnSp>
        <p:nvCxnSpPr>
          <p:cNvPr id="1232" name="Line 1232"/>
          <p:cNvCxnSpPr/>
          <p:nvPr/>
        </p:nvCxnSpPr>
        <p:spPr>
          <a:xfrm>
            <a:off x="614689" y="191461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3" name="Marker 1233"/>
          <p:cNvSpPr/>
          <p:nvPr/>
        </p:nvSpPr>
        <p:spPr>
          <a:xfrm>
            <a:off x="248929" y="22570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4" name="Item 1234"/>
          <p:cNvSpPr txBox="1"/>
          <p:nvPr/>
        </p:nvSpPr>
        <p:spPr>
          <a:xfrm>
            <a:off x="614689" y="216332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Чат с агентом для правок</a:t>
            </a:r>
            <a:endParaRPr lang="ru-RU" sz="1800"/>
          </a:p>
        </p:txBody>
      </p:sp>
      <p:cxnSp>
        <p:nvCxnSpPr>
          <p:cNvPr id="1235" name="Line 1235"/>
          <p:cNvCxnSpPr/>
          <p:nvPr/>
        </p:nvCxnSpPr>
        <p:spPr>
          <a:xfrm>
            <a:off x="614689" y="271175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6" name="Marker 1236"/>
          <p:cNvSpPr/>
          <p:nvPr/>
        </p:nvSpPr>
        <p:spPr>
          <a:xfrm>
            <a:off x="248929" y="305418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7" name="Item 1237"/>
          <p:cNvSpPr txBox="1"/>
          <p:nvPr/>
        </p:nvSpPr>
        <p:spPr>
          <a:xfrm>
            <a:off x="614689" y="296046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Далее — генерация изображений внутри слайдов</a:t>
            </a:r>
            <a:endParaRPr lang="ru-RU" sz="1800"/>
          </a:p>
        </p:txBody>
      </p:sp>
      <p:cxnSp>
        <p:nvCxnSpPr>
          <p:cNvPr id="1238" name="Line 1238"/>
          <p:cNvCxnSpPr/>
          <p:nvPr/>
        </p:nvCxnSpPr>
        <p:spPr>
          <a:xfrm>
            <a:off x="614689" y="350889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9" name="Marker 1239"/>
          <p:cNvSpPr/>
          <p:nvPr/>
        </p:nvSpPr>
        <p:spPr>
          <a:xfrm>
            <a:off x="248929" y="385132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40" name="Item 1240"/>
          <p:cNvSpPr txBox="1"/>
          <p:nvPr/>
        </p:nvSpPr>
        <p:spPr>
          <a:xfrm>
            <a:off x="614689" y="375760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Переход на инференс VK</a:t>
            </a:r>
            <a:endParaRPr lang="ru-RU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