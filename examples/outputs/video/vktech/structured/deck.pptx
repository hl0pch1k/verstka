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884"/>
          <c:y val="0.0132"/>
          <c:w val="0.8788"/>
          <c:h val="0.9736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Проверки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0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Целостность</c:v>
                </c:pt>
                <c:pt idx="1">
                  <c:v>Вёрстка</c:v>
                </c:pt>
                <c:pt idx="2">
                  <c:v>Шаблон</c:v>
                </c:pt>
                <c:pt idx="3">
                  <c:v>Контент</c:v>
                </c:pt>
                <c:pt idx="4">
                  <c:v>Плотность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12.0</c:v>
                </c:pt>
                <c:pt idx="1">
                  <c:v>11.0</c:v>
                </c:pt>
                <c:pt idx="2">
                  <c:v>7.0</c:v>
                </c:pt>
                <c:pt idx="3">
                  <c:v>6.0</c:v>
                </c:pt>
                <c:pt idx="4">
                  <c:v>5.0</c:v>
                </c:pt>
              </c:numCache>
            </c:numRef>
          </c:val>
        </c:ser>
        <c:dLbls>
          <c:numFmt formatCode="#,##0&quot; проверок&quot;;&quot;−&quot;#,##0&quot; проверок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510000001"/>
        <c:axId val="510000002"/>
      </c:barChart>
      <c:catAx>
        <c:axId val="510000001"/>
        <c:scaling>
          <c:orientation val="maxMin"/>
        </c:scaling>
        <c:delete val="0"/>
        <c:axPos val="l"/>
        <c:majorTickMark val="none"/>
        <c:minorTickMark val="none"/>
        <c:tickLblPos val="low"/>
        <c:spPr>
          <a:ln>
            <a:noFill/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2.0"/>
          <c:min val="0.0"/>
        </c:scaling>
        <c:delete val="1"/>
        <c:axPos val="b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0015"/>
          <c:y val="0.1139"/>
          <c:w val="0.9971"/>
          <c:h val="0.7955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генерации</c:v>
                </c:pt>
              </c:strCache>
            </c:strRef>
          </c:tx>
          <c:spPr>
            <a:solidFill>
              <a:srgbClr val="0077FF"/>
            </a:solidFill>
            <a:ln>
              <a:noFill/>
            </a:ln>
          </c:spPr>
          <c:invertIfNegative val="0"/>
          <c:dLbls>
            <c:dLbl>
              <c:idx val="2"/>
              <c:numFmt formatCode="#,##0;&quot;−&quot;#,##0;" sourceLinked="0"/>
              <c:spPr>
                <a:noFill/>
                <a:ln>
                  <a:noFill/>
                </a:ln>
              </c:spPr>
              <c:txPr>
                <a:bodyPr wrap="none"/>
                <a:lstStyle/>
                <a:p>
                  <a:pPr>
                    <a:defRPr sz="1200" b="0">
                      <a:solidFill>
                        <a:srgbClr val="000000"/>
                      </a:solidFill>
                      <a:latin typeface="Play"/>
                      <a:ea typeface="Play"/>
                      <a:cs typeface="Play"/>
                    </a:defRPr>
                  </a:pPr>
                  <a:endParaRPr lang="ru-RU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#,##0;&quot;−&quot;#,##0;" sourceLinked="0"/>
            <c:spPr>
              <a:noFill/>
              <a:ln>
                <a:noFill/>
              </a:ln>
            </c:spPr>
            <c:txPr>
              <a:bodyPr wrap="none"/>
              <a:lstStyle/>
              <a:p>
                <a:pPr>
                  <a:defRPr sz="12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VK Tech</c:v>
                </c:pt>
                <c:pt idx="1">
                  <c:v>VK Education</c:v>
                </c:pt>
                <c:pt idx="2">
                  <c:v>VK WorkSpace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113.0</c:v>
                </c:pt>
                <c:pt idx="1">
                  <c:v>145.0</c:v>
                </c:pt>
                <c:pt idx="2">
                  <c:v>175.0</c:v>
                </c:pt>
              </c:numCache>
            </c:numRef>
          </c:val>
        </c:ser>
        <c:dLbls>
          <c:numFmt formatCode="#,##0&quot; сек&quot;;&quot;−&quot;#,##0&quot; сек&quot;;" sourceLinked="0"/>
          <c:spPr>
            <a:noFill/>
            <a:ln>
              <a:noFill/>
            </a:ln>
          </c:spPr>
          <c:txPr>
            <a:bodyPr wrap="none"/>
            <a:lstStyle/>
            <a:p>
              <a:pPr>
                <a:defRPr sz="12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  <a:endParaRPr lang="ru-RU"/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85"/>
        <c:axId val="510000001"/>
        <c:axId val="510000002"/>
      </c:barChart>
      <c:catAx>
        <c:axId val="51000000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DDE3EA"/>
            </a:solidFill>
          </a:ln>
        </c:spPr>
        <c:txPr>
          <a:bodyPr rot="0" vert="horz"/>
          <a:lstStyle/>
          <a:p>
            <a:pPr>
              <a:defRPr sz="900" b="0">
                <a:solidFill>
                  <a:srgbClr val="555657"/>
                </a:solidFill>
                <a:latin typeface="Play"/>
                <a:ea typeface="Play"/>
                <a:cs typeface="Play"/>
              </a:defRPr>
            </a:pPr>
            <a:endParaRPr lang="ru-RU"/>
          </a:p>
        </c:txPr>
        <c:crossAx val="510000002"/>
        <c:crosses val="autoZero"/>
        <c:auto val="1"/>
        <c:lblAlgn val="ctr"/>
        <c:lblOffset val="100"/>
        <c:tickLblSkip val="1"/>
        <c:noMultiLvlLbl val="0"/>
      </c:catAx>
      <c:valAx>
        <c:axId val="510000002"/>
        <c:scaling>
          <c:max val="175.0"/>
          <c:min val="0.0"/>
        </c:scaling>
        <c:delete val="1"/>
        <c:axPos val="l"/>
        <c:majorTickMark val="out"/>
        <c:minorTickMark val="none"/>
        <c:tickLblPos val="nextTo"/>
        <c:crossAx val="510000001"/>
        <c:crosses val="autoZero"/>
      </c:valAx>
      <c:spPr>
        <a:noFill/>
        <a:ln>
          <a:noFill/>
        </a:ln>
      </c:spPr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Подготовка презентации занимает часы, а иногда и дни, и большая часть времени уходит не на содержание, а на оформление. Основные проблемы: ручная вёрстка, ИИ, который не воспроизводит стиль компании, и шаблоны, которые не объясняют, как построить новый слайд.</a:t>
            </a:r>
          </a:p>
          <a:p>
            <a:r>
              <a:t>[verstka:sl2]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Verstka интерпретирует шаблон как набор дизайнерских правил и применяет их к тексту, создавая три редактируемые презентации за 2–3 минуты.</a:t>
            </a:r>
          </a:p>
          <a:p>
            <a:r>
              <a:t>[verstka:sl3]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Агент работает по пяти этапам: аналитик находит слайды и данные, дизайнер разрабатывает каждый слайд, критик проверяет соответствие тексту и правилам, компилятор проверяет числа, вёрстка собирает слайды по шаблону.</a:t>
            </a:r>
          </a:p>
          <a:p>
            <a:r>
              <a:t>[verstka:sl4]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Одинаковое содержание, разная подача. Нужны три карточки: «Структурный» — одна мысль на слайд и строгая сетка; «Визуальный» — крупные цифры и наглядные схемы; «Компактный» — вывод первой строкой, текст слева, данные справа.</a:t>
            </a:r>
          </a:p>
          <a:p>
            <a:r>
              <a:t>[verstka:sl5]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Наибольшее число проверок приходится на категорию «Целостность» — 12 проверок. Всего выполнено 41 детерминированная и 2 модельные проверки.</a:t>
            </a:r>
          </a:p>
          <a:p>
            <a:r>
              <a:t>[verstka:sl6]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Каждое число плана сверяется с текстом до вёрстки и ещё раз в готовом PPTX.</a:t>
            </a:r>
          </a:p>
          <a:p>
            <a:r>
              <a:t>[verstka:sl7]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Регрессионный корпус включает 87 чужих шаблонов и 261 презентацию на них. Средняя оценка проверки качества по корпусу — 99 из 100. Сервис поддерживает 12 форматов: pptx, potx, ppt, odp, thmx и другие.</a:t>
            </a:r>
          </a:p>
          <a:p>
            <a:r>
              <a:t>[verstka:sl8]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Время генерации всех шаблонов меньше 5 минут: VK Tech — 113 секунд, VK Education — 145 секунд, VK WorkSpace — 175 секунд.</a:t>
            </a:r>
          </a:p>
          <a:p>
            <a:r>
              <a:t>[verstka:sl9]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 слайде представлены три модели с лицензией Apache 2.0. Основная модель — Qwen3.8-27B, инференс VK, конфиг готов. Запасное звено — Qwen3-32B на Cloud.ru. Дополнительные запасные звенья — Gemma 4 и Qwen3-VL.</a:t>
            </a:r>
          </a:p>
          <a:p>
            <a:r>
              <a:t>[verstka:sl10]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На данном этапе Verstka предлагает 2 028 автотестов и поддерживает форматы PPTX, PDF и HTML. Дополнительно реализован чат с агентом для правок. В будущем планируется внедрение генерации изображений внутри слайдов и переход на инференс VK.</a:t>
            </a:r>
          </a:p>
          <a:p>
            <a:r>
              <a:t>[verstka:sl11]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0.png"/><Relationship Id="rId4" Type="http://schemas.openxmlformats.org/officeDocument/2006/relationships/image" Target="../media/image2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3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" name="Google Shape;22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" name="Google Shape;23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" name="Google Shape;24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" name="Google Shape;25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" name="Google Shape;26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" name="Google Shape;27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" name="Google Shape;28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9" name="Google Shape;29;p3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30" name="Google Shape;30;p3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3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" name="Google Shape;32;p3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33" name="Google Shape;33;p3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34" name="Google Shape;34;p3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36" name="Google Shape;36;p3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" name="Google Shape;37;p3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39" name="Google Shape;3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0" name="Google Shape;40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1" name="Google Shape;41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2" name="Google Shape;42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43" name="Google Shape;43;p4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4" name="Google Shape;44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45" name="Google Shape;45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46" name="Google Shape;46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47" name="Google Shape;47;p4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48" name="Google Shape;48;p4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4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50" name="Google Shape;50;p4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1" name="Google Shape;51;p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52" name="Google Shape;52;p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3" name="Google Shape;53;p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Разделитель">
  <p:cSld name="1_Разделитель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57" name="Google Shape;57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58" name="Google Shape;58;p6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59" name="Google Shape;5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1" name="Google Shape;61;p6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62" name="Google Shape;62;p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63" name="Google Shape;63;p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64" name="Google Shape;64;p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65" name="Google Shape;6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одержание">
  <p:cSld name="1_Содержание"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78" name="Google Shape;78;p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79" name="Google Shape;79;p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80" name="Google Shape;80;p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81" name="Google Shape;81;p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82" name="Google Shape;82;p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6" name="Google Shape;86;p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7" name="Google Shape;87;p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одержание">
  <p:cSld name="2_Содержание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90" name="Google Shape;90;p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91" name="Google Shape;91;p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92" name="Google Shape;92;p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93" name="Google Shape;93;p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4" name="Google Shape;94;p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5" name="Google Shape;95;p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6" name="Google Shape;96;p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7" name="Google Shape;97;p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8" name="Google Shape;98;p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одержание">
  <p:cSld name="3_Содержание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02" name="Google Shape;102;p1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03" name="Google Shape;103;p1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04" name="Google Shape;104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05" name="Google Shape;105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06" name="Google Shape;106;p1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8" name="Google Shape;108;p1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Визитка">
  <p:cSld name="1_Визитка">
    <p:bg>
      <p:bgPr>
        <a:solidFill>
          <a:schemeClr val="lt1"/>
        </a:solidFill>
      </p:bgPr>
    </p:bg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1" name="Google Shape;111;p1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12" name="Google Shape;112;p1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13" name="Google Shape;113;p1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14" name="Google Shape;114;p1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15" name="Google Shape;115;p1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1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7" name="Google Shape;117;p1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8" name="Google Shape;118;p1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9" name="Google Shape;119;p1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Визитка">
  <p:cSld name="4_Визитка"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2" name="Google Shape;122;p1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23" name="Google Shape;123;p1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24" name="Google Shape;124;p1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25" name="Google Shape;125;p1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26" name="Google Shape;126;p1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1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8" name="Google Shape;128;p1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9" name="Google Shape;129;p1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Контент">
  <p:cSld name="1_Контент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45" name="Google Shape;145;p1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46" name="Google Shape;146;p1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7" name="Google Shape;147;p1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8" name="Google Shape;148;p1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Контент">
  <p:cSld name="3_Контент">
    <p:bg>
      <p:bgPr>
        <a:solidFill>
          <a:schemeClr val="lt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2" name="Google Shape;152;p1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53" name="Google Shape;153;p1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54" name="Google Shape;154;p1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5" name="Google Shape;155;p1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Контент">
  <p:cSld name="5_Контент">
    <p:bg>
      <p:bgPr>
        <a:solidFill>
          <a:schemeClr val="lt1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7" name="Google Shape;157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59" name="Google Shape;159;p1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0" name="Google Shape;160;p1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1" name="Google Shape;161;p1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2" name="Google Shape;162;p1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Контент">
  <p:cSld name="7_Контент">
    <p:bg>
      <p:bgPr>
        <a:solidFill>
          <a:schemeClr val="lt1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1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66" name="Google Shape;166;p1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67" name="Google Shape;167;p1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68" name="Google Shape;168;p1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69" name="Google Shape;169;p1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Контент">
  <p:cSld name="8_Контент">
    <p:bg>
      <p:bgPr>
        <a:solidFill>
          <a:schemeClr val="lt1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1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173" name="Google Shape;173;p1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74" name="Google Shape;174;p1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75" name="Google Shape;175;p1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76" name="Google Shape;176;p1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Контент">
  <p:cSld name="13_Контент">
    <p:bg>
      <p:bgPr>
        <a:solidFill>
          <a:schemeClr val="lt1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9" name="Google Shape;179;p1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0" name="Google Shape;180;p1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1" name="Google Shape;181;p1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2" name="Google Shape;182;p1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3" name="Google Shape;183;p1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5" name="Google Shape;185;p2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86" name="Google Shape;186;p2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87" name="Google Shape;187;p20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88" name="Google Shape;188;p2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вободный дизайн">
  <p:cSld name="2_Свободный дизайн">
    <p:bg>
      <p:bgPr>
        <a:solidFill>
          <a:schemeClr val="dk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1" name="Google Shape;191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2" name="Google Shape;192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3" name="Google Shape;193;p2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94" name="Google Shape;194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5" name="Google Shape;195;p21"/>
          <p:cNvSpPr txBox="1"/>
          <p:nvPr>
            <p:ph type="title"/>
          </p:nvPr>
        </p:nvSpPr>
        <p:spPr>
          <a:xfrm>
            <a:off x="177970" y="175372"/>
            <a:ext cx="6792985" cy="9072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96" name="Google Shape;196;p21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97" name="Google Shape;197;p2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98" name="Google Shape;198;p2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99" name="Google Shape;199;p2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0" name="Google Shape;200;p2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Разделитель">
  <p:cSld name="2_Разделитель">
    <p:bg>
      <p:bgPr>
        <a:solidFill>
          <a:schemeClr val="dk1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2" name="Google Shape;202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3" name="Google Shape;203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04" name="Google Shape;204;p22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5" name="Google Shape;205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06" name="Google Shape;206;p22"/>
          <p:cNvSpPr txBox="1"/>
          <p:nvPr>
            <p:ph type="title"/>
          </p:nvPr>
        </p:nvSpPr>
        <p:spPr>
          <a:xfrm>
            <a:off x="210243" y="878488"/>
            <a:ext cx="4288279" cy="149669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Play"/>
              <a:buNone/>
              <a:defRPr b="0" i="0" sz="29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07" name="Google Shape;207;p22"/>
          <p:cNvSpPr txBox="1"/>
          <p:nvPr>
            <p:ph idx="1" type="body"/>
          </p:nvPr>
        </p:nvSpPr>
        <p:spPr>
          <a:xfrm>
            <a:off x="210685" y="2940812"/>
            <a:ext cx="4287837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None/>
              <a:defRPr b="0" i="0" sz="15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08" name="Google Shape;208;p2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09" name="Google Shape;209;p2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10" name="Google Shape;210;p2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1" name="Google Shape;211;p2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13" name="Google Shape;213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14" name="Google Shape;214;p2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5" name="Google Shape;215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16" name="Google Shape;216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17" name="Google Shape;217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18" name="Google Shape;218;p23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19" name="Google Shape;219;p23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20" name="Google Shape;220;p23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221" name="Google Shape;221;p2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22" name="Google Shape;222;p2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dk1"/>
        </a:soli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24" name="Google Shape;224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" name="Google Shape;225;p2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6" name="Google Shape;226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7" name="Google Shape;227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8" name="Google Shape;228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29" name="Google Shape;229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0" name="Google Shape;230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31" name="Google Shape;231;p24"/>
          <p:cNvSpPr txBox="1"/>
          <p:nvPr>
            <p:ph type="title"/>
          </p:nvPr>
        </p:nvSpPr>
        <p:spPr>
          <a:xfrm>
            <a:off x="581272" y="1531415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400"/>
              <a:buFont typeface="Play"/>
              <a:buNone/>
              <a:defRPr b="0" i="0" sz="5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32" name="Google Shape;232;p24"/>
          <p:cNvSpPr txBox="1"/>
          <p:nvPr>
            <p:ph idx="1" type="body"/>
          </p:nvPr>
        </p:nvSpPr>
        <p:spPr>
          <a:xfrm>
            <a:off x="581272" y="2362284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3" name="Google Shape;233;p24"/>
          <p:cNvSpPr txBox="1"/>
          <p:nvPr>
            <p:ph idx="2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4" name="Google Shape;234;p24"/>
          <p:cNvSpPr txBox="1"/>
          <p:nvPr>
            <p:ph idx="3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35" name="Google Shape;235;p24"/>
          <p:cNvPicPr preferRelativeResize="0"/>
          <p:nvPr/>
        </p:nvPicPr>
        <p:blipFill rotWithShape="1">
          <a:blip r:embed="rId3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36" name="Google Shape;236;p24"/>
          <p:cNvPicPr preferRelativeResize="0"/>
          <p:nvPr/>
        </p:nvPicPr>
        <p:blipFill rotWithShape="1">
          <a:blip r:embed="rId4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7" name="Google Shape;237;p24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38" name="Google Shape;238;p24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39" name="Google Shape;239;p24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лайд &quot;Спасибо!&quot;">
  <p:cSld name="1_Слайд &quot;Спасибо!&quot;">
    <p:bg>
      <p:bgPr>
        <a:solidFill>
          <a:schemeClr val="dk1"/>
        </a:solid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41" name="Google Shape;241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2" name="Google Shape;242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3" name="Google Shape;243;p2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4" name="Google Shape;244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45" name="Google Shape;245;p25"/>
          <p:cNvPicPr preferRelativeResize="0"/>
          <p:nvPr/>
        </p:nvPicPr>
        <p:blipFill rotWithShape="1">
          <a:blip r:embed="rId3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6" name="Google Shape;246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47" name="Google Shape;247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48" name="Google Shape;248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49" name="Google Shape;249;p25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50" name="Google Shape;250;p25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1" name="Google Shape;251;p25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52" name="Google Shape;252;p25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53" name="Google Shape;253;p25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54" name="Google Shape;254;p25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55" name="Google Shape;255;p25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Слайд &quot;Спасибо!&quot;">
  <p:cSld name="2_Слайд &quot;Спасибо!&quot;">
    <p:bg>
      <p:bgPr>
        <a:solidFill>
          <a:schemeClr val="dk1"/>
        </a:solid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257" name="Google Shape;257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8" name="Google Shape;25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59" name="Google Shape;25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5028" y="20096"/>
            <a:ext cx="8158972" cy="512340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0" name="Google Shape;260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61" name="Google Shape;261;p26"/>
          <p:cNvPicPr preferRelativeResize="0"/>
          <p:nvPr/>
        </p:nvPicPr>
        <p:blipFill rotWithShape="1">
          <a:blip r:embed="rId2">
            <a:alphaModFix/>
          </a:blip>
          <a:srcRect b="1818" l="0" r="25540" t="0"/>
          <a:stretch/>
        </p:blipFill>
        <p:spPr>
          <a:xfrm>
            <a:off x="3871700" y="135413"/>
            <a:ext cx="5272300" cy="498799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2" name="Google Shape;262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63" name="Google Shape;263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64" name="Google Shape;264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5" name="Google Shape;265;p26"/>
          <p:cNvSpPr txBox="1"/>
          <p:nvPr>
            <p:ph type="title"/>
          </p:nvPr>
        </p:nvSpPr>
        <p:spPr>
          <a:xfrm>
            <a:off x="572960" y="1662782"/>
            <a:ext cx="5761338" cy="1392109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700"/>
              <a:buFont typeface="Play"/>
              <a:buNone/>
              <a:defRPr b="0" i="0" sz="47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66" name="Google Shape;266;p26"/>
          <p:cNvSpPr txBox="1"/>
          <p:nvPr>
            <p:ph idx="1" type="body"/>
          </p:nvPr>
        </p:nvSpPr>
        <p:spPr>
          <a:xfrm>
            <a:off x="1430535" y="38427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7" name="Google Shape;267;p26"/>
          <p:cNvSpPr txBox="1"/>
          <p:nvPr>
            <p:ph idx="2" type="body"/>
          </p:nvPr>
        </p:nvSpPr>
        <p:spPr>
          <a:xfrm>
            <a:off x="1430534" y="420739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b="0" i="0" sz="11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 " id="268" name="Google Shape;268;p26"/>
          <p:cNvPicPr preferRelativeResize="0"/>
          <p:nvPr/>
        </p:nvPicPr>
        <p:blipFill rotWithShape="1">
          <a:blip r:embed="rId4">
            <a:alphaModFix/>
          </a:blip>
          <a:srcRect b="3311" l="0" r="47427" t="0"/>
          <a:stretch/>
        </p:blipFill>
        <p:spPr>
          <a:xfrm>
            <a:off x="6164319" y="169615"/>
            <a:ext cx="2979681" cy="495378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9" name="Google Shape;269;p26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0" name="Google Shape;270;p2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1" name="Google Shape;271;p26"/>
            <p:cNvPicPr preferRelativeResize="0"/>
            <p:nvPr/>
          </p:nvPicPr>
          <p:blipFill rotWithShape="1">
            <a:blip r:embed="rId6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Слайд &quot;Спасибо!&quot;">
  <p:cSld name="3_Слайд &quot;Спасибо!&quot;">
    <p:bg>
      <p:bgPr>
        <a:solidFill>
          <a:schemeClr val="dk1"/>
        </a:soli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3" name="Google Shape;273;p2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4" name="Google Shape;274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75" name="Google Shape;275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76" name="Google Shape;276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77" name="Google Shape;277;p2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278" name="Google Shape;278;p2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279" name="Google Shape;279;p2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280" name="Google Shape;280;p2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1" name="Google Shape;281;p2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Содержание">
  <p:cSld name="5_Содержание">
    <p:bg>
      <p:bgPr>
        <a:solidFill>
          <a:schemeClr val="dk1"/>
        </a:solidFill>
      </p:bgPr>
    </p:bg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8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84" name="Google Shape;284;p2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85" name="Google Shape;285;p2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86" name="Google Shape;286;p28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87" name="Google Shape;287;p2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88" name="Google Shape;288;p28"/>
          <p:cNvSpPr txBox="1"/>
          <p:nvPr>
            <p:ph idx="1" type="body"/>
          </p:nvPr>
        </p:nvSpPr>
        <p:spPr>
          <a:xfrm>
            <a:off x="5261907" y="72224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89" name="Google Shape;289;p28"/>
          <p:cNvSpPr txBox="1"/>
          <p:nvPr>
            <p:ph idx="2" type="body"/>
          </p:nvPr>
        </p:nvSpPr>
        <p:spPr>
          <a:xfrm>
            <a:off x="5261908" y="138097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0" name="Google Shape;290;p28"/>
          <p:cNvSpPr txBox="1"/>
          <p:nvPr>
            <p:ph idx="3" type="body"/>
          </p:nvPr>
        </p:nvSpPr>
        <p:spPr>
          <a:xfrm>
            <a:off x="5261908" y="203713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1" name="Google Shape;291;p28"/>
          <p:cNvSpPr txBox="1"/>
          <p:nvPr>
            <p:ph idx="4" type="body"/>
          </p:nvPr>
        </p:nvSpPr>
        <p:spPr>
          <a:xfrm>
            <a:off x="5261909" y="2695855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2" name="Google Shape;292;p28"/>
          <p:cNvSpPr txBox="1"/>
          <p:nvPr>
            <p:ph idx="5" type="body"/>
          </p:nvPr>
        </p:nvSpPr>
        <p:spPr>
          <a:xfrm>
            <a:off x="5261909" y="338757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3" name="Google Shape;293;p28"/>
          <p:cNvSpPr txBox="1"/>
          <p:nvPr>
            <p:ph idx="6" type="body"/>
          </p:nvPr>
        </p:nvSpPr>
        <p:spPr>
          <a:xfrm>
            <a:off x="5261909" y="4079303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Содержание">
  <p:cSld name="6_Содержание">
    <p:bg>
      <p:bgPr>
        <a:solidFill>
          <a:schemeClr val="dk1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29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296" name="Google Shape;296;p2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297" name="Google Shape;297;p2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298" name="Google Shape;298;p29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99" name="Google Shape;299;p2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00" name="Google Shape;300;p29"/>
          <p:cNvSpPr txBox="1"/>
          <p:nvPr>
            <p:ph idx="1" type="body"/>
          </p:nvPr>
        </p:nvSpPr>
        <p:spPr>
          <a:xfrm>
            <a:off x="5261906" y="67044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1" name="Google Shape;301;p29"/>
          <p:cNvSpPr txBox="1"/>
          <p:nvPr>
            <p:ph idx="2" type="body"/>
          </p:nvPr>
        </p:nvSpPr>
        <p:spPr>
          <a:xfrm>
            <a:off x="5261907" y="1523599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2" name="Google Shape;302;p29"/>
          <p:cNvSpPr txBox="1"/>
          <p:nvPr>
            <p:ph idx="3" type="body"/>
          </p:nvPr>
        </p:nvSpPr>
        <p:spPr>
          <a:xfrm>
            <a:off x="5261907" y="2373656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3" name="Google Shape;303;p29"/>
          <p:cNvSpPr txBox="1"/>
          <p:nvPr>
            <p:ph idx="4" type="body"/>
          </p:nvPr>
        </p:nvSpPr>
        <p:spPr>
          <a:xfrm>
            <a:off x="5261907" y="3220500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4" name="Google Shape;304;p29"/>
          <p:cNvSpPr txBox="1"/>
          <p:nvPr>
            <p:ph idx="5" type="body"/>
          </p:nvPr>
        </p:nvSpPr>
        <p:spPr>
          <a:xfrm>
            <a:off x="5261907" y="4067344"/>
            <a:ext cx="3509963" cy="376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одержание">
  <p:cSld name="4_Содержание">
    <p:bg>
      <p:bgPr>
        <a:solidFill>
          <a:schemeClr val="dk1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Google Shape;30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30"/>
          <p:cNvSpPr txBox="1"/>
          <p:nvPr>
            <p:ph type="title"/>
          </p:nvPr>
        </p:nvSpPr>
        <p:spPr>
          <a:xfrm>
            <a:off x="430360" y="338829"/>
            <a:ext cx="3945697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08" name="Google Shape;308;p3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09" name="Google Shape;309;p3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0" name="Google Shape;310;p3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11" name="Google Shape;311;p3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2" name="Google Shape;312;p30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30"/>
          <p:cNvSpPr txBox="1"/>
          <p:nvPr>
            <p:ph idx="1" type="body"/>
          </p:nvPr>
        </p:nvSpPr>
        <p:spPr>
          <a:xfrm>
            <a:off x="4637088" y="338139"/>
            <a:ext cx="3862387" cy="2460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4" name="Google Shape;314;p30"/>
          <p:cNvSpPr txBox="1"/>
          <p:nvPr>
            <p:ph idx="2" type="body"/>
          </p:nvPr>
        </p:nvSpPr>
        <p:spPr>
          <a:xfrm>
            <a:off x="4637088" y="676278"/>
            <a:ext cx="3862387" cy="373710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921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Char char="•"/>
              <a:defRPr b="0" i="0" sz="1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Визитка">
  <p:cSld name="3_Визитка">
    <p:bg>
      <p:bgPr>
        <a:solidFill>
          <a:schemeClr val="dk1"/>
        </a:solidFill>
      </p:bgPr>
    </p:bg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6" name="Google Shape;316;p3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7" name="Google Shape;317;p3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18" name="Google Shape;318;p3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19" name="Google Shape;319;p3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20" name="Google Shape;320;p31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21" name="Google Shape;321;p31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31"/>
          <p:cNvSpPr txBox="1"/>
          <p:nvPr>
            <p:ph idx="1" type="body"/>
          </p:nvPr>
        </p:nvSpPr>
        <p:spPr>
          <a:xfrm>
            <a:off x="4861023" y="1806008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3" name="Google Shape;323;p31"/>
          <p:cNvSpPr txBox="1"/>
          <p:nvPr>
            <p:ph idx="2" type="body"/>
          </p:nvPr>
        </p:nvSpPr>
        <p:spPr>
          <a:xfrm>
            <a:off x="283720" y="347298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None/>
              <a:defRPr b="0" i="0" sz="20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4" name="Google Shape;324;p31"/>
          <p:cNvSpPr txBox="1"/>
          <p:nvPr>
            <p:ph idx="3" type="body"/>
          </p:nvPr>
        </p:nvSpPr>
        <p:spPr>
          <a:xfrm>
            <a:off x="283720" y="3908425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5" name="Google Shape;325;p31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Визитка">
  <p:cSld name="2_Визитка">
    <p:bg>
      <p:bgPr>
        <a:solidFill>
          <a:schemeClr val="dk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7" name="Google Shape;327;p3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8" name="Google Shape;328;p32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29" name="Google Shape;329;p32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30" name="Google Shape;330;p3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31" name="Google Shape;331;p3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2" name="Google Shape;332;p32"/>
          <p:cNvSpPr/>
          <p:nvPr/>
        </p:nvSpPr>
        <p:spPr>
          <a:xfrm>
            <a:off x="1270160" y="1092200"/>
            <a:ext cx="2781410" cy="257153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32"/>
          <p:cNvSpPr txBox="1"/>
          <p:nvPr>
            <p:ph idx="1" type="body"/>
          </p:nvPr>
        </p:nvSpPr>
        <p:spPr>
          <a:xfrm>
            <a:off x="177971" y="1880499"/>
            <a:ext cx="3862387" cy="15314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4" name="Google Shape;334;p32"/>
          <p:cNvSpPr txBox="1"/>
          <p:nvPr>
            <p:ph idx="2" type="body"/>
          </p:nvPr>
        </p:nvSpPr>
        <p:spPr>
          <a:xfrm>
            <a:off x="177971" y="767994"/>
            <a:ext cx="405874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35" name="Google Shape;335;p32"/>
          <p:cNvSpPr txBox="1"/>
          <p:nvPr>
            <p:ph type="title"/>
          </p:nvPr>
        </p:nvSpPr>
        <p:spPr>
          <a:xfrm>
            <a:off x="177971" y="282949"/>
            <a:ext cx="4058749" cy="4662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Контент">
  <p:cSld name="2_Контент">
    <p:bg>
      <p:bgPr>
        <a:solidFill>
          <a:schemeClr val="dk1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7" name="Google Shape;337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8" name="Google Shape;338;p33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39" name="Google Shape;339;p3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0" name="Google Shape;340;p3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1" name="Google Shape;341;p3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2" name="Google Shape;342;p3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Контент">
  <p:cSld name="4_Контент">
    <p:bg>
      <p:bgPr>
        <a:solidFill>
          <a:schemeClr val="dk1"/>
        </a:solidFill>
      </p:bgPr>
    </p:bg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oogle Shape;344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34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46" name="Google Shape;346;p34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47" name="Google Shape;347;p34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48" name="Google Shape;348;p34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49" name="Google Shape;349;p3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Контент">
  <p:cSld name="6_Контент">
    <p:bg>
      <p:bgPr>
        <a:solidFill>
          <a:schemeClr val="dk1"/>
        </a:solidFill>
      </p:bgPr>
    </p:bg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1" name="Google Shape;351;p3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2" name="Google Shape;352;p35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53" name="Google Shape;353;p35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54" name="Google Shape;354;p35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55" name="Google Shape;355;p35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56" name="Google Shape;356;p35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Контент">
  <p:cSld name="12_Контент">
    <p:bg>
      <p:bgPr>
        <a:solidFill>
          <a:schemeClr val="dk1"/>
        </a:solidFill>
      </p:bgPr>
    </p:bg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8" name="Google Shape;358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36"/>
          <p:cNvSpPr txBox="1"/>
          <p:nvPr>
            <p:ph type="title"/>
          </p:nvPr>
        </p:nvSpPr>
        <p:spPr>
          <a:xfrm>
            <a:off x="177971" y="282949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0" name="Google Shape;360;p36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1" name="Google Shape;361;p36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2" name="Google Shape;362;p3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63" name="Google Shape;363;p36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Контент">
  <p:cSld name="9_Контент">
    <p:bg>
      <p:bgPr>
        <a:solidFill>
          <a:schemeClr val="dk1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37"/>
          <p:cNvSpPr txBox="1"/>
          <p:nvPr>
            <p:ph type="title"/>
          </p:nvPr>
        </p:nvSpPr>
        <p:spPr>
          <a:xfrm>
            <a:off x="430360" y="405612"/>
            <a:ext cx="4058749" cy="7533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Play"/>
              <a:buNone/>
              <a:defRPr b="0" i="0" sz="1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grpSp>
        <p:nvGrpSpPr>
          <p:cNvPr id="367" name="Google Shape;367;p37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68" name="Google Shape;368;p37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69" name="Google Shape;369;p3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0" name="Google Shape;370;p3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Контент">
  <p:cSld name="10_Контент">
    <p:bg>
      <p:bgPr>
        <a:solidFill>
          <a:schemeClr val="dk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2" name="Google Shape;372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73" name="Google Shape;373;p38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74" name="Google Shape;374;p38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75" name="Google Shape;375;p38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76" name="Google Shape;376;p38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77" name="Google Shape;377;p38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Контент">
  <p:cSld name="11_Контент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9" name="Google Shape;379;p3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0" name="Google Shape;380;p39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1" name="Google Shape;381;p39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2" name="Google Shape;382;p3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83" name="Google Shape;383;p39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84" name="Google Shape;384;p39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Контент">
  <p:cSld name="14_Контент">
    <p:bg>
      <p:bgPr>
        <a:solidFill>
          <a:schemeClr val="dk1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6" name="Google Shape;386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7" name="Google Shape;387;p40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88" name="Google Shape;388;p40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89" name="Google Shape;389;p4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0" name="Google Shape;390;p4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91" name="Google Shape;391;p40"/>
          <p:cNvSpPr txBox="1"/>
          <p:nvPr>
            <p:ph type="title"/>
          </p:nvPr>
        </p:nvSpPr>
        <p:spPr>
          <a:xfrm>
            <a:off x="177971" y="282949"/>
            <a:ext cx="5939800" cy="489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DEFAULT">
  <p:cSld name="1_DEFAULT">
    <p:bg>
      <p:bgPr>
        <a:solidFill>
          <a:schemeClr val="dk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3" name="Google Shape;393;p41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394" name="Google Shape;394;p41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395" name="Google Shape;395;p41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396" name="Google Shape;396;p41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slideLayout" Target="../slideLayouts/slideLayout6.xml"/><Relationship Id="rId4" Type="http://schemas.openxmlformats.org/officeDocument/2006/relationships/slideLayout" Target="../slideLayouts/slideLayout7.xml"/><Relationship Id="rId5" Type="http://schemas.openxmlformats.org/officeDocument/2006/relationships/slideLayout" Target="../slideLayouts/slideLayout8.xml"/><Relationship Id="rId6" Type="http://schemas.openxmlformats.org/officeDocument/2006/relationships/slideLayout" Target="../slideLayouts/slideLayout9.xml"/><Relationship Id="rId7" Type="http://schemas.openxmlformats.org/officeDocument/2006/relationships/slideLayout" Target="../slideLayouts/slideLayout10.xml"/><Relationship Id="rId8" Type="http://schemas.openxmlformats.org/officeDocument/2006/relationships/slideLayout" Target="../slideLayouts/slideLayout11.xml"/><Relationship Id="rId9" Type="http://schemas.openxmlformats.org/officeDocument/2006/relationships/slideLayout" Target="../slideLayouts/slideLayout12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slideLayout" Target="../slideLayouts/slideLayout16.xml"/><Relationship Id="rId14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19.xml"/><Relationship Id="rId17" Type="http://schemas.openxmlformats.org/officeDocument/2006/relationships/slideLayout" Target="../slideLayouts/slideLayout20.xml"/><Relationship Id="rId18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22.xml"/><Relationship Id="rId20" Type="http://schemas.openxmlformats.org/officeDocument/2006/relationships/slideLayout" Target="../slideLayouts/slideLayout23.xml"/><Relationship Id="rId21" Type="http://schemas.openxmlformats.org/officeDocument/2006/relationships/slideLayout" Target="../slideLayouts/slideLayout24.xml"/><Relationship Id="rId22" Type="http://schemas.openxmlformats.org/officeDocument/2006/relationships/slideLayout" Target="../slideLayouts/slideLayout25.xml"/><Relationship Id="rId23" Type="http://schemas.openxmlformats.org/officeDocument/2006/relationships/slideLayout" Target="../slideLayouts/slideLayout26.xml"/><Relationship Id="rId24" Type="http://schemas.openxmlformats.org/officeDocument/2006/relationships/slideLayout" Target="../slideLayouts/slideLayout27.xml"/><Relationship Id="rId25" Type="http://schemas.openxmlformats.org/officeDocument/2006/relationships/slideLayout" Target="../slideLayouts/slideLayout28.xml"/><Relationship Id="rId26" Type="http://schemas.openxmlformats.org/officeDocument/2006/relationships/slideLayout" Target="../slideLayouts/slideLayout29.xml"/><Relationship Id="rId27" Type="http://schemas.openxmlformats.org/officeDocument/2006/relationships/slideLayout" Target="../slideLayouts/slideLayout30.xml"/><Relationship Id="rId28" Type="http://schemas.openxmlformats.org/officeDocument/2006/relationships/slideLayout" Target="../slideLayouts/slideLayout31.xml"/><Relationship Id="rId29" Type="http://schemas.openxmlformats.org/officeDocument/2006/relationships/slideLayout" Target="../slideLayouts/slideLayout32.xml"/><Relationship Id="rId30" Type="http://schemas.openxmlformats.org/officeDocument/2006/relationships/slideLayout" Target="../slideLayouts/slideLayout33.xml"/><Relationship Id="rId31" Type="http://schemas.openxmlformats.org/officeDocument/2006/relationships/slideLayout" Target="../slideLayouts/slideLayout34.xml"/><Relationship Id="rId32" Type="http://schemas.openxmlformats.org/officeDocument/2006/relationships/slideLayout" Target="../slideLayouts/slideLayout35.xml"/><Relationship Id="rId33" Type="http://schemas.openxmlformats.org/officeDocument/2006/relationships/slideLayout" Target="../slideLayouts/slideLayout36.xml"/><Relationship Id="rId34" Type="http://schemas.openxmlformats.org/officeDocument/2006/relationships/slideLayout" Target="../slideLayouts/slideLayout37.xml"/><Relationship Id="rId35" Type="http://schemas.openxmlformats.org/officeDocument/2006/relationships/slideLayout" Target="../slideLayouts/slideLayout38.xml"/><Relationship Id="rId36" Type="http://schemas.openxmlformats.org/officeDocument/2006/relationships/slideLayout" Target="../slideLayouts/slideLayout39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6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4755637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Оформление отнимает больше времени, чем содержание</a:t>
            </a:r>
            <a:endParaRPr/>
          </a:p>
        </p:txBody>
      </p:sp>
      <p:sp>
        <p:nvSpPr>
          <p:cNvPr id="1208" name="Card 1208"/>
          <p:cNvSpPr/>
          <p:nvPr/>
        </p:nvSpPr>
        <p:spPr>
          <a:xfrm>
            <a:off x="248929" y="1366182"/>
            <a:ext cx="2724231" cy="2704699"/>
          </a:xfrm>
          <a:prstGeom prst="roundRect">
            <a:avLst>
              <a:gd fmla="val 5323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09" name="Index 1209"/>
          <p:cNvSpPr txBox="1"/>
          <p:nvPr/>
        </p:nvSpPr>
        <p:spPr>
          <a:xfrm>
            <a:off x="480488" y="1597741"/>
            <a:ext cx="2261113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01</a:t>
            </a:r>
            <a:endParaRPr lang="ru-RU" sz="2400"/>
          </a:p>
        </p:txBody>
      </p:sp>
      <p:sp>
        <p:nvSpPr>
          <p:cNvPr id="1210" name="Card text 1210"/>
          <p:cNvSpPr txBox="1"/>
          <p:nvPr/>
        </p:nvSpPr>
        <p:spPr>
          <a:xfrm>
            <a:off x="480488" y="2017507"/>
            <a:ext cx="2261113" cy="182181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985"/>
              </a:spcAft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Ручная вёрстка</a:t>
            </a:r>
            <a:endParaRPr lang="ru-RU" sz="18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Подобрать макет, подвинуть блоки, подогнать цвета под фирменный стиль</a:t>
            </a:r>
            <a:endParaRPr lang="ru-RU" sz="1500"/>
          </a:p>
        </p:txBody>
      </p:sp>
      <p:sp>
        <p:nvSpPr>
          <p:cNvPr id="1211" name="Card 1211"/>
          <p:cNvSpPr/>
          <p:nvPr/>
        </p:nvSpPr>
        <p:spPr>
          <a:xfrm>
            <a:off x="3192616" y="1366182"/>
            <a:ext cx="2724231" cy="2704699"/>
          </a:xfrm>
          <a:prstGeom prst="roundRect">
            <a:avLst>
              <a:gd fmla="val 5323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2" name="Index 1212"/>
          <p:cNvSpPr txBox="1"/>
          <p:nvPr/>
        </p:nvSpPr>
        <p:spPr>
          <a:xfrm>
            <a:off x="3424175" y="1597741"/>
            <a:ext cx="2261113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02</a:t>
            </a:r>
            <a:endParaRPr lang="ru-RU" sz="2400"/>
          </a:p>
        </p:txBody>
      </p:sp>
      <p:sp>
        <p:nvSpPr>
          <p:cNvPr id="1213" name="Card text 1213"/>
          <p:cNvSpPr txBox="1"/>
          <p:nvPr/>
        </p:nvSpPr>
        <p:spPr>
          <a:xfrm>
            <a:off x="3424175" y="2017507"/>
            <a:ext cx="2261113" cy="182181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2985"/>
              </a:spcAft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ИИ ломает стиль</a:t>
            </a:r>
            <a:endParaRPr lang="ru-RU" sz="18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Нейросети неплохо пишут текст, но не воспроизводят дизайн-⁠систему компании</a:t>
            </a:r>
            <a:endParaRPr lang="ru-RU" sz="1500"/>
          </a:p>
        </p:txBody>
      </p:sp>
      <p:sp>
        <p:nvSpPr>
          <p:cNvPr id="1214" name="Card 1214"/>
          <p:cNvSpPr/>
          <p:nvPr/>
        </p:nvSpPr>
        <p:spPr>
          <a:xfrm>
            <a:off x="6136303" y="1366182"/>
            <a:ext cx="2724231" cy="2704699"/>
          </a:xfrm>
          <a:prstGeom prst="roundRect">
            <a:avLst>
              <a:gd fmla="val 5323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5" name="Index 1215"/>
          <p:cNvSpPr txBox="1"/>
          <p:nvPr/>
        </p:nvSpPr>
        <p:spPr>
          <a:xfrm>
            <a:off x="6367862" y="1597741"/>
            <a:ext cx="2261113" cy="365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4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03</a:t>
            </a:r>
            <a:endParaRPr lang="ru-RU" sz="2400"/>
          </a:p>
        </p:txBody>
      </p:sp>
      <p:sp>
        <p:nvSpPr>
          <p:cNvPr id="1216" name="Card text 1216"/>
          <p:cNvSpPr txBox="1"/>
          <p:nvPr/>
        </p:nvSpPr>
        <p:spPr>
          <a:xfrm>
            <a:off x="6367862" y="2017507"/>
            <a:ext cx="2261113" cy="1821815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25"/>
              </a:spcAft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Шаблон — не инструкция</a:t>
            </a:r>
            <a:endParaRPr lang="ru-RU" sz="18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Плейсхолдеры не объясняют, как построить новый слайд</a:t>
            </a:r>
            <a:endParaRPr lang="ru-RU" sz="150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5437276" cy="8229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Verstka создаёт три редактируемые презентации за 2⁠–⁠3 минуты</a:t>
            </a:r>
            <a:endParaRPr/>
          </a:p>
        </p:txBody>
      </p:sp>
      <p:sp>
        <p:nvSpPr>
          <p:cNvPr id="1208" name="Marker 1208"/>
          <p:cNvSpPr/>
          <p:nvPr/>
        </p:nvSpPr>
        <p:spPr>
          <a:xfrm>
            <a:off x="248929" y="145990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09" name="Item 1209"/>
          <p:cNvSpPr txBox="1"/>
          <p:nvPr/>
        </p:nvSpPr>
        <p:spPr>
          <a:xfrm>
            <a:off x="614689" y="1366182"/>
            <a:ext cx="6523525" cy="574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 входе — шаблон и текст — Verstka использует любой шаблон PowerPoint и текст</a:t>
            </a:r>
            <a:endParaRPr lang="ru-RU" sz="1800"/>
          </a:p>
        </p:txBody>
      </p:sp>
      <p:cxnSp>
        <p:nvCxnSpPr>
          <p:cNvPr id="1210" name="Line 1210"/>
          <p:cNvCxnSpPr/>
          <p:nvPr/>
        </p:nvCxnSpPr>
        <p:spPr>
          <a:xfrm>
            <a:off x="614689" y="211167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11" name="Marker 1211"/>
          <p:cNvSpPr/>
          <p:nvPr/>
        </p:nvSpPr>
        <p:spPr>
          <a:xfrm>
            <a:off x="248929" y="237684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2" name="Item 1212"/>
          <p:cNvSpPr txBox="1"/>
          <p:nvPr/>
        </p:nvSpPr>
        <p:spPr>
          <a:xfrm>
            <a:off x="614689" y="2283122"/>
            <a:ext cx="6523525" cy="574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Шаблон — набор правил — палитра, кегли, сетка, поля, логотипы и колонтитулы</a:t>
            </a:r>
            <a:endParaRPr lang="ru-RU" sz="1800"/>
          </a:p>
        </p:txBody>
      </p:sp>
      <p:cxnSp>
        <p:nvCxnSpPr>
          <p:cNvPr id="1213" name="Line 1213"/>
          <p:cNvCxnSpPr/>
          <p:nvPr/>
        </p:nvCxnSpPr>
        <p:spPr>
          <a:xfrm>
            <a:off x="614689" y="302861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14" name="Marker 1214"/>
          <p:cNvSpPr/>
          <p:nvPr/>
        </p:nvSpPr>
        <p:spPr>
          <a:xfrm>
            <a:off x="248929" y="329378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5" name="Item 1215"/>
          <p:cNvSpPr txBox="1"/>
          <p:nvPr/>
        </p:nvSpPr>
        <p:spPr>
          <a:xfrm>
            <a:off x="614689" y="3200062"/>
            <a:ext cx="6523525" cy="5740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 выходе — три редактируемые презентации — три варианта презентации в стиле шаблона</a:t>
            </a:r>
            <a:endParaRPr lang="ru-RU" sz="1800"/>
          </a:p>
        </p:txBody>
      </p:sp>
      <p:sp>
        <p:nvSpPr>
          <p:cNvPr id="1216" name="Conclusion bar 1216"/>
          <p:cNvSpPr/>
          <p:nvPr/>
        </p:nvSpPr>
        <p:spPr>
          <a:xfrm>
            <a:off x="248929" y="4012989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7" name="Conclusion 1217"/>
          <p:cNvSpPr txBox="1"/>
          <p:nvPr/>
        </p:nvSpPr>
        <p:spPr>
          <a:xfrm>
            <a:off x="439429" y="3990129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Из шаблона и текста формируются три варианта презентации</a:t>
            </a:r>
            <a:endParaRPr lang="ru-RU" sz="150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Пять этапов работы агента</a:t>
            </a:r>
            <a:endParaRPr/>
          </a:p>
        </p:txBody>
      </p:sp>
      <p:cxnSp>
        <p:nvCxnSpPr>
          <p:cNvPr id="1241" name="Axis 1241"/>
          <p:cNvCxnSpPr/>
          <p:nvPr/>
        </p:nvCxnSpPr>
        <p:spPr>
          <a:xfrm>
            <a:off x="477529" y="1229022"/>
            <a:ext cx="6994624" cy="0"/>
          </a:xfrm>
          <a:prstGeom prst="line">
            <a:avLst/>
          </a:prstGeom>
          <a:ln w="19050">
            <a:solidFill>
              <a:srgbClr val="0077FF"/>
            </a:solidFill>
          </a:ln>
        </p:spPr>
      </p:cxnSp>
      <p:sp>
        <p:nvSpPr>
          <p:cNvPr id="1242" name="Badge 1242"/>
          <p:cNvSpPr/>
          <p:nvPr/>
        </p:nvSpPr>
        <p:spPr>
          <a:xfrm>
            <a:off x="248929" y="1000422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1</a:t>
            </a:r>
          </a:p>
        </p:txBody>
      </p:sp>
      <p:sp>
        <p:nvSpPr>
          <p:cNvPr id="1243" name="Step 1243"/>
          <p:cNvSpPr txBox="1"/>
          <p:nvPr/>
        </p:nvSpPr>
        <p:spPr>
          <a:xfrm>
            <a:off x="248929" y="1596496"/>
            <a:ext cx="1616983" cy="950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Аналитик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Находит в тексте слайды, ряды данных и просьбы</a:t>
            </a:r>
            <a:endParaRPr lang="ru-RU" sz="1322"/>
          </a:p>
        </p:txBody>
      </p:sp>
      <p:sp>
        <p:nvSpPr>
          <p:cNvPr id="1244" name="Badge 1244"/>
          <p:cNvSpPr/>
          <p:nvPr/>
        </p:nvSpPr>
        <p:spPr>
          <a:xfrm>
            <a:off x="1997585" y="1000422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2</a:t>
            </a:r>
          </a:p>
        </p:txBody>
      </p:sp>
      <p:sp>
        <p:nvSpPr>
          <p:cNvPr id="1245" name="Step 1245"/>
          <p:cNvSpPr txBox="1"/>
          <p:nvPr/>
        </p:nvSpPr>
        <p:spPr>
          <a:xfrm>
            <a:off x="1997585" y="1596496"/>
            <a:ext cx="1616983" cy="950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Дизайнер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Продумывает каждый слайд отдельно</a:t>
            </a:r>
            <a:endParaRPr lang="ru-RU" sz="1322"/>
          </a:p>
        </p:txBody>
      </p:sp>
      <p:sp>
        <p:nvSpPr>
          <p:cNvPr id="1246" name="Badge 1246"/>
          <p:cNvSpPr/>
          <p:nvPr/>
        </p:nvSpPr>
        <p:spPr>
          <a:xfrm>
            <a:off x="3746241" y="1000422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3</a:t>
            </a:r>
          </a:p>
        </p:txBody>
      </p:sp>
      <p:sp>
        <p:nvSpPr>
          <p:cNvPr id="1247" name="Step 1247"/>
          <p:cNvSpPr txBox="1"/>
          <p:nvPr/>
        </p:nvSpPr>
        <p:spPr>
          <a:xfrm>
            <a:off x="3746241" y="1596496"/>
            <a:ext cx="1616983" cy="950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Критик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Сверяет план с текстом и правилами</a:t>
            </a:r>
            <a:endParaRPr lang="ru-RU" sz="1322"/>
          </a:p>
        </p:txBody>
      </p:sp>
      <p:sp>
        <p:nvSpPr>
          <p:cNvPr id="1248" name="Badge 1248"/>
          <p:cNvSpPr/>
          <p:nvPr/>
        </p:nvSpPr>
        <p:spPr>
          <a:xfrm>
            <a:off x="5494897" y="1000422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4</a:t>
            </a:r>
          </a:p>
        </p:txBody>
      </p:sp>
      <p:sp>
        <p:nvSpPr>
          <p:cNvPr id="1249" name="Step 1249"/>
          <p:cNvSpPr txBox="1"/>
          <p:nvPr/>
        </p:nvSpPr>
        <p:spPr>
          <a:xfrm>
            <a:off x="5494897" y="1596496"/>
            <a:ext cx="1616983" cy="950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Компилятор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Проверяет каждое число</a:t>
            </a:r>
            <a:endParaRPr lang="ru-RU" sz="1322"/>
          </a:p>
        </p:txBody>
      </p:sp>
      <p:sp>
        <p:nvSpPr>
          <p:cNvPr id="1250" name="Badge 1250"/>
          <p:cNvSpPr/>
          <p:nvPr/>
        </p:nvSpPr>
        <p:spPr>
          <a:xfrm>
            <a:off x="7243553" y="1000422"/>
            <a:ext cx="457200" cy="457200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txBody>
          <a:bodyPr lIns="0" tIns="0" rIns="0" bIns="0" anchor="ctr" wrap="none"/>
          <a:lstStyle/>
          <a:p>
            <a:pPr algn="ctr"/>
            <a:r>
              <a:rPr lang="ru-RU" sz="1800" b="0" cap="none" spc="0" baseline="0">
                <a:solidFill>
                  <a:srgbClr val="FFFFFF"/>
                </a:solidFill>
                <a:latin typeface="Play"/>
                <a:cs typeface="Play"/>
              </a:rPr>
              <a:t>5</a:t>
            </a:r>
          </a:p>
        </p:txBody>
      </p:sp>
      <p:sp>
        <p:nvSpPr>
          <p:cNvPr id="1251" name="Step 1251"/>
          <p:cNvSpPr txBox="1"/>
          <p:nvPr/>
        </p:nvSpPr>
        <p:spPr>
          <a:xfrm>
            <a:off x="7243553" y="1596496"/>
            <a:ext cx="1616983" cy="9507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727"/>
              </a:spcAft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Вёрстка</a:t>
            </a:r>
            <a:endParaRPr lang="ru-RU" sz="1500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322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Собирает слайды по дизайн-⁠системе шаблона</a:t>
            </a:r>
            <a:endParaRPr lang="ru-RU" sz="1322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Одинаковое содержание, разная подача</a:t>
            </a:r>
            <a:endParaRPr/>
          </a:p>
        </p:txBody>
      </p:sp>
      <p:sp>
        <p:nvSpPr>
          <p:cNvPr id="1226" name="Card 1226"/>
          <p:cNvSpPr/>
          <p:nvPr/>
        </p:nvSpPr>
        <p:spPr>
          <a:xfrm>
            <a:off x="248929" y="1000422"/>
            <a:ext cx="2724231" cy="300569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7" name="Index 1227"/>
          <p:cNvSpPr txBox="1"/>
          <p:nvPr/>
        </p:nvSpPr>
        <p:spPr>
          <a:xfrm>
            <a:off x="480488" y="123198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01</a:t>
            </a:r>
            <a:endParaRPr lang="ru-RU" sz="3600"/>
          </a:p>
        </p:txBody>
      </p:sp>
      <p:sp>
        <p:nvSpPr>
          <p:cNvPr id="1228" name="Card text 1228"/>
          <p:cNvSpPr txBox="1"/>
          <p:nvPr/>
        </p:nvSpPr>
        <p:spPr>
          <a:xfrm>
            <a:off x="480488" y="1834627"/>
            <a:ext cx="2261113" cy="19399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80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Структурный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6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Одна мысль на слайде, строгая сетка</a:t>
            </a:r>
            <a:endParaRPr lang="ru-RU" sz="1600"/>
          </a:p>
        </p:txBody>
      </p:sp>
      <p:sp>
        <p:nvSpPr>
          <p:cNvPr id="1229" name="Card 1229"/>
          <p:cNvSpPr/>
          <p:nvPr/>
        </p:nvSpPr>
        <p:spPr>
          <a:xfrm>
            <a:off x="3192616" y="1000422"/>
            <a:ext cx="2724231" cy="300569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0" name="Index 1230"/>
          <p:cNvSpPr txBox="1"/>
          <p:nvPr/>
        </p:nvSpPr>
        <p:spPr>
          <a:xfrm>
            <a:off x="3424175" y="123198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02</a:t>
            </a:r>
            <a:endParaRPr lang="ru-RU" sz="3600"/>
          </a:p>
        </p:txBody>
      </p:sp>
      <p:sp>
        <p:nvSpPr>
          <p:cNvPr id="1231" name="Card text 1231"/>
          <p:cNvSpPr txBox="1"/>
          <p:nvPr/>
        </p:nvSpPr>
        <p:spPr>
          <a:xfrm>
            <a:off x="3424175" y="1834627"/>
            <a:ext cx="2261113" cy="19399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80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Визуальный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6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Крупные цифры и наглядные схемы</a:t>
            </a:r>
            <a:endParaRPr lang="ru-RU" sz="1600"/>
          </a:p>
        </p:txBody>
      </p:sp>
      <p:sp>
        <p:nvSpPr>
          <p:cNvPr id="1232" name="Card 1232"/>
          <p:cNvSpPr/>
          <p:nvPr/>
        </p:nvSpPr>
        <p:spPr>
          <a:xfrm>
            <a:off x="6136303" y="1000422"/>
            <a:ext cx="2724231" cy="3005696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3" name="Index 1233"/>
          <p:cNvSpPr txBox="1"/>
          <p:nvPr/>
        </p:nvSpPr>
        <p:spPr>
          <a:xfrm>
            <a:off x="6367862" y="123198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03</a:t>
            </a:r>
            <a:endParaRPr lang="ru-RU" sz="3600"/>
          </a:p>
        </p:txBody>
      </p:sp>
      <p:sp>
        <p:nvSpPr>
          <p:cNvPr id="1234" name="Card text 1234"/>
          <p:cNvSpPr txBox="1"/>
          <p:nvPr/>
        </p:nvSpPr>
        <p:spPr>
          <a:xfrm>
            <a:off x="6367862" y="1834627"/>
            <a:ext cx="2261113" cy="1939932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880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Компактный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6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Вывод первой строкой, данные справа</a:t>
            </a:r>
            <a:endParaRPr lang="ru-RU" sz="160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Целостность — самая большая категория проверок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000422"/>
            <a:ext cx="8611607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Проверки, проверок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209273"/>
          <a:ext cx="8611607" cy="2602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Conclusion bar 1210"/>
          <p:cNvSpPr/>
          <p:nvPr/>
        </p:nvSpPr>
        <p:spPr>
          <a:xfrm>
            <a:off x="248929" y="4050672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1" name="Conclusion 1211"/>
          <p:cNvSpPr txBox="1"/>
          <p:nvPr/>
        </p:nvSpPr>
        <p:spPr>
          <a:xfrm>
            <a:off x="439429" y="4027812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Всего проверок: </a:t>
            </a: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41 </a:t>
            </a: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детерминированная и 2 модельные</a:t>
            </a:r>
            <a:endParaRPr lang="ru-RU" sz="150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9 готовых презентаций без лишних чисел</a:t>
            </a:r>
            <a:endParaRPr/>
          </a:p>
        </p:txBody>
      </p:sp>
      <p:sp>
        <p:nvSpPr>
          <p:cNvPr id="1226" name="Card 1226"/>
          <p:cNvSpPr/>
          <p:nvPr/>
        </p:nvSpPr>
        <p:spPr>
          <a:xfrm>
            <a:off x="248929" y="1000422"/>
            <a:ext cx="2724231" cy="2550819"/>
          </a:xfrm>
          <a:prstGeom prst="roundRect">
            <a:avLst>
              <a:gd fmla="val 564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27" name="Figure 1227"/>
          <p:cNvSpPr txBox="1"/>
          <p:nvPr/>
        </p:nvSpPr>
        <p:spPr>
          <a:xfrm>
            <a:off x="484768" y="1069383"/>
            <a:ext cx="2231217" cy="73152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9</a:t>
            </a:r>
            <a:endParaRPr lang="ru-RU" sz="4800"/>
          </a:p>
        </p:txBody>
      </p:sp>
      <p:sp>
        <p:nvSpPr>
          <p:cNvPr id="1228" name="Label 1228"/>
          <p:cNvSpPr txBox="1"/>
          <p:nvPr/>
        </p:nvSpPr>
        <p:spPr>
          <a:xfrm>
            <a:off x="506104" y="1854909"/>
            <a:ext cx="2209881" cy="1439157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Демо-⁠презентаций</a:t>
            </a:r>
            <a:endParaRPr lang="ru-RU" sz="1500"/>
          </a:p>
        </p:txBody>
      </p:sp>
      <p:sp>
        <p:nvSpPr>
          <p:cNvPr id="1229" name="Card 1229"/>
          <p:cNvSpPr/>
          <p:nvPr/>
        </p:nvSpPr>
        <p:spPr>
          <a:xfrm>
            <a:off x="3192616" y="1000422"/>
            <a:ext cx="2724231" cy="2550819"/>
          </a:xfrm>
          <a:prstGeom prst="roundRect">
            <a:avLst>
              <a:gd fmla="val 564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0" name="Figure 1230"/>
          <p:cNvSpPr txBox="1"/>
          <p:nvPr/>
        </p:nvSpPr>
        <p:spPr>
          <a:xfrm>
            <a:off x="3429903" y="1069383"/>
            <a:ext cx="2229769" cy="73152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116</a:t>
            </a: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 → </a:t>
            </a:r>
            <a:r>
              <a:rPr lang="ru-RU" sz="4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123</a:t>
            </a:r>
            <a:endParaRPr lang="ru-RU" sz="4800"/>
          </a:p>
        </p:txBody>
      </p:sp>
      <p:sp>
        <p:nvSpPr>
          <p:cNvPr id="1231" name="Label 1231"/>
          <p:cNvSpPr txBox="1"/>
          <p:nvPr/>
        </p:nvSpPr>
        <p:spPr>
          <a:xfrm>
            <a:off x="3449791" y="1854909"/>
            <a:ext cx="2209881" cy="1439157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Сверенных чисел в каждой</a:t>
            </a:r>
            <a:endParaRPr lang="ru-RU" sz="1500"/>
          </a:p>
        </p:txBody>
      </p:sp>
      <p:sp>
        <p:nvSpPr>
          <p:cNvPr id="1232" name="Card 1232"/>
          <p:cNvSpPr/>
          <p:nvPr/>
        </p:nvSpPr>
        <p:spPr>
          <a:xfrm>
            <a:off x="6136303" y="1000422"/>
            <a:ext cx="2724231" cy="2550819"/>
          </a:xfrm>
          <a:prstGeom prst="roundRect">
            <a:avLst>
              <a:gd fmla="val 564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33" name="Figure 1233"/>
          <p:cNvSpPr txBox="1"/>
          <p:nvPr/>
        </p:nvSpPr>
        <p:spPr>
          <a:xfrm>
            <a:off x="6378238" y="1069383"/>
            <a:ext cx="2225121" cy="731520"/>
          </a:xfrm>
          <a:prstGeom prst="rect">
            <a:avLst/>
          </a:prstGeom>
          <a:noFill/>
        </p:spPr>
        <p:txBody>
          <a:bodyPr wrap="square" lIns="0" tIns="0" rIns="0" bIns="0" anchor="b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48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</a:t>
            </a:r>
            <a:endParaRPr lang="ru-RU" sz="4800"/>
          </a:p>
        </p:txBody>
      </p:sp>
      <p:sp>
        <p:nvSpPr>
          <p:cNvPr id="1234" name="Label 1234"/>
          <p:cNvSpPr txBox="1"/>
          <p:nvPr/>
        </p:nvSpPr>
        <p:spPr>
          <a:xfrm>
            <a:off x="6393478" y="1854909"/>
            <a:ext cx="2209881" cy="1439157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Лишних чисел</a:t>
            </a:r>
            <a:endParaRPr lang="ru-RU" sz="1500"/>
          </a:p>
        </p:txBody>
      </p:sp>
      <p:sp>
        <p:nvSpPr>
          <p:cNvPr id="1235" name="Conclusion bar 1235"/>
          <p:cNvSpPr/>
          <p:nvPr/>
        </p:nvSpPr>
        <p:spPr>
          <a:xfrm>
            <a:off x="248929" y="3790128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6" name="Conclusion 1236"/>
          <p:cNvSpPr txBox="1"/>
          <p:nvPr/>
        </p:nvSpPr>
        <p:spPr>
          <a:xfrm>
            <a:off x="439429" y="3767268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Все цифры проверены дважды — в тексте и в PPTX</a:t>
            </a:r>
            <a:endParaRPr lang="ru-RU" sz="150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87 шаблонов и 99/100 качества</a:t>
            </a:r>
            <a:endParaRPr/>
          </a:p>
        </p:txBody>
      </p:sp>
      <p:graphicFrame>
        <p:nvGraphicFramePr>
          <p:cNvPr id="1208" name="Table"/>
          <p:cNvGraphicFramePr>
            <a:graphicFrameLocks noGrp="1"/>
          </p:cNvGraphicFramePr>
          <p:nvPr/>
        </p:nvGraphicFramePr>
        <p:xfrm>
          <a:off x="248929" y="1000422"/>
          <a:ext cx="6200357" cy="2507456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100178"/>
                <a:gridCol w="3100179"/>
              </a:tblGrid>
              <a:tr h="501491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Показатель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7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rPr>
                        <a:t>Значение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rgbClr val="0077FF"/>
                    </a:solidFill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Чужих шаблонов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87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Качество проверки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99/100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  <a:tr h="668655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 lang="ru-RU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Форматов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 i="0" cap="none" spc="0" baseline="0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</a:rPr>
                        <a:t>12</a:t>
                      </a:r>
                    </a:p>
                  </a:txBody>
                  <a:tcPr marL="133350" marR="133350" marT="57150" marB="5715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 cap="flat" cmpd="sng" algn="ctr">
                      <a:solidFill>
                        <a:srgbClr val="C4C4C4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09" name="Conclusion bar 1209"/>
          <p:cNvSpPr/>
          <p:nvPr/>
        </p:nvSpPr>
        <p:spPr>
          <a:xfrm>
            <a:off x="248929" y="3746765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0" name="Conclusion 1210"/>
          <p:cNvSpPr txBox="1"/>
          <p:nvPr/>
        </p:nvSpPr>
        <p:spPr>
          <a:xfrm>
            <a:off x="439429" y="3723905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Поддержка </a:t>
            </a: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12 </a:t>
            </a: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форматов</a:t>
            </a:r>
            <a:endParaRPr lang="ru-RU" sz="150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Генерация всех шаблонов занимает меньше 5 минут</a:t>
            </a:r>
            <a:endParaRPr/>
          </a:p>
        </p:txBody>
      </p:sp>
      <p:sp>
        <p:nvSpPr>
          <p:cNvPr id="1208" name="Unit 1208"/>
          <p:cNvSpPr txBox="1"/>
          <p:nvPr/>
        </p:nvSpPr>
        <p:spPr>
          <a:xfrm>
            <a:off x="248929" y="1000422"/>
            <a:ext cx="8611607" cy="16256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9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Время генерации шаблонов, секунды</a:t>
            </a:r>
            <a:endParaRPr lang="ru-RU" sz="900"/>
          </a:p>
        </p:txBody>
      </p:sp>
      <p:graphicFrame>
        <p:nvGraphicFramePr>
          <p:cNvPr id="1209" name="Chart 1208"/>
          <p:cNvGraphicFramePr>
            <a:graphicFrameLocks noGrp="1"/>
          </p:cNvGraphicFramePr>
          <p:nvPr/>
        </p:nvGraphicFramePr>
        <p:xfrm>
          <a:off x="248929" y="1209273"/>
          <a:ext cx="8611607" cy="229692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10" name="Conclusion bar 1210"/>
          <p:cNvSpPr/>
          <p:nvPr/>
        </p:nvSpPr>
        <p:spPr>
          <a:xfrm>
            <a:off x="248929" y="3745089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1" name="Conclusion 1211"/>
          <p:cNvSpPr txBox="1"/>
          <p:nvPr/>
        </p:nvSpPr>
        <p:spPr>
          <a:xfrm>
            <a:off x="439429" y="3722229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Все шаблоны укладываются в лимит </a:t>
            </a:r>
            <a:r>
              <a:rPr lang="ru-RU" sz="1500" b="0" cap="none" spc="0" baseline="0" dirty="0">
                <a:solidFill>
                  <a:srgbClr val="005EFF"/>
                </a:solidFill>
                <a:latin typeface="Play"/>
                <a:cs typeface="Play"/>
              </a:rPr>
              <a:t>5 минут</a:t>
            </a: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 с запасом</a:t>
            </a:r>
            <a:endParaRPr lang="ru-RU" sz="150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Три модели с лицензией Apache 2.0</a:t>
            </a:r>
            <a:endParaRPr/>
          </a:p>
        </p:txBody>
      </p:sp>
      <p:sp>
        <p:nvSpPr>
          <p:cNvPr id="1208" name="Card 1208"/>
          <p:cNvSpPr/>
          <p:nvPr/>
        </p:nvSpPr>
        <p:spPr>
          <a:xfrm>
            <a:off x="248929" y="1000422"/>
            <a:ext cx="2724231" cy="2864338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09" name="Index 1209"/>
          <p:cNvSpPr txBox="1"/>
          <p:nvPr/>
        </p:nvSpPr>
        <p:spPr>
          <a:xfrm>
            <a:off x="480488" y="123198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01</a:t>
            </a:r>
            <a:endParaRPr lang="ru-RU" sz="3600"/>
          </a:p>
        </p:txBody>
      </p:sp>
      <p:sp>
        <p:nvSpPr>
          <p:cNvPr id="1210" name="Card text 1210"/>
          <p:cNvSpPr txBox="1"/>
          <p:nvPr/>
        </p:nvSpPr>
        <p:spPr>
          <a:xfrm>
            <a:off x="480488" y="1834627"/>
            <a:ext cx="2261113" cy="179857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236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Qwen3.8-⁠27B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Основная модель, инференс VK, конфиг готов</a:t>
            </a:r>
            <a:endParaRPr lang="ru-RU" sz="1800"/>
          </a:p>
        </p:txBody>
      </p:sp>
      <p:sp>
        <p:nvSpPr>
          <p:cNvPr id="1211" name="Card 1211"/>
          <p:cNvSpPr/>
          <p:nvPr/>
        </p:nvSpPr>
        <p:spPr>
          <a:xfrm>
            <a:off x="3192616" y="1000422"/>
            <a:ext cx="2724231" cy="2864338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2" name="Index 1212"/>
          <p:cNvSpPr txBox="1"/>
          <p:nvPr/>
        </p:nvSpPr>
        <p:spPr>
          <a:xfrm>
            <a:off x="3424175" y="123198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02</a:t>
            </a:r>
            <a:endParaRPr lang="ru-RU" sz="3600"/>
          </a:p>
        </p:txBody>
      </p:sp>
      <p:sp>
        <p:nvSpPr>
          <p:cNvPr id="1213" name="Card text 1213"/>
          <p:cNvSpPr txBox="1"/>
          <p:nvPr/>
        </p:nvSpPr>
        <p:spPr>
          <a:xfrm>
            <a:off x="3424175" y="1834627"/>
            <a:ext cx="2261113" cy="179857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4236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Qwen3-⁠32B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Запасное звено на Cloud.ru</a:t>
            </a:r>
            <a:endParaRPr lang="ru-RU" sz="1800"/>
          </a:p>
        </p:txBody>
      </p:sp>
      <p:sp>
        <p:nvSpPr>
          <p:cNvPr id="1214" name="Card 1214"/>
          <p:cNvSpPr/>
          <p:nvPr/>
        </p:nvSpPr>
        <p:spPr>
          <a:xfrm>
            <a:off x="6136303" y="1000422"/>
            <a:ext cx="2724231" cy="2864338"/>
          </a:xfrm>
          <a:prstGeom prst="roundRect">
            <a:avLst>
              <a:gd fmla="val 5285" name="adj"/>
            </a:avLst>
          </a:prstGeom>
          <a:solidFill>
            <a:srgbClr val="FFFFFF"/>
          </a:solidFill>
          <a:ln>
            <a:noFill/>
          </a:ln>
          <a:effectLst>
            <a:outerShdw blurRad="154305" dist="20574" dir="5400000" algn="t" rotWithShape="0">
              <a:srgbClr val="0B1F44">
                <a:alpha val="9000"/>
              </a:srgbClr>
            </a:outerShdw>
          </a:effectLst>
        </p:spPr>
      </p:sp>
      <p:sp>
        <p:nvSpPr>
          <p:cNvPr id="1215" name="Index 1215"/>
          <p:cNvSpPr txBox="1"/>
          <p:nvPr/>
        </p:nvSpPr>
        <p:spPr>
          <a:xfrm>
            <a:off x="6367862" y="1231981"/>
            <a:ext cx="2261113" cy="54864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3600" b="0" cap="none" spc="0" baseline="0" dirty="0">
                <a:solidFill>
                  <a:srgbClr val="0077FF"/>
                </a:solidFill>
                <a:latin typeface="Play"/>
                <a:cs typeface="Play"/>
              </a:rPr>
              <a:t>03</a:t>
            </a:r>
            <a:endParaRPr lang="ru-RU" sz="3600"/>
          </a:p>
        </p:txBody>
      </p:sp>
      <p:sp>
        <p:nvSpPr>
          <p:cNvPr id="1216" name="Card text 1216"/>
          <p:cNvSpPr txBox="1"/>
          <p:nvPr/>
        </p:nvSpPr>
        <p:spPr>
          <a:xfrm>
            <a:off x="6367862" y="1834627"/>
            <a:ext cx="2261113" cy="1798574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spcAft>
                <a:spcPts val="990"/>
              </a:spcAft>
              <a:buNone/>
            </a:pPr>
            <a:r>
              <a:rPr lang="ru-RU" sz="2705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Gemma 4 и Qwen3-⁠VL</a:t>
            </a:r>
            <a:endParaRPr lang="ru-RU" sz="2705"/>
          </a:p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Два запасных звена цепочки</a:t>
            </a:r>
            <a:endParaRPr lang="ru-RU" sz="1800"/>
          </a:p>
        </p:txBody>
      </p:sp>
      <p:sp>
        <p:nvSpPr>
          <p:cNvPr id="1217" name="Conclusion bar 1217"/>
          <p:cNvSpPr/>
          <p:nvPr/>
        </p:nvSpPr>
        <p:spPr>
          <a:xfrm>
            <a:off x="248929" y="4103647"/>
            <a:ext cx="38100" cy="208280"/>
          </a:xfrm>
          <a:prstGeom prst="rect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18" name="Conclusion 1218"/>
          <p:cNvSpPr txBox="1"/>
          <p:nvPr/>
        </p:nvSpPr>
        <p:spPr>
          <a:xfrm>
            <a:off x="439429" y="4080787"/>
            <a:ext cx="8421107" cy="25400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5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Все модели открыты и готовы к использованию</a:t>
            </a:r>
            <a:endParaRPr lang="ru-RU" sz="150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07" name="Google Shape;1207;p72"/>
          <p:cNvSpPr txBox="1"/>
          <p:nvPr>
            <p:ph type="title"/>
          </p:nvPr>
        </p:nvSpPr>
        <p:spPr>
          <a:xfrm>
            <a:off x="157504" y="286048"/>
            <a:ext cx="7863840" cy="4571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</a:pPr>
            <a:r>
              <a:rPr lang="ru-RU" sz="2400"/>
              <a:t>2 028 автотестов и форматы экспорта</a:t>
            </a:r>
            <a:endParaRPr/>
          </a:p>
        </p:txBody>
      </p:sp>
      <p:sp>
        <p:nvSpPr>
          <p:cNvPr id="1222" name="Marker 1222"/>
          <p:cNvSpPr/>
          <p:nvPr/>
        </p:nvSpPr>
        <p:spPr>
          <a:xfrm>
            <a:off x="248929" y="109414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3" name="Item 1223"/>
          <p:cNvSpPr txBox="1"/>
          <p:nvPr/>
        </p:nvSpPr>
        <p:spPr>
          <a:xfrm>
            <a:off x="614689" y="100042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PPTX с редактируемыми объектами</a:t>
            </a:r>
            <a:endParaRPr lang="ru-RU" sz="1800"/>
          </a:p>
        </p:txBody>
      </p:sp>
      <p:cxnSp>
        <p:nvCxnSpPr>
          <p:cNvPr id="1224" name="Line 1224"/>
          <p:cNvCxnSpPr/>
          <p:nvPr/>
        </p:nvCxnSpPr>
        <p:spPr>
          <a:xfrm>
            <a:off x="614689" y="147159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25" name="Marker 1225"/>
          <p:cNvSpPr/>
          <p:nvPr/>
        </p:nvSpPr>
        <p:spPr>
          <a:xfrm>
            <a:off x="248929" y="173676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6" name="Item 1226"/>
          <p:cNvSpPr txBox="1"/>
          <p:nvPr/>
        </p:nvSpPr>
        <p:spPr>
          <a:xfrm>
            <a:off x="614689" y="164304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PDF и HTML</a:t>
            </a:r>
            <a:endParaRPr lang="ru-RU" sz="1800"/>
          </a:p>
        </p:txBody>
      </p:sp>
      <p:cxnSp>
        <p:nvCxnSpPr>
          <p:cNvPr id="1227" name="Line 1227"/>
          <p:cNvCxnSpPr/>
          <p:nvPr/>
        </p:nvCxnSpPr>
        <p:spPr>
          <a:xfrm>
            <a:off x="614689" y="211421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28" name="Marker 1228"/>
          <p:cNvSpPr/>
          <p:nvPr/>
        </p:nvSpPr>
        <p:spPr>
          <a:xfrm>
            <a:off x="248929" y="237938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29" name="Item 1229"/>
          <p:cNvSpPr txBox="1"/>
          <p:nvPr/>
        </p:nvSpPr>
        <p:spPr>
          <a:xfrm>
            <a:off x="614689" y="228566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Чат с агентом для правок</a:t>
            </a:r>
            <a:endParaRPr lang="ru-RU" sz="1800"/>
          </a:p>
        </p:txBody>
      </p:sp>
      <p:cxnSp>
        <p:nvCxnSpPr>
          <p:cNvPr id="1230" name="Line 1230"/>
          <p:cNvCxnSpPr/>
          <p:nvPr/>
        </p:nvCxnSpPr>
        <p:spPr>
          <a:xfrm>
            <a:off x="614689" y="275683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31" name="Marker 1231"/>
          <p:cNvSpPr/>
          <p:nvPr/>
        </p:nvSpPr>
        <p:spPr>
          <a:xfrm>
            <a:off x="248929" y="302200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2" name="Item 1232"/>
          <p:cNvSpPr txBox="1"/>
          <p:nvPr/>
        </p:nvSpPr>
        <p:spPr>
          <a:xfrm>
            <a:off x="614689" y="292828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Далее: генерация изображений внутри слайдов</a:t>
            </a:r>
            <a:endParaRPr lang="ru-RU" sz="1800"/>
          </a:p>
        </p:txBody>
      </p:sp>
      <p:cxnSp>
        <p:nvCxnSpPr>
          <p:cNvPr id="1233" name="Line 1233"/>
          <p:cNvCxnSpPr/>
          <p:nvPr/>
        </p:nvCxnSpPr>
        <p:spPr>
          <a:xfrm>
            <a:off x="614689" y="3399452"/>
            <a:ext cx="6523525" cy="0"/>
          </a:xfrm>
          <a:prstGeom prst="line">
            <a:avLst/>
          </a:prstGeom>
          <a:ln w="9525">
            <a:solidFill>
              <a:srgbClr val="DDE3EA"/>
            </a:solidFill>
          </a:ln>
        </p:spPr>
      </p:cxnSp>
      <p:sp>
        <p:nvSpPr>
          <p:cNvPr id="1234" name="Marker 1234"/>
          <p:cNvSpPr/>
          <p:nvPr/>
        </p:nvSpPr>
        <p:spPr>
          <a:xfrm>
            <a:off x="248929" y="3664628"/>
            <a:ext cx="86868" cy="86868"/>
          </a:xfrm>
          <a:prstGeom prst="ellipse">
            <a:avLst/>
          </a:prstGeom>
          <a:solidFill>
            <a:srgbClr val="0077FF"/>
          </a:solidFill>
          <a:ln>
            <a:noFill/>
          </a:ln>
        </p:spPr>
      </p:sp>
      <p:sp>
        <p:nvSpPr>
          <p:cNvPr id="1235" name="Item 1235"/>
          <p:cNvSpPr txBox="1"/>
          <p:nvPr/>
        </p:nvSpPr>
        <p:spPr>
          <a:xfrm>
            <a:off x="614689" y="3570902"/>
            <a:ext cx="6523525" cy="299720"/>
          </a:xfrm>
          <a:prstGeom prst="rect">
            <a:avLst/>
          </a:prstGeom>
          <a:noFill/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00000"/>
              </a:lnSpc>
              <a:buNone/>
            </a:pPr>
            <a:r>
              <a:rPr lang="ru-RU" sz="1800" b="0" cap="none" spc="0" baseline="0" dirty="0">
                <a:solidFill>
                  <a:srgbClr val="000000"/>
                </a:solidFill>
                <a:latin typeface="Play"/>
                <a:cs typeface="Play"/>
              </a:rPr>
              <a:t>Переход на инференс VK</a:t>
            </a:r>
            <a:endParaRPr lang="ru-RU" sz="1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