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77"/>
          <c:y val="0.0277"/>
          <c:w val="0.9446"/>
          <c:h val="0.944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фигур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50A2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Свободные фигуры</c:v>
                </c:pt>
                <c:pt idx="1">
                  <c:v>Плейсхолдеры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95.0</c:v>
                </c:pt>
                <c:pt idx="1">
                  <c:v>5.0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381"/>
          <c:y val="0.0151"/>
          <c:w val="0.8106"/>
          <c:h val="0.969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проверок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3"/>
          <c:y val="0.1005"/>
          <c:w val="0.9954"/>
          <c:h val="0.819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унд&quot;;&quot;−&quot;#,##0&quot; секунд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2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Автор быстро пишет текст, но потом часами раскладывает его по фирменному шаблону.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реальных шаблонах 95% фигур — свободные фигуры, и только 5% — плейсхолдеры. Поэтому правила оформления приходится выводить из самих слайдов-образцов: палитру, кегли, сетку, поля, логотипы и колонтитулы.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берёт любой шаблон PowerPoint и текст и собирает три редактируемые презентации в стиле этого шаблона. Шаблон читается как набор правил, а не как набор макетов.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использует открытые модели до 35 миллиардов параметров с лицензией Apache 2.0. Процесс состоит из пяти последовательных шагов: аналитик находит в тексте слайды, ряды данных и просьбы; дизайнер продумывает каждый слайд отдельно; критик сверяет план с текстом и правилами шаблона; компилятор проверяет каждое число; вёрстка собирает слайды по дизайн-системе шаблона.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Содержание слайда не меняется, меняется только подача: структурный вариант — для отчёта и защиты проекта, визуальный — для питча и выступления, компактный — для рассылки руководителю.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 проверок по категориям (12 + 11 + 7 + 6 + 5) составляет 41, что соответствует числу детерминированных проверок. Дополнительно выполняется 2 проверки моделью.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файле PowerPoint. Нужны три крупные цифры: 9 демо-презентаций, от 116 до 123 сверенных чисел в каждой, 0 выдуманных.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презентацию. Сервис принимает 12 форматов, включая pptx, potx, ppt, odp, thmx. Средняя оценка проверки качества составляет 99 из 100.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трёх вариантов на шаблонах датасета: VK Tech — 113 секунд, VK Education — 145 секунд, VK WorkSpace — 175 секунд.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Следующие шаги включают переход на инференс VK с моделью Qwen3.8-27B, добавление генерации изображений внутри слайдов и запуск пилота на шаблонах и сценариях VK Tech.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Оформление съедает часы на каждую презентацию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Index 1227"/>
          <p:cNvSpPr txBox="1"/>
          <p:nvPr/>
        </p:nvSpPr>
        <p:spPr>
          <a:xfrm>
            <a:off x="480488" y="1231981"/>
            <a:ext cx="2261113" cy="304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2000"/>
          </a:p>
        </p:txBody>
      </p:sp>
      <p:sp>
        <p:nvSpPr>
          <p:cNvPr id="1228" name="Card text 1228"/>
          <p:cNvSpPr txBox="1"/>
          <p:nvPr/>
        </p:nvSpPr>
        <p:spPr>
          <a:xfrm>
            <a:off x="480488" y="1590787"/>
            <a:ext cx="2261113" cy="180608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Подбор макета, перемещение блоков и подгонка цветов под фирменный стиль</a:t>
            </a:r>
            <a:endParaRPr lang="ru-RU" sz="1322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Index 1230"/>
          <p:cNvSpPr txBox="1"/>
          <p:nvPr/>
        </p:nvSpPr>
        <p:spPr>
          <a:xfrm>
            <a:off x="3424175" y="1231981"/>
            <a:ext cx="2261113" cy="304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2000"/>
          </a:p>
        </p:txBody>
      </p:sp>
      <p:sp>
        <p:nvSpPr>
          <p:cNvPr id="1231" name="Card text 1231"/>
          <p:cNvSpPr txBox="1"/>
          <p:nvPr/>
        </p:nvSpPr>
        <p:spPr>
          <a:xfrm>
            <a:off x="3424175" y="1590787"/>
            <a:ext cx="2261113" cy="180608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пишут текст, но не воспроизводят дизайн-⁠систему компании</a:t>
            </a:r>
            <a:endParaRPr lang="ru-RU" sz="1322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628013"/>
          </a:xfrm>
          <a:prstGeom prst="roundRect">
            <a:avLst>
              <a:gd fmla="val 5479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Index 1233"/>
          <p:cNvSpPr txBox="1"/>
          <p:nvPr/>
        </p:nvSpPr>
        <p:spPr>
          <a:xfrm>
            <a:off x="6367862" y="1231981"/>
            <a:ext cx="2261113" cy="304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2000"/>
          </a:p>
        </p:txBody>
      </p:sp>
      <p:sp>
        <p:nvSpPr>
          <p:cNvPr id="1234" name="Card text 1234"/>
          <p:cNvSpPr txBox="1"/>
          <p:nvPr/>
        </p:nvSpPr>
        <p:spPr>
          <a:xfrm>
            <a:off x="6367862" y="1590787"/>
            <a:ext cx="2261113" cy="180608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слайдам-⁠образцам не понять, как собрать новый слайд</a:t>
            </a:r>
            <a:endParaRPr lang="ru-RU" sz="1322"/>
          </a:p>
        </p:txBody>
      </p:sp>
      <p:sp>
        <p:nvSpPr>
          <p:cNvPr id="1235" name="Conclusion bar 1235"/>
          <p:cNvSpPr/>
          <p:nvPr/>
        </p:nvSpPr>
        <p:spPr>
          <a:xfrm>
            <a:off x="248929" y="386732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84446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Десятки презентаций рождаются каждую неделю</a:t>
            </a:r>
            <a:endParaRPr lang="ru-RU" sz="15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46643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95% фигур в шаблонах — свободные, не плейсхолдеры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366182"/>
          <a:ext cx="2474864" cy="24748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3162705" y="1994014"/>
            <a:ext cx="2525149" cy="6159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Состав фигур в реальных шаблонах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3162705" y="265568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3409593" y="260996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Свободные фигуры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5208627" y="260996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3162705" y="3004934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8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3409593" y="2959214"/>
            <a:ext cx="179903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5208627" y="2959214"/>
            <a:ext cx="47922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5%</a:t>
            </a:r>
            <a:endParaRPr lang="ru-RU" sz="1500"/>
          </a:p>
        </p:txBody>
      </p:sp>
      <p:cxnSp>
        <p:nvCxnSpPr>
          <p:cNvPr id="1216" name="Line 1216"/>
          <p:cNvCxnSpPr/>
          <p:nvPr/>
        </p:nvCxnSpPr>
        <p:spPr>
          <a:xfrm>
            <a:off x="5979813" y="1784530"/>
            <a:ext cx="0" cy="14947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7" name="Takeaway 1217"/>
          <p:cNvSpPr txBox="1"/>
          <p:nvPr/>
        </p:nvSpPr>
        <p:spPr>
          <a:xfrm>
            <a:off x="6199269" y="1784530"/>
            <a:ext cx="2661267" cy="14947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Правила оформления выводятся из слайдов-⁠образцов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Палитра, кегли, сетка, поля, логотипы, колонтитулы</a:t>
            </a:r>
            <a:endParaRPr lang="ru-RU" sz="1500"/>
          </a:p>
        </p:txBody>
      </p:sp>
      <p:sp>
        <p:nvSpPr>
          <p:cNvPr id="1218" name="Conclusion bar 1218"/>
          <p:cNvSpPr/>
          <p:nvPr/>
        </p:nvSpPr>
        <p:spPr>
          <a:xfrm>
            <a:off x="248929" y="4079933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9" name="Conclusion 1219"/>
          <p:cNvSpPr txBox="1"/>
          <p:nvPr/>
        </p:nvSpPr>
        <p:spPr>
          <a:xfrm>
            <a:off x="439429" y="4057073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Только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5%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фигур — плейсхолдеры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148069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Verstka собирает три презентации из шаблона и текста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24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Любой шаблон PowerPoint и текст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24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Читается как правила, а не макеты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366182"/>
            <a:ext cx="2724231" cy="2247499"/>
          </a:xfrm>
          <a:prstGeom prst="roundRect">
            <a:avLst>
              <a:gd fmla="val 640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24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2017507"/>
            <a:ext cx="2261113" cy="13646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презентации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Три редактируемые презентации в стиле шаблона</a:t>
            </a:r>
            <a:endParaRPr lang="ru-RU" sz="1500"/>
          </a:p>
        </p:txBody>
      </p:sp>
      <p:sp>
        <p:nvSpPr>
          <p:cNvPr id="1217" name="Conclusion bar 1217"/>
          <p:cNvSpPr/>
          <p:nvPr/>
        </p:nvSpPr>
        <p:spPr>
          <a:xfrm>
            <a:off x="248929" y="385256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382970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Презентация в фирменном стиле без ручной вёрстки</a:t>
            </a:r>
            <a:endParaRPr lang="ru-RU"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Как работает агент</a:t>
            </a:r>
            <a:endParaRPr/>
          </a:p>
        </p:txBody>
      </p:sp>
      <p:sp>
        <p:nvSpPr>
          <p:cNvPr id="1208" name="Intro 1208"/>
          <p:cNvSpPr txBox="1"/>
          <p:nvPr/>
        </p:nvSpPr>
        <p:spPr>
          <a:xfrm>
            <a:off x="248929" y="1000422"/>
            <a:ext cx="6717053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Агент работает на открытых моделях до 35 миллиардов параметров с лицензией Apache 2.0</a:t>
            </a:r>
            <a:endParaRPr lang="ru-RU" sz="1500"/>
          </a:p>
        </p:txBody>
      </p:sp>
      <p:cxnSp>
        <p:nvCxnSpPr>
          <p:cNvPr id="1209" name="Axis 1209"/>
          <p:cNvCxnSpPr/>
          <p:nvPr/>
        </p:nvCxnSpPr>
        <p:spPr>
          <a:xfrm>
            <a:off x="477529" y="1881357"/>
            <a:ext cx="6994624" cy="0"/>
          </a:xfrm>
          <a:prstGeom prst="line">
            <a:avLst/>
          </a:prstGeom>
          <a:ln w="19050">
            <a:solidFill>
              <a:srgbClr val="0077FF"/>
            </a:solidFill>
          </a:ln>
        </p:spPr>
      </p:cxnSp>
      <p:sp>
        <p:nvSpPr>
          <p:cNvPr id="1210" name="Badge 1210"/>
          <p:cNvSpPr/>
          <p:nvPr/>
        </p:nvSpPr>
        <p:spPr>
          <a:xfrm>
            <a:off x="248929" y="1652757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11" name="Step 1211"/>
          <p:cNvSpPr txBox="1"/>
          <p:nvPr/>
        </p:nvSpPr>
        <p:spPr>
          <a:xfrm>
            <a:off x="248929" y="2248831"/>
            <a:ext cx="1616983" cy="115223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Находит в тексте слайды, ряды данных и просьбы</a:t>
            </a:r>
            <a:endParaRPr lang="ru-RU" sz="1322"/>
          </a:p>
        </p:txBody>
      </p:sp>
      <p:sp>
        <p:nvSpPr>
          <p:cNvPr id="1212" name="Badge 1212"/>
          <p:cNvSpPr/>
          <p:nvPr/>
        </p:nvSpPr>
        <p:spPr>
          <a:xfrm>
            <a:off x="1997585" y="1652757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13" name="Step 1213"/>
          <p:cNvSpPr txBox="1"/>
          <p:nvPr/>
        </p:nvSpPr>
        <p:spPr>
          <a:xfrm>
            <a:off x="1997585" y="2248831"/>
            <a:ext cx="1616983" cy="115223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Продумывает каждый слайд отдельно</a:t>
            </a:r>
            <a:endParaRPr lang="ru-RU" sz="1322"/>
          </a:p>
        </p:txBody>
      </p:sp>
      <p:sp>
        <p:nvSpPr>
          <p:cNvPr id="1214" name="Badge 1214"/>
          <p:cNvSpPr/>
          <p:nvPr/>
        </p:nvSpPr>
        <p:spPr>
          <a:xfrm>
            <a:off x="3746241" y="1652757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15" name="Step 1215"/>
          <p:cNvSpPr txBox="1"/>
          <p:nvPr/>
        </p:nvSpPr>
        <p:spPr>
          <a:xfrm>
            <a:off x="3746241" y="2248831"/>
            <a:ext cx="1616983" cy="115223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Сверяет план с текстом и правилами шаблона</a:t>
            </a:r>
            <a:endParaRPr lang="ru-RU" sz="1322"/>
          </a:p>
        </p:txBody>
      </p:sp>
      <p:sp>
        <p:nvSpPr>
          <p:cNvPr id="1216" name="Badge 1216"/>
          <p:cNvSpPr/>
          <p:nvPr/>
        </p:nvSpPr>
        <p:spPr>
          <a:xfrm>
            <a:off x="5494897" y="1652757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4</a:t>
            </a:r>
          </a:p>
        </p:txBody>
      </p:sp>
      <p:sp>
        <p:nvSpPr>
          <p:cNvPr id="1217" name="Step 1217"/>
          <p:cNvSpPr txBox="1"/>
          <p:nvPr/>
        </p:nvSpPr>
        <p:spPr>
          <a:xfrm>
            <a:off x="5494897" y="2248831"/>
            <a:ext cx="1616983" cy="115223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Проверяет каждое число</a:t>
            </a:r>
            <a:endParaRPr lang="ru-RU" sz="1322"/>
          </a:p>
        </p:txBody>
      </p:sp>
      <p:sp>
        <p:nvSpPr>
          <p:cNvPr id="1218" name="Badge 1218"/>
          <p:cNvSpPr/>
          <p:nvPr/>
        </p:nvSpPr>
        <p:spPr>
          <a:xfrm>
            <a:off x="7243553" y="1652757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5</a:t>
            </a:r>
          </a:p>
        </p:txBody>
      </p:sp>
      <p:sp>
        <p:nvSpPr>
          <p:cNvPr id="1219" name="Step 1219"/>
          <p:cNvSpPr txBox="1"/>
          <p:nvPr/>
        </p:nvSpPr>
        <p:spPr>
          <a:xfrm>
            <a:off x="7243553" y="2248831"/>
            <a:ext cx="1616983" cy="1152233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Собирает слайды по дизайн-⁠системе шаблона</a:t>
            </a:r>
            <a:endParaRPr lang="ru-RU" sz="1322"/>
          </a:p>
        </p:txBody>
      </p:sp>
      <p:sp>
        <p:nvSpPr>
          <p:cNvPr id="1220" name="Conclusion bar 1220"/>
          <p:cNvSpPr/>
          <p:nvPr/>
        </p:nvSpPr>
        <p:spPr>
          <a:xfrm>
            <a:off x="248929" y="3639951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1" name="Conclusion 1221"/>
          <p:cNvSpPr txBox="1"/>
          <p:nvPr/>
        </p:nvSpPr>
        <p:spPr>
          <a:xfrm>
            <a:off x="439429" y="3617091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Каждый слайд проходит проверку критиком и компилятором перед сборкой</a:t>
            </a:r>
            <a:endParaRPr lang="ru-RU" sz="15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Подача меняется под задачу, содержание — нет</a:t>
            </a:r>
            <a:endParaRPr/>
          </a:p>
        </p:txBody>
      </p:sp>
      <p:sp>
        <p:nvSpPr>
          <p:cNvPr id="1217" name="Card 1217"/>
          <p:cNvSpPr/>
          <p:nvPr/>
        </p:nvSpPr>
        <p:spPr>
          <a:xfrm>
            <a:off x="248929" y="1000422"/>
            <a:ext cx="2724231" cy="300073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8" name="Index 1218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9" name="Card text 1219"/>
          <p:cNvSpPr txBox="1"/>
          <p:nvPr/>
        </p:nvSpPr>
        <p:spPr>
          <a:xfrm>
            <a:off x="480488" y="183462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Структурный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Одна мысль на слайд, строгая сетка. Для отчёта и защиты проекта.</a:t>
            </a:r>
            <a:endParaRPr lang="ru-RU" sz="1800"/>
          </a:p>
        </p:txBody>
      </p:sp>
      <p:sp>
        <p:nvSpPr>
          <p:cNvPr id="1220" name="Card 1220"/>
          <p:cNvSpPr/>
          <p:nvPr/>
        </p:nvSpPr>
        <p:spPr>
          <a:xfrm>
            <a:off x="3192616" y="1000422"/>
            <a:ext cx="2724231" cy="300073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1" name="Index 1221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22" name="Card text 1222"/>
          <p:cNvSpPr txBox="1"/>
          <p:nvPr/>
        </p:nvSpPr>
        <p:spPr>
          <a:xfrm>
            <a:off x="3424175" y="183462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Визуальный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Крупные цифры и наглядные схемы. Для питча и выступления со сцены.</a:t>
            </a:r>
            <a:endParaRPr lang="ru-RU" sz="1800"/>
          </a:p>
        </p:txBody>
      </p:sp>
      <p:sp>
        <p:nvSpPr>
          <p:cNvPr id="1223" name="Card 1223"/>
          <p:cNvSpPr/>
          <p:nvPr/>
        </p:nvSpPr>
        <p:spPr>
          <a:xfrm>
            <a:off x="6136303" y="1000422"/>
            <a:ext cx="2724231" cy="300073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4" name="Index 1224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25" name="Card text 1225"/>
          <p:cNvSpPr txBox="1"/>
          <p:nvPr/>
        </p:nvSpPr>
        <p:spPr>
          <a:xfrm>
            <a:off x="6367862" y="1834627"/>
            <a:ext cx="2261113" cy="193497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Компактный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Вывод первой строкой, данные справа. Для рассылки руководителю.</a:t>
            </a:r>
            <a:endParaRPr lang="ru-RU" sz="18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88843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41 детерминированная и 2 модельные проверки гарантируют качество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Число проверок по категориям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511428" cy="226601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944550"/>
            <a:ext cx="0" cy="103759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944550"/>
            <a:ext cx="2661267" cy="103759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Проблемы помечаются прямо на слайде</a:t>
            </a:r>
            <a:endParaRPr lang="ru-RU" sz="1500"/>
          </a:p>
          <a:p>
            <a:pPr algn="l" marL="209550" indent="-209550">
              <a:lnSpc>
                <a:spcPct val="100000"/>
              </a:lnSpc>
              <a:spcAft>
                <a:spcPts val="77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Исправляются автоматически</a:t>
            </a:r>
            <a:endParaRPr lang="ru-RU" sz="1500"/>
          </a:p>
        </p:txBody>
      </p:sp>
      <p:sp>
        <p:nvSpPr>
          <p:cNvPr id="1212" name="Conclusion bar 1212"/>
          <p:cNvSpPr/>
          <p:nvPr/>
        </p:nvSpPr>
        <p:spPr>
          <a:xfrm>
            <a:off x="248929" y="4079933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4057073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Каждое число проверяется дважды: до вёрстки и в готовом файле</a:t>
            </a:r>
            <a:endParaRPr lang="ru-RU" sz="15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Каждое число плана сверяется с текстом до вёрстки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95436" y="1116436"/>
            <a:ext cx="222054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</a:t>
            </a:r>
            <a:endParaRPr lang="ru-RU" sz="36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Демо-⁠презентаций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16263" y="1116436"/>
            <a:ext cx="224340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116⁠–⁠123</a:t>
            </a:r>
            <a:endParaRPr lang="ru-RU" sz="36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Сверенных чисел в каждой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333496"/>
          </a:xfrm>
          <a:prstGeom prst="roundRect">
            <a:avLst>
              <a:gd fmla="val 61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87382" y="1116436"/>
            <a:ext cx="2215977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</a:t>
            </a:r>
            <a:endParaRPr lang="ru-RU" sz="36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1719082"/>
            <a:ext cx="2209881" cy="1357661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Выдуманных чисел</a:t>
            </a:r>
            <a:endParaRPr lang="ru-RU" sz="1500"/>
          </a:p>
        </p:txBody>
      </p:sp>
      <p:sp>
        <p:nvSpPr>
          <p:cNvPr id="1235" name="Conclusion bar 1235"/>
          <p:cNvSpPr/>
          <p:nvPr/>
        </p:nvSpPr>
        <p:spPr>
          <a:xfrm>
            <a:off x="248929" y="3572805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549945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Два этапа проверки: до вёрстки и в готовом файле</a:t>
            </a:r>
            <a:endParaRPr lang="ru-RU" sz="15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534951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Сервис работает с 87 чужими шаблонами и 12 форматами</a:t>
            </a:r>
            <a:endParaRPr/>
          </a:p>
        </p:txBody>
      </p:sp>
      <p:sp>
        <p:nvSpPr>
          <p:cNvPr id="1208" name="Marker 1208"/>
          <p:cNvSpPr/>
          <p:nvPr/>
        </p:nvSpPr>
        <p:spPr>
          <a:xfrm>
            <a:off x="248929" y="14442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Item 1209"/>
          <p:cNvSpPr txBox="1"/>
          <p:nvPr/>
        </p:nvSpPr>
        <p:spPr>
          <a:xfrm>
            <a:off x="553729" y="13661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Чужих шаблонов: 87</a:t>
            </a:r>
            <a:endParaRPr lang="ru-RU" sz="1500"/>
          </a:p>
        </p:txBody>
      </p:sp>
      <p:cxnSp>
        <p:nvCxnSpPr>
          <p:cNvPr id="1210" name="Line 1210"/>
          <p:cNvCxnSpPr/>
          <p:nvPr/>
        </p:nvCxnSpPr>
        <p:spPr>
          <a:xfrm>
            <a:off x="553729" y="176305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1" name="Marker 1211"/>
          <p:cNvSpPr/>
          <p:nvPr/>
        </p:nvSpPr>
        <p:spPr>
          <a:xfrm>
            <a:off x="248929" y="198403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Item 1212"/>
          <p:cNvSpPr txBox="1"/>
          <p:nvPr/>
        </p:nvSpPr>
        <p:spPr>
          <a:xfrm>
            <a:off x="553729" y="190593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оценка качества: 99 из 100</a:t>
            </a:r>
            <a:endParaRPr lang="ru-RU" sz="1500"/>
          </a:p>
        </p:txBody>
      </p:sp>
      <p:cxnSp>
        <p:nvCxnSpPr>
          <p:cNvPr id="1213" name="Line 1213"/>
          <p:cNvCxnSpPr/>
          <p:nvPr/>
        </p:nvCxnSpPr>
        <p:spPr>
          <a:xfrm>
            <a:off x="553729" y="230280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4" name="Marker 1214"/>
          <p:cNvSpPr/>
          <p:nvPr/>
        </p:nvSpPr>
        <p:spPr>
          <a:xfrm>
            <a:off x="248929" y="25237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5" name="Item 1215"/>
          <p:cNvSpPr txBox="1"/>
          <p:nvPr/>
        </p:nvSpPr>
        <p:spPr>
          <a:xfrm>
            <a:off x="553729" y="24456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Поддерживаемых форматов: 12</a:t>
            </a:r>
            <a:endParaRPr lang="ru-RU" sz="1500"/>
          </a:p>
        </p:txBody>
      </p:sp>
      <p:cxnSp>
        <p:nvCxnSpPr>
          <p:cNvPr id="1216" name="Line 1216"/>
          <p:cNvCxnSpPr/>
          <p:nvPr/>
        </p:nvCxnSpPr>
        <p:spPr>
          <a:xfrm>
            <a:off x="553729" y="284255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7" name="Marker 1217"/>
          <p:cNvSpPr/>
          <p:nvPr/>
        </p:nvSpPr>
        <p:spPr>
          <a:xfrm>
            <a:off x="248929" y="306353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Item 1218"/>
          <p:cNvSpPr txBox="1"/>
          <p:nvPr/>
        </p:nvSpPr>
        <p:spPr>
          <a:xfrm>
            <a:off x="553729" y="298543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261 презентация в регрессионном корпусе</a:t>
            </a:r>
            <a:endParaRPr lang="ru-RU" sz="1500"/>
          </a:p>
        </p:txBody>
      </p:sp>
      <p:cxnSp>
        <p:nvCxnSpPr>
          <p:cNvPr id="1219" name="Line 1219"/>
          <p:cNvCxnSpPr/>
          <p:nvPr/>
        </p:nvCxnSpPr>
        <p:spPr>
          <a:xfrm>
            <a:off x="553729" y="3382307"/>
            <a:ext cx="658448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0" name="Marker 1220"/>
          <p:cNvSpPr/>
          <p:nvPr/>
        </p:nvSpPr>
        <p:spPr>
          <a:xfrm>
            <a:off x="248929" y="3603287"/>
            <a:ext cx="72390" cy="7239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1" name="Item 1221"/>
          <p:cNvSpPr txBox="1"/>
          <p:nvPr/>
        </p:nvSpPr>
        <p:spPr>
          <a:xfrm>
            <a:off x="553729" y="3525182"/>
            <a:ext cx="658448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Форматы: pptx, potx, ppt, odp, thmx</a:t>
            </a:r>
            <a:endParaRPr lang="ru-RU"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трёх вариантов занимает до 175 секунд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511428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трёх вариантов, секунд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511428" cy="2602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210" name="Line 1210"/>
          <p:cNvCxnSpPr/>
          <p:nvPr/>
        </p:nvCxnSpPr>
        <p:spPr>
          <a:xfrm>
            <a:off x="5979813" y="1981062"/>
            <a:ext cx="0" cy="25400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1" name="Takeaway 1211"/>
          <p:cNvSpPr txBox="1"/>
          <p:nvPr/>
        </p:nvSpPr>
        <p:spPr>
          <a:xfrm>
            <a:off x="6199269" y="1981062"/>
            <a:ext cx="266126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70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Лимит времени — 5 минут</a:t>
            </a:r>
            <a:endParaRPr lang="ru-RU" sz="1500"/>
          </a:p>
        </p:txBody>
      </p:sp>
      <p:sp>
        <p:nvSpPr>
          <p:cNvPr id="1212" name="Conclusion bar 1212"/>
          <p:cNvSpPr/>
          <p:nvPr/>
        </p:nvSpPr>
        <p:spPr>
          <a:xfrm>
            <a:off x="248929" y="405067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402781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шага после финала</a:t>
            </a:r>
            <a:endParaRPr/>
          </a:p>
        </p:txBody>
      </p:sp>
      <p:cxnSp>
        <p:nvCxnSpPr>
          <p:cNvPr id="1229" name="Axis 1229"/>
          <p:cNvCxnSpPr/>
          <p:nvPr/>
        </p:nvCxnSpPr>
        <p:spPr>
          <a:xfrm>
            <a:off x="477529" y="1229022"/>
            <a:ext cx="5887374" cy="0"/>
          </a:xfrm>
          <a:prstGeom prst="line">
            <a:avLst/>
          </a:prstGeom>
          <a:ln w="19050">
            <a:solidFill>
              <a:srgbClr val="0077FF"/>
            </a:solidFill>
          </a:ln>
        </p:spPr>
      </p:cxnSp>
      <p:sp>
        <p:nvSpPr>
          <p:cNvPr id="1230" name="Badge 1230"/>
          <p:cNvSpPr/>
          <p:nvPr/>
        </p:nvSpPr>
        <p:spPr>
          <a:xfrm>
            <a:off x="248929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31" name="Step 1231"/>
          <p:cNvSpPr txBox="1"/>
          <p:nvPr/>
        </p:nvSpPr>
        <p:spPr>
          <a:xfrm>
            <a:off x="248929" y="1596496"/>
            <a:ext cx="2724231" cy="12499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Модель Qwen3.8-⁠27B</a:t>
            </a:r>
            <a:endParaRPr lang="ru-RU" sz="1800"/>
          </a:p>
        </p:txBody>
      </p:sp>
      <p:sp>
        <p:nvSpPr>
          <p:cNvPr id="1232" name="Badge 1232"/>
          <p:cNvSpPr/>
          <p:nvPr/>
        </p:nvSpPr>
        <p:spPr>
          <a:xfrm>
            <a:off x="3192616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33" name="Step 1233"/>
          <p:cNvSpPr txBox="1"/>
          <p:nvPr/>
        </p:nvSpPr>
        <p:spPr>
          <a:xfrm>
            <a:off x="3192616" y="1596496"/>
            <a:ext cx="2724231" cy="12499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Генерация изображений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Внутри слайдов</a:t>
            </a:r>
            <a:endParaRPr lang="ru-RU" sz="1800"/>
          </a:p>
        </p:txBody>
      </p:sp>
      <p:sp>
        <p:nvSpPr>
          <p:cNvPr id="1234" name="Badge 1234"/>
          <p:cNvSpPr/>
          <p:nvPr/>
        </p:nvSpPr>
        <p:spPr>
          <a:xfrm>
            <a:off x="6136303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35" name="Step 1235"/>
          <p:cNvSpPr txBox="1"/>
          <p:nvPr/>
        </p:nvSpPr>
        <p:spPr>
          <a:xfrm>
            <a:off x="6136303" y="1596496"/>
            <a:ext cx="2724231" cy="124993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Пилот на шаблонах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Сценарии VK Tech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