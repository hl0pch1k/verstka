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451"/>
          <c:y val="0.0114"/>
          <c:w val="0.8009"/>
          <c:h val="0.9772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24"/>
          <c:y val="0.0870"/>
          <c:w val="0.9952"/>
          <c:h val="0.843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&quot;;&quot;−&quot;#,##0&quot; с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3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Подготовка презентации занимает часы, а иногда и дни, и большая часть времени уходит не на содержание, а на оформление. Основные проблемы: ручная вёрстка, ИИ, который не воспроизводит стиль компании, и шаблоны, которые не объясняют, как построить новый слайд.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интерпретирует шаблон как набор дизайнерских правил и применяет их к тексту, создавая три редактируемые презентации за 2–3 минуты.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работает по пяти этапам: аналитик находит слайды и данные, дизайнер разрабатывает каждый слайд, критик проверяет соответствие тексту и правилам, компилятор проверяет числа, вёрстка собирает слайды по шаблону.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Одинаковое содержание, разная подача. Нужны три карточки: «Структурный» — одна мысль на слайд и строгая сетка; «Визуальный» — крупные цифры и наглядные схемы; «Компактный» — вывод первой строкой, текст слева, данные справа.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Наибольшее число проверок приходится на категорию «Целостность» — 12 проверок. Всего выполнено 41 детерминированная и 2 модельные проверки.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сверяется с текстом до вёрстки и ещё раз в готовом PPTX.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включает 87 чужих шаблонов и 261 презентацию на них. Средняя оценка проверки качества по корпусу — 99 из 100. Сервис поддерживает 12 форматов: pptx, potx, ppt, odp, thmx и другие.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минут: VK Tech — 113 секунд, VK Education — 145 секунд, VK WorkSpace — 175 секунд.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слайде представлены три модели с лицензией Apache 2.0. Основная модель — Qwen3.8-27B, инференс VK, конфиг готов. Запасное звено — Qwen3-32B на Cloud.ru. Дополнительные запасные звенья — Gemma 4 и Qwen3-VL.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данном этапе Verstka предлагает 2 028 автотестов и поддерживает форматы PPTX, PDF и HTML. Дополнительно реализован чат с агентом для правок. В будущем планируется внедрение генерации изображений внутри слайдов и переход на инференс VK.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75563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Оформление отнимает больше времени, чем содержание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366182"/>
            <a:ext cx="2724231" cy="2359290"/>
          </a:xfrm>
          <a:prstGeom prst="roundRect">
            <a:avLst>
              <a:gd fmla="val 610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Rule 1209"/>
          <p:cNvSpPr/>
          <p:nvPr/>
        </p:nvSpPr>
        <p:spPr>
          <a:xfrm>
            <a:off x="439625" y="155687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0" name="Column title 1210"/>
          <p:cNvSpPr txBox="1"/>
          <p:nvPr/>
        </p:nvSpPr>
        <p:spPr>
          <a:xfrm>
            <a:off x="439625" y="1687561"/>
            <a:ext cx="2342839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1800"/>
          </a:p>
        </p:txBody>
      </p:sp>
      <p:sp>
        <p:nvSpPr>
          <p:cNvPr id="1211" name="Column 1211"/>
          <p:cNvSpPr txBox="1"/>
          <p:nvPr/>
        </p:nvSpPr>
        <p:spPr>
          <a:xfrm>
            <a:off x="439625" y="2366376"/>
            <a:ext cx="2342839" cy="116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Подобрать макет, подвинуть блоки, подогнать цвета под фирменный стиль</a:t>
            </a:r>
            <a:endParaRPr lang="ru-RU" sz="1500"/>
          </a:p>
        </p:txBody>
      </p:sp>
      <p:sp>
        <p:nvSpPr>
          <p:cNvPr id="1212" name="Card 1212"/>
          <p:cNvSpPr/>
          <p:nvPr/>
        </p:nvSpPr>
        <p:spPr>
          <a:xfrm>
            <a:off x="3192616" y="1366182"/>
            <a:ext cx="2724231" cy="2359290"/>
          </a:xfrm>
          <a:prstGeom prst="roundRect">
            <a:avLst>
              <a:gd fmla="val 610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3" name="Rule 1213"/>
          <p:cNvSpPr/>
          <p:nvPr/>
        </p:nvSpPr>
        <p:spPr>
          <a:xfrm>
            <a:off x="3383312" y="155687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4" name="Column title 1214"/>
          <p:cNvSpPr txBox="1"/>
          <p:nvPr/>
        </p:nvSpPr>
        <p:spPr>
          <a:xfrm>
            <a:off x="3383312" y="1687561"/>
            <a:ext cx="2342839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1800"/>
          </a:p>
        </p:txBody>
      </p:sp>
      <p:sp>
        <p:nvSpPr>
          <p:cNvPr id="1215" name="Column 1215"/>
          <p:cNvSpPr txBox="1"/>
          <p:nvPr/>
        </p:nvSpPr>
        <p:spPr>
          <a:xfrm>
            <a:off x="3383312" y="2366376"/>
            <a:ext cx="2342839" cy="116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неплохо пишут текст, но не воспроизводят дизайн-⁠систему компании</a:t>
            </a:r>
            <a:endParaRPr lang="ru-RU" sz="1500"/>
          </a:p>
        </p:txBody>
      </p:sp>
      <p:sp>
        <p:nvSpPr>
          <p:cNvPr id="1216" name="Card 1216"/>
          <p:cNvSpPr/>
          <p:nvPr/>
        </p:nvSpPr>
        <p:spPr>
          <a:xfrm>
            <a:off x="6136303" y="1366182"/>
            <a:ext cx="2724231" cy="2359290"/>
          </a:xfrm>
          <a:prstGeom prst="roundRect">
            <a:avLst>
              <a:gd fmla="val 610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7" name="Rule 1217"/>
          <p:cNvSpPr/>
          <p:nvPr/>
        </p:nvSpPr>
        <p:spPr>
          <a:xfrm>
            <a:off x="6326999" y="155687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lumn title 1218"/>
          <p:cNvSpPr txBox="1"/>
          <p:nvPr/>
        </p:nvSpPr>
        <p:spPr>
          <a:xfrm>
            <a:off x="6326999" y="1687561"/>
            <a:ext cx="2342839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1800"/>
          </a:p>
        </p:txBody>
      </p:sp>
      <p:sp>
        <p:nvSpPr>
          <p:cNvPr id="1219" name="Column 1219"/>
          <p:cNvSpPr txBox="1"/>
          <p:nvPr/>
        </p:nvSpPr>
        <p:spPr>
          <a:xfrm>
            <a:off x="6326999" y="2366376"/>
            <a:ext cx="2342839" cy="11684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 не объясняют, как построить новый слайд</a:t>
            </a:r>
            <a:endParaRPr lang="ru-RU" sz="15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437276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Verstka создаёт три редактируемые презентации за 2⁠–⁠3 минуты</a:t>
            </a:r>
            <a:endParaRPr/>
          </a:p>
        </p:txBody>
      </p:sp>
      <p:sp>
        <p:nvSpPr>
          <p:cNvPr id="1208" name="Conclusion bar 1208"/>
          <p:cNvSpPr/>
          <p:nvPr/>
        </p:nvSpPr>
        <p:spPr>
          <a:xfrm>
            <a:off x="248929" y="138904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09" name="Conclusion 1209"/>
          <p:cNvSpPr txBox="1"/>
          <p:nvPr/>
        </p:nvSpPr>
        <p:spPr>
          <a:xfrm>
            <a:off x="439429" y="136618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Из шаблона и текста формируются три варианта презентации</a:t>
            </a:r>
            <a:endParaRPr lang="ru-RU" sz="1500"/>
          </a:p>
        </p:txBody>
      </p:sp>
      <p:sp>
        <p:nvSpPr>
          <p:cNvPr id="1210" name="Card 1210"/>
          <p:cNvSpPr/>
          <p:nvPr/>
        </p:nvSpPr>
        <p:spPr>
          <a:xfrm>
            <a:off x="248929" y="1805348"/>
            <a:ext cx="2724231" cy="2176410"/>
          </a:xfrm>
          <a:prstGeom prst="roundRect">
            <a:avLst>
              <a:gd fmla="val 661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1" name="Rule 1211"/>
          <p:cNvSpPr/>
          <p:nvPr/>
        </p:nvSpPr>
        <p:spPr>
          <a:xfrm>
            <a:off x="439625" y="199604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2" name="Column title 1212"/>
          <p:cNvSpPr txBox="1"/>
          <p:nvPr/>
        </p:nvSpPr>
        <p:spPr>
          <a:xfrm>
            <a:off x="439625" y="2126727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</a:t>
            </a:r>
            <a:endParaRPr lang="ru-RU" sz="1800"/>
          </a:p>
        </p:txBody>
      </p:sp>
      <p:sp>
        <p:nvSpPr>
          <p:cNvPr id="1213" name="Column 1213"/>
          <p:cNvSpPr txBox="1"/>
          <p:nvPr/>
        </p:nvSpPr>
        <p:spPr>
          <a:xfrm>
            <a:off x="439625" y="3079862"/>
            <a:ext cx="234283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Verstka использует любой шаблон PowerPoint и текст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3192616" y="1805348"/>
            <a:ext cx="2724231" cy="2176410"/>
          </a:xfrm>
          <a:prstGeom prst="roundRect">
            <a:avLst>
              <a:gd fmla="val 661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Rule 1215"/>
          <p:cNvSpPr/>
          <p:nvPr/>
        </p:nvSpPr>
        <p:spPr>
          <a:xfrm>
            <a:off x="3383312" y="199604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6" name="Column title 1216"/>
          <p:cNvSpPr txBox="1"/>
          <p:nvPr/>
        </p:nvSpPr>
        <p:spPr>
          <a:xfrm>
            <a:off x="3383312" y="2126727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</a:t>
            </a:r>
            <a:endParaRPr lang="ru-RU" sz="1800"/>
          </a:p>
        </p:txBody>
      </p:sp>
      <p:sp>
        <p:nvSpPr>
          <p:cNvPr id="1217" name="Column 1217"/>
          <p:cNvSpPr txBox="1"/>
          <p:nvPr/>
        </p:nvSpPr>
        <p:spPr>
          <a:xfrm>
            <a:off x="3383312" y="3079862"/>
            <a:ext cx="234283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Палитра, кегли, сетка, поля, логотипы и колонтитулы</a:t>
            </a:r>
            <a:endParaRPr lang="ru-RU" sz="1500"/>
          </a:p>
        </p:txBody>
      </p:sp>
      <p:sp>
        <p:nvSpPr>
          <p:cNvPr id="1218" name="Card 1218"/>
          <p:cNvSpPr/>
          <p:nvPr/>
        </p:nvSpPr>
        <p:spPr>
          <a:xfrm>
            <a:off x="6136303" y="1805348"/>
            <a:ext cx="2724231" cy="2176410"/>
          </a:xfrm>
          <a:prstGeom prst="roundRect">
            <a:avLst>
              <a:gd fmla="val 6616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9" name="Rule 1219"/>
          <p:cNvSpPr/>
          <p:nvPr/>
        </p:nvSpPr>
        <p:spPr>
          <a:xfrm>
            <a:off x="6326999" y="199604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0" name="Column title 1220"/>
          <p:cNvSpPr txBox="1"/>
          <p:nvPr/>
        </p:nvSpPr>
        <p:spPr>
          <a:xfrm>
            <a:off x="6326999" y="2126727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редактируемые презентации</a:t>
            </a:r>
            <a:endParaRPr lang="ru-RU" sz="1800"/>
          </a:p>
        </p:txBody>
      </p:sp>
      <p:sp>
        <p:nvSpPr>
          <p:cNvPr id="1221" name="Column 1221"/>
          <p:cNvSpPr txBox="1"/>
          <p:nvPr/>
        </p:nvSpPr>
        <p:spPr>
          <a:xfrm>
            <a:off x="6326999" y="3079862"/>
            <a:ext cx="2342839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09550" indent="-20955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Три варианта презентации в стиле шаблона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Пять этапов работы агента</a:t>
            </a:r>
            <a:endParaRPr/>
          </a:p>
        </p:txBody>
      </p:sp>
      <p:sp>
        <p:nvSpPr>
          <p:cNvPr id="1222" name="Marker 1222"/>
          <p:cNvSpPr/>
          <p:nvPr/>
        </p:nvSpPr>
        <p:spPr>
          <a:xfrm>
            <a:off x="248929" y="10941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3" name="Item 1223"/>
          <p:cNvSpPr txBox="1"/>
          <p:nvPr/>
        </p:nvSpPr>
        <p:spPr>
          <a:xfrm>
            <a:off x="614689" y="100042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 — находит в тексте слайды, ряды данных и просьбы</a:t>
            </a:r>
            <a:endParaRPr lang="ru-RU" sz="1800"/>
          </a:p>
        </p:txBody>
      </p:sp>
      <p:cxnSp>
        <p:nvCxnSpPr>
          <p:cNvPr id="1224" name="Line 1224"/>
          <p:cNvCxnSpPr/>
          <p:nvPr/>
        </p:nvCxnSpPr>
        <p:spPr>
          <a:xfrm>
            <a:off x="614689" y="174591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5" name="Marker 1225"/>
          <p:cNvSpPr/>
          <p:nvPr/>
        </p:nvSpPr>
        <p:spPr>
          <a:xfrm>
            <a:off x="248929" y="20110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6" name="Item 1226"/>
          <p:cNvSpPr txBox="1"/>
          <p:nvPr/>
        </p:nvSpPr>
        <p:spPr>
          <a:xfrm>
            <a:off x="614689" y="191736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 — продумывает каждый слайд отдельно</a:t>
            </a:r>
            <a:endParaRPr lang="ru-RU" sz="1800"/>
          </a:p>
        </p:txBody>
      </p:sp>
      <p:cxnSp>
        <p:nvCxnSpPr>
          <p:cNvPr id="1227" name="Line 1227"/>
          <p:cNvCxnSpPr/>
          <p:nvPr/>
        </p:nvCxnSpPr>
        <p:spPr>
          <a:xfrm>
            <a:off x="614689" y="238853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8" name="Marker 1228"/>
          <p:cNvSpPr/>
          <p:nvPr/>
        </p:nvSpPr>
        <p:spPr>
          <a:xfrm>
            <a:off x="248929" y="26537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9" name="Item 1229"/>
          <p:cNvSpPr txBox="1"/>
          <p:nvPr/>
        </p:nvSpPr>
        <p:spPr>
          <a:xfrm>
            <a:off x="614689" y="255998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 — сверяет план с текстом и правилами</a:t>
            </a:r>
            <a:endParaRPr lang="ru-RU" sz="1800"/>
          </a:p>
        </p:txBody>
      </p:sp>
      <p:cxnSp>
        <p:nvCxnSpPr>
          <p:cNvPr id="1230" name="Line 1230"/>
          <p:cNvCxnSpPr/>
          <p:nvPr/>
        </p:nvCxnSpPr>
        <p:spPr>
          <a:xfrm>
            <a:off x="614689" y="303115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1" name="Marker 1231"/>
          <p:cNvSpPr/>
          <p:nvPr/>
        </p:nvSpPr>
        <p:spPr>
          <a:xfrm>
            <a:off x="248929" y="329632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2" name="Item 1232"/>
          <p:cNvSpPr txBox="1"/>
          <p:nvPr/>
        </p:nvSpPr>
        <p:spPr>
          <a:xfrm>
            <a:off x="614689" y="320260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 — проверяет каждое число</a:t>
            </a:r>
            <a:endParaRPr lang="ru-RU" sz="1800"/>
          </a:p>
        </p:txBody>
      </p:sp>
      <p:cxnSp>
        <p:nvCxnSpPr>
          <p:cNvPr id="1233" name="Line 1233"/>
          <p:cNvCxnSpPr/>
          <p:nvPr/>
        </p:nvCxnSpPr>
        <p:spPr>
          <a:xfrm>
            <a:off x="614689" y="367377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4" name="Marker 1234"/>
          <p:cNvSpPr/>
          <p:nvPr/>
        </p:nvSpPr>
        <p:spPr>
          <a:xfrm>
            <a:off x="248929" y="39389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5" name="Item 1235"/>
          <p:cNvSpPr txBox="1"/>
          <p:nvPr/>
        </p:nvSpPr>
        <p:spPr>
          <a:xfrm>
            <a:off x="614689" y="384522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 — собирает слайды по дизайн-⁠системе шаблона</a:t>
            </a:r>
            <a:endParaRPr lang="ru-RU" sz="18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Одинаковое содержание, разная подача</a:t>
            </a:r>
            <a:endParaRPr/>
          </a:p>
        </p:txBody>
      </p:sp>
      <p:sp>
        <p:nvSpPr>
          <p:cNvPr id="1232" name="Card 1232"/>
          <p:cNvSpPr/>
          <p:nvPr/>
        </p:nvSpPr>
        <p:spPr>
          <a:xfrm>
            <a:off x="248929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Rule 1233"/>
          <p:cNvSpPr/>
          <p:nvPr/>
        </p:nvSpPr>
        <p:spPr>
          <a:xfrm>
            <a:off x="439625" y="119111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4" name="Column title 1234"/>
          <p:cNvSpPr txBox="1"/>
          <p:nvPr/>
        </p:nvSpPr>
        <p:spPr>
          <a:xfrm>
            <a:off x="439625" y="1321801"/>
            <a:ext cx="2342839" cy="4376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Структурный</a:t>
            </a:r>
            <a:endParaRPr lang="ru-RU" sz="2705"/>
          </a:p>
        </p:txBody>
      </p:sp>
      <p:sp>
        <p:nvSpPr>
          <p:cNvPr id="1235" name="Column 1235"/>
          <p:cNvSpPr txBox="1"/>
          <p:nvPr/>
        </p:nvSpPr>
        <p:spPr>
          <a:xfrm>
            <a:off x="439625" y="1885173"/>
            <a:ext cx="2342839" cy="19302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Одна мысль на слайде, строгая сетка</a:t>
            </a:r>
            <a:endParaRPr lang="ru-RU" sz="1800"/>
          </a:p>
        </p:txBody>
      </p:sp>
      <p:sp>
        <p:nvSpPr>
          <p:cNvPr id="1236" name="Card 1236"/>
          <p:cNvSpPr/>
          <p:nvPr/>
        </p:nvSpPr>
        <p:spPr>
          <a:xfrm>
            <a:off x="3192616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7" name="Rule 1237"/>
          <p:cNvSpPr/>
          <p:nvPr/>
        </p:nvSpPr>
        <p:spPr>
          <a:xfrm>
            <a:off x="3383312" y="119111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8" name="Column title 1238"/>
          <p:cNvSpPr txBox="1"/>
          <p:nvPr/>
        </p:nvSpPr>
        <p:spPr>
          <a:xfrm>
            <a:off x="3383312" y="1321801"/>
            <a:ext cx="2342839" cy="4376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Визуальный</a:t>
            </a:r>
            <a:endParaRPr lang="ru-RU" sz="2705"/>
          </a:p>
        </p:txBody>
      </p:sp>
      <p:sp>
        <p:nvSpPr>
          <p:cNvPr id="1239" name="Column 1239"/>
          <p:cNvSpPr txBox="1"/>
          <p:nvPr/>
        </p:nvSpPr>
        <p:spPr>
          <a:xfrm>
            <a:off x="3383312" y="1885173"/>
            <a:ext cx="2342839" cy="19302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Крупные цифры и наглядные схемы</a:t>
            </a:r>
            <a:endParaRPr lang="ru-RU" sz="1800"/>
          </a:p>
        </p:txBody>
      </p:sp>
      <p:sp>
        <p:nvSpPr>
          <p:cNvPr id="1240" name="Card 1240"/>
          <p:cNvSpPr/>
          <p:nvPr/>
        </p:nvSpPr>
        <p:spPr>
          <a:xfrm>
            <a:off x="6136303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41" name="Rule 1241"/>
          <p:cNvSpPr/>
          <p:nvPr/>
        </p:nvSpPr>
        <p:spPr>
          <a:xfrm>
            <a:off x="6326999" y="1191118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42" name="Column title 1242"/>
          <p:cNvSpPr txBox="1"/>
          <p:nvPr/>
        </p:nvSpPr>
        <p:spPr>
          <a:xfrm>
            <a:off x="6326999" y="1321801"/>
            <a:ext cx="2342839" cy="43764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Компактный</a:t>
            </a:r>
            <a:endParaRPr lang="ru-RU" sz="2705"/>
          </a:p>
        </p:txBody>
      </p:sp>
      <p:sp>
        <p:nvSpPr>
          <p:cNvPr id="1243" name="Column 1243"/>
          <p:cNvSpPr txBox="1"/>
          <p:nvPr/>
        </p:nvSpPr>
        <p:spPr>
          <a:xfrm>
            <a:off x="6326999" y="1885173"/>
            <a:ext cx="2342839" cy="1930249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Вывод первой строкой, данные справа</a:t>
            </a:r>
            <a:endParaRPr lang="ru-RU" sz="18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Целостность — самая большая категория проверок</a:t>
            </a:r>
            <a:endParaRPr/>
          </a:p>
        </p:txBody>
      </p:sp>
      <p:sp>
        <p:nvSpPr>
          <p:cNvPr id="1208" name="Chart note 1208"/>
          <p:cNvSpPr txBox="1"/>
          <p:nvPr/>
        </p:nvSpPr>
        <p:spPr>
          <a:xfrm>
            <a:off x="248929" y="1000422"/>
            <a:ext cx="2927946" cy="7112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Всего проверок: </a:t>
            </a:r>
            <a:r>
              <a:rPr lang="ru-RU" sz="1500" b="1" cap="none" spc="0" baseline="0" dirty="0">
                <a:solidFill>
                  <a:srgbClr val="005EFF"/>
                </a:solidFill>
                <a:latin typeface="Play"/>
                <a:cs typeface="Play"/>
              </a:rPr>
              <a:t>41 </a:t>
            </a: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детерминированная и 2 модельные</a:t>
            </a:r>
            <a:endParaRPr lang="ru-RU" sz="1500"/>
          </a:p>
        </p:txBody>
      </p:sp>
      <p:cxnSp>
        <p:nvCxnSpPr>
          <p:cNvPr id="1209" name="Line 1209"/>
          <p:cNvCxnSpPr/>
          <p:nvPr/>
        </p:nvCxnSpPr>
        <p:spPr>
          <a:xfrm>
            <a:off x="3396331" y="1000422"/>
            <a:ext cx="0" cy="71120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0" name="Unit 1210"/>
          <p:cNvSpPr txBox="1"/>
          <p:nvPr/>
        </p:nvSpPr>
        <p:spPr>
          <a:xfrm>
            <a:off x="3615787" y="1000422"/>
            <a:ext cx="5244749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Проверки, проверок</a:t>
            </a:r>
            <a:endParaRPr lang="ru-RU" sz="9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3615787" y="1209273"/>
          <a:ext cx="5244749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 готовых презентаций без лишних чисел</a:t>
            </a:r>
            <a:endParaRPr/>
          </a:p>
        </p:txBody>
      </p:sp>
      <p:sp>
        <p:nvSpPr>
          <p:cNvPr id="1212" name="Conclusion bar 1212"/>
          <p:cNvSpPr/>
          <p:nvPr/>
        </p:nvSpPr>
        <p:spPr>
          <a:xfrm>
            <a:off x="248929" y="102328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100042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цифры проверены дважды — в тексте и в PPTX</a:t>
            </a:r>
            <a:endParaRPr lang="ru-RU" sz="1500"/>
          </a:p>
        </p:txBody>
      </p:sp>
      <p:graphicFrame>
        <p:nvGraphicFramePr>
          <p:cNvPr id="1214" name="Table"/>
          <p:cNvGraphicFramePr>
            <a:graphicFrameLocks noGrp="1"/>
          </p:cNvGraphicFramePr>
          <p:nvPr/>
        </p:nvGraphicFramePr>
        <p:xfrm>
          <a:off x="248929" y="1439588"/>
          <a:ext cx="620035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100178"/>
                <a:gridCol w="3100179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Показатель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Значение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Демо-презентаций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Сверенных чисел в каждой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116 → 123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Лишних чисел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0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87 шаблонов и 99/100 качества</a:t>
            </a:r>
            <a:endParaRPr/>
          </a:p>
        </p:txBody>
      </p:sp>
      <p:sp>
        <p:nvSpPr>
          <p:cNvPr id="1212" name="Conclusion bar 1212"/>
          <p:cNvSpPr/>
          <p:nvPr/>
        </p:nvSpPr>
        <p:spPr>
          <a:xfrm>
            <a:off x="248929" y="102328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3" name="Conclusion 1213"/>
          <p:cNvSpPr txBox="1"/>
          <p:nvPr/>
        </p:nvSpPr>
        <p:spPr>
          <a:xfrm>
            <a:off x="439429" y="100042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Поддержка </a:t>
            </a:r>
            <a:r>
              <a:rPr lang="ru-RU" sz="1500" b="1" cap="none" spc="0" baseline="0" dirty="0">
                <a:solidFill>
                  <a:srgbClr val="005EFF"/>
                </a:solidFill>
                <a:latin typeface="Play"/>
                <a:cs typeface="Play"/>
              </a:rPr>
              <a:t>12 </a:t>
            </a: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форматов</a:t>
            </a:r>
            <a:endParaRPr lang="ru-RU" sz="1500"/>
          </a:p>
        </p:txBody>
      </p:sp>
      <p:graphicFrame>
        <p:nvGraphicFramePr>
          <p:cNvPr id="1214" name="Table"/>
          <p:cNvGraphicFramePr>
            <a:graphicFrameLocks noGrp="1"/>
          </p:cNvGraphicFramePr>
          <p:nvPr/>
        </p:nvGraphicFramePr>
        <p:xfrm>
          <a:off x="248929" y="1439588"/>
          <a:ext cx="620035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100178"/>
                <a:gridCol w="3100179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Показатель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Значение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0F0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Чужих шаблонов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87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Качество проверки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99/100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Форматов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всех шаблонов занимает меньше 5 минут</a:t>
            </a:r>
            <a:endParaRPr/>
          </a:p>
        </p:txBody>
      </p:sp>
      <p:sp>
        <p:nvSpPr>
          <p:cNvPr id="1208" name="Chart note 1208"/>
          <p:cNvSpPr txBox="1"/>
          <p:nvPr/>
        </p:nvSpPr>
        <p:spPr>
          <a:xfrm>
            <a:off x="248929" y="1000422"/>
            <a:ext cx="2927946" cy="4826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1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  <p:cxnSp>
        <p:nvCxnSpPr>
          <p:cNvPr id="1209" name="Line 1209"/>
          <p:cNvCxnSpPr/>
          <p:nvPr/>
        </p:nvCxnSpPr>
        <p:spPr>
          <a:xfrm>
            <a:off x="3396331" y="1000422"/>
            <a:ext cx="0" cy="482600"/>
          </a:xfrm>
          <a:prstGeom prst="line">
            <a:avLst/>
          </a:prstGeom>
          <a:ln w="12700">
            <a:solidFill>
              <a:srgbClr val="DDE3EA"/>
            </a:solidFill>
          </a:ln>
        </p:spPr>
      </p:cxnSp>
      <p:sp>
        <p:nvSpPr>
          <p:cNvPr id="1210" name="Unit 1210"/>
          <p:cNvSpPr txBox="1"/>
          <p:nvPr/>
        </p:nvSpPr>
        <p:spPr>
          <a:xfrm>
            <a:off x="3615787" y="1000422"/>
            <a:ext cx="5244749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 шаблонов, секунды</a:t>
            </a:r>
            <a:endParaRPr lang="ru-RU" sz="900"/>
          </a:p>
        </p:txBody>
      </p:sp>
      <p:graphicFrame>
        <p:nvGraphicFramePr>
          <p:cNvPr id="1211" name="Chart 1210"/>
          <p:cNvGraphicFramePr>
            <a:graphicFrameLocks noGrp="1"/>
          </p:cNvGraphicFramePr>
          <p:nvPr/>
        </p:nvGraphicFramePr>
        <p:xfrm>
          <a:off x="3615787" y="1209273"/>
          <a:ext cx="5244749" cy="300654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модели с лицензией Apache 2.0</a:t>
            </a:r>
            <a:endParaRPr/>
          </a:p>
        </p:txBody>
      </p:sp>
      <p:sp>
        <p:nvSpPr>
          <p:cNvPr id="1222" name="Conclusion bar 1222"/>
          <p:cNvSpPr/>
          <p:nvPr/>
        </p:nvSpPr>
        <p:spPr>
          <a:xfrm>
            <a:off x="248929" y="102328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3" name="Conclusion 1223"/>
          <p:cNvSpPr txBox="1"/>
          <p:nvPr/>
        </p:nvSpPr>
        <p:spPr>
          <a:xfrm>
            <a:off x="439429" y="1000422"/>
            <a:ext cx="7559946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1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модели открыты и готовы к использованию</a:t>
            </a:r>
            <a:endParaRPr lang="ru-RU" sz="1500"/>
          </a:p>
        </p:txBody>
      </p:sp>
      <p:sp>
        <p:nvSpPr>
          <p:cNvPr id="1224" name="Card 1224"/>
          <p:cNvSpPr/>
          <p:nvPr/>
        </p:nvSpPr>
        <p:spPr>
          <a:xfrm>
            <a:off x="248929" y="1439588"/>
            <a:ext cx="2724231" cy="2336049"/>
          </a:xfrm>
          <a:prstGeom prst="roundRect">
            <a:avLst>
              <a:gd fmla="val 616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5" name="Rule 1225"/>
          <p:cNvSpPr/>
          <p:nvPr/>
        </p:nvSpPr>
        <p:spPr>
          <a:xfrm>
            <a:off x="439625" y="16302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6" name="Column title 1226"/>
          <p:cNvSpPr txBox="1"/>
          <p:nvPr/>
        </p:nvSpPr>
        <p:spPr>
          <a:xfrm>
            <a:off x="439625" y="1760967"/>
            <a:ext cx="2342839" cy="8498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Qwen3.8-⁠27B</a:t>
            </a:r>
            <a:endParaRPr lang="ru-RU" sz="2705"/>
          </a:p>
        </p:txBody>
      </p:sp>
      <p:sp>
        <p:nvSpPr>
          <p:cNvPr id="1227" name="Column 1227"/>
          <p:cNvSpPr txBox="1"/>
          <p:nvPr/>
        </p:nvSpPr>
        <p:spPr>
          <a:xfrm>
            <a:off x="439625" y="2736581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Основная модель, инференс VK, конфиг готов</a:t>
            </a:r>
            <a:endParaRPr lang="ru-RU" sz="1800"/>
          </a:p>
        </p:txBody>
      </p:sp>
      <p:sp>
        <p:nvSpPr>
          <p:cNvPr id="1228" name="Card 1228"/>
          <p:cNvSpPr/>
          <p:nvPr/>
        </p:nvSpPr>
        <p:spPr>
          <a:xfrm>
            <a:off x="3192616" y="1439588"/>
            <a:ext cx="2724231" cy="2336049"/>
          </a:xfrm>
          <a:prstGeom prst="roundRect">
            <a:avLst>
              <a:gd fmla="val 616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9" name="Rule 1229"/>
          <p:cNvSpPr/>
          <p:nvPr/>
        </p:nvSpPr>
        <p:spPr>
          <a:xfrm>
            <a:off x="3383312" y="16302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0" name="Column title 1230"/>
          <p:cNvSpPr txBox="1"/>
          <p:nvPr/>
        </p:nvSpPr>
        <p:spPr>
          <a:xfrm>
            <a:off x="3383312" y="1760967"/>
            <a:ext cx="2342839" cy="8498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Qwen3-⁠32B</a:t>
            </a:r>
            <a:endParaRPr lang="ru-RU" sz="2705"/>
          </a:p>
        </p:txBody>
      </p:sp>
      <p:sp>
        <p:nvSpPr>
          <p:cNvPr id="1231" name="Column 1231"/>
          <p:cNvSpPr txBox="1"/>
          <p:nvPr/>
        </p:nvSpPr>
        <p:spPr>
          <a:xfrm>
            <a:off x="3383312" y="2736581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Запасное звено на Cloud.ru</a:t>
            </a:r>
            <a:endParaRPr lang="ru-RU" sz="1800"/>
          </a:p>
        </p:txBody>
      </p:sp>
      <p:sp>
        <p:nvSpPr>
          <p:cNvPr id="1232" name="Card 1232"/>
          <p:cNvSpPr/>
          <p:nvPr/>
        </p:nvSpPr>
        <p:spPr>
          <a:xfrm>
            <a:off x="6136303" y="1439588"/>
            <a:ext cx="2724231" cy="2336049"/>
          </a:xfrm>
          <a:prstGeom prst="roundRect">
            <a:avLst>
              <a:gd fmla="val 6164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Rule 1233"/>
          <p:cNvSpPr/>
          <p:nvPr/>
        </p:nvSpPr>
        <p:spPr>
          <a:xfrm>
            <a:off x="6326999" y="1630284"/>
            <a:ext cx="360045" cy="3810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4" name="Column title 1234"/>
          <p:cNvSpPr txBox="1"/>
          <p:nvPr/>
        </p:nvSpPr>
        <p:spPr>
          <a:xfrm>
            <a:off x="6326999" y="1760967"/>
            <a:ext cx="2342839" cy="84988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Gemma 4 и Qwen3-⁠VL</a:t>
            </a:r>
            <a:endParaRPr lang="ru-RU" sz="2705"/>
          </a:p>
        </p:txBody>
      </p:sp>
      <p:sp>
        <p:nvSpPr>
          <p:cNvPr id="1235" name="Column 1235"/>
          <p:cNvSpPr txBox="1"/>
          <p:nvPr/>
        </p:nvSpPr>
        <p:spPr>
          <a:xfrm>
            <a:off x="6326999" y="2736581"/>
            <a:ext cx="2342839" cy="8483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251460" indent="-251460">
              <a:lnSpc>
                <a:spcPct val="100000"/>
              </a:lnSpc>
              <a:buClr>
                <a:srgbClr val="0077FF"/>
              </a:buClr>
              <a:buFont typeface="Arial"/>
              <a:buChar char="•"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Два запасных звена цепочки</a:t>
            </a:r>
            <a:endParaRPr lang="ru-RU" sz="18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2 028 автотестов и форматы экспорта</a:t>
            </a:r>
            <a:endParaRPr/>
          </a:p>
        </p:txBody>
      </p:sp>
      <p:sp>
        <p:nvSpPr>
          <p:cNvPr id="1222" name="Marker 1222"/>
          <p:cNvSpPr/>
          <p:nvPr/>
        </p:nvSpPr>
        <p:spPr>
          <a:xfrm>
            <a:off x="248929" y="10941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3" name="Item 1223"/>
          <p:cNvSpPr txBox="1"/>
          <p:nvPr/>
        </p:nvSpPr>
        <p:spPr>
          <a:xfrm>
            <a:off x="614689" y="100042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PPTX с редактируемыми объектами</a:t>
            </a:r>
            <a:endParaRPr lang="ru-RU" sz="1800"/>
          </a:p>
        </p:txBody>
      </p:sp>
      <p:cxnSp>
        <p:nvCxnSpPr>
          <p:cNvPr id="1224" name="Line 1224"/>
          <p:cNvCxnSpPr/>
          <p:nvPr/>
        </p:nvCxnSpPr>
        <p:spPr>
          <a:xfrm>
            <a:off x="614689" y="147159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5" name="Marker 1225"/>
          <p:cNvSpPr/>
          <p:nvPr/>
        </p:nvSpPr>
        <p:spPr>
          <a:xfrm>
            <a:off x="248929" y="173676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6" name="Item 1226"/>
          <p:cNvSpPr txBox="1"/>
          <p:nvPr/>
        </p:nvSpPr>
        <p:spPr>
          <a:xfrm>
            <a:off x="614689" y="164304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PDF и HTML</a:t>
            </a:r>
            <a:endParaRPr lang="ru-RU" sz="1800"/>
          </a:p>
        </p:txBody>
      </p:sp>
      <p:cxnSp>
        <p:nvCxnSpPr>
          <p:cNvPr id="1227" name="Line 1227"/>
          <p:cNvCxnSpPr/>
          <p:nvPr/>
        </p:nvCxnSpPr>
        <p:spPr>
          <a:xfrm>
            <a:off x="614689" y="211421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8" name="Marker 1228"/>
          <p:cNvSpPr/>
          <p:nvPr/>
        </p:nvSpPr>
        <p:spPr>
          <a:xfrm>
            <a:off x="248929" y="23793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9" name="Item 1229"/>
          <p:cNvSpPr txBox="1"/>
          <p:nvPr/>
        </p:nvSpPr>
        <p:spPr>
          <a:xfrm>
            <a:off x="614689" y="228566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Чат с агентом для правок</a:t>
            </a:r>
            <a:endParaRPr lang="ru-RU" sz="1800"/>
          </a:p>
        </p:txBody>
      </p:sp>
      <p:cxnSp>
        <p:nvCxnSpPr>
          <p:cNvPr id="1230" name="Line 1230"/>
          <p:cNvCxnSpPr/>
          <p:nvPr/>
        </p:nvCxnSpPr>
        <p:spPr>
          <a:xfrm>
            <a:off x="614689" y="275683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1" name="Marker 1231"/>
          <p:cNvSpPr/>
          <p:nvPr/>
        </p:nvSpPr>
        <p:spPr>
          <a:xfrm>
            <a:off x="248929" y="30220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2" name="Item 1232"/>
          <p:cNvSpPr txBox="1"/>
          <p:nvPr/>
        </p:nvSpPr>
        <p:spPr>
          <a:xfrm>
            <a:off x="614689" y="292828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Далее: генерация изображений внутри слайдов</a:t>
            </a:r>
            <a:endParaRPr lang="ru-RU" sz="1800"/>
          </a:p>
        </p:txBody>
      </p:sp>
      <p:cxnSp>
        <p:nvCxnSpPr>
          <p:cNvPr id="1233" name="Line 1233"/>
          <p:cNvCxnSpPr/>
          <p:nvPr/>
        </p:nvCxnSpPr>
        <p:spPr>
          <a:xfrm>
            <a:off x="614689" y="339945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4" name="Marker 1234"/>
          <p:cNvSpPr/>
          <p:nvPr/>
        </p:nvSpPr>
        <p:spPr>
          <a:xfrm>
            <a:off x="248929" y="366462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5" name="Item 1235"/>
          <p:cNvSpPr txBox="1"/>
          <p:nvPr/>
        </p:nvSpPr>
        <p:spPr>
          <a:xfrm>
            <a:off x="614689" y="357090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</a:t>
            </a:r>
            <a:endParaRPr lang="ru-RU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