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Relationship Id="rId71" Type="http://schemas.openxmlformats.org/officeDocument/2006/relationships/slide" Target="slides/slide10.xml"/><Relationship Id="rId72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80"/>
          <c:y val="0.0280"/>
          <c:w val="0.9440"/>
          <c:h val="0.9440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2540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50A2FF"/>
              </a:solidFill>
              <a:ln w="2540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Свободные фигуры</c:v>
                </c:pt>
                <c:pt idx="1">
                  <c:v>Плейсхолдеры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5.0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451"/>
          <c:y val="0.0114"/>
          <c:w val="0.8009"/>
          <c:h val="0.9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Проверки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;&quot;−&quot;#,##0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24"/>
          <c:y val="0.0870"/>
          <c:w val="0.9952"/>
          <c:h val="0.843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3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— цифровой дизайнер презентаций. Команда «Рекрут 2», задача № 4 VK Tech.</a:t>
            </a:r>
          </a:p>
          <a:p>
            <a:r>
              <a:t>[verstka:sl1]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компании создаётся десятки презентаций в неделю. ИИ помогает с текстом, но не с дизайном. Шаблоны не дают понятных инструкций для новых слайдов.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реальных шаблонах 95% фигур — свободные, и только 5% — плейсхолдеры. Это означает, что правила оформления нужно выводить из самих слайдов-образцов, включая палитру, кегли, сетку, поля, логотипы и колонтитулы.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автоматически создаёт презентации в фирменном стиле, используя шаблон как набор правил и текстовые данные. Результат — три редактируемые презентации без необходимости ручной вёрстки.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использует открытые модели до 35 миллиардов параметров с лицензией Apache 2.0. Работа делится на пять этапов: аналитик, дизайнер, критик, компилятор и вёрстка.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Содержание одно, подача разная. | Вариант | Подача | Когда подходит |. |---|---|---|. | Структурный | одна мысль на слайд, строгая сетка | отчёт и защита проекта |.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слайд проходит 41 проверка: 12 по целостности, 11 по вёрстке, 7 по шаблону, 6 по контенту и 5 по плотности. Проверки помечают и автоматически исправляют найденные проблемы.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в плане сверяется с текстом до вёрстки и ещё раз в готовом файле PowerPoint. Всего в каждой презентации проверяется от 116 до 123 чисел. Ни одно число не выдумано.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Сервис не ограничен шаблонами датасета и поддерживает 12 форматов. Регрессионный корпус включает 87 чужих шаблонов и 261 презентацию на них, средняя оценка проверки качества — 99 из 100.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трёх вариантов на шаблонах датасета: VK Tech — 113 секунд, VK Education — 145 секунд, VK WorkSpace — 175 секунд.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6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7" name="Google Shape;407;p43"/>
          <p:cNvSpPr txBox="1"/>
          <p:nvPr>
            <p:ph type="title"/>
          </p:nvPr>
        </p:nvSpPr>
        <p:spPr>
          <a:xfrm>
            <a:off x="581272" y="1544274"/>
            <a:ext cx="4082168" cy="21350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Play"/>
              <a:buNone/>
            </a:pPr>
            <a:r>
              <a:rPr lang="en-US" sz="3600" b="0"/>
              <a:t>Verstka —</a:t>
            </a:r>
            <a:br>
              <a:rPr lang="en-US" sz="3600" b="0"/>
            </a:br>
            <a:r>
              <a:rPr lang="ru-RU" sz="3600" b="0"/>
              <a:t>цифровой</a:t>
            </a:r>
            <a:br>
              <a:rPr lang="en-US" sz="3600" b="0"/>
            </a:br>
            <a:r>
              <a:rPr lang="ru-RU" sz="3600" b="0"/>
              <a:t>дизайнер</a:t>
            </a:r>
            <a:br>
              <a:rPr lang="en-US" sz="3600" b="0"/>
            </a:br>
            <a:r>
              <a:rPr lang="ru-RU" sz="3600" b="0"/>
              <a:t>презентаций</a:t>
            </a:r>
            <a:endParaRPr b="0"/>
          </a:p>
        </p:txBody>
      </p:sp>
      <p:sp>
        <p:nvSpPr>
          <p:cNvPr id="408" name="Google Shape;408;p43"/>
          <p:cNvSpPr txBox="1"/>
          <p:nvPr>
            <p:ph idx="1" type="body"/>
          </p:nvPr>
        </p:nvSpPr>
        <p:spPr>
          <a:xfrm>
            <a:off x="581272" y="3839378"/>
            <a:ext cx="4082168" cy="629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ru-RU" sz="1600" b="0">
                <a:solidFill>
                  <a:srgbClr val="FAFCFF"/>
                </a:solidFill>
              </a:rPr>
              <a:t>Команда «Рекрут 2» · задача № 4 VK Tech · ЛЦТ 2026</a:t>
            </a:r>
            <a:endParaRPr b="0">
              <a:solidFill>
                <a:srgbClr val="FAFC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804581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Десятки презентаций в неделю требуют ручной вёрстки</a:t>
            </a:r>
            <a:endParaRPr/>
          </a:p>
        </p:txBody>
      </p:sp>
      <p:sp>
        <p:nvSpPr>
          <p:cNvPr id="1232" name="Card 1232"/>
          <p:cNvSpPr/>
          <p:nvPr/>
        </p:nvSpPr>
        <p:spPr>
          <a:xfrm>
            <a:off x="248929" y="1366182"/>
            <a:ext cx="2724231" cy="2691142"/>
          </a:xfrm>
          <a:prstGeom prst="roundRect">
            <a:avLst>
              <a:gd fmla="val 535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Rule 1233"/>
          <p:cNvSpPr/>
          <p:nvPr/>
        </p:nvSpPr>
        <p:spPr>
          <a:xfrm>
            <a:off x="439625" y="155687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4" name="Column title 1234"/>
          <p:cNvSpPr txBox="1"/>
          <p:nvPr/>
        </p:nvSpPr>
        <p:spPr>
          <a:xfrm>
            <a:off x="439625" y="1687561"/>
            <a:ext cx="2342839" cy="8498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Ручная вёрстка</a:t>
            </a:r>
            <a:endParaRPr lang="ru-RU" sz="2705"/>
          </a:p>
        </p:txBody>
      </p:sp>
      <p:sp>
        <p:nvSpPr>
          <p:cNvPr id="1235" name="Column 1235"/>
          <p:cNvSpPr txBox="1"/>
          <p:nvPr/>
        </p:nvSpPr>
        <p:spPr>
          <a:xfrm>
            <a:off x="439625" y="2663175"/>
            <a:ext cx="2342839" cy="120345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Подбор макета, подгонка цветов и блоков</a:t>
            </a:r>
            <a:endParaRPr lang="ru-RU" sz="1800"/>
          </a:p>
        </p:txBody>
      </p:sp>
      <p:sp>
        <p:nvSpPr>
          <p:cNvPr id="1236" name="Card 1236"/>
          <p:cNvSpPr/>
          <p:nvPr/>
        </p:nvSpPr>
        <p:spPr>
          <a:xfrm>
            <a:off x="3192616" y="1366182"/>
            <a:ext cx="2724231" cy="2691142"/>
          </a:xfrm>
          <a:prstGeom prst="roundRect">
            <a:avLst>
              <a:gd fmla="val 535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7" name="Rule 1237"/>
          <p:cNvSpPr/>
          <p:nvPr/>
        </p:nvSpPr>
        <p:spPr>
          <a:xfrm>
            <a:off x="3383312" y="155687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8" name="Column title 1238"/>
          <p:cNvSpPr txBox="1"/>
          <p:nvPr/>
        </p:nvSpPr>
        <p:spPr>
          <a:xfrm>
            <a:off x="3383312" y="1687561"/>
            <a:ext cx="2342839" cy="8498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ИИ ломает стиль</a:t>
            </a:r>
            <a:endParaRPr lang="ru-RU" sz="2705"/>
          </a:p>
        </p:txBody>
      </p:sp>
      <p:sp>
        <p:nvSpPr>
          <p:cNvPr id="1239" name="Column 1239"/>
          <p:cNvSpPr txBox="1"/>
          <p:nvPr/>
        </p:nvSpPr>
        <p:spPr>
          <a:xfrm>
            <a:off x="3383312" y="2663175"/>
            <a:ext cx="2342839" cy="120345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Нейросети не воспроизводят дизайн-⁠систему</a:t>
            </a:r>
            <a:endParaRPr lang="ru-RU" sz="1800"/>
          </a:p>
        </p:txBody>
      </p:sp>
      <p:sp>
        <p:nvSpPr>
          <p:cNvPr id="1240" name="Card 1240"/>
          <p:cNvSpPr/>
          <p:nvPr/>
        </p:nvSpPr>
        <p:spPr>
          <a:xfrm>
            <a:off x="6136303" y="1366182"/>
            <a:ext cx="2724231" cy="2691142"/>
          </a:xfrm>
          <a:prstGeom prst="roundRect">
            <a:avLst>
              <a:gd fmla="val 535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41" name="Rule 1241"/>
          <p:cNvSpPr/>
          <p:nvPr/>
        </p:nvSpPr>
        <p:spPr>
          <a:xfrm>
            <a:off x="6326999" y="155687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42" name="Column title 1242"/>
          <p:cNvSpPr txBox="1"/>
          <p:nvPr/>
        </p:nvSpPr>
        <p:spPr>
          <a:xfrm>
            <a:off x="6326999" y="1687561"/>
            <a:ext cx="2342839" cy="8498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не инструкция</a:t>
            </a:r>
            <a:endParaRPr lang="ru-RU" sz="2705"/>
          </a:p>
        </p:txBody>
      </p:sp>
      <p:sp>
        <p:nvSpPr>
          <p:cNvPr id="1243" name="Column 1243"/>
          <p:cNvSpPr txBox="1"/>
          <p:nvPr/>
        </p:nvSpPr>
        <p:spPr>
          <a:xfrm>
            <a:off x="6326999" y="2663175"/>
            <a:ext cx="2342839" cy="120345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Нет понятных правил для новых слайдов</a:t>
            </a:r>
            <a:endParaRPr lang="ru-RU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206800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Правила оформления приходится выводить из образцов</a:t>
            </a:r>
            <a:endParaRPr/>
          </a:p>
        </p:txBody>
      </p:sp>
      <p:sp>
        <p:nvSpPr>
          <p:cNvPr id="1208" name="Chart note 1208"/>
          <p:cNvSpPr txBox="1"/>
          <p:nvPr/>
        </p:nvSpPr>
        <p:spPr>
          <a:xfrm>
            <a:off x="248929" y="1366182"/>
            <a:ext cx="2927946" cy="13398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350"/>
              </a:spcAft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Свободные фигуры мешают заполнению шаблона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Нужно учитывать палитру, кегли, сетку, поля, логотипы и колонтитулы</a:t>
            </a:r>
            <a:endParaRPr lang="ru-RU" sz="1500"/>
          </a:p>
        </p:txBody>
      </p:sp>
      <p:cxnSp>
        <p:nvCxnSpPr>
          <p:cNvPr id="1209" name="Line 1209"/>
          <p:cNvCxnSpPr/>
          <p:nvPr/>
        </p:nvCxnSpPr>
        <p:spPr>
          <a:xfrm>
            <a:off x="3396331" y="1366182"/>
            <a:ext cx="0" cy="133985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graphicFrame>
        <p:nvGraphicFramePr>
          <p:cNvPr id="1210" name="Chart 1209"/>
          <p:cNvGraphicFramePr>
            <a:graphicFrameLocks noGrp="1"/>
          </p:cNvGraphicFramePr>
          <p:nvPr/>
        </p:nvGraphicFramePr>
        <p:xfrm>
          <a:off x="3615787" y="1366182"/>
          <a:ext cx="2449032" cy="24490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1" name="Legend title 1211"/>
          <p:cNvSpPr txBox="1"/>
          <p:nvPr/>
        </p:nvSpPr>
        <p:spPr>
          <a:xfrm>
            <a:off x="6503731" y="2125878"/>
            <a:ext cx="2356805" cy="3632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Доля</a:t>
            </a:r>
            <a:endParaRPr lang="ru-RU" sz="1400"/>
          </a:p>
        </p:txBody>
      </p:sp>
      <p:sp>
        <p:nvSpPr>
          <p:cNvPr id="1212" name="Swatch 1212"/>
          <p:cNvSpPr/>
          <p:nvPr/>
        </p:nvSpPr>
        <p:spPr>
          <a:xfrm>
            <a:off x="6503731" y="2531770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3" name="Legend 1213"/>
          <p:cNvSpPr txBox="1"/>
          <p:nvPr/>
        </p:nvSpPr>
        <p:spPr>
          <a:xfrm>
            <a:off x="6734159" y="2489098"/>
            <a:ext cx="1679099" cy="238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Свободные фигуры</a:t>
            </a:r>
            <a:endParaRPr lang="ru-RU" sz="1400"/>
          </a:p>
        </p:txBody>
      </p:sp>
      <p:sp>
        <p:nvSpPr>
          <p:cNvPr id="1214" name="Share 1214"/>
          <p:cNvSpPr txBox="1"/>
          <p:nvPr/>
        </p:nvSpPr>
        <p:spPr>
          <a:xfrm>
            <a:off x="8413258" y="2489098"/>
            <a:ext cx="447278" cy="238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4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95%</a:t>
            </a:r>
            <a:endParaRPr lang="ru-RU" sz="1400"/>
          </a:p>
        </p:txBody>
      </p:sp>
      <p:sp>
        <p:nvSpPr>
          <p:cNvPr id="1215" name="Swatch 1215"/>
          <p:cNvSpPr/>
          <p:nvPr/>
        </p:nvSpPr>
        <p:spPr>
          <a:xfrm>
            <a:off x="6503731" y="2859430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68000"/>
            </a:srgbClr>
          </a:solidFill>
          <a:ln>
            <a:noFill/>
          </a:ln>
        </p:spPr>
      </p:sp>
      <p:sp>
        <p:nvSpPr>
          <p:cNvPr id="1216" name="Legend 1216"/>
          <p:cNvSpPr txBox="1"/>
          <p:nvPr/>
        </p:nvSpPr>
        <p:spPr>
          <a:xfrm>
            <a:off x="6734159" y="2816758"/>
            <a:ext cx="1679099" cy="238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Плейсхолдеры</a:t>
            </a:r>
            <a:endParaRPr lang="ru-RU" sz="1400"/>
          </a:p>
        </p:txBody>
      </p:sp>
      <p:sp>
        <p:nvSpPr>
          <p:cNvPr id="1217" name="Share 1217"/>
          <p:cNvSpPr txBox="1"/>
          <p:nvPr/>
        </p:nvSpPr>
        <p:spPr>
          <a:xfrm>
            <a:off x="8413258" y="2816758"/>
            <a:ext cx="447278" cy="238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5%</a:t>
            </a:r>
            <a:endParaRPr lang="ru-RU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Решение</a:t>
            </a:r>
            <a:endParaRPr/>
          </a:p>
        </p:txBody>
      </p:sp>
      <p:sp>
        <p:nvSpPr>
          <p:cNvPr id="1208" name="Conclusion bar 1208"/>
          <p:cNvSpPr/>
          <p:nvPr/>
        </p:nvSpPr>
        <p:spPr>
          <a:xfrm>
            <a:off x="248929" y="102328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09" name="Conclusion 1209"/>
          <p:cNvSpPr txBox="1"/>
          <p:nvPr/>
        </p:nvSpPr>
        <p:spPr>
          <a:xfrm>
            <a:off x="439429" y="1000422"/>
            <a:ext cx="7559946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Презентация в фирменном стиле без ручной вёрстки</a:t>
            </a:r>
            <a:endParaRPr lang="ru-RU" sz="1500"/>
          </a:p>
        </p:txBody>
      </p:sp>
      <p:sp>
        <p:nvSpPr>
          <p:cNvPr id="1210" name="Card 1210"/>
          <p:cNvSpPr/>
          <p:nvPr/>
        </p:nvSpPr>
        <p:spPr>
          <a:xfrm>
            <a:off x="248929" y="1439588"/>
            <a:ext cx="2724231" cy="2633610"/>
          </a:xfrm>
          <a:prstGeom prst="roundRect">
            <a:avLst>
              <a:gd fmla="val 5467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1" name="Rule 1211"/>
          <p:cNvSpPr/>
          <p:nvPr/>
        </p:nvSpPr>
        <p:spPr>
          <a:xfrm>
            <a:off x="439625" y="163028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2" name="Column title 1212"/>
          <p:cNvSpPr txBox="1"/>
          <p:nvPr/>
        </p:nvSpPr>
        <p:spPr>
          <a:xfrm>
            <a:off x="439625" y="1760967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входе — шаблон и текст</a:t>
            </a:r>
            <a:endParaRPr lang="ru-RU" sz="1800"/>
          </a:p>
        </p:txBody>
      </p:sp>
      <p:sp>
        <p:nvSpPr>
          <p:cNvPr id="1213" name="Column 1213"/>
          <p:cNvSpPr txBox="1"/>
          <p:nvPr/>
        </p:nvSpPr>
        <p:spPr>
          <a:xfrm>
            <a:off x="439625" y="2714102"/>
            <a:ext cx="2342839" cy="1168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Verstka использует любой шаблон PowerPoint и текст для генерации презентации.</a:t>
            </a:r>
            <a:endParaRPr lang="ru-RU" sz="1500"/>
          </a:p>
        </p:txBody>
      </p:sp>
      <p:sp>
        <p:nvSpPr>
          <p:cNvPr id="1214" name="Card 1214"/>
          <p:cNvSpPr/>
          <p:nvPr/>
        </p:nvSpPr>
        <p:spPr>
          <a:xfrm>
            <a:off x="3192616" y="1439588"/>
            <a:ext cx="2724231" cy="2633610"/>
          </a:xfrm>
          <a:prstGeom prst="roundRect">
            <a:avLst>
              <a:gd fmla="val 5467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Rule 1215"/>
          <p:cNvSpPr/>
          <p:nvPr/>
        </p:nvSpPr>
        <p:spPr>
          <a:xfrm>
            <a:off x="3383312" y="163028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6" name="Column title 1216"/>
          <p:cNvSpPr txBox="1"/>
          <p:nvPr/>
        </p:nvSpPr>
        <p:spPr>
          <a:xfrm>
            <a:off x="3383312" y="1760967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набор правил</a:t>
            </a:r>
            <a:endParaRPr lang="ru-RU" sz="1800"/>
          </a:p>
        </p:txBody>
      </p:sp>
      <p:sp>
        <p:nvSpPr>
          <p:cNvPr id="1217" name="Column 1217"/>
          <p:cNvSpPr txBox="1"/>
          <p:nvPr/>
        </p:nvSpPr>
        <p:spPr>
          <a:xfrm>
            <a:off x="3383312" y="2714102"/>
            <a:ext cx="2342839" cy="1168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 интерпретируется как набор правил, а не макетов.</a:t>
            </a:r>
            <a:endParaRPr lang="ru-RU" sz="1500"/>
          </a:p>
        </p:txBody>
      </p:sp>
      <p:sp>
        <p:nvSpPr>
          <p:cNvPr id="1218" name="Card 1218"/>
          <p:cNvSpPr/>
          <p:nvPr/>
        </p:nvSpPr>
        <p:spPr>
          <a:xfrm>
            <a:off x="6136303" y="1439588"/>
            <a:ext cx="2724231" cy="2633610"/>
          </a:xfrm>
          <a:prstGeom prst="roundRect">
            <a:avLst>
              <a:gd fmla="val 5467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9" name="Rule 1219"/>
          <p:cNvSpPr/>
          <p:nvPr/>
        </p:nvSpPr>
        <p:spPr>
          <a:xfrm>
            <a:off x="6326999" y="163028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0" name="Column title 1220"/>
          <p:cNvSpPr txBox="1"/>
          <p:nvPr/>
        </p:nvSpPr>
        <p:spPr>
          <a:xfrm>
            <a:off x="6326999" y="1760967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выходе — три редактируемые презентации</a:t>
            </a:r>
            <a:endParaRPr lang="ru-RU" sz="1800"/>
          </a:p>
        </p:txBody>
      </p:sp>
      <p:sp>
        <p:nvSpPr>
          <p:cNvPr id="1221" name="Column 1221"/>
          <p:cNvSpPr txBox="1"/>
          <p:nvPr/>
        </p:nvSpPr>
        <p:spPr>
          <a:xfrm>
            <a:off x="6326999" y="2714102"/>
            <a:ext cx="2342839" cy="1168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Результат — три презентации в стиле шаблона, готовые к редактированию.</a:t>
            </a:r>
            <a:endParaRPr lang="ru-RU"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6379643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Открытые модели до 35 миллиардов параметров делают работу агента точной</a:t>
            </a:r>
            <a:endParaRPr/>
          </a:p>
        </p:txBody>
      </p:sp>
      <p:sp>
        <p:nvSpPr>
          <p:cNvPr id="1208" name="Marker 1208"/>
          <p:cNvSpPr/>
          <p:nvPr/>
        </p:nvSpPr>
        <p:spPr>
          <a:xfrm>
            <a:off x="248929" y="144428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09" name="Item 1209"/>
          <p:cNvSpPr txBox="1"/>
          <p:nvPr/>
        </p:nvSpPr>
        <p:spPr>
          <a:xfrm>
            <a:off x="553729" y="136618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Аналитик — находит в тексте слайды, ряды данных и просьбы</a:t>
            </a:r>
            <a:endParaRPr lang="ru-RU" sz="1500"/>
          </a:p>
        </p:txBody>
      </p:sp>
      <p:cxnSp>
        <p:nvCxnSpPr>
          <p:cNvPr id="1210" name="Line 1210"/>
          <p:cNvCxnSpPr/>
          <p:nvPr/>
        </p:nvCxnSpPr>
        <p:spPr>
          <a:xfrm>
            <a:off x="553729" y="1763057"/>
            <a:ext cx="658448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1" name="Marker 1211"/>
          <p:cNvSpPr/>
          <p:nvPr/>
        </p:nvSpPr>
        <p:spPr>
          <a:xfrm>
            <a:off x="248929" y="198403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2" name="Item 1212"/>
          <p:cNvSpPr txBox="1"/>
          <p:nvPr/>
        </p:nvSpPr>
        <p:spPr>
          <a:xfrm>
            <a:off x="553729" y="190593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Дизайнер — продумывает каждый слайд отдельно</a:t>
            </a:r>
            <a:endParaRPr lang="ru-RU" sz="1500"/>
          </a:p>
        </p:txBody>
      </p:sp>
      <p:cxnSp>
        <p:nvCxnSpPr>
          <p:cNvPr id="1213" name="Line 1213"/>
          <p:cNvCxnSpPr/>
          <p:nvPr/>
        </p:nvCxnSpPr>
        <p:spPr>
          <a:xfrm>
            <a:off x="553729" y="2302807"/>
            <a:ext cx="658448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4" name="Marker 1214"/>
          <p:cNvSpPr/>
          <p:nvPr/>
        </p:nvSpPr>
        <p:spPr>
          <a:xfrm>
            <a:off x="248929" y="252378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5" name="Item 1215"/>
          <p:cNvSpPr txBox="1"/>
          <p:nvPr/>
        </p:nvSpPr>
        <p:spPr>
          <a:xfrm>
            <a:off x="553729" y="244568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Критик — сверяет план с текстом и правилами шаблона</a:t>
            </a:r>
            <a:endParaRPr lang="ru-RU" sz="1500"/>
          </a:p>
        </p:txBody>
      </p:sp>
      <p:cxnSp>
        <p:nvCxnSpPr>
          <p:cNvPr id="1216" name="Line 1216"/>
          <p:cNvCxnSpPr/>
          <p:nvPr/>
        </p:nvCxnSpPr>
        <p:spPr>
          <a:xfrm>
            <a:off x="553729" y="2842557"/>
            <a:ext cx="658448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7" name="Marker 1217"/>
          <p:cNvSpPr/>
          <p:nvPr/>
        </p:nvSpPr>
        <p:spPr>
          <a:xfrm>
            <a:off x="248929" y="306353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Item 1218"/>
          <p:cNvSpPr txBox="1"/>
          <p:nvPr/>
        </p:nvSpPr>
        <p:spPr>
          <a:xfrm>
            <a:off x="553729" y="298543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Компилятор — проверяет каждое число</a:t>
            </a:r>
            <a:endParaRPr lang="ru-RU" sz="1500"/>
          </a:p>
        </p:txBody>
      </p:sp>
      <p:cxnSp>
        <p:nvCxnSpPr>
          <p:cNvPr id="1219" name="Line 1219"/>
          <p:cNvCxnSpPr/>
          <p:nvPr/>
        </p:nvCxnSpPr>
        <p:spPr>
          <a:xfrm>
            <a:off x="553729" y="3382307"/>
            <a:ext cx="658448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0" name="Marker 1220"/>
          <p:cNvSpPr/>
          <p:nvPr/>
        </p:nvSpPr>
        <p:spPr>
          <a:xfrm>
            <a:off x="248929" y="360328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1" name="Item 1221"/>
          <p:cNvSpPr txBox="1"/>
          <p:nvPr/>
        </p:nvSpPr>
        <p:spPr>
          <a:xfrm>
            <a:off x="553729" y="352518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Вёрстка — собирает слайды по дизайн-⁠системе шаблона</a:t>
            </a:r>
            <a:endParaRPr lang="ru-RU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Три варианта вёрстки для разных целей</a:t>
            </a:r>
            <a:endParaRPr/>
          </a:p>
        </p:txBody>
      </p:sp>
      <p:graphicFrame>
        <p:nvGraphicFramePr>
          <p:cNvPr id="1208" name="Table"/>
          <p:cNvGraphicFramePr>
            <a:graphicFrameLocks noGrp="1"/>
          </p:cNvGraphicFramePr>
          <p:nvPr/>
        </p:nvGraphicFramePr>
        <p:xfrm>
          <a:off x="248929" y="1000422"/>
          <a:ext cx="8611607" cy="25074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555606"/>
                <a:gridCol w="3976449"/>
                <a:gridCol w="3079552"/>
              </a:tblGrid>
              <a:tr h="50149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Вариант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Подача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Когда подходит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Структурный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одна мысль на слайд, строгая сетка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отчёт и защита проекта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Визуальный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крупные цифры и наглядные схемы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питч и выступление со сцены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Компактный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вывод первой строкой, данные справа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рассылка руководителю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41 проверка качества на слайд</a:t>
            </a:r>
            <a:endParaRPr/>
          </a:p>
        </p:txBody>
      </p:sp>
      <p:sp>
        <p:nvSpPr>
          <p:cNvPr id="1208" name="Chart note 1208"/>
          <p:cNvSpPr txBox="1"/>
          <p:nvPr/>
        </p:nvSpPr>
        <p:spPr>
          <a:xfrm>
            <a:off x="248929" y="1000422"/>
            <a:ext cx="2927946" cy="18732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350"/>
              </a:spcAft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Целостность — самая проверяемая категория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60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Найденные проблемы помечаются и исправляются автоматически</a:t>
            </a:r>
            <a:endParaRPr lang="ru-RU" sz="1500"/>
          </a:p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Каждый слайд проходит 41 проверку: 2 модельные</a:t>
            </a:r>
            <a:endParaRPr lang="ru-RU" sz="1500"/>
          </a:p>
        </p:txBody>
      </p:sp>
      <p:cxnSp>
        <p:nvCxnSpPr>
          <p:cNvPr id="1209" name="Line 1209"/>
          <p:cNvCxnSpPr/>
          <p:nvPr/>
        </p:nvCxnSpPr>
        <p:spPr>
          <a:xfrm>
            <a:off x="3396331" y="1000422"/>
            <a:ext cx="0" cy="187325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0" name="Unit 1210"/>
          <p:cNvSpPr txBox="1"/>
          <p:nvPr/>
        </p:nvSpPr>
        <p:spPr>
          <a:xfrm>
            <a:off x="3615787" y="1000422"/>
            <a:ext cx="5244749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Число проверок по категориям</a:t>
            </a:r>
            <a:endParaRPr lang="ru-RU" sz="900"/>
          </a:p>
        </p:txBody>
      </p:sp>
      <p:graphicFrame>
        <p:nvGraphicFramePr>
          <p:cNvPr id="1211" name="Chart 1210"/>
          <p:cNvGraphicFramePr>
            <a:graphicFrameLocks noGrp="1"/>
          </p:cNvGraphicFramePr>
          <p:nvPr/>
        </p:nvGraphicFramePr>
        <p:xfrm>
          <a:off x="3615787" y="1209273"/>
          <a:ext cx="5244749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285108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 демонстрационных презентаций без выдуманных чисел</a:t>
            </a:r>
            <a:endParaRPr/>
          </a:p>
        </p:txBody>
      </p:sp>
      <p:sp>
        <p:nvSpPr>
          <p:cNvPr id="1212" name="Conclusion bar 1212"/>
          <p:cNvSpPr/>
          <p:nvPr/>
        </p:nvSpPr>
        <p:spPr>
          <a:xfrm>
            <a:off x="248929" y="138904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Conclusion 1213"/>
          <p:cNvSpPr txBox="1"/>
          <p:nvPr/>
        </p:nvSpPr>
        <p:spPr>
          <a:xfrm>
            <a:off x="439429" y="1366182"/>
            <a:ext cx="7559946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Каждое число проверено дважды — до и после вёрстки</a:t>
            </a:r>
            <a:endParaRPr lang="ru-RU" sz="1500"/>
          </a:p>
        </p:txBody>
      </p:sp>
      <p:graphicFrame>
        <p:nvGraphicFramePr>
          <p:cNvPr id="1214" name="Table"/>
          <p:cNvGraphicFramePr>
            <a:graphicFrameLocks noGrp="1"/>
          </p:cNvGraphicFramePr>
          <p:nvPr/>
        </p:nvGraphicFramePr>
        <p:xfrm>
          <a:off x="248929" y="1805348"/>
          <a:ext cx="6200357" cy="242106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100178"/>
                <a:gridCol w="3100179"/>
              </a:tblGrid>
              <a:tr h="48421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Показатель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Значение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</a:tr>
              <a:tr h="645617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Демо-презентаций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9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45617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Сверенных чисел в каждой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116 → 123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45617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Выдуманных чисел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0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87 шаблонов, 99 из 100 и 12 форматов</a:t>
            </a:r>
            <a:endParaRPr/>
          </a:p>
        </p:txBody>
      </p:sp>
      <p:sp>
        <p:nvSpPr>
          <p:cNvPr id="1212" name="Conclusion bar 1212"/>
          <p:cNvSpPr/>
          <p:nvPr/>
        </p:nvSpPr>
        <p:spPr>
          <a:xfrm>
            <a:off x="248929" y="102328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Conclusion 1213"/>
          <p:cNvSpPr txBox="1"/>
          <p:nvPr/>
        </p:nvSpPr>
        <p:spPr>
          <a:xfrm>
            <a:off x="439429" y="1000422"/>
            <a:ext cx="7559946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Сервис поддерживает разные шаблоны и форматы</a:t>
            </a:r>
            <a:endParaRPr lang="ru-RU" sz="1500"/>
          </a:p>
        </p:txBody>
      </p:sp>
      <p:graphicFrame>
        <p:nvGraphicFramePr>
          <p:cNvPr id="1214" name="Table"/>
          <p:cNvGraphicFramePr>
            <a:graphicFrameLocks noGrp="1"/>
          </p:cNvGraphicFramePr>
          <p:nvPr/>
        </p:nvGraphicFramePr>
        <p:xfrm>
          <a:off x="248929" y="1439588"/>
          <a:ext cx="6200357" cy="25074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411562"/>
                <a:gridCol w="1788795"/>
              </a:tblGrid>
              <a:tr h="50149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Показатель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Значение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Чужих шаблонов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87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Средняя оценка качества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99 из 100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Форматов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Генерация шаблонов занимает менее 5 минут</a:t>
            </a:r>
            <a:endParaRPr/>
          </a:p>
        </p:txBody>
      </p:sp>
      <p:sp>
        <p:nvSpPr>
          <p:cNvPr id="1208" name="Chart note 1208"/>
          <p:cNvSpPr txBox="1"/>
          <p:nvPr/>
        </p:nvSpPr>
        <p:spPr>
          <a:xfrm>
            <a:off x="248929" y="1000422"/>
            <a:ext cx="2927946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шаблоны укладываются в лимит </a:t>
            </a:r>
            <a:r>
              <a:rPr lang="ru-RU" sz="1500" b="1" cap="none" spc="0" baseline="0" dirty="0">
                <a:solidFill>
                  <a:srgbClr val="005EFF"/>
                </a:solidFill>
                <a:latin typeface="Play"/>
                <a:cs typeface="Play"/>
              </a:rPr>
              <a:t>5 минут</a:t>
            </a: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 с запасом</a:t>
            </a:r>
            <a:endParaRPr lang="ru-RU" sz="1500"/>
          </a:p>
        </p:txBody>
      </p:sp>
      <p:cxnSp>
        <p:nvCxnSpPr>
          <p:cNvPr id="1209" name="Line 1209"/>
          <p:cNvCxnSpPr/>
          <p:nvPr/>
        </p:nvCxnSpPr>
        <p:spPr>
          <a:xfrm>
            <a:off x="3396331" y="1000422"/>
            <a:ext cx="0" cy="48260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0" name="Unit 1210"/>
          <p:cNvSpPr txBox="1"/>
          <p:nvPr/>
        </p:nvSpPr>
        <p:spPr>
          <a:xfrm>
            <a:off x="3615787" y="1000422"/>
            <a:ext cx="5244749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Время генерации трёх вариантов на шаблонах датасета, секунд</a:t>
            </a:r>
            <a:endParaRPr lang="ru-RU" sz="900"/>
          </a:p>
        </p:txBody>
      </p:sp>
      <p:graphicFrame>
        <p:nvGraphicFramePr>
          <p:cNvPr id="1211" name="Chart 1210"/>
          <p:cNvGraphicFramePr>
            <a:graphicFrameLocks noGrp="1"/>
          </p:cNvGraphicFramePr>
          <p:nvPr/>
        </p:nvGraphicFramePr>
        <p:xfrm>
          <a:off x="3615787" y="1209273"/>
          <a:ext cx="5244749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Три шага развития Verstka</a:t>
            </a:r>
            <a:endParaRPr/>
          </a:p>
        </p:txBody>
      </p:sp>
      <p:sp>
        <p:nvSpPr>
          <p:cNvPr id="1224" name="Marker 1224"/>
          <p:cNvSpPr/>
          <p:nvPr/>
        </p:nvSpPr>
        <p:spPr>
          <a:xfrm>
            <a:off x="248929" y="10941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5" name="Item 1225"/>
          <p:cNvSpPr txBox="1"/>
          <p:nvPr/>
        </p:nvSpPr>
        <p:spPr>
          <a:xfrm>
            <a:off x="614689" y="100042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Переход на инференс VK и модель Qwen3.8-⁠27B</a:t>
            </a:r>
            <a:endParaRPr lang="ru-RU" sz="1800"/>
          </a:p>
        </p:txBody>
      </p:sp>
      <p:cxnSp>
        <p:nvCxnSpPr>
          <p:cNvPr id="1226" name="Line 1226"/>
          <p:cNvCxnSpPr/>
          <p:nvPr/>
        </p:nvCxnSpPr>
        <p:spPr>
          <a:xfrm>
            <a:off x="614689" y="164304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7" name="Marker 1227"/>
          <p:cNvSpPr/>
          <p:nvPr/>
        </p:nvSpPr>
        <p:spPr>
          <a:xfrm>
            <a:off x="248929" y="207966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8" name="Item 1228"/>
          <p:cNvSpPr txBox="1"/>
          <p:nvPr/>
        </p:nvSpPr>
        <p:spPr>
          <a:xfrm>
            <a:off x="614689" y="198594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Генерация изображений внутри слайдов</a:t>
            </a:r>
            <a:endParaRPr lang="ru-RU" sz="1800"/>
          </a:p>
        </p:txBody>
      </p:sp>
      <p:cxnSp>
        <p:nvCxnSpPr>
          <p:cNvPr id="1229" name="Line 1229"/>
          <p:cNvCxnSpPr/>
          <p:nvPr/>
        </p:nvCxnSpPr>
        <p:spPr>
          <a:xfrm>
            <a:off x="614689" y="262856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0" name="Marker 1230"/>
          <p:cNvSpPr/>
          <p:nvPr/>
        </p:nvSpPr>
        <p:spPr>
          <a:xfrm>
            <a:off x="248929" y="306518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1" name="Item 1231"/>
          <p:cNvSpPr txBox="1"/>
          <p:nvPr/>
        </p:nvSpPr>
        <p:spPr>
          <a:xfrm>
            <a:off x="614689" y="297146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Пилот на шаблонах и сценариях VK Tech</a:t>
            </a:r>
            <a:endParaRPr lang="ru-RU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