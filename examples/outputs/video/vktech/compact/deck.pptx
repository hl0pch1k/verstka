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3"/>
    <p:sldMasterId id="2147483688" r:id="rId4"/>
  </p:sldMasterIdLst>
  <p:notesMasterIdLst>
    <p:notesMasterId r:id="rId5"/>
  </p:notesMasterIdLst>
  <p:sldIdLst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</p:sldIdLst>
  <p:sldSz cy="5143500" cx="9144000"/>
  <p:notesSz cx="6858000" cy="9144000"/>
  <p:embeddedFontLst>
    <p:embeddedFont>
      <p:font typeface="Play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0" Type="http://schemas.openxmlformats.org/officeDocument/2006/relationships/font" Target="fonts/Play-regular.fntdata"/><Relationship Id="rId61" Type="http://schemas.openxmlformats.org/officeDocument/2006/relationships/font" Target="fonts/Play-bold.fntdata"/><Relationship Id="rId62" Type="http://schemas.openxmlformats.org/officeDocument/2006/relationships/slide" Target="slides/slide1.xml"/><Relationship Id="rId63" Type="http://schemas.openxmlformats.org/officeDocument/2006/relationships/slide" Target="slides/slide2.xml"/><Relationship Id="rId64" Type="http://schemas.openxmlformats.org/officeDocument/2006/relationships/slide" Target="slides/slide3.xml"/><Relationship Id="rId65" Type="http://schemas.openxmlformats.org/officeDocument/2006/relationships/slide" Target="slides/slide4.xml"/><Relationship Id="rId66" Type="http://schemas.openxmlformats.org/officeDocument/2006/relationships/slide" Target="slides/slide5.xml"/><Relationship Id="rId67" Type="http://schemas.openxmlformats.org/officeDocument/2006/relationships/slide" Target="slides/slide6.xml"/><Relationship Id="rId68" Type="http://schemas.openxmlformats.org/officeDocument/2006/relationships/slide" Target="slides/slide7.xml"/><Relationship Id="rId69" Type="http://schemas.openxmlformats.org/officeDocument/2006/relationships/slide" Target="slides/slide8.xml"/><Relationship Id="rId70" Type="http://schemas.openxmlformats.org/officeDocument/2006/relationships/slide" Target="slides/slide9.xml"/><Relationship Id="rId71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280"/>
          <c:y val="0.0280"/>
          <c:w val="0.9440"/>
          <c:h val="0.9440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Доля фигур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  <a:ln w="25400">
                <a:solidFill>
                  <a:srgbClr val="FAFCFF"/>
                </a:solidFill>
              </a:ln>
            </c:spPr>
          </c:dPt>
          <c:dPt>
            <c:idx val="1"/>
            <c:spPr>
              <a:solidFill>
                <a:srgbClr val="50A2FF"/>
              </a:solidFill>
              <a:ln w="25400">
                <a:solidFill>
                  <a:srgbClr val="FAFCFF"/>
                </a:solidFill>
              </a:ln>
            </c:spPr>
          </c:dPt>
          <c:dLbls>
            <c:dLbl>
              <c:idx val="0"/>
              <c:numFmt formatCode="0&quot;%&quot;;&quot;−&quot;0&quot;%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0">
                      <a:solidFill>
                        <a:srgbClr val="FFFF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delete val="1"/>
            </c:dLbl>
            <c:numFmt formatCode="0&quot;%&quot;;&quot;−&quot;0&quot;%&quot;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200" b="0">
                    <a:solidFill>
                      <a:srgbClr val="000000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Свободные фигуры</c:v>
                </c:pt>
                <c:pt idx="1">
                  <c:v>Плейсхолдеры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95.0</c:v>
                </c:pt>
                <c:pt idx="1">
                  <c:v>5.0</c:v>
                </c:pt>
              </c:numCache>
            </c:numRef>
          </c:val>
        </c:ser>
        <c:dLbls>
          <c:numFmt formatCode="0&quot;%&quot;;&quot;−&quot;0&quot;%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200" b="0">
                  <a:solidFill>
                    <a:srgbClr val="000000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  <c:holeSize val="56"/>
      </c:doughnutChart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Play"/>
          <a:ea typeface="Play"/>
          <a:cs typeface="Play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451"/>
          <c:y val="0.0128"/>
          <c:w val="0.8009"/>
          <c:h val="0.974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Число проверок</c:v>
                </c:pt>
              </c:strCache>
            </c:strRef>
          </c:tx>
          <c:spPr>
            <a:solidFill>
              <a:srgbClr val="0077FF"/>
            </a:solidFill>
            <a:ln>
              <a:noFill/>
            </a:ln>
          </c:spPr>
          <c:invertIfNegative val="0"/>
          <c:dLbls>
            <c:dLbl>
              <c:idx val="0"/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;&quot;−&quot;#,##0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200" b="0">
                    <a:solidFill>
                      <a:srgbClr val="000000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Целостность</c:v>
                </c:pt>
                <c:pt idx="1">
                  <c:v>Вёрстка</c:v>
                </c:pt>
                <c:pt idx="2">
                  <c:v>Шаблон</c:v>
                </c:pt>
                <c:pt idx="3">
                  <c:v>Контент</c:v>
                </c:pt>
                <c:pt idx="4">
                  <c:v>Плотность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12.0</c:v>
                </c:pt>
                <c:pt idx="1">
                  <c:v>11.0</c:v>
                </c:pt>
                <c:pt idx="2">
                  <c:v>7.0</c:v>
                </c:pt>
                <c:pt idx="3">
                  <c:v>6.0</c:v>
                </c:pt>
                <c:pt idx="4">
                  <c:v>5.0</c:v>
                </c:pt>
              </c:numCache>
            </c:numRef>
          </c:val>
        </c:ser>
        <c:dLbls>
          <c:numFmt formatCode="#,##0&quot; проверок&quot;;&quot;−&quot;#,##0&quot; проверок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200" b="0">
                  <a:solidFill>
                    <a:srgbClr val="000000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510000001"/>
        <c:axId val="510000002"/>
      </c:barChart>
      <c:catAx>
        <c:axId val="510000001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 rot="0" vert="horz"/>
          <a:lstStyle/>
          <a:p>
            <a:pPr>
              <a:defRPr sz="900" b="0">
                <a:solidFill>
                  <a:srgbClr val="555657"/>
                </a:solidFill>
                <a:latin typeface="Play"/>
                <a:ea typeface="Play"/>
                <a:cs typeface="Play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12.0"/>
          <c:min val="0.0"/>
        </c:scaling>
        <c:delete val="1"/>
        <c:axPos val="b"/>
        <c:majorTickMark val="out"/>
        <c:minorTickMark val="none"/>
        <c:tickLblPos val="nextTo"/>
        <c:crossAx val="510000001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024"/>
          <c:y val="0.0870"/>
          <c:w val="0.9952"/>
          <c:h val="0.84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Время генерации</c:v>
                </c:pt>
              </c:strCache>
            </c:strRef>
          </c:tx>
          <c:spPr>
            <a:solidFill>
              <a:srgbClr val="0077FF"/>
            </a:solidFill>
            <a:ln>
              <a:noFill/>
            </a:ln>
          </c:spPr>
          <c:invertIfNegative val="0"/>
          <c:dLbls>
            <c:dLbl>
              <c:idx val="2"/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;&quot;−&quot;#,##0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200" b="0">
                    <a:solidFill>
                      <a:srgbClr val="000000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VK Tech</c:v>
                </c:pt>
                <c:pt idx="1">
                  <c:v>VK Education</c:v>
                </c:pt>
                <c:pt idx="2">
                  <c:v>VK WorkSpace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113.0</c:v>
                </c:pt>
                <c:pt idx="1">
                  <c:v>145.0</c:v>
                </c:pt>
                <c:pt idx="2">
                  <c:v>175.0</c:v>
                </c:pt>
              </c:numCache>
            </c:numRef>
          </c:val>
        </c:ser>
        <c:dLbls>
          <c:numFmt formatCode="#,##0&quot; секунд&quot;;&quot;−&quot;#,##0&quot; секунд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200" b="0">
                  <a:solidFill>
                    <a:srgbClr val="000000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3"/>
        <c:axId val="510000001"/>
        <c:axId val="510000002"/>
      </c:barChart>
      <c:catAx>
        <c:axId val="510000001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DDE3EA"/>
            </a:solidFill>
          </a:ln>
        </c:spPr>
        <c:txPr>
          <a:bodyPr rot="0" vert="horz"/>
          <a:lstStyle/>
          <a:p>
            <a:pPr>
              <a:defRPr sz="900" b="0">
                <a:solidFill>
                  <a:srgbClr val="555657"/>
                </a:solidFill>
                <a:latin typeface="Play"/>
                <a:ea typeface="Play"/>
                <a:cs typeface="Play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175.0"/>
          <c:min val="0.0"/>
        </c:scaling>
        <c:delete val="1"/>
        <c:axPos val="l"/>
        <c:majorTickMark val="out"/>
        <c:minorTickMark val="none"/>
        <c:tickLblPos val="nextTo"/>
        <c:crossAx val="510000001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Автор быстро пишет текст, но потом часами раскладывает его по фирменному шаблону.</a:t>
            </a:r>
          </a:p>
          <a:p>
            <a:r>
              <a:t>[verstka:sl2]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В реальных шаблонах 95% фигур — свободные фигуры, и только 5% — плейсхолдеры. Поэтому правила оформления приходится выводить из самих слайдов-образцов: палитру, кегли, сетку, поля, логотипы и колонтитулы.</a:t>
            </a:r>
          </a:p>
          <a:p>
            <a:r>
              <a:t>[verstka:sl3]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Verstka берёт любой шаблон PowerPoint и текст и собирает три редактируемые презентации в стиле этого шаблона. Шаблон читается как набор правил, а не как набор макетов.</a:t>
            </a:r>
          </a:p>
          <a:p>
            <a:r>
              <a:t>[verstka:sl4]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Агент использует открытые модели до 35 миллиардов параметров с лицензией Apache 2.0. Процесс состоит из пяти последовательных шагов: аналитик находит в тексте слайды, ряды данных и просьбы; дизайнер продумывает каждый слайд отдельно; критик сверяет план с текстом и правилами шаблона; компилятор проверяет каждое число; вёрстка собирает слайды по дизайн-системе шаблона.</a:t>
            </a:r>
          </a:p>
          <a:p>
            <a:r>
              <a:t>[verstka:sl5]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Содержание слайда не меняется, меняется только подача: структурный вариант — для отчёта и защиты проекта, визуальный — для питча и выступления, компактный — для рассылки руководителю.</a:t>
            </a:r>
          </a:p>
          <a:p>
            <a:r>
              <a:t>[verstka:sl6]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Сумма проверок по категориям (12 + 11 + 7 + 6 + 5) составляет 41, что соответствует числу детерминированных проверок. Дополнительно выполняется 2 проверки моделью.</a:t>
            </a:r>
          </a:p>
          <a:p>
            <a:r>
              <a:t>[verstka:sl7]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Каждое число плана сверяется с текстом до вёрстки и ещё раз в готовом файле PowerPoint. Нужны три крупные цифры: 9 демо-презентаций, от 116 до 123 сверенных чисел в каждой, 0 выдуманных.</a:t>
            </a:r>
          </a:p>
          <a:p>
            <a:r>
              <a:t>[verstka:sl8]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Регрессионный корпус включает 87 чужих шаблонов и 261 презентацию. Сервис принимает 12 форматов, включая pptx, potx, ppt, odp, thmx. Средняя оценка проверки качества составляет 99 из 100.</a:t>
            </a:r>
          </a:p>
          <a:p>
            <a:r>
              <a:t>[verstka:sl9]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Время генерации трёх вариантов на шаблонах датасета: VK Tech — 113 секунд, VK Education — 145 секунд, VK WorkSpace — 175 секунд.</a:t>
            </a:r>
          </a:p>
          <a:p>
            <a:r>
              <a:t>[verstka:sl10]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Следующие шаги включают переход на инференс VK с моделью Qwen3.8-27B, добавление генерации изображений внутри слайдов и запуск пилота на шаблонах и сценариях VK Tech.</a:t>
            </a:r>
          </a:p>
          <a:p>
            <a:r>
              <a:t>[verstka:sl11]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4" name="Google Shape;14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" name="Google Shape;1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9" name="Google Shape;1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" name="Google Shape;2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" name="Google Shape;2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" name="Google Shape;24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" name="Google Shape;25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" name="Google Shape;27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" name="Google Shape;28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" name="Google Shape;29;p3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33" name="Google Shape;33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" name="Google Shape;34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36" name="Google Shape;36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" name="Google Shape;37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9" name="Google Shape;3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0" name="Google Shape;40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1" name="Google Shape;4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2" name="Google Shape;42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3" name="Google Shape;43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45" name="Google Shape;45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46" name="Google Shape;46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" name="Google Shape;47;p4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4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50" name="Google Shape;50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52" name="Google Shape;52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3" name="Google Shape;53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Разделитель">
  <p:cSld name="1_Разделитель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57" name="Google Shape;57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58" name="Google Shape;58;p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9" name="Google Shape;59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1" name="Google Shape;61;p6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62" name="Google Shape;62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63" name="Google Shape;63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64" name="Google Shape;64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65" name="Google Shape;6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лайд &quot;Спасибо!&quot;">
  <p:cSld name="4_Слайд &quot;Спасибо!&quot;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69" name="Google Shape;6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0" name="Google Shape;7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2" name="Google Shape;72;p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73" name="Google Shape;73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74" name="Google Shape;7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5" name="Google Shape;75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одержание">
  <p:cSld name="1_Содержание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78" name="Google Shape;78;p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79" name="Google Shape;79;p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80" name="Google Shape;80;p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81" name="Google Shape;8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" name="Google Shape;82;p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одержание">
  <p:cSld name="2_Содержание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90" name="Google Shape;90;p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91" name="Google Shape;91;p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92" name="Google Shape;92;p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93" name="Google Shape;9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одержание">
  <p:cSld name="3_Содержание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02" name="Google Shape;102;p1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03" name="Google Shape;103;p1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04" name="Google Shape;10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05" name="Google Shape;105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1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Визитка">
  <p:cSld name="1_Визитка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p1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12" name="Google Shape;112;p1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13" name="Google Shape;113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14" name="Google Shape;114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p1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1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1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Визитка">
  <p:cSld name="4_Визитка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1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23" name="Google Shape;123;p1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24" name="Google Shape;124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25" name="Google Shape;12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1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1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1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вободный дизайн">
  <p:cSld name="1_Свободный дизайн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3" name="Google Shape;133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34" name="Google Shape;134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35" name="Google Shape;13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1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7" name="Google Shape;137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9" name="Google Shape;139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0" name="Google Shape;140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1" name="Google Shape;14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Контент">
  <p:cSld name="1_Контент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45" name="Google Shape;145;p1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46" name="Google Shape;146;p1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7" name="Google Shape;14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8" name="Google Shape;148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Контент">
  <p:cSld name="3_Контент"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2" name="Google Shape;152;p1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53" name="Google Shape;153;p1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54" name="Google Shape;15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5" name="Google Shape;155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Контент">
  <p:cSld name="5_Контент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9" name="Google Shape;159;p1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0" name="Google Shape;160;p1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1" name="Google Shape;16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2" name="Google Shape;162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Контент">
  <p:cSld name="7_Контент"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66" name="Google Shape;166;p1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7" name="Google Shape;167;p1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8" name="Google Shape;168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9" name="Google Shape;169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Контент">
  <p:cSld name="8_Контент"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73" name="Google Shape;173;p1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74" name="Google Shape;174;p1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75" name="Google Shape;175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76" name="Google Shape;176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Контент">
  <p:cSld name="13_Контент"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1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0" name="Google Shape;180;p1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1" name="Google Shape;181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2" name="Google Shape;182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1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2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6" name="Google Shape;186;p2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7" name="Google Shape;187;p2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8" name="Google Shape;188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вободный дизайн">
  <p:cSld name="2_Свободный дизайн"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" name="Google Shape;191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2" name="Google Shape;192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3" name="Google Shape;19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94" name="Google Shape;194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" name="Google Shape;195;p21"/>
          <p:cNvSpPr txBox="1"/>
          <p:nvPr>
            <p:ph type="title"/>
          </p:nvPr>
        </p:nvSpPr>
        <p:spPr>
          <a:xfrm>
            <a:off x="177970" y="175372"/>
            <a:ext cx="6792985" cy="907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6" name="Google Shape;196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7" name="Google Shape;197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8" name="Google Shape;198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9" name="Google Shape;19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0" name="Google Shape;200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Разделитель">
  <p:cSld name="2_Разделитель">
    <p:bg>
      <p:bgPr>
        <a:solidFill>
          <a:schemeClr val="dk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3" name="Google Shape;203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04" name="Google Shape;204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5" name="Google Shape;205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22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7" name="Google Shape;207;p22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08" name="Google Shape;208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9" name="Google Shape;209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10" name="Google Shape;210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1" name="Google Shape;211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13" name="Google Shape;21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4" name="Google Shape;21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16" name="Google Shape;216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7" name="Google Shape;217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23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9" name="Google Shape;219;p23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20" name="Google Shape;220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21" name="Google Shape;221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22" name="Google Shape;222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4" name="Google Shape;224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" name="Google Shape;22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6" name="Google Shape;226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7" name="Google Shape;227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29" name="Google Shape;229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0" name="Google Shape;230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" name="Google Shape;231;p24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2" name="Google Shape;232;p24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35" name="Google Shape;235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6" name="Google Shape;236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38" name="Google Shape;238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9" name="Google Shape;239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41" name="Google Shape;24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2" name="Google Shape;242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3" name="Google Shape;24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4" name="Google Shape;244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5" name="Google Shape;245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47" name="Google Shape;247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48" name="Google Shape;248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25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0" name="Google Shape;250;p25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1" name="Google Shape;251;p25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52" name="Google Shape;252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54" name="Google Shape;254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55" name="Google Shape;255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лайд &quot;Спасибо!&quot;">
  <p:cSld name="2_Слайд &quot;Спасибо!&quot;">
    <p:bg>
      <p:bgPr>
        <a:solidFill>
          <a:schemeClr val="dk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57" name="Google Shape;257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0" name="Google Shape;260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1" name="Google Shape;261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63" name="Google Shape;263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64" name="Google Shape;264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5" name="Google Shape;265;p26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6" name="Google Shape;266;p26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7" name="Google Shape;267;p26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68" name="Google Shape;268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" name="Google Shape;269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0" name="Google Shape;270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1" name="Google Shape;271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лайд &quot;Спасибо!&quot;">
  <p:cSld name="3_Слайд &quot;Спасибо!&quot;">
    <p:bg>
      <p:bgPr>
        <a:solidFill>
          <a:schemeClr val="dk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5" name="Google Shape;275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6" name="Google Shape;276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" name="Google Shape;277;p2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8" name="Google Shape;278;p2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1" name="Google Shape;281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Содержание">
  <p:cSld name="5_Содержание">
    <p:bg>
      <p:bgPr>
        <a:solidFill>
          <a:schemeClr val="dk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84" name="Google Shape;284;p2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85" name="Google Shape;285;p2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86" name="Google Shape;286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7" name="Google Shape;287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8" name="Google Shape;288;p2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9" name="Google Shape;289;p2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0" name="Google Shape;290;p2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1" name="Google Shape;291;p2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2" name="Google Shape;292;p2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Содержание">
  <p:cSld name="6_Содержание">
    <p:bg>
      <p:bgPr>
        <a:solidFill>
          <a:schemeClr val="dk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96" name="Google Shape;296;p2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97" name="Google Shape;297;p2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98" name="Google Shape;298;p2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99" name="Google Shape;299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2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1" name="Google Shape;301;p2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2" name="Google Shape;302;p2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3" name="Google Shape;303;p2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4" name="Google Shape;304;p2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одержание">
  <p:cSld name="4_Содержание">
    <p:bg>
      <p:bgPr>
        <a:solidFill>
          <a:schemeClr val="dk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08" name="Google Shape;308;p3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09" name="Google Shape;309;p3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0" name="Google Shape;310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11" name="Google Shape;311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" name="Google Shape;312;p3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4" name="Google Shape;314;p3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Визитка">
  <p:cSld name="3_Визитка">
    <p:bg>
      <p:bgPr>
        <a:solidFill>
          <a:schemeClr val="dk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3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18" name="Google Shape;318;p3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9" name="Google Shape;319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20" name="Google Shape;320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1" name="Google Shape;321;p3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3" name="Google Shape;323;p3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4" name="Google Shape;324;p3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5" name="Google Shape;325;p3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Визитка">
  <p:cSld name="2_Визитка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3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29" name="Google Shape;329;p3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30" name="Google Shape;330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31" name="Google Shape;331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2" name="Google Shape;332;p3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4" name="Google Shape;334;p3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5" name="Google Shape;335;p3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Контент">
  <p:cSld name="2_Контент">
    <p:bg>
      <p:bgPr>
        <a:solidFill>
          <a:schemeClr val="dk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3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39" name="Google Shape;339;p3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0" name="Google Shape;340;p3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1" name="Google Shape;341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2" name="Google Shape;342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Контент">
  <p:cSld name="4_Контент">
    <p:bg>
      <p:bgPr>
        <a:solidFill>
          <a:schemeClr val="dk1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46" name="Google Shape;346;p3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7" name="Google Shape;347;p3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8" name="Google Shape;348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9" name="Google Shape;349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Контент">
  <p:cSld name="6_Контент">
    <p:bg>
      <p:bgPr>
        <a:solidFill>
          <a:schemeClr val="dk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53" name="Google Shape;353;p3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54" name="Google Shape;354;p3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55" name="Google Shape;355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56" name="Google Shape;356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Контент">
  <p:cSld name="12_Контент">
    <p:bg>
      <p:bgPr>
        <a:solidFill>
          <a:schemeClr val="dk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0" name="Google Shape;360;p3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1" name="Google Shape;361;p3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2" name="Google Shape;362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63" name="Google Shape;363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Контент">
  <p:cSld name="9_Контент">
    <p:bg>
      <p:bgPr>
        <a:solidFill>
          <a:schemeClr val="dk1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7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7" name="Google Shape;367;p3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8" name="Google Shape;368;p3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9" name="Google Shape;369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0" name="Google Shape;37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Контент">
  <p:cSld name="10_Контент">
    <p:bg>
      <p:bgPr>
        <a:solidFill>
          <a:schemeClr val="dk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" name="Google Shape;373;p3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74" name="Google Shape;374;p3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75" name="Google Shape;375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6" name="Google Shape;376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7" name="Google Shape;377;p38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Контент">
  <p:cSld name="11_Контент">
    <p:bg>
      <p:bgPr>
        <a:solidFill>
          <a:schemeClr val="lt1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0" name="Google Shape;380;p3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1" name="Google Shape;381;p3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2" name="Google Shape;382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83" name="Google Shape;383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4" name="Google Shape;384;p3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Контент">
  <p:cSld name="14_Контент">
    <p:bg>
      <p:bgPr>
        <a:solidFill>
          <a:schemeClr val="dk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4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8" name="Google Shape;388;p4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9" name="Google Shape;389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0" name="Google Shape;390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1" name="Google Shape;391;p40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EFAULT">
  <p:cSld name="1_DEFAULT">
    <p:bg>
      <p:bgPr>
        <a:solidFill>
          <a:schemeClr val="dk1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p4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94" name="Google Shape;394;p4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95" name="Google Shape;395;p4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6" name="Google Shape;396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29.xml"/><Relationship Id="rId27" Type="http://schemas.openxmlformats.org/officeDocument/2006/relationships/slideLayout" Target="../slideLayouts/slideLayout30.xml"/><Relationship Id="rId28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3.xml"/><Relationship Id="rId31" Type="http://schemas.openxmlformats.org/officeDocument/2006/relationships/slideLayout" Target="../slideLayouts/slideLayout34.xml"/><Relationship Id="rId32" Type="http://schemas.openxmlformats.org/officeDocument/2006/relationships/slideLayout" Target="../slideLayouts/slideLayout35.xml"/><Relationship Id="rId33" Type="http://schemas.openxmlformats.org/officeDocument/2006/relationships/slideLayout" Target="../slideLayouts/slideLayout36.xml"/><Relationship Id="rId34" Type="http://schemas.openxmlformats.org/officeDocument/2006/relationships/slideLayout" Target="../slideLayouts/slideLayout37.xml"/><Relationship Id="rId35" Type="http://schemas.openxmlformats.org/officeDocument/2006/relationships/slideLayout" Target="../slideLayouts/slideLayout38.xml"/><Relationship Id="rId36" Type="http://schemas.openxmlformats.org/officeDocument/2006/relationships/slideLayout" Target="../slideLayouts/slideLayout39.xml"/><Relationship Id="rId3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5.png"/><Relationship Id="rId3" Type="http://schemas.openxmlformats.org/officeDocument/2006/relationships/notesSlide" Target="../notesSlides/notesSlide5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5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5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5.png"/><Relationship Id="rId3" Type="http://schemas.openxmlformats.org/officeDocument/2006/relationships/notesSlide" Target="../notesSlides/notesSlide5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5.png"/><Relationship Id="rId3" Type="http://schemas.openxmlformats.org/officeDocument/2006/relationships/notesSlide" Target="../notesSlides/notesSlide5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5.png"/><Relationship Id="rId3" Type="http://schemas.openxmlformats.org/officeDocument/2006/relationships/notesSlide" Target="../notesSlides/notesSlide5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5.png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6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5.png"/><Relationship Id="rId3" Type="http://schemas.openxmlformats.org/officeDocument/2006/relationships/notesSlide" Target="../notesSlides/notesSlide6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5.png"/><Relationship Id="rId3" Type="http://schemas.openxmlformats.org/officeDocument/2006/relationships/notesSlide" Target="../notesSlides/notesSlide6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5.png"/><Relationship Id="rId3" Type="http://schemas.openxmlformats.org/officeDocument/2006/relationships/chart" Target="../charts/chart3.xml"/><Relationship Id="rId4" Type="http://schemas.openxmlformats.org/officeDocument/2006/relationships/notesSlide" Target="../notesSlides/notesSlide6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5.png"/><Relationship Id="rId3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7" name="Google Shape;1207;p72"/>
          <p:cNvSpPr txBox="1"/>
          <p:nvPr>
            <p:ph type="title"/>
          </p:nvPr>
        </p:nvSpPr>
        <p:spPr>
          <a:xfrm>
            <a:off x="157504" y="286048"/>
            <a:ext cx="7863840" cy="457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ru-RU" sz="2400"/>
              <a:t>Оформление съедает часы на каждую презентацию</a:t>
            </a:r>
            <a:endParaRPr/>
          </a:p>
        </p:txBody>
      </p:sp>
      <p:sp>
        <p:nvSpPr>
          <p:cNvPr id="1222" name="Conclusion bar 1222"/>
          <p:cNvSpPr/>
          <p:nvPr/>
        </p:nvSpPr>
        <p:spPr>
          <a:xfrm>
            <a:off x="248929" y="1023282"/>
            <a:ext cx="38100" cy="20828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23" name="Conclusion 1223"/>
          <p:cNvSpPr txBox="1"/>
          <p:nvPr/>
        </p:nvSpPr>
        <p:spPr>
          <a:xfrm>
            <a:off x="439429" y="1000422"/>
            <a:ext cx="7559946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1" cap="none" spc="0" baseline="0" dirty="0">
                <a:solidFill>
                  <a:srgbClr val="000000"/>
                </a:solidFill>
                <a:latin typeface="Play"/>
                <a:cs typeface="Play"/>
              </a:rPr>
              <a:t>Десятки презентаций рождаются каждую неделю</a:t>
            </a:r>
            <a:endParaRPr lang="ru-RU" sz="1500"/>
          </a:p>
        </p:txBody>
      </p:sp>
      <p:sp>
        <p:nvSpPr>
          <p:cNvPr id="1224" name="Card 1224"/>
          <p:cNvSpPr/>
          <p:nvPr/>
        </p:nvSpPr>
        <p:spPr>
          <a:xfrm>
            <a:off x="248929" y="1439588"/>
            <a:ext cx="2724231" cy="2884689"/>
          </a:xfrm>
          <a:prstGeom prst="roundRect">
            <a:avLst>
              <a:gd fmla="val 5285" name="adj"/>
            </a:avLst>
          </a:prstGeom>
          <a:solidFill>
            <a:srgbClr val="FFFFFF"/>
          </a:solidFill>
          <a:ln>
            <a:noFill/>
          </a:ln>
          <a:effectLst>
            <a:outerShdw blurRad="154305" dist="20574" dir="5400000" algn="t" rotWithShape="0">
              <a:srgbClr val="0B1F44">
                <a:alpha val="9000"/>
              </a:srgbClr>
            </a:outerShdw>
          </a:effectLst>
        </p:spPr>
      </p:sp>
      <p:sp>
        <p:nvSpPr>
          <p:cNvPr id="1225" name="Rule 1225"/>
          <p:cNvSpPr/>
          <p:nvPr/>
        </p:nvSpPr>
        <p:spPr>
          <a:xfrm>
            <a:off x="439625" y="1630284"/>
            <a:ext cx="360045" cy="3810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26" name="Column title 1226"/>
          <p:cNvSpPr txBox="1"/>
          <p:nvPr/>
        </p:nvSpPr>
        <p:spPr>
          <a:xfrm>
            <a:off x="439625" y="1760967"/>
            <a:ext cx="2342839" cy="84988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05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Ручная вёрстка</a:t>
            </a:r>
            <a:endParaRPr lang="ru-RU" sz="2705"/>
          </a:p>
        </p:txBody>
      </p:sp>
      <p:sp>
        <p:nvSpPr>
          <p:cNvPr id="1227" name="Column 1227"/>
          <p:cNvSpPr txBox="1"/>
          <p:nvPr/>
        </p:nvSpPr>
        <p:spPr>
          <a:xfrm>
            <a:off x="439625" y="2736581"/>
            <a:ext cx="2342839" cy="1397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251460" indent="-251460">
              <a:lnSpc>
                <a:spcPct val="100000"/>
              </a:lnSpc>
              <a:buClr>
                <a:srgbClr val="0077FF"/>
              </a:buClr>
              <a:buFont typeface="Arial"/>
              <a:buChar char="•"/>
            </a:pPr>
            <a:r>
              <a:rPr lang="ru-RU" sz="18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Подбор макета, перемещение блоков и подгонка цветов под фирменный стиль</a:t>
            </a:r>
            <a:endParaRPr lang="ru-RU" sz="1800"/>
          </a:p>
        </p:txBody>
      </p:sp>
      <p:sp>
        <p:nvSpPr>
          <p:cNvPr id="1228" name="Card 1228"/>
          <p:cNvSpPr/>
          <p:nvPr/>
        </p:nvSpPr>
        <p:spPr>
          <a:xfrm>
            <a:off x="3192616" y="1439588"/>
            <a:ext cx="2724231" cy="2884689"/>
          </a:xfrm>
          <a:prstGeom prst="roundRect">
            <a:avLst>
              <a:gd fmla="val 5285" name="adj"/>
            </a:avLst>
          </a:prstGeom>
          <a:solidFill>
            <a:srgbClr val="FFFFFF"/>
          </a:solidFill>
          <a:ln>
            <a:noFill/>
          </a:ln>
          <a:effectLst>
            <a:outerShdw blurRad="154305" dist="20574" dir="5400000" algn="t" rotWithShape="0">
              <a:srgbClr val="0B1F44">
                <a:alpha val="9000"/>
              </a:srgbClr>
            </a:outerShdw>
          </a:effectLst>
        </p:spPr>
      </p:sp>
      <p:sp>
        <p:nvSpPr>
          <p:cNvPr id="1229" name="Rule 1229"/>
          <p:cNvSpPr/>
          <p:nvPr/>
        </p:nvSpPr>
        <p:spPr>
          <a:xfrm>
            <a:off x="3383312" y="1630284"/>
            <a:ext cx="360045" cy="3810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30" name="Column title 1230"/>
          <p:cNvSpPr txBox="1"/>
          <p:nvPr/>
        </p:nvSpPr>
        <p:spPr>
          <a:xfrm>
            <a:off x="3383312" y="1760967"/>
            <a:ext cx="2342839" cy="84988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05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ИИ ломает стиль</a:t>
            </a:r>
            <a:endParaRPr lang="ru-RU" sz="2705"/>
          </a:p>
        </p:txBody>
      </p:sp>
      <p:sp>
        <p:nvSpPr>
          <p:cNvPr id="1231" name="Column 1231"/>
          <p:cNvSpPr txBox="1"/>
          <p:nvPr/>
        </p:nvSpPr>
        <p:spPr>
          <a:xfrm>
            <a:off x="3383312" y="2736581"/>
            <a:ext cx="2342839" cy="1397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251460" indent="-251460">
              <a:lnSpc>
                <a:spcPct val="100000"/>
              </a:lnSpc>
              <a:buClr>
                <a:srgbClr val="0077FF"/>
              </a:buClr>
              <a:buFont typeface="Arial"/>
              <a:buChar char="•"/>
            </a:pPr>
            <a:r>
              <a:rPr lang="ru-RU" sz="16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Нейросети пишут текст, но не воспроизводят дизайн-⁠систему компании</a:t>
            </a:r>
            <a:endParaRPr lang="ru-RU" sz="1800"/>
          </a:p>
        </p:txBody>
      </p:sp>
      <p:sp>
        <p:nvSpPr>
          <p:cNvPr id="1232" name="Card 1232"/>
          <p:cNvSpPr/>
          <p:nvPr/>
        </p:nvSpPr>
        <p:spPr>
          <a:xfrm>
            <a:off x="6136303" y="1439588"/>
            <a:ext cx="2724231" cy="2884689"/>
          </a:xfrm>
          <a:prstGeom prst="roundRect">
            <a:avLst>
              <a:gd fmla="val 5285" name="adj"/>
            </a:avLst>
          </a:prstGeom>
          <a:solidFill>
            <a:srgbClr val="FFFFFF"/>
          </a:solidFill>
          <a:ln>
            <a:noFill/>
          </a:ln>
          <a:effectLst>
            <a:outerShdw blurRad="154305" dist="20574" dir="5400000" algn="t" rotWithShape="0">
              <a:srgbClr val="0B1F44">
                <a:alpha val="9000"/>
              </a:srgbClr>
            </a:outerShdw>
          </a:effectLst>
        </p:spPr>
      </p:sp>
      <p:sp>
        <p:nvSpPr>
          <p:cNvPr id="1233" name="Rule 1233"/>
          <p:cNvSpPr/>
          <p:nvPr/>
        </p:nvSpPr>
        <p:spPr>
          <a:xfrm>
            <a:off x="6326999" y="1630284"/>
            <a:ext cx="360045" cy="3810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34" name="Column title 1234"/>
          <p:cNvSpPr txBox="1"/>
          <p:nvPr/>
        </p:nvSpPr>
        <p:spPr>
          <a:xfrm>
            <a:off x="6326999" y="1760967"/>
            <a:ext cx="2342839" cy="84988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4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Шаблон — не инструкция</a:t>
            </a:r>
            <a:endParaRPr lang="ru-RU" sz="2705"/>
          </a:p>
        </p:txBody>
      </p:sp>
      <p:sp>
        <p:nvSpPr>
          <p:cNvPr id="1235" name="Column 1235"/>
          <p:cNvSpPr txBox="1"/>
          <p:nvPr/>
        </p:nvSpPr>
        <p:spPr>
          <a:xfrm>
            <a:off x="6326999" y="2736581"/>
            <a:ext cx="2342839" cy="1397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251460" indent="-251460">
              <a:lnSpc>
                <a:spcPct val="100000"/>
              </a:lnSpc>
              <a:buClr>
                <a:srgbClr val="0077FF"/>
              </a:buClr>
              <a:buFont typeface="Arial"/>
              <a:buChar char="•"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по слайдам-⁠образцам не понять, как собрать новый слайд</a:t>
            </a:r>
            <a:endParaRPr lang="ru-RU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7" name="Google Shape;1207;p72"/>
          <p:cNvSpPr txBox="1"/>
          <p:nvPr>
            <p:ph type="title"/>
          </p:nvPr>
        </p:nvSpPr>
        <p:spPr>
          <a:xfrm>
            <a:off x="157504" y="286048"/>
            <a:ext cx="4466433" cy="822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ru-RU" sz="2400"/>
              <a:t>95% фигур в шаблонах — свободные, не плейсхолдеры</a:t>
            </a:r>
            <a:endParaRPr/>
          </a:p>
        </p:txBody>
      </p:sp>
      <p:sp>
        <p:nvSpPr>
          <p:cNvPr id="1208" name="Chart note 1208"/>
          <p:cNvSpPr txBox="1"/>
          <p:nvPr/>
        </p:nvSpPr>
        <p:spPr>
          <a:xfrm>
            <a:off x="248929" y="1366182"/>
            <a:ext cx="2927946" cy="187325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350"/>
              </a:spcAft>
              <a:buNone/>
            </a:pPr>
            <a:r>
              <a:rPr lang="ru-RU" sz="1500" b="1" cap="none" spc="0" baseline="0" dirty="0">
                <a:solidFill>
                  <a:srgbClr val="000000"/>
                </a:solidFill>
                <a:latin typeface="Play"/>
                <a:cs typeface="Play"/>
              </a:rPr>
              <a:t>Только </a:t>
            </a:r>
            <a:r>
              <a:rPr lang="ru-RU" sz="1500" b="1" cap="none" spc="0" baseline="0" dirty="0">
                <a:solidFill>
                  <a:srgbClr val="005EFF"/>
                </a:solidFill>
                <a:latin typeface="Play"/>
                <a:cs typeface="Play"/>
              </a:rPr>
              <a:t>5%</a:t>
            </a:r>
            <a:r>
              <a:rPr lang="ru-RU" sz="1500" b="1" cap="none" spc="0" baseline="0" dirty="0">
                <a:solidFill>
                  <a:srgbClr val="000000"/>
                </a:solidFill>
                <a:latin typeface="Play"/>
                <a:cs typeface="Play"/>
              </a:rPr>
              <a:t> фигур — плейсхолдеры</a:t>
            </a:r>
            <a:endParaRPr lang="ru-RU" sz="1500"/>
          </a:p>
          <a:p>
            <a:pPr algn="l" marL="209550" indent="-209550">
              <a:lnSpc>
                <a:spcPct val="100000"/>
              </a:lnSpc>
              <a:spcAft>
                <a:spcPts val="600"/>
              </a:spcAft>
              <a:buClr>
                <a:srgbClr val="0077FF"/>
              </a:buClr>
              <a:buFont typeface="Arial"/>
              <a:buChar char="•"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Правила оформления выводятся из слайдов-⁠образцов</a:t>
            </a:r>
            <a:endParaRPr lang="ru-RU" sz="1500"/>
          </a:p>
          <a:p>
            <a:pPr algn="l" marL="209550" indent="-209550">
              <a:lnSpc>
                <a:spcPct val="100000"/>
              </a:lnSpc>
              <a:buClr>
                <a:srgbClr val="0077FF"/>
              </a:buClr>
              <a:buFont typeface="Arial"/>
              <a:buChar char="•"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Палитра, кегли, сетка, поля, логотипы, колонтитулы</a:t>
            </a:r>
            <a:endParaRPr lang="ru-RU" sz="1500"/>
          </a:p>
        </p:txBody>
      </p:sp>
      <p:cxnSp>
        <p:nvCxnSpPr>
          <p:cNvPr id="1209" name="Line 1209"/>
          <p:cNvCxnSpPr/>
          <p:nvPr/>
        </p:nvCxnSpPr>
        <p:spPr>
          <a:xfrm>
            <a:off x="3396331" y="1366182"/>
            <a:ext cx="0" cy="187325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graphicFrame>
        <p:nvGraphicFramePr>
          <p:cNvPr id="1210" name="Chart 1209"/>
          <p:cNvGraphicFramePr>
            <a:graphicFrameLocks noGrp="1"/>
          </p:cNvGraphicFramePr>
          <p:nvPr/>
        </p:nvGraphicFramePr>
        <p:xfrm>
          <a:off x="3615787" y="1366182"/>
          <a:ext cx="2449032" cy="244903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11" name="Legend title 1211"/>
          <p:cNvSpPr txBox="1"/>
          <p:nvPr/>
        </p:nvSpPr>
        <p:spPr>
          <a:xfrm>
            <a:off x="6503731" y="2019198"/>
            <a:ext cx="2356805" cy="5765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4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Состав фигур в реальных шаблонах</a:t>
            </a:r>
            <a:endParaRPr lang="ru-RU" sz="1400"/>
          </a:p>
        </p:txBody>
      </p:sp>
      <p:sp>
        <p:nvSpPr>
          <p:cNvPr id="1212" name="Swatch 1212"/>
          <p:cNvSpPr/>
          <p:nvPr/>
        </p:nvSpPr>
        <p:spPr>
          <a:xfrm>
            <a:off x="6503731" y="2638450"/>
            <a:ext cx="128016" cy="128016"/>
          </a:xfrm>
          <a:prstGeom prst="roundRect">
            <a:avLst>
              <a:gd name="adj" fmla="val 25000"/>
            </a:avLst>
          </a:prstGeom>
          <a:solidFill>
            <a:srgbClr val="0077FF"/>
          </a:solidFill>
          <a:ln>
            <a:noFill/>
          </a:ln>
        </p:spPr>
      </p:sp>
      <p:sp>
        <p:nvSpPr>
          <p:cNvPr id="1213" name="Legend 1213"/>
          <p:cNvSpPr txBox="1"/>
          <p:nvPr/>
        </p:nvSpPr>
        <p:spPr>
          <a:xfrm>
            <a:off x="6734159" y="2595778"/>
            <a:ext cx="1679099" cy="238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4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Свободные фигуры</a:t>
            </a:r>
            <a:endParaRPr lang="ru-RU" sz="1400"/>
          </a:p>
        </p:txBody>
      </p:sp>
      <p:sp>
        <p:nvSpPr>
          <p:cNvPr id="1214" name="Share 1214"/>
          <p:cNvSpPr txBox="1"/>
          <p:nvPr/>
        </p:nvSpPr>
        <p:spPr>
          <a:xfrm>
            <a:off x="8413258" y="2595778"/>
            <a:ext cx="447278" cy="238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400" b="0" cap="none" spc="0" baseline="0" dirty="0">
                <a:solidFill>
                  <a:srgbClr val="005EFF"/>
                </a:solidFill>
                <a:latin typeface="Play"/>
                <a:cs typeface="Play"/>
              </a:rPr>
              <a:t>95%</a:t>
            </a:r>
            <a:endParaRPr lang="ru-RU" sz="1400"/>
          </a:p>
        </p:txBody>
      </p:sp>
      <p:sp>
        <p:nvSpPr>
          <p:cNvPr id="1215" name="Swatch 1215"/>
          <p:cNvSpPr/>
          <p:nvPr/>
        </p:nvSpPr>
        <p:spPr>
          <a:xfrm>
            <a:off x="6503731" y="2966110"/>
            <a:ext cx="128016" cy="128016"/>
          </a:xfrm>
          <a:prstGeom prst="roundRect">
            <a:avLst>
              <a:gd name="adj" fmla="val 25000"/>
            </a:avLst>
          </a:prstGeom>
          <a:solidFill>
            <a:srgbClr val="0077FF">
              <a:alpha val="68000"/>
            </a:srgbClr>
          </a:solidFill>
          <a:ln>
            <a:noFill/>
          </a:ln>
        </p:spPr>
      </p:sp>
      <p:sp>
        <p:nvSpPr>
          <p:cNvPr id="1216" name="Legend 1216"/>
          <p:cNvSpPr txBox="1"/>
          <p:nvPr/>
        </p:nvSpPr>
        <p:spPr>
          <a:xfrm>
            <a:off x="6734159" y="2923438"/>
            <a:ext cx="1679099" cy="238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4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Плейсхолдеры</a:t>
            </a:r>
            <a:endParaRPr lang="ru-RU" sz="1400"/>
          </a:p>
        </p:txBody>
      </p:sp>
      <p:sp>
        <p:nvSpPr>
          <p:cNvPr id="1217" name="Share 1217"/>
          <p:cNvSpPr txBox="1"/>
          <p:nvPr/>
        </p:nvSpPr>
        <p:spPr>
          <a:xfrm>
            <a:off x="8413258" y="2923438"/>
            <a:ext cx="447278" cy="238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100000"/>
              </a:lnSpc>
              <a:buNone/>
            </a:pPr>
            <a:r>
              <a:rPr lang="ru-RU" sz="14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5%</a:t>
            </a:r>
            <a:endParaRPr lang="ru-RU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7" name="Google Shape;1207;p72"/>
          <p:cNvSpPr txBox="1"/>
          <p:nvPr>
            <p:ph type="title"/>
          </p:nvPr>
        </p:nvSpPr>
        <p:spPr>
          <a:xfrm>
            <a:off x="157504" y="286048"/>
            <a:ext cx="5148069" cy="822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ru-RU" sz="2400"/>
              <a:t>Verstka собирает три презентации из шаблона и текста</a:t>
            </a:r>
            <a:endParaRPr/>
          </a:p>
        </p:txBody>
      </p:sp>
      <p:sp>
        <p:nvSpPr>
          <p:cNvPr id="1222" name="Conclusion bar 1222"/>
          <p:cNvSpPr/>
          <p:nvPr/>
        </p:nvSpPr>
        <p:spPr>
          <a:xfrm>
            <a:off x="248929" y="1389042"/>
            <a:ext cx="38100" cy="20828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23" name="Conclusion 1223"/>
          <p:cNvSpPr txBox="1"/>
          <p:nvPr/>
        </p:nvSpPr>
        <p:spPr>
          <a:xfrm>
            <a:off x="439429" y="1366182"/>
            <a:ext cx="7559946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1" cap="none" spc="0" baseline="0" dirty="0">
                <a:solidFill>
                  <a:srgbClr val="000000"/>
                </a:solidFill>
                <a:latin typeface="Play"/>
                <a:cs typeface="Play"/>
              </a:rPr>
              <a:t>Презентация в фирменном стиле без ручной вёрстки</a:t>
            </a:r>
            <a:endParaRPr lang="ru-RU" sz="1500"/>
          </a:p>
        </p:txBody>
      </p:sp>
      <p:sp>
        <p:nvSpPr>
          <p:cNvPr id="1224" name="Card 1224"/>
          <p:cNvSpPr/>
          <p:nvPr/>
        </p:nvSpPr>
        <p:spPr>
          <a:xfrm>
            <a:off x="248929" y="1805348"/>
            <a:ext cx="2724231" cy="2549815"/>
          </a:xfrm>
          <a:prstGeom prst="roundRect">
            <a:avLst>
              <a:gd fmla="val 5647" name="adj"/>
            </a:avLst>
          </a:prstGeom>
          <a:solidFill>
            <a:srgbClr val="FFFFFF"/>
          </a:solidFill>
          <a:ln>
            <a:noFill/>
          </a:ln>
          <a:effectLst>
            <a:outerShdw blurRad="154305" dist="20574" dir="5400000" algn="t" rotWithShape="0">
              <a:srgbClr val="0B1F44">
                <a:alpha val="9000"/>
              </a:srgbClr>
            </a:outerShdw>
          </a:effectLst>
        </p:spPr>
      </p:sp>
      <p:sp>
        <p:nvSpPr>
          <p:cNvPr id="1225" name="Rule 1225"/>
          <p:cNvSpPr/>
          <p:nvPr/>
        </p:nvSpPr>
        <p:spPr>
          <a:xfrm>
            <a:off x="439625" y="1996044"/>
            <a:ext cx="360045" cy="3810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26" name="Column title 1226"/>
          <p:cNvSpPr txBox="1"/>
          <p:nvPr/>
        </p:nvSpPr>
        <p:spPr>
          <a:xfrm>
            <a:off x="439625" y="2126727"/>
            <a:ext cx="2342839" cy="11226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4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На входе — шаблон и текст</a:t>
            </a:r>
            <a:endParaRPr lang="ru-RU" sz="2400"/>
          </a:p>
        </p:txBody>
      </p:sp>
      <p:sp>
        <p:nvSpPr>
          <p:cNvPr id="1227" name="Column 1227"/>
          <p:cNvSpPr txBox="1"/>
          <p:nvPr/>
        </p:nvSpPr>
        <p:spPr>
          <a:xfrm>
            <a:off x="439625" y="3367313"/>
            <a:ext cx="2342839" cy="79715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235813" indent="-235813">
              <a:lnSpc>
                <a:spcPct val="100000"/>
              </a:lnSpc>
              <a:buClr>
                <a:srgbClr val="0077FF"/>
              </a:buClr>
              <a:buFont typeface="Arial"/>
              <a:buChar char="•"/>
            </a:pPr>
            <a:r>
              <a:rPr lang="ru-RU" sz="1688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Любой шаблон PowerPoint и текст</a:t>
            </a:r>
            <a:endParaRPr lang="ru-RU" sz="1688"/>
          </a:p>
        </p:txBody>
      </p:sp>
      <p:sp>
        <p:nvSpPr>
          <p:cNvPr id="1228" name="Card 1228"/>
          <p:cNvSpPr/>
          <p:nvPr/>
        </p:nvSpPr>
        <p:spPr>
          <a:xfrm>
            <a:off x="3192616" y="1805348"/>
            <a:ext cx="2724231" cy="2549815"/>
          </a:xfrm>
          <a:prstGeom prst="roundRect">
            <a:avLst>
              <a:gd fmla="val 5647" name="adj"/>
            </a:avLst>
          </a:prstGeom>
          <a:solidFill>
            <a:srgbClr val="FFFFFF"/>
          </a:solidFill>
          <a:ln>
            <a:noFill/>
          </a:ln>
          <a:effectLst>
            <a:outerShdw blurRad="154305" dist="20574" dir="5400000" algn="t" rotWithShape="0">
              <a:srgbClr val="0B1F44">
                <a:alpha val="9000"/>
              </a:srgbClr>
            </a:outerShdw>
          </a:effectLst>
        </p:spPr>
      </p:sp>
      <p:sp>
        <p:nvSpPr>
          <p:cNvPr id="1229" name="Rule 1229"/>
          <p:cNvSpPr/>
          <p:nvPr/>
        </p:nvSpPr>
        <p:spPr>
          <a:xfrm>
            <a:off x="3383312" y="1996044"/>
            <a:ext cx="360045" cy="3810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30" name="Column title 1230"/>
          <p:cNvSpPr txBox="1"/>
          <p:nvPr/>
        </p:nvSpPr>
        <p:spPr>
          <a:xfrm>
            <a:off x="3383312" y="2126727"/>
            <a:ext cx="2342839" cy="11226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4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Шаблон — набор правил</a:t>
            </a:r>
            <a:endParaRPr lang="ru-RU" sz="2400"/>
          </a:p>
        </p:txBody>
      </p:sp>
      <p:sp>
        <p:nvSpPr>
          <p:cNvPr id="1231" name="Column 1231"/>
          <p:cNvSpPr txBox="1"/>
          <p:nvPr/>
        </p:nvSpPr>
        <p:spPr>
          <a:xfrm>
            <a:off x="3383312" y="3367313"/>
            <a:ext cx="2342839" cy="79715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235813" indent="-235813">
              <a:lnSpc>
                <a:spcPct val="100000"/>
              </a:lnSpc>
              <a:buClr>
                <a:srgbClr val="0077FF"/>
              </a:buClr>
              <a:buFont typeface="Arial"/>
              <a:buChar char="•"/>
            </a:pPr>
            <a:r>
              <a:rPr lang="ru-RU" sz="1688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Читается как правила, а не макеты</a:t>
            </a:r>
            <a:endParaRPr lang="ru-RU" sz="1688"/>
          </a:p>
        </p:txBody>
      </p:sp>
      <p:sp>
        <p:nvSpPr>
          <p:cNvPr id="1232" name="Card 1232"/>
          <p:cNvSpPr/>
          <p:nvPr/>
        </p:nvSpPr>
        <p:spPr>
          <a:xfrm>
            <a:off x="6136303" y="1805348"/>
            <a:ext cx="2724231" cy="2549815"/>
          </a:xfrm>
          <a:prstGeom prst="roundRect">
            <a:avLst>
              <a:gd fmla="val 5647" name="adj"/>
            </a:avLst>
          </a:prstGeom>
          <a:solidFill>
            <a:srgbClr val="FFFFFF"/>
          </a:solidFill>
          <a:ln>
            <a:noFill/>
          </a:ln>
          <a:effectLst>
            <a:outerShdw blurRad="154305" dist="20574" dir="5400000" algn="t" rotWithShape="0">
              <a:srgbClr val="0B1F44">
                <a:alpha val="9000"/>
              </a:srgbClr>
            </a:outerShdw>
          </a:effectLst>
        </p:spPr>
      </p:sp>
      <p:sp>
        <p:nvSpPr>
          <p:cNvPr id="1233" name="Rule 1233"/>
          <p:cNvSpPr/>
          <p:nvPr/>
        </p:nvSpPr>
        <p:spPr>
          <a:xfrm>
            <a:off x="6326999" y="1996044"/>
            <a:ext cx="360045" cy="3810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34" name="Column title 1234"/>
          <p:cNvSpPr txBox="1"/>
          <p:nvPr/>
        </p:nvSpPr>
        <p:spPr>
          <a:xfrm>
            <a:off x="6326999" y="2126727"/>
            <a:ext cx="2342839" cy="11226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4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На выходе — три презентации</a:t>
            </a:r>
            <a:endParaRPr lang="ru-RU" sz="2400"/>
          </a:p>
        </p:txBody>
      </p:sp>
      <p:sp>
        <p:nvSpPr>
          <p:cNvPr id="1235" name="Column 1235"/>
          <p:cNvSpPr txBox="1"/>
          <p:nvPr/>
        </p:nvSpPr>
        <p:spPr>
          <a:xfrm>
            <a:off x="6326999" y="3367313"/>
            <a:ext cx="2342839" cy="79715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235813" indent="-235813">
              <a:lnSpc>
                <a:spcPct val="100000"/>
              </a:lnSpc>
              <a:buClr>
                <a:srgbClr val="0077FF"/>
              </a:buClr>
              <a:buFont typeface="Arial"/>
              <a:buChar char="•"/>
            </a:pPr>
            <a:r>
              <a:rPr lang="ru-RU" sz="1688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Три редактируемые презентации в стиле шаблона</a:t>
            </a:r>
            <a:endParaRPr lang="ru-RU" sz="1688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7" name="Google Shape;1207;p72"/>
          <p:cNvSpPr txBox="1"/>
          <p:nvPr>
            <p:ph type="title"/>
          </p:nvPr>
        </p:nvSpPr>
        <p:spPr>
          <a:xfrm>
            <a:off x="157504" y="286048"/>
            <a:ext cx="7863840" cy="457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ru-RU" sz="2400"/>
              <a:t>Как работает агент</a:t>
            </a:r>
            <a:endParaRPr/>
          </a:p>
        </p:txBody>
      </p:sp>
      <p:sp>
        <p:nvSpPr>
          <p:cNvPr id="1208" name="Conclusion bar 1208"/>
          <p:cNvSpPr/>
          <p:nvPr/>
        </p:nvSpPr>
        <p:spPr>
          <a:xfrm>
            <a:off x="248929" y="1023282"/>
            <a:ext cx="38100" cy="20828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09" name="Conclusion 1209"/>
          <p:cNvSpPr txBox="1"/>
          <p:nvPr/>
        </p:nvSpPr>
        <p:spPr>
          <a:xfrm>
            <a:off x="439429" y="1000422"/>
            <a:ext cx="7559946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1" cap="none" spc="0" baseline="0" dirty="0">
                <a:solidFill>
                  <a:srgbClr val="000000"/>
                </a:solidFill>
                <a:latin typeface="Play"/>
                <a:cs typeface="Play"/>
              </a:rPr>
              <a:t>Каждый слайд проходит проверку критиком и компилятором перед сборкой</a:t>
            </a:r>
            <a:endParaRPr lang="ru-RU" sz="1500"/>
          </a:p>
        </p:txBody>
      </p:sp>
      <p:sp>
        <p:nvSpPr>
          <p:cNvPr id="1210" name="Marker 1210"/>
          <p:cNvSpPr/>
          <p:nvPr/>
        </p:nvSpPr>
        <p:spPr>
          <a:xfrm>
            <a:off x="248929" y="1517693"/>
            <a:ext cx="72390" cy="72390"/>
          </a:xfrm>
          <a:prstGeom prst="ellipse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11" name="Item 1211"/>
          <p:cNvSpPr txBox="1"/>
          <p:nvPr/>
        </p:nvSpPr>
        <p:spPr>
          <a:xfrm>
            <a:off x="553729" y="1439588"/>
            <a:ext cx="6584485" cy="482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Агент работает на открытых моделях до 35 миллиардов параметров с лицензией Apache 2.0</a:t>
            </a:r>
            <a:endParaRPr lang="ru-RU" sz="1500"/>
          </a:p>
        </p:txBody>
      </p:sp>
      <p:cxnSp>
        <p:nvCxnSpPr>
          <p:cNvPr id="1212" name="Line 1212"/>
          <p:cNvCxnSpPr/>
          <p:nvPr/>
        </p:nvCxnSpPr>
        <p:spPr>
          <a:xfrm>
            <a:off x="553729" y="2036488"/>
            <a:ext cx="6584485" cy="0"/>
          </a:xfrm>
          <a:prstGeom prst="line">
            <a:avLst/>
          </a:prstGeom>
          <a:ln w="9525">
            <a:solidFill>
              <a:srgbClr val="DDE3EA"/>
            </a:solidFill>
          </a:ln>
        </p:spPr>
      </p:cxnSp>
      <p:sp>
        <p:nvSpPr>
          <p:cNvPr id="1213" name="Marker 1213"/>
          <p:cNvSpPr/>
          <p:nvPr/>
        </p:nvSpPr>
        <p:spPr>
          <a:xfrm>
            <a:off x="248929" y="2228893"/>
            <a:ext cx="72390" cy="72390"/>
          </a:xfrm>
          <a:prstGeom prst="ellipse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14" name="Item 1214"/>
          <p:cNvSpPr txBox="1"/>
          <p:nvPr/>
        </p:nvSpPr>
        <p:spPr>
          <a:xfrm>
            <a:off x="553729" y="2150788"/>
            <a:ext cx="6584485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Аналитик — находит в тексте слайды, ряды данных и просьбы</a:t>
            </a:r>
            <a:endParaRPr lang="ru-RU" sz="1500"/>
          </a:p>
        </p:txBody>
      </p:sp>
      <p:cxnSp>
        <p:nvCxnSpPr>
          <p:cNvPr id="1215" name="Line 1215"/>
          <p:cNvCxnSpPr/>
          <p:nvPr/>
        </p:nvCxnSpPr>
        <p:spPr>
          <a:xfrm>
            <a:off x="553729" y="2519088"/>
            <a:ext cx="6584485" cy="0"/>
          </a:xfrm>
          <a:prstGeom prst="line">
            <a:avLst/>
          </a:prstGeom>
          <a:ln w="9525">
            <a:solidFill>
              <a:srgbClr val="DDE3EA"/>
            </a:solidFill>
          </a:ln>
        </p:spPr>
      </p:cxnSp>
      <p:sp>
        <p:nvSpPr>
          <p:cNvPr id="1216" name="Marker 1216"/>
          <p:cNvSpPr/>
          <p:nvPr/>
        </p:nvSpPr>
        <p:spPr>
          <a:xfrm>
            <a:off x="248929" y="2711493"/>
            <a:ext cx="72390" cy="72390"/>
          </a:xfrm>
          <a:prstGeom prst="ellipse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17" name="Item 1217"/>
          <p:cNvSpPr txBox="1"/>
          <p:nvPr/>
        </p:nvSpPr>
        <p:spPr>
          <a:xfrm>
            <a:off x="553729" y="2633388"/>
            <a:ext cx="6584485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Дизайнер — продумывает каждый слайд отдельно</a:t>
            </a:r>
            <a:endParaRPr lang="ru-RU" sz="1500"/>
          </a:p>
        </p:txBody>
      </p:sp>
      <p:cxnSp>
        <p:nvCxnSpPr>
          <p:cNvPr id="1218" name="Line 1218"/>
          <p:cNvCxnSpPr/>
          <p:nvPr/>
        </p:nvCxnSpPr>
        <p:spPr>
          <a:xfrm>
            <a:off x="553729" y="3001688"/>
            <a:ext cx="6584485" cy="0"/>
          </a:xfrm>
          <a:prstGeom prst="line">
            <a:avLst/>
          </a:prstGeom>
          <a:ln w="9525">
            <a:solidFill>
              <a:srgbClr val="DDE3EA"/>
            </a:solidFill>
          </a:ln>
        </p:spPr>
      </p:cxnSp>
      <p:sp>
        <p:nvSpPr>
          <p:cNvPr id="1219" name="Marker 1219"/>
          <p:cNvSpPr/>
          <p:nvPr/>
        </p:nvSpPr>
        <p:spPr>
          <a:xfrm>
            <a:off x="248929" y="3194093"/>
            <a:ext cx="72390" cy="72390"/>
          </a:xfrm>
          <a:prstGeom prst="ellipse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20" name="Item 1220"/>
          <p:cNvSpPr txBox="1"/>
          <p:nvPr/>
        </p:nvSpPr>
        <p:spPr>
          <a:xfrm>
            <a:off x="553729" y="3115988"/>
            <a:ext cx="6584485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Критик — сверяет план с текстом и правилами шаблона</a:t>
            </a:r>
            <a:endParaRPr lang="ru-RU" sz="1500"/>
          </a:p>
        </p:txBody>
      </p:sp>
      <p:cxnSp>
        <p:nvCxnSpPr>
          <p:cNvPr id="1221" name="Line 1221"/>
          <p:cNvCxnSpPr/>
          <p:nvPr/>
        </p:nvCxnSpPr>
        <p:spPr>
          <a:xfrm>
            <a:off x="553729" y="3484288"/>
            <a:ext cx="6584485" cy="0"/>
          </a:xfrm>
          <a:prstGeom prst="line">
            <a:avLst/>
          </a:prstGeom>
          <a:ln w="9525">
            <a:solidFill>
              <a:srgbClr val="DDE3EA"/>
            </a:solidFill>
          </a:ln>
        </p:spPr>
      </p:cxnSp>
      <p:sp>
        <p:nvSpPr>
          <p:cNvPr id="1222" name="Marker 1222"/>
          <p:cNvSpPr/>
          <p:nvPr/>
        </p:nvSpPr>
        <p:spPr>
          <a:xfrm>
            <a:off x="248929" y="3676693"/>
            <a:ext cx="72390" cy="72390"/>
          </a:xfrm>
          <a:prstGeom prst="ellipse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23" name="Item 1223"/>
          <p:cNvSpPr txBox="1"/>
          <p:nvPr/>
        </p:nvSpPr>
        <p:spPr>
          <a:xfrm>
            <a:off x="553729" y="3598588"/>
            <a:ext cx="6584485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Компилятор — проверяет каждое число</a:t>
            </a:r>
            <a:endParaRPr lang="ru-RU" sz="1500"/>
          </a:p>
        </p:txBody>
      </p:sp>
      <p:cxnSp>
        <p:nvCxnSpPr>
          <p:cNvPr id="1224" name="Line 1224"/>
          <p:cNvCxnSpPr/>
          <p:nvPr/>
        </p:nvCxnSpPr>
        <p:spPr>
          <a:xfrm>
            <a:off x="553729" y="3966888"/>
            <a:ext cx="6584485" cy="0"/>
          </a:xfrm>
          <a:prstGeom prst="line">
            <a:avLst/>
          </a:prstGeom>
          <a:ln w="9525">
            <a:solidFill>
              <a:srgbClr val="DDE3EA"/>
            </a:solidFill>
          </a:ln>
        </p:spPr>
      </p:cxnSp>
      <p:sp>
        <p:nvSpPr>
          <p:cNvPr id="1225" name="Marker 1225"/>
          <p:cNvSpPr/>
          <p:nvPr/>
        </p:nvSpPr>
        <p:spPr>
          <a:xfrm>
            <a:off x="248929" y="4159293"/>
            <a:ext cx="72390" cy="72390"/>
          </a:xfrm>
          <a:prstGeom prst="ellipse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26" name="Item 1226"/>
          <p:cNvSpPr txBox="1"/>
          <p:nvPr/>
        </p:nvSpPr>
        <p:spPr>
          <a:xfrm>
            <a:off x="553729" y="4081188"/>
            <a:ext cx="6584485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Вёрстка — собирает слайды по дизайн-⁠системе шаблона</a:t>
            </a:r>
            <a:endParaRPr lang="ru-RU"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7" name="Google Shape;1207;p72"/>
          <p:cNvSpPr txBox="1"/>
          <p:nvPr>
            <p:ph type="title"/>
          </p:nvPr>
        </p:nvSpPr>
        <p:spPr>
          <a:xfrm>
            <a:off x="157504" y="286048"/>
            <a:ext cx="7863840" cy="457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ru-RU" sz="2400"/>
              <a:t>Подача меняется под задачу, содержание — нет</a:t>
            </a:r>
            <a:endParaRPr/>
          </a:p>
        </p:txBody>
      </p:sp>
      <p:sp>
        <p:nvSpPr>
          <p:cNvPr id="1232" name="Card 1232"/>
          <p:cNvSpPr/>
          <p:nvPr/>
        </p:nvSpPr>
        <p:spPr>
          <a:xfrm>
            <a:off x="248929" y="1000422"/>
            <a:ext cx="2724231" cy="3005696"/>
          </a:xfrm>
          <a:prstGeom prst="roundRect">
            <a:avLst>
              <a:gd fmla="val 5285" name="adj"/>
            </a:avLst>
          </a:prstGeom>
          <a:solidFill>
            <a:srgbClr val="FFFFFF"/>
          </a:solidFill>
          <a:ln>
            <a:noFill/>
          </a:ln>
          <a:effectLst>
            <a:outerShdw blurRad="154305" dist="20574" dir="5400000" algn="t" rotWithShape="0">
              <a:srgbClr val="0B1F44">
                <a:alpha val="9000"/>
              </a:srgbClr>
            </a:outerShdw>
          </a:effectLst>
        </p:spPr>
      </p:sp>
      <p:sp>
        <p:nvSpPr>
          <p:cNvPr id="1233" name="Rule 1233"/>
          <p:cNvSpPr/>
          <p:nvPr/>
        </p:nvSpPr>
        <p:spPr>
          <a:xfrm>
            <a:off x="439625" y="1191118"/>
            <a:ext cx="360045" cy="3810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34" name="Column title 1234"/>
          <p:cNvSpPr txBox="1"/>
          <p:nvPr/>
        </p:nvSpPr>
        <p:spPr>
          <a:xfrm>
            <a:off x="439625" y="1321801"/>
            <a:ext cx="2342839" cy="4376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05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Структурный</a:t>
            </a:r>
            <a:endParaRPr lang="ru-RU" sz="2705"/>
          </a:p>
        </p:txBody>
      </p:sp>
      <p:sp>
        <p:nvSpPr>
          <p:cNvPr id="1235" name="Column 1235"/>
          <p:cNvSpPr txBox="1"/>
          <p:nvPr/>
        </p:nvSpPr>
        <p:spPr>
          <a:xfrm>
            <a:off x="439625" y="1885173"/>
            <a:ext cx="2342839" cy="1930249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251460" indent="-251460">
              <a:lnSpc>
                <a:spcPct val="100000"/>
              </a:lnSpc>
              <a:buClr>
                <a:srgbClr val="0077FF"/>
              </a:buClr>
              <a:buFont typeface="Arial"/>
              <a:buChar char="•"/>
            </a:pPr>
            <a:r>
              <a:rPr lang="ru-RU" sz="18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Одна мысль на слайд, строгая сетка. Для отчёта и защиты проекта.</a:t>
            </a:r>
            <a:endParaRPr lang="ru-RU" sz="1800"/>
          </a:p>
        </p:txBody>
      </p:sp>
      <p:sp>
        <p:nvSpPr>
          <p:cNvPr id="1236" name="Card 1236"/>
          <p:cNvSpPr/>
          <p:nvPr/>
        </p:nvSpPr>
        <p:spPr>
          <a:xfrm>
            <a:off x="3192616" y="1000422"/>
            <a:ext cx="2724231" cy="3005696"/>
          </a:xfrm>
          <a:prstGeom prst="roundRect">
            <a:avLst>
              <a:gd fmla="val 5285" name="adj"/>
            </a:avLst>
          </a:prstGeom>
          <a:solidFill>
            <a:srgbClr val="FFFFFF"/>
          </a:solidFill>
          <a:ln>
            <a:noFill/>
          </a:ln>
          <a:effectLst>
            <a:outerShdw blurRad="154305" dist="20574" dir="5400000" algn="t" rotWithShape="0">
              <a:srgbClr val="0B1F44">
                <a:alpha val="9000"/>
              </a:srgbClr>
            </a:outerShdw>
          </a:effectLst>
        </p:spPr>
      </p:sp>
      <p:sp>
        <p:nvSpPr>
          <p:cNvPr id="1237" name="Rule 1237"/>
          <p:cNvSpPr/>
          <p:nvPr/>
        </p:nvSpPr>
        <p:spPr>
          <a:xfrm>
            <a:off x="3383312" y="1191118"/>
            <a:ext cx="360045" cy="3810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38" name="Column title 1238"/>
          <p:cNvSpPr txBox="1"/>
          <p:nvPr/>
        </p:nvSpPr>
        <p:spPr>
          <a:xfrm>
            <a:off x="3383312" y="1321801"/>
            <a:ext cx="2342839" cy="4376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05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Визуальный</a:t>
            </a:r>
            <a:endParaRPr lang="ru-RU" sz="2705"/>
          </a:p>
        </p:txBody>
      </p:sp>
      <p:sp>
        <p:nvSpPr>
          <p:cNvPr id="1239" name="Column 1239"/>
          <p:cNvSpPr txBox="1"/>
          <p:nvPr/>
        </p:nvSpPr>
        <p:spPr>
          <a:xfrm>
            <a:off x="3383312" y="1885173"/>
            <a:ext cx="2342839" cy="1930249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251460" indent="-251460">
              <a:lnSpc>
                <a:spcPct val="100000"/>
              </a:lnSpc>
              <a:buClr>
                <a:srgbClr val="0077FF"/>
              </a:buClr>
              <a:buFont typeface="Arial"/>
              <a:buChar char="•"/>
            </a:pPr>
            <a:r>
              <a:rPr lang="ru-RU" sz="18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Крупные цифры и наглядные схемы. Для питча и выступления со сцены.</a:t>
            </a:r>
            <a:endParaRPr lang="ru-RU" sz="1800"/>
          </a:p>
        </p:txBody>
      </p:sp>
      <p:sp>
        <p:nvSpPr>
          <p:cNvPr id="1240" name="Card 1240"/>
          <p:cNvSpPr/>
          <p:nvPr/>
        </p:nvSpPr>
        <p:spPr>
          <a:xfrm>
            <a:off x="6136303" y="1000422"/>
            <a:ext cx="2724231" cy="3005696"/>
          </a:xfrm>
          <a:prstGeom prst="roundRect">
            <a:avLst>
              <a:gd fmla="val 5285" name="adj"/>
            </a:avLst>
          </a:prstGeom>
          <a:solidFill>
            <a:srgbClr val="FFFFFF"/>
          </a:solidFill>
          <a:ln>
            <a:noFill/>
          </a:ln>
          <a:effectLst>
            <a:outerShdw blurRad="154305" dist="20574" dir="5400000" algn="t" rotWithShape="0">
              <a:srgbClr val="0B1F44">
                <a:alpha val="9000"/>
              </a:srgbClr>
            </a:outerShdw>
          </a:effectLst>
        </p:spPr>
      </p:sp>
      <p:sp>
        <p:nvSpPr>
          <p:cNvPr id="1241" name="Rule 1241"/>
          <p:cNvSpPr/>
          <p:nvPr/>
        </p:nvSpPr>
        <p:spPr>
          <a:xfrm>
            <a:off x="6326999" y="1191118"/>
            <a:ext cx="360045" cy="3810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42" name="Column title 1242"/>
          <p:cNvSpPr txBox="1"/>
          <p:nvPr/>
        </p:nvSpPr>
        <p:spPr>
          <a:xfrm>
            <a:off x="6326999" y="1321801"/>
            <a:ext cx="2342839" cy="4376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05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Компактный</a:t>
            </a:r>
            <a:endParaRPr lang="ru-RU" sz="2705"/>
          </a:p>
        </p:txBody>
      </p:sp>
      <p:sp>
        <p:nvSpPr>
          <p:cNvPr id="1243" name="Column 1243"/>
          <p:cNvSpPr txBox="1"/>
          <p:nvPr/>
        </p:nvSpPr>
        <p:spPr>
          <a:xfrm>
            <a:off x="6326999" y="1885173"/>
            <a:ext cx="2342839" cy="1930249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251460" indent="-251460">
              <a:lnSpc>
                <a:spcPct val="100000"/>
              </a:lnSpc>
              <a:buClr>
                <a:srgbClr val="0077FF"/>
              </a:buClr>
              <a:buFont typeface="Arial"/>
              <a:buChar char="•"/>
            </a:pPr>
            <a:r>
              <a:rPr lang="ru-RU" sz="18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Вывод первой строкой, данные справа. Для рассылки руководителю.</a:t>
            </a:r>
            <a:endParaRPr lang="ru-RU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7" name="Google Shape;1207;p72"/>
          <p:cNvSpPr txBox="1"/>
          <p:nvPr>
            <p:ph type="title"/>
          </p:nvPr>
        </p:nvSpPr>
        <p:spPr>
          <a:xfrm>
            <a:off x="157504" y="286048"/>
            <a:ext cx="5888437" cy="822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ru-RU" sz="2400"/>
              <a:t>41 детерминированная и 2 модельные проверки гарантируют качество</a:t>
            </a:r>
            <a:endParaRPr/>
          </a:p>
        </p:txBody>
      </p:sp>
      <p:sp>
        <p:nvSpPr>
          <p:cNvPr id="1208" name="Chart note 1208"/>
          <p:cNvSpPr txBox="1"/>
          <p:nvPr/>
        </p:nvSpPr>
        <p:spPr>
          <a:xfrm>
            <a:off x="248929" y="1366182"/>
            <a:ext cx="2927946" cy="187325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350"/>
              </a:spcAft>
              <a:buNone/>
            </a:pPr>
            <a:r>
              <a:rPr lang="ru-RU" sz="1500" b="1" cap="none" spc="0" baseline="0" dirty="0">
                <a:solidFill>
                  <a:srgbClr val="000000"/>
                </a:solidFill>
                <a:latin typeface="Play"/>
                <a:cs typeface="Play"/>
              </a:rPr>
              <a:t>Каждое число проверяется дважды: до вёрстки и в готовом файле</a:t>
            </a:r>
            <a:endParaRPr lang="ru-RU" sz="1500"/>
          </a:p>
          <a:p>
            <a:pPr algn="l" marL="209550" indent="-209550">
              <a:lnSpc>
                <a:spcPct val="100000"/>
              </a:lnSpc>
              <a:spcAft>
                <a:spcPts val="600"/>
              </a:spcAft>
              <a:buClr>
                <a:srgbClr val="0077FF"/>
              </a:buClr>
              <a:buFont typeface="Arial"/>
              <a:buChar char="•"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Проблемы помечаются прямо на слайде</a:t>
            </a:r>
            <a:endParaRPr lang="ru-RU" sz="1500"/>
          </a:p>
          <a:p>
            <a:pPr algn="l" marL="209550" indent="-209550">
              <a:lnSpc>
                <a:spcPct val="100000"/>
              </a:lnSpc>
              <a:buClr>
                <a:srgbClr val="0077FF"/>
              </a:buClr>
              <a:buFont typeface="Arial"/>
              <a:buChar char="•"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Исправляются автоматически</a:t>
            </a:r>
            <a:endParaRPr lang="ru-RU" sz="1500"/>
          </a:p>
        </p:txBody>
      </p:sp>
      <p:cxnSp>
        <p:nvCxnSpPr>
          <p:cNvPr id="1209" name="Line 1209"/>
          <p:cNvCxnSpPr/>
          <p:nvPr/>
        </p:nvCxnSpPr>
        <p:spPr>
          <a:xfrm>
            <a:off x="3396331" y="1366182"/>
            <a:ext cx="0" cy="187325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1210" name="Unit 1210"/>
          <p:cNvSpPr txBox="1"/>
          <p:nvPr/>
        </p:nvSpPr>
        <p:spPr>
          <a:xfrm>
            <a:off x="3615787" y="1366182"/>
            <a:ext cx="5244749" cy="1625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9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Число проверок по категориям</a:t>
            </a:r>
            <a:endParaRPr lang="ru-RU" sz="900"/>
          </a:p>
        </p:txBody>
      </p:sp>
      <p:graphicFrame>
        <p:nvGraphicFramePr>
          <p:cNvPr id="1211" name="Chart 1210"/>
          <p:cNvGraphicFramePr>
            <a:graphicFrameLocks noGrp="1"/>
          </p:cNvGraphicFramePr>
          <p:nvPr/>
        </p:nvGraphicFramePr>
        <p:xfrm>
          <a:off x="3615787" y="1575033"/>
          <a:ext cx="5244749" cy="267004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7" name="Google Shape;1207;p72"/>
          <p:cNvSpPr txBox="1"/>
          <p:nvPr>
            <p:ph type="title"/>
          </p:nvPr>
        </p:nvSpPr>
        <p:spPr>
          <a:xfrm>
            <a:off x="157504" y="286048"/>
            <a:ext cx="7863840" cy="457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ru-RU" sz="2400"/>
              <a:t>Каждое число плана сверяется с текстом до вёрстки</a:t>
            </a:r>
            <a:endParaRPr/>
          </a:p>
        </p:txBody>
      </p:sp>
      <p:sp>
        <p:nvSpPr>
          <p:cNvPr id="1212" name="Conclusion bar 1212"/>
          <p:cNvSpPr/>
          <p:nvPr/>
        </p:nvSpPr>
        <p:spPr>
          <a:xfrm>
            <a:off x="248929" y="1023282"/>
            <a:ext cx="38100" cy="20828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13" name="Conclusion 1213"/>
          <p:cNvSpPr txBox="1"/>
          <p:nvPr/>
        </p:nvSpPr>
        <p:spPr>
          <a:xfrm>
            <a:off x="439429" y="1000422"/>
            <a:ext cx="7559946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1" cap="none" spc="0" baseline="0" dirty="0">
                <a:solidFill>
                  <a:srgbClr val="000000"/>
                </a:solidFill>
                <a:latin typeface="Play"/>
                <a:cs typeface="Play"/>
              </a:rPr>
              <a:t>Два этапа проверки: до вёрстки и в готовом файле</a:t>
            </a:r>
            <a:endParaRPr lang="ru-RU" sz="1500"/>
          </a:p>
        </p:txBody>
      </p:sp>
      <p:graphicFrame>
        <p:nvGraphicFramePr>
          <p:cNvPr id="1214" name="Table"/>
          <p:cNvGraphicFramePr>
            <a:graphicFrameLocks noGrp="1"/>
          </p:cNvGraphicFramePr>
          <p:nvPr/>
        </p:nvGraphicFramePr>
        <p:xfrm>
          <a:off x="248929" y="1439588"/>
          <a:ext cx="6200357" cy="2507456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4411562"/>
                <a:gridCol w="1788795"/>
              </a:tblGrid>
              <a:tr h="501491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cap="none" spc="0" baseline="0" lang="ru-RU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Показатель</a:t>
                      </a:r>
                    </a:p>
                  </a:txBody>
                  <a:tcPr marL="133350" marR="1333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7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cap="none" spc="0" baseline="0" lang="ru-RU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Значение</a:t>
                      </a:r>
                    </a:p>
                  </a:txBody>
                  <a:tcPr marL="133350" marR="1333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070F0"/>
                    </a:solidFill>
                  </a:tcPr>
                </a:tc>
              </a:tr>
              <a:tr h="668655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cap="none" spc="0" baseline="0" lang="ru-RU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Демо-презентаций</a:t>
                      </a:r>
                    </a:p>
                  </a:txBody>
                  <a:tcPr marL="133350" marR="1333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4C4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cap="none" spc="0" baseline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9</a:t>
                      </a:r>
                    </a:p>
                  </a:txBody>
                  <a:tcPr marL="133350" marR="1333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4C4C4"/>
                      </a:solidFill>
                      <a:prstDash val="solid"/>
                    </a:lnB>
                    <a:noFill/>
                  </a:tcPr>
                </a:tc>
              </a:tr>
              <a:tr h="668655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cap="none" spc="0" baseline="0" lang="ru-RU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Сверенных чисел в каждой</a:t>
                      </a:r>
                    </a:p>
                  </a:txBody>
                  <a:tcPr marL="133350" marR="1333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4C4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cap="none" spc="0" baseline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116–123</a:t>
                      </a:r>
                    </a:p>
                  </a:txBody>
                  <a:tcPr marL="133350" marR="1333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4C4C4"/>
                      </a:solidFill>
                      <a:prstDash val="solid"/>
                    </a:lnB>
                    <a:noFill/>
                  </a:tcPr>
                </a:tc>
              </a:tr>
              <a:tr h="668655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cap="none" spc="0" baseline="0" lang="ru-RU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Выдуманных чисел</a:t>
                      </a:r>
                    </a:p>
                  </a:txBody>
                  <a:tcPr marL="133350" marR="1333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4C4C4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 cap="none" spc="0" baseline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rPr>
                        <a:t>0</a:t>
                      </a:r>
                    </a:p>
                  </a:txBody>
                  <a:tcPr marL="133350" marR="133350" marT="57150" marB="5715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C4C4C4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7" name="Google Shape;1207;p72"/>
          <p:cNvSpPr txBox="1"/>
          <p:nvPr>
            <p:ph type="title"/>
          </p:nvPr>
        </p:nvSpPr>
        <p:spPr>
          <a:xfrm>
            <a:off x="157504" y="286048"/>
            <a:ext cx="4534951" cy="822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ru-RU" sz="2400"/>
              <a:t>Сервис работает с 87 чужими шаблонами и 12 форматами</a:t>
            </a:r>
            <a:endParaRPr/>
          </a:p>
        </p:txBody>
      </p:sp>
      <p:sp>
        <p:nvSpPr>
          <p:cNvPr id="1208" name="Marker 1208"/>
          <p:cNvSpPr/>
          <p:nvPr/>
        </p:nvSpPr>
        <p:spPr>
          <a:xfrm>
            <a:off x="248929" y="1444287"/>
            <a:ext cx="72390" cy="72390"/>
          </a:xfrm>
          <a:prstGeom prst="ellipse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09" name="Item 1209"/>
          <p:cNvSpPr txBox="1"/>
          <p:nvPr/>
        </p:nvSpPr>
        <p:spPr>
          <a:xfrm>
            <a:off x="553729" y="1366182"/>
            <a:ext cx="6584485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Чужих шаблонов: 87</a:t>
            </a:r>
            <a:endParaRPr lang="ru-RU" sz="1500"/>
          </a:p>
        </p:txBody>
      </p:sp>
      <p:cxnSp>
        <p:nvCxnSpPr>
          <p:cNvPr id="1210" name="Line 1210"/>
          <p:cNvCxnSpPr/>
          <p:nvPr/>
        </p:nvCxnSpPr>
        <p:spPr>
          <a:xfrm>
            <a:off x="553729" y="1763057"/>
            <a:ext cx="6584485" cy="0"/>
          </a:xfrm>
          <a:prstGeom prst="line">
            <a:avLst/>
          </a:prstGeom>
          <a:ln w="9525">
            <a:solidFill>
              <a:srgbClr val="DDE3EA"/>
            </a:solidFill>
          </a:ln>
        </p:spPr>
      </p:cxnSp>
      <p:sp>
        <p:nvSpPr>
          <p:cNvPr id="1211" name="Marker 1211"/>
          <p:cNvSpPr/>
          <p:nvPr/>
        </p:nvSpPr>
        <p:spPr>
          <a:xfrm>
            <a:off x="248929" y="1984037"/>
            <a:ext cx="72390" cy="72390"/>
          </a:xfrm>
          <a:prstGeom prst="ellipse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12" name="Item 1212"/>
          <p:cNvSpPr txBox="1"/>
          <p:nvPr/>
        </p:nvSpPr>
        <p:spPr>
          <a:xfrm>
            <a:off x="553729" y="1905932"/>
            <a:ext cx="6584485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Средняя оценка качества: 99 из 100</a:t>
            </a:r>
            <a:endParaRPr lang="ru-RU" sz="1500"/>
          </a:p>
        </p:txBody>
      </p:sp>
      <p:cxnSp>
        <p:nvCxnSpPr>
          <p:cNvPr id="1213" name="Line 1213"/>
          <p:cNvCxnSpPr/>
          <p:nvPr/>
        </p:nvCxnSpPr>
        <p:spPr>
          <a:xfrm>
            <a:off x="553729" y="2302807"/>
            <a:ext cx="6584485" cy="0"/>
          </a:xfrm>
          <a:prstGeom prst="line">
            <a:avLst/>
          </a:prstGeom>
          <a:ln w="9525">
            <a:solidFill>
              <a:srgbClr val="DDE3EA"/>
            </a:solidFill>
          </a:ln>
        </p:spPr>
      </p:cxnSp>
      <p:sp>
        <p:nvSpPr>
          <p:cNvPr id="1214" name="Marker 1214"/>
          <p:cNvSpPr/>
          <p:nvPr/>
        </p:nvSpPr>
        <p:spPr>
          <a:xfrm>
            <a:off x="248929" y="2523787"/>
            <a:ext cx="72390" cy="72390"/>
          </a:xfrm>
          <a:prstGeom prst="ellipse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15" name="Item 1215"/>
          <p:cNvSpPr txBox="1"/>
          <p:nvPr/>
        </p:nvSpPr>
        <p:spPr>
          <a:xfrm>
            <a:off x="553729" y="2445682"/>
            <a:ext cx="6584485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Поддерживаемых форматов: 12</a:t>
            </a:r>
            <a:endParaRPr lang="ru-RU" sz="1500"/>
          </a:p>
        </p:txBody>
      </p:sp>
      <p:cxnSp>
        <p:nvCxnSpPr>
          <p:cNvPr id="1216" name="Line 1216"/>
          <p:cNvCxnSpPr/>
          <p:nvPr/>
        </p:nvCxnSpPr>
        <p:spPr>
          <a:xfrm>
            <a:off x="553729" y="2842557"/>
            <a:ext cx="6584485" cy="0"/>
          </a:xfrm>
          <a:prstGeom prst="line">
            <a:avLst/>
          </a:prstGeom>
          <a:ln w="9525">
            <a:solidFill>
              <a:srgbClr val="DDE3EA"/>
            </a:solidFill>
          </a:ln>
        </p:spPr>
      </p:cxnSp>
      <p:sp>
        <p:nvSpPr>
          <p:cNvPr id="1217" name="Marker 1217"/>
          <p:cNvSpPr/>
          <p:nvPr/>
        </p:nvSpPr>
        <p:spPr>
          <a:xfrm>
            <a:off x="248929" y="3063537"/>
            <a:ext cx="72390" cy="72390"/>
          </a:xfrm>
          <a:prstGeom prst="ellipse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18" name="Item 1218"/>
          <p:cNvSpPr txBox="1"/>
          <p:nvPr/>
        </p:nvSpPr>
        <p:spPr>
          <a:xfrm>
            <a:off x="553729" y="2985432"/>
            <a:ext cx="6584485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261 презентация в регрессионном корпусе</a:t>
            </a:r>
            <a:endParaRPr lang="ru-RU" sz="1500"/>
          </a:p>
        </p:txBody>
      </p:sp>
      <p:cxnSp>
        <p:nvCxnSpPr>
          <p:cNvPr id="1219" name="Line 1219"/>
          <p:cNvCxnSpPr/>
          <p:nvPr/>
        </p:nvCxnSpPr>
        <p:spPr>
          <a:xfrm>
            <a:off x="553729" y="3382307"/>
            <a:ext cx="6584485" cy="0"/>
          </a:xfrm>
          <a:prstGeom prst="line">
            <a:avLst/>
          </a:prstGeom>
          <a:ln w="9525">
            <a:solidFill>
              <a:srgbClr val="DDE3EA"/>
            </a:solidFill>
          </a:ln>
        </p:spPr>
      </p:cxnSp>
      <p:sp>
        <p:nvSpPr>
          <p:cNvPr id="1220" name="Marker 1220"/>
          <p:cNvSpPr/>
          <p:nvPr/>
        </p:nvSpPr>
        <p:spPr>
          <a:xfrm>
            <a:off x="248929" y="3603287"/>
            <a:ext cx="72390" cy="72390"/>
          </a:xfrm>
          <a:prstGeom prst="ellipse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21" name="Item 1221"/>
          <p:cNvSpPr txBox="1"/>
          <p:nvPr/>
        </p:nvSpPr>
        <p:spPr>
          <a:xfrm>
            <a:off x="553729" y="3525182"/>
            <a:ext cx="6584485" cy="254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Форматы: pptx, potx, ppt, odp, thmx</a:t>
            </a:r>
            <a:endParaRPr lang="ru-RU" sz="1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7" name="Google Shape;1207;p72"/>
          <p:cNvSpPr txBox="1"/>
          <p:nvPr>
            <p:ph type="title"/>
          </p:nvPr>
        </p:nvSpPr>
        <p:spPr>
          <a:xfrm>
            <a:off x="157504" y="286048"/>
            <a:ext cx="7863840" cy="457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ru-RU" sz="2400"/>
              <a:t>Генерация трёх вариантов занимает до 175 секунд</a:t>
            </a:r>
            <a:endParaRPr/>
          </a:p>
        </p:txBody>
      </p:sp>
      <p:sp>
        <p:nvSpPr>
          <p:cNvPr id="1208" name="Chart note 1208"/>
          <p:cNvSpPr txBox="1"/>
          <p:nvPr/>
        </p:nvSpPr>
        <p:spPr>
          <a:xfrm>
            <a:off x="248929" y="1000422"/>
            <a:ext cx="2927946" cy="88265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350"/>
              </a:spcAft>
              <a:buNone/>
            </a:pPr>
            <a:r>
              <a:rPr lang="ru-RU" sz="1500" b="1" cap="none" spc="0" baseline="0" dirty="0">
                <a:solidFill>
                  <a:srgbClr val="000000"/>
                </a:solidFill>
                <a:latin typeface="Play"/>
                <a:cs typeface="Play"/>
              </a:rPr>
              <a:t>Все шаблоны укладываются в лимит </a:t>
            </a:r>
            <a:r>
              <a:rPr lang="ru-RU" sz="1500" b="1" cap="none" spc="0" baseline="0" dirty="0">
                <a:solidFill>
                  <a:srgbClr val="005EFF"/>
                </a:solidFill>
                <a:latin typeface="Play"/>
                <a:cs typeface="Play"/>
              </a:rPr>
              <a:t>5 минут</a:t>
            </a:r>
            <a:r>
              <a:rPr lang="ru-RU" sz="1500" b="1" cap="none" spc="0" baseline="0" dirty="0">
                <a:solidFill>
                  <a:srgbClr val="000000"/>
                </a:solidFill>
                <a:latin typeface="Play"/>
                <a:cs typeface="Play"/>
              </a:rPr>
              <a:t> с запасом</a:t>
            </a:r>
            <a:endParaRPr lang="ru-RU" sz="1500"/>
          </a:p>
          <a:p>
            <a:pPr algn="l" marL="0" indent="0">
              <a:lnSpc>
                <a:spcPct val="100000"/>
              </a:lnSpc>
              <a:buNone/>
            </a:pPr>
            <a:r>
              <a:rPr lang="ru-RU" sz="15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Лимит времени — 5 минут</a:t>
            </a:r>
            <a:endParaRPr lang="ru-RU" sz="1500"/>
          </a:p>
        </p:txBody>
      </p:sp>
      <p:cxnSp>
        <p:nvCxnSpPr>
          <p:cNvPr id="1209" name="Line 1209"/>
          <p:cNvCxnSpPr/>
          <p:nvPr/>
        </p:nvCxnSpPr>
        <p:spPr>
          <a:xfrm>
            <a:off x="3396331" y="1000422"/>
            <a:ext cx="0" cy="882650"/>
          </a:xfrm>
          <a:prstGeom prst="line">
            <a:avLst/>
          </a:prstGeom>
          <a:ln w="12700">
            <a:solidFill>
              <a:srgbClr val="DDE3EA"/>
            </a:solidFill>
          </a:ln>
        </p:spPr>
      </p:cxnSp>
      <p:sp>
        <p:nvSpPr>
          <p:cNvPr id="1210" name="Unit 1210"/>
          <p:cNvSpPr txBox="1"/>
          <p:nvPr/>
        </p:nvSpPr>
        <p:spPr>
          <a:xfrm>
            <a:off x="3615787" y="1000422"/>
            <a:ext cx="5244749" cy="1625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9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Время генерации трёх вариантов, секунд</a:t>
            </a:r>
            <a:endParaRPr lang="ru-RU" sz="900"/>
          </a:p>
        </p:txBody>
      </p:sp>
      <p:graphicFrame>
        <p:nvGraphicFramePr>
          <p:cNvPr id="1211" name="Chart 1210"/>
          <p:cNvGraphicFramePr>
            <a:graphicFrameLocks noGrp="1"/>
          </p:cNvGraphicFramePr>
          <p:nvPr/>
        </p:nvGraphicFramePr>
        <p:xfrm>
          <a:off x="3615787" y="1209273"/>
          <a:ext cx="5244749" cy="300654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07" name="Google Shape;1207;p72"/>
          <p:cNvSpPr txBox="1"/>
          <p:nvPr>
            <p:ph type="title"/>
          </p:nvPr>
        </p:nvSpPr>
        <p:spPr>
          <a:xfrm>
            <a:off x="157504" y="286048"/>
            <a:ext cx="7863840" cy="457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ru-RU" sz="2400"/>
              <a:t>Три шага после финала</a:t>
            </a:r>
            <a:endParaRPr/>
          </a:p>
        </p:txBody>
      </p:sp>
      <p:sp>
        <p:nvSpPr>
          <p:cNvPr id="1232" name="Card 1232"/>
          <p:cNvSpPr/>
          <p:nvPr/>
        </p:nvSpPr>
        <p:spPr>
          <a:xfrm>
            <a:off x="248929" y="1000422"/>
            <a:ext cx="2724231" cy="3005696"/>
          </a:xfrm>
          <a:prstGeom prst="roundRect">
            <a:avLst>
              <a:gd fmla="val 5285" name="adj"/>
            </a:avLst>
          </a:prstGeom>
          <a:solidFill>
            <a:srgbClr val="FFFFFF"/>
          </a:solidFill>
          <a:ln>
            <a:noFill/>
          </a:ln>
          <a:effectLst>
            <a:outerShdw blurRad="154305" dist="20574" dir="5400000" algn="t" rotWithShape="0">
              <a:srgbClr val="0B1F44">
                <a:alpha val="9000"/>
              </a:srgbClr>
            </a:outerShdw>
          </a:effectLst>
        </p:spPr>
      </p:sp>
      <p:sp>
        <p:nvSpPr>
          <p:cNvPr id="1233" name="Rule 1233"/>
          <p:cNvSpPr/>
          <p:nvPr/>
        </p:nvSpPr>
        <p:spPr>
          <a:xfrm>
            <a:off x="439625" y="1191118"/>
            <a:ext cx="360045" cy="3810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34" name="Column title 1234"/>
          <p:cNvSpPr txBox="1"/>
          <p:nvPr/>
        </p:nvSpPr>
        <p:spPr>
          <a:xfrm>
            <a:off x="439625" y="1321801"/>
            <a:ext cx="2342839" cy="126212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05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Переход на инференс VK</a:t>
            </a:r>
            <a:endParaRPr lang="ru-RU" sz="2705"/>
          </a:p>
        </p:txBody>
      </p:sp>
      <p:sp>
        <p:nvSpPr>
          <p:cNvPr id="1235" name="Column 1235"/>
          <p:cNvSpPr txBox="1"/>
          <p:nvPr/>
        </p:nvSpPr>
        <p:spPr>
          <a:xfrm>
            <a:off x="439625" y="2709657"/>
            <a:ext cx="2342839" cy="1105765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251460" indent="-251460">
              <a:lnSpc>
                <a:spcPct val="100000"/>
              </a:lnSpc>
              <a:buClr>
                <a:srgbClr val="0077FF"/>
              </a:buClr>
              <a:buFont typeface="Arial"/>
              <a:buChar char="•"/>
            </a:pPr>
            <a:r>
              <a:rPr lang="ru-RU" sz="18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Модель Qwen3.8-⁠27B</a:t>
            </a:r>
            <a:endParaRPr lang="ru-RU" sz="1800"/>
          </a:p>
        </p:txBody>
      </p:sp>
      <p:sp>
        <p:nvSpPr>
          <p:cNvPr id="1236" name="Card 1236"/>
          <p:cNvSpPr/>
          <p:nvPr/>
        </p:nvSpPr>
        <p:spPr>
          <a:xfrm>
            <a:off x="3192616" y="1000422"/>
            <a:ext cx="2724231" cy="3005696"/>
          </a:xfrm>
          <a:prstGeom prst="roundRect">
            <a:avLst>
              <a:gd fmla="val 5285" name="adj"/>
            </a:avLst>
          </a:prstGeom>
          <a:solidFill>
            <a:srgbClr val="FFFFFF"/>
          </a:solidFill>
          <a:ln>
            <a:noFill/>
          </a:ln>
          <a:effectLst>
            <a:outerShdw blurRad="154305" dist="20574" dir="5400000" algn="t" rotWithShape="0">
              <a:srgbClr val="0B1F44">
                <a:alpha val="9000"/>
              </a:srgbClr>
            </a:outerShdw>
          </a:effectLst>
        </p:spPr>
      </p:sp>
      <p:sp>
        <p:nvSpPr>
          <p:cNvPr id="1237" name="Rule 1237"/>
          <p:cNvSpPr/>
          <p:nvPr/>
        </p:nvSpPr>
        <p:spPr>
          <a:xfrm>
            <a:off x="3383312" y="1191118"/>
            <a:ext cx="360045" cy="3810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38" name="Column title 1238"/>
          <p:cNvSpPr txBox="1"/>
          <p:nvPr/>
        </p:nvSpPr>
        <p:spPr>
          <a:xfrm>
            <a:off x="3383312" y="1321801"/>
            <a:ext cx="2342839" cy="126212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05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Генерация изображений</a:t>
            </a:r>
            <a:endParaRPr lang="ru-RU" sz="2705"/>
          </a:p>
        </p:txBody>
      </p:sp>
      <p:sp>
        <p:nvSpPr>
          <p:cNvPr id="1239" name="Column 1239"/>
          <p:cNvSpPr txBox="1"/>
          <p:nvPr/>
        </p:nvSpPr>
        <p:spPr>
          <a:xfrm>
            <a:off x="3383312" y="2709657"/>
            <a:ext cx="2342839" cy="1105765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251460" indent="-251460">
              <a:lnSpc>
                <a:spcPct val="100000"/>
              </a:lnSpc>
              <a:buClr>
                <a:srgbClr val="0077FF"/>
              </a:buClr>
              <a:buFont typeface="Arial"/>
              <a:buChar char="•"/>
            </a:pPr>
            <a:r>
              <a:rPr lang="ru-RU" sz="18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Внутри слайдов</a:t>
            </a:r>
            <a:endParaRPr lang="ru-RU" sz="1800"/>
          </a:p>
        </p:txBody>
      </p:sp>
      <p:sp>
        <p:nvSpPr>
          <p:cNvPr id="1240" name="Card 1240"/>
          <p:cNvSpPr/>
          <p:nvPr/>
        </p:nvSpPr>
        <p:spPr>
          <a:xfrm>
            <a:off x="6136303" y="1000422"/>
            <a:ext cx="2724231" cy="3005696"/>
          </a:xfrm>
          <a:prstGeom prst="roundRect">
            <a:avLst>
              <a:gd fmla="val 5285" name="adj"/>
            </a:avLst>
          </a:prstGeom>
          <a:solidFill>
            <a:srgbClr val="FFFFFF"/>
          </a:solidFill>
          <a:ln>
            <a:noFill/>
          </a:ln>
          <a:effectLst>
            <a:outerShdw blurRad="154305" dist="20574" dir="5400000" algn="t" rotWithShape="0">
              <a:srgbClr val="0B1F44">
                <a:alpha val="9000"/>
              </a:srgbClr>
            </a:outerShdw>
          </a:effectLst>
        </p:spPr>
      </p:sp>
      <p:sp>
        <p:nvSpPr>
          <p:cNvPr id="1241" name="Rule 1241"/>
          <p:cNvSpPr/>
          <p:nvPr/>
        </p:nvSpPr>
        <p:spPr>
          <a:xfrm>
            <a:off x="6326999" y="1191118"/>
            <a:ext cx="360045" cy="3810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1242" name="Column title 1242"/>
          <p:cNvSpPr txBox="1"/>
          <p:nvPr/>
        </p:nvSpPr>
        <p:spPr>
          <a:xfrm>
            <a:off x="6326999" y="1321801"/>
            <a:ext cx="2342839" cy="126212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ru-RU" sz="2705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Пилот на шаблонах</a:t>
            </a:r>
            <a:endParaRPr lang="ru-RU" sz="2705"/>
          </a:p>
        </p:txBody>
      </p:sp>
      <p:sp>
        <p:nvSpPr>
          <p:cNvPr id="1243" name="Column 1243"/>
          <p:cNvSpPr txBox="1"/>
          <p:nvPr/>
        </p:nvSpPr>
        <p:spPr>
          <a:xfrm>
            <a:off x="6326999" y="2709657"/>
            <a:ext cx="2342839" cy="1105765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251460" indent="-251460">
              <a:lnSpc>
                <a:spcPct val="100000"/>
              </a:lnSpc>
              <a:buClr>
                <a:srgbClr val="0077FF"/>
              </a:buClr>
              <a:buFont typeface="Arial"/>
              <a:buChar char="•"/>
            </a:pPr>
            <a:r>
              <a:rPr lang="ru-RU" sz="1800" b="0" cap="none" spc="0" baseline="0" dirty="0">
                <a:solidFill>
                  <a:srgbClr val="000000"/>
                </a:solidFill>
                <a:latin typeface="Play"/>
                <a:cs typeface="Play"/>
              </a:rPr>
              <a:t>Сценарии VK Tech</a:t>
            </a:r>
            <a:endParaRPr lang="ru-RU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