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45"/>
          <c:y val="0.0245"/>
          <c:w val="0.9510"/>
          <c:h val="0.9510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2540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50A2FF"/>
              </a:solidFill>
              <a:ln w="2540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Свободные фигуры</c:v>
                </c:pt>
                <c:pt idx="1">
                  <c:v>Плейсхолдеры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5.0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321"/>
          <c:y val="0.0114"/>
          <c:w val="0.8188"/>
          <c:h val="0.9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Проверки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;&quot;−&quot;#,##0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22"/>
          <c:y val="0.0870"/>
          <c:w val="0.9956"/>
          <c:h val="0.843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— цифровой дизайнер презентаций. Команда «Рекрут 2», задача № 4 VK Tech.</a:t>
            </a:r>
          </a:p>
          <a:p>
            <a:r>
              <a:t>[verstka:sl1]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компании создаётся десятки презентаций в неделю. ИИ помогает с текстом, но не с дизайном. Шаблоны не дают понятных инструкций для новых слайдов.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реальных шаблонах 95% фигур — свободные, и только 5% — плейсхолдеры. Это означает, что правила оформления нужно выводить из самих слайдов-образцов, включая палитру, кегли, сетку, поля, логотипы и колонтитулы.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автоматически создаёт презентации в фирменном стиле, используя шаблон как набор правил и текстовые данные. Результат — три редактируемые презентации без необходимости ручной вёрстки.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использует открытые модели до 35 миллиардов параметров с лицензией Apache 2.0. Работа делится на пять этапов: аналитик, дизайнер, критик, компилятор и вёрстка.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Содержание одно, подача разная. | Вариант | Подача | Когда подходит |. |---|---|---|. | Структурный | одна мысль на слайд, строгая сетка | отчёт и защита проекта |.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слайд проходит 41 проверка: 12 по целостности, 11 по вёрстке, 7 по шаблону, 6 по контенту и 5 по плотности. Проверки помечают и автоматически исправляют найденные проблемы.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в плане сверяется с текстом до вёрстки и ещё раз в готовом файле PowerPoint. Всего в каждой презентации проверяется от 116 до 123 чисел. Ни одно число не выдумано.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Сервис не ограничен шаблонами датасета и поддерживает 12 форматов. Регрессионный корпус включает 87 чужих шаблонов и 261 презентацию на них, средняя оценка проверки качества — 99 из 100.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трёх вариантов на шаблонах датасета: VK Tech — 113 секунд, VK Education — 145 секунд, VK WorkSpace — 175 секунд.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5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7" name="Google Shape;407;p43"/>
          <p:cNvSpPr txBox="1"/>
          <p:nvPr>
            <p:ph type="title"/>
          </p:nvPr>
        </p:nvSpPr>
        <p:spPr>
          <a:xfrm>
            <a:off x="581272" y="1544274"/>
            <a:ext cx="4082168" cy="21350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Play"/>
              <a:buNone/>
            </a:pPr>
            <a:r>
              <a:rPr lang="en-US" sz="3600" b="0"/>
              <a:t>Verstka —</a:t>
            </a:r>
            <a:br>
              <a:rPr lang="en-US" sz="3600" b="0"/>
            </a:br>
            <a:r>
              <a:rPr lang="ru-RU" sz="3600" b="0"/>
              <a:t>цифровой</a:t>
            </a:r>
            <a:br>
              <a:rPr lang="en-US" sz="3600" b="0"/>
            </a:br>
            <a:r>
              <a:rPr lang="ru-RU" sz="3600" b="0"/>
              <a:t>дизайнер</a:t>
            </a:r>
            <a:br>
              <a:rPr lang="en-US" sz="3600" b="0"/>
            </a:br>
            <a:r>
              <a:rPr lang="ru-RU" sz="3600" b="0"/>
              <a:t>презентаций</a:t>
            </a:r>
            <a:endParaRPr b="0"/>
          </a:p>
        </p:txBody>
      </p:sp>
      <p:sp>
        <p:nvSpPr>
          <p:cNvPr id="408" name="Google Shape;408;p43"/>
          <p:cNvSpPr txBox="1"/>
          <p:nvPr>
            <p:ph idx="1" type="body"/>
          </p:nvPr>
        </p:nvSpPr>
        <p:spPr>
          <a:xfrm>
            <a:off x="581272" y="3839378"/>
            <a:ext cx="4082168" cy="629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ru-RU" sz="1600" b="0">
                <a:solidFill>
                  <a:srgbClr val="FAFCFF"/>
                </a:solidFill>
              </a:rPr>
              <a:t>Команда «Рекрут 2» · задача № 4 VK Tech · ЛЦТ 2026</a:t>
            </a:r>
            <a:endParaRPr b="0">
              <a:solidFill>
                <a:srgbClr val="FAFCFF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804581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Десятки презентаций в неделю требуют ручной вёрстки</a:t>
            </a:r>
            <a:endParaRPr/>
          </a:p>
        </p:txBody>
      </p:sp>
      <p:sp>
        <p:nvSpPr>
          <p:cNvPr id="1208" name="Card 1208"/>
          <p:cNvSpPr/>
          <p:nvPr/>
        </p:nvSpPr>
        <p:spPr>
          <a:xfrm>
            <a:off x="248929" y="1366182"/>
            <a:ext cx="2724231" cy="2430379"/>
          </a:xfrm>
          <a:prstGeom prst="roundRect">
            <a:avLst>
              <a:gd fmla="val 59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09" name="Index 1209"/>
          <p:cNvSpPr txBox="1"/>
          <p:nvPr/>
        </p:nvSpPr>
        <p:spPr>
          <a:xfrm>
            <a:off x="480488" y="159774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10" name="Card text 1210"/>
          <p:cNvSpPr txBox="1"/>
          <p:nvPr/>
        </p:nvSpPr>
        <p:spPr>
          <a:xfrm>
            <a:off x="480488" y="220038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98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Ручная вёрстка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Подбор макета, подгонка цветов и блоков</a:t>
            </a:r>
            <a:endParaRPr lang="ru-RU" sz="1500"/>
          </a:p>
        </p:txBody>
      </p:sp>
      <p:sp>
        <p:nvSpPr>
          <p:cNvPr id="1211" name="Card 1211"/>
          <p:cNvSpPr/>
          <p:nvPr/>
        </p:nvSpPr>
        <p:spPr>
          <a:xfrm>
            <a:off x="3192616" y="1366182"/>
            <a:ext cx="2724231" cy="2430379"/>
          </a:xfrm>
          <a:prstGeom prst="roundRect">
            <a:avLst>
              <a:gd fmla="val 59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2" name="Index 1212"/>
          <p:cNvSpPr txBox="1"/>
          <p:nvPr/>
        </p:nvSpPr>
        <p:spPr>
          <a:xfrm>
            <a:off x="3424175" y="159774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13" name="Card text 1213"/>
          <p:cNvSpPr txBox="1"/>
          <p:nvPr/>
        </p:nvSpPr>
        <p:spPr>
          <a:xfrm>
            <a:off x="3424175" y="220038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98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ИИ ломает стиль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Нейросети не воспроизводят дизайн-⁠систему</a:t>
            </a:r>
            <a:endParaRPr lang="ru-RU" sz="1500"/>
          </a:p>
        </p:txBody>
      </p:sp>
      <p:sp>
        <p:nvSpPr>
          <p:cNvPr id="1214" name="Card 1214"/>
          <p:cNvSpPr/>
          <p:nvPr/>
        </p:nvSpPr>
        <p:spPr>
          <a:xfrm>
            <a:off x="6136303" y="1366182"/>
            <a:ext cx="2724231" cy="2430379"/>
          </a:xfrm>
          <a:prstGeom prst="roundRect">
            <a:avLst>
              <a:gd fmla="val 59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Index 1215"/>
          <p:cNvSpPr txBox="1"/>
          <p:nvPr/>
        </p:nvSpPr>
        <p:spPr>
          <a:xfrm>
            <a:off x="6367862" y="159774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1216" name="Card text 1216"/>
          <p:cNvSpPr txBox="1"/>
          <p:nvPr/>
        </p:nvSpPr>
        <p:spPr>
          <a:xfrm>
            <a:off x="6367862" y="220038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не инструкция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Нет понятных правил для новых слайдов</a:t>
            </a:r>
            <a:endParaRPr lang="ru-RU" sz="15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206800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Правила оформления приходится выводить из образцов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248929" y="1366182"/>
          <a:ext cx="2797385" cy="279738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3485226" y="2269574"/>
            <a:ext cx="2525149" cy="3873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Доля</a:t>
            </a:r>
            <a:endParaRPr lang="ru-RU" sz="1500"/>
          </a:p>
        </p:txBody>
      </p:sp>
      <p:sp>
        <p:nvSpPr>
          <p:cNvPr id="1210" name="Swatch 1210"/>
          <p:cNvSpPr/>
          <p:nvPr/>
        </p:nvSpPr>
        <p:spPr>
          <a:xfrm>
            <a:off x="3485226" y="2702644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3732114" y="2656924"/>
            <a:ext cx="179903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Свободные фигуры</a:t>
            </a:r>
            <a:endParaRPr lang="ru-RU" sz="1500"/>
          </a:p>
        </p:txBody>
      </p:sp>
      <p:sp>
        <p:nvSpPr>
          <p:cNvPr id="1212" name="Share 1212"/>
          <p:cNvSpPr txBox="1"/>
          <p:nvPr/>
        </p:nvSpPr>
        <p:spPr>
          <a:xfrm>
            <a:off x="5531148" y="2656924"/>
            <a:ext cx="47922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95%</a:t>
            </a:r>
            <a:endParaRPr lang="ru-RU" sz="1500"/>
          </a:p>
        </p:txBody>
      </p:sp>
      <p:sp>
        <p:nvSpPr>
          <p:cNvPr id="1213" name="Swatch 1213"/>
          <p:cNvSpPr/>
          <p:nvPr/>
        </p:nvSpPr>
        <p:spPr>
          <a:xfrm>
            <a:off x="3485226" y="3051894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68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3732114" y="3006174"/>
            <a:ext cx="179903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Плейсхолдеры</a:t>
            </a:r>
            <a:endParaRPr lang="ru-RU" sz="1500"/>
          </a:p>
        </p:txBody>
      </p:sp>
      <p:sp>
        <p:nvSpPr>
          <p:cNvPr id="1215" name="Share 1215"/>
          <p:cNvSpPr txBox="1"/>
          <p:nvPr/>
        </p:nvSpPr>
        <p:spPr>
          <a:xfrm>
            <a:off x="5531148" y="3006174"/>
            <a:ext cx="47922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5%</a:t>
            </a:r>
            <a:endParaRPr lang="ru-RU" sz="1500"/>
          </a:p>
        </p:txBody>
      </p:sp>
      <p:sp>
        <p:nvSpPr>
          <p:cNvPr id="1216" name="Rule 1216"/>
          <p:cNvSpPr/>
          <p:nvPr/>
        </p:nvSpPr>
        <p:spPr>
          <a:xfrm>
            <a:off x="6449287" y="136618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7" name="Label 1217"/>
          <p:cNvSpPr txBox="1"/>
          <p:nvPr/>
        </p:nvSpPr>
        <p:spPr>
          <a:xfrm>
            <a:off x="6449287" y="154315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Свободные фигуры мешают заполнению шаблона</a:t>
            </a:r>
            <a:endParaRPr lang="ru-RU" sz="1500"/>
          </a:p>
        </p:txBody>
      </p:sp>
      <p:sp>
        <p:nvSpPr>
          <p:cNvPr id="1218" name="Chart note 1218"/>
          <p:cNvSpPr txBox="1"/>
          <p:nvPr/>
        </p:nvSpPr>
        <p:spPr>
          <a:xfrm>
            <a:off x="6449287" y="2431806"/>
            <a:ext cx="2411249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Нужно учитывать палитру, кегли, сетку, поля, логотипы и колонтитулы</a:t>
            </a:r>
            <a:endParaRPr lang="ru-RU" sz="11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Решение</a:t>
            </a:r>
            <a:endParaRPr/>
          </a:p>
        </p:txBody>
      </p:sp>
      <p:sp>
        <p:nvSpPr>
          <p:cNvPr id="1208" name="Card 1208"/>
          <p:cNvSpPr/>
          <p:nvPr/>
        </p:nvSpPr>
        <p:spPr>
          <a:xfrm>
            <a:off x="248929" y="1000422"/>
            <a:ext cx="2724231" cy="2933299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09" name="Index 1209"/>
          <p:cNvSpPr txBox="1"/>
          <p:nvPr/>
        </p:nvSpPr>
        <p:spPr>
          <a:xfrm>
            <a:off x="480488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10" name="Card text 1210"/>
          <p:cNvSpPr txBox="1"/>
          <p:nvPr/>
        </p:nvSpPr>
        <p:spPr>
          <a:xfrm>
            <a:off x="480488" y="1834627"/>
            <a:ext cx="2261113" cy="1867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98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входе — шаблон и текст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Verstka использует любой шаблон PowerPoint и текст для генерации презентации.</a:t>
            </a:r>
            <a:endParaRPr lang="ru-RU" sz="1500"/>
          </a:p>
        </p:txBody>
      </p:sp>
      <p:sp>
        <p:nvSpPr>
          <p:cNvPr id="1211" name="Card 1211"/>
          <p:cNvSpPr/>
          <p:nvPr/>
        </p:nvSpPr>
        <p:spPr>
          <a:xfrm>
            <a:off x="3192616" y="1000422"/>
            <a:ext cx="2724231" cy="2933299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2" name="Index 1212"/>
          <p:cNvSpPr txBox="1"/>
          <p:nvPr/>
        </p:nvSpPr>
        <p:spPr>
          <a:xfrm>
            <a:off x="3424175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13" name="Card text 1213"/>
          <p:cNvSpPr txBox="1"/>
          <p:nvPr/>
        </p:nvSpPr>
        <p:spPr>
          <a:xfrm>
            <a:off x="3424175" y="1834627"/>
            <a:ext cx="2261113" cy="1867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98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набор правил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 интерпретируется как набор правил, а не макетов.</a:t>
            </a:r>
            <a:endParaRPr lang="ru-RU" sz="1500"/>
          </a:p>
        </p:txBody>
      </p:sp>
      <p:sp>
        <p:nvSpPr>
          <p:cNvPr id="1214" name="Card 1214"/>
          <p:cNvSpPr/>
          <p:nvPr/>
        </p:nvSpPr>
        <p:spPr>
          <a:xfrm>
            <a:off x="6136303" y="1000422"/>
            <a:ext cx="2724231" cy="2933299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Index 1215"/>
          <p:cNvSpPr txBox="1"/>
          <p:nvPr/>
        </p:nvSpPr>
        <p:spPr>
          <a:xfrm>
            <a:off x="6367862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1216" name="Card text 1216"/>
          <p:cNvSpPr txBox="1"/>
          <p:nvPr/>
        </p:nvSpPr>
        <p:spPr>
          <a:xfrm>
            <a:off x="6367862" y="1834627"/>
            <a:ext cx="2261113" cy="1867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выходе — три редактируемые презентации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Результат — три презентации в стиле шаблона, готовые к редактированию.</a:t>
            </a:r>
            <a:endParaRPr lang="ru-RU" sz="1500"/>
          </a:p>
        </p:txBody>
      </p:sp>
      <p:sp>
        <p:nvSpPr>
          <p:cNvPr id="1217" name="Conclusion bar 1217"/>
          <p:cNvSpPr/>
          <p:nvPr/>
        </p:nvSpPr>
        <p:spPr>
          <a:xfrm>
            <a:off x="248929" y="4172608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Conclusion 1218"/>
          <p:cNvSpPr txBox="1"/>
          <p:nvPr/>
        </p:nvSpPr>
        <p:spPr>
          <a:xfrm>
            <a:off x="439429" y="4149748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Презентация в фирменном стиле без ручной вёрстки</a:t>
            </a:r>
            <a:endParaRPr lang="ru-RU" sz="15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6379643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Открытые модели до 35 миллиардов параметров делают работу агента точной</a:t>
            </a:r>
            <a:endParaRPr/>
          </a:p>
        </p:txBody>
      </p:sp>
      <p:sp>
        <p:nvSpPr>
          <p:cNvPr id="1238" name="Card 1238"/>
          <p:cNvSpPr/>
          <p:nvPr/>
        </p:nvSpPr>
        <p:spPr>
          <a:xfrm>
            <a:off x="248929" y="1366182"/>
            <a:ext cx="1616983" cy="2691142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9" name="Badge 1239"/>
          <p:cNvSpPr/>
          <p:nvPr/>
        </p:nvSpPr>
        <p:spPr>
          <a:xfrm>
            <a:off x="362117" y="1479370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1</a:t>
            </a:r>
          </a:p>
        </p:txBody>
      </p:sp>
      <p:sp>
        <p:nvSpPr>
          <p:cNvPr id="1240" name="Step 1240"/>
          <p:cNvSpPr txBox="1"/>
          <p:nvPr/>
        </p:nvSpPr>
        <p:spPr>
          <a:xfrm>
            <a:off x="362117" y="2075444"/>
            <a:ext cx="1390607" cy="18686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Аналитик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Находит в тексте слайды, ряды данных и просьбы</a:t>
            </a:r>
            <a:endParaRPr lang="ru-RU" sz="1100"/>
          </a:p>
        </p:txBody>
      </p:sp>
      <p:sp>
        <p:nvSpPr>
          <p:cNvPr id="1241" name="Card 1241"/>
          <p:cNvSpPr/>
          <p:nvPr/>
        </p:nvSpPr>
        <p:spPr>
          <a:xfrm>
            <a:off x="1997585" y="1366182"/>
            <a:ext cx="1616983" cy="2691142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42" name="Badge 1242"/>
          <p:cNvSpPr/>
          <p:nvPr/>
        </p:nvSpPr>
        <p:spPr>
          <a:xfrm>
            <a:off x="2110773" y="1479370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2</a:t>
            </a:r>
          </a:p>
        </p:txBody>
      </p:sp>
      <p:sp>
        <p:nvSpPr>
          <p:cNvPr id="1243" name="Step 1243"/>
          <p:cNvSpPr txBox="1"/>
          <p:nvPr/>
        </p:nvSpPr>
        <p:spPr>
          <a:xfrm>
            <a:off x="2110773" y="2075444"/>
            <a:ext cx="1390607" cy="18686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Дизайнер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Продумывает каждый слайд отдельно</a:t>
            </a:r>
            <a:endParaRPr lang="ru-RU" sz="1100"/>
          </a:p>
        </p:txBody>
      </p:sp>
      <p:sp>
        <p:nvSpPr>
          <p:cNvPr id="1244" name="Card 1244"/>
          <p:cNvSpPr/>
          <p:nvPr/>
        </p:nvSpPr>
        <p:spPr>
          <a:xfrm>
            <a:off x="3746241" y="1366182"/>
            <a:ext cx="1616983" cy="2691142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45" name="Badge 1245"/>
          <p:cNvSpPr/>
          <p:nvPr/>
        </p:nvSpPr>
        <p:spPr>
          <a:xfrm>
            <a:off x="3859429" y="1479370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3</a:t>
            </a:r>
          </a:p>
        </p:txBody>
      </p:sp>
      <p:sp>
        <p:nvSpPr>
          <p:cNvPr id="1246" name="Step 1246"/>
          <p:cNvSpPr txBox="1"/>
          <p:nvPr/>
        </p:nvSpPr>
        <p:spPr>
          <a:xfrm>
            <a:off x="3859429" y="2075444"/>
            <a:ext cx="1390607" cy="18686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Сверяет план с текстом и правилами шаблона</a:t>
            </a:r>
            <a:endParaRPr lang="ru-RU" sz="1100"/>
          </a:p>
        </p:txBody>
      </p:sp>
      <p:sp>
        <p:nvSpPr>
          <p:cNvPr id="1247" name="Card 1247"/>
          <p:cNvSpPr/>
          <p:nvPr/>
        </p:nvSpPr>
        <p:spPr>
          <a:xfrm>
            <a:off x="5494897" y="1366182"/>
            <a:ext cx="1616983" cy="2691142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48" name="Badge 1248"/>
          <p:cNvSpPr/>
          <p:nvPr/>
        </p:nvSpPr>
        <p:spPr>
          <a:xfrm>
            <a:off x="5608085" y="1479370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4</a:t>
            </a:r>
          </a:p>
        </p:txBody>
      </p:sp>
      <p:sp>
        <p:nvSpPr>
          <p:cNvPr id="1249" name="Step 1249"/>
          <p:cNvSpPr txBox="1"/>
          <p:nvPr/>
        </p:nvSpPr>
        <p:spPr>
          <a:xfrm>
            <a:off x="5608085" y="2075444"/>
            <a:ext cx="1390607" cy="18686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Компилятор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Проверяет каждое число</a:t>
            </a:r>
            <a:endParaRPr lang="ru-RU" sz="1100"/>
          </a:p>
        </p:txBody>
      </p:sp>
      <p:sp>
        <p:nvSpPr>
          <p:cNvPr id="1250" name="Card 1250"/>
          <p:cNvSpPr/>
          <p:nvPr/>
        </p:nvSpPr>
        <p:spPr>
          <a:xfrm>
            <a:off x="7243553" y="1366182"/>
            <a:ext cx="1616983" cy="2691142"/>
          </a:xfrm>
          <a:prstGeom prst="roundRect">
            <a:avLst>
              <a:gd fmla="val 890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51" name="Badge 1251"/>
          <p:cNvSpPr/>
          <p:nvPr/>
        </p:nvSpPr>
        <p:spPr>
          <a:xfrm>
            <a:off x="7356741" y="1479370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5</a:t>
            </a:r>
          </a:p>
        </p:txBody>
      </p:sp>
      <p:sp>
        <p:nvSpPr>
          <p:cNvPr id="1252" name="Step 1252"/>
          <p:cNvSpPr txBox="1"/>
          <p:nvPr/>
        </p:nvSpPr>
        <p:spPr>
          <a:xfrm>
            <a:off x="7356741" y="2075444"/>
            <a:ext cx="1390607" cy="18686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Вёрстка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Собирает слайды по дизайн-⁠системе шаблона</a:t>
            </a:r>
            <a:endParaRPr lang="ru-RU" sz="11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Три варианта вёрстки для разных целей</a:t>
            </a:r>
            <a:endParaRPr/>
          </a:p>
        </p:txBody>
      </p:sp>
      <p:graphicFrame>
        <p:nvGraphicFramePr>
          <p:cNvPr id="1208" name="Table"/>
          <p:cNvGraphicFramePr>
            <a:graphicFrameLocks noGrp="1"/>
          </p:cNvGraphicFramePr>
          <p:nvPr/>
        </p:nvGraphicFramePr>
        <p:xfrm>
          <a:off x="248929" y="1000422"/>
          <a:ext cx="8611607" cy="25074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555606"/>
                <a:gridCol w="3976449"/>
                <a:gridCol w="3079552"/>
              </a:tblGrid>
              <a:tr h="50149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Вариант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Подача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Когда подходит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Структурный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одна мысль на слайд, строгая сетка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отчёт и защита проекта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Визуальный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крупные цифры и наглядные схемы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питч и выступление со сцены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Компактный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вывод первой строкой, данные справа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рассылка руководителю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41 проверка качества на слайд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Число проверок по категориям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Label 1211"/>
          <p:cNvSpPr txBox="1"/>
          <p:nvPr/>
        </p:nvSpPr>
        <p:spPr>
          <a:xfrm>
            <a:off x="6449287" y="1177396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Целостность — самая проверяемая категория</a:t>
            </a:r>
            <a:endParaRPr lang="ru-RU" sz="1500"/>
          </a:p>
        </p:txBody>
      </p:sp>
      <p:sp>
        <p:nvSpPr>
          <p:cNvPr id="1212" name="Chart note 1212"/>
          <p:cNvSpPr txBox="1"/>
          <p:nvPr/>
        </p:nvSpPr>
        <p:spPr>
          <a:xfrm>
            <a:off x="6449287" y="1837446"/>
            <a:ext cx="2411249" cy="9404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Найденные проблемы помечаются и исправляются автоматически</a:t>
            </a:r>
            <a:endParaRPr lang="ru-RU" sz="1100"/>
          </a:p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Каждый слайд проходит 41 проверку: 2 модельные</a:t>
            </a:r>
            <a:endParaRPr lang="ru-RU" sz="11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285108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 демонстрационных презентаций без выдуманных чисел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366182"/>
            <a:ext cx="2724231" cy="2313460"/>
          </a:xfrm>
          <a:prstGeom prst="roundRect">
            <a:avLst>
              <a:gd fmla="val 62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Figure 1227"/>
          <p:cNvSpPr txBox="1"/>
          <p:nvPr/>
        </p:nvSpPr>
        <p:spPr>
          <a:xfrm>
            <a:off x="484768" y="1435143"/>
            <a:ext cx="2231217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</a:t>
            </a:r>
            <a:endParaRPr lang="ru-RU" sz="4800"/>
          </a:p>
        </p:txBody>
      </p:sp>
      <p:sp>
        <p:nvSpPr>
          <p:cNvPr id="1228" name="Label 1228"/>
          <p:cNvSpPr txBox="1"/>
          <p:nvPr/>
        </p:nvSpPr>
        <p:spPr>
          <a:xfrm>
            <a:off x="506104" y="2220669"/>
            <a:ext cx="2209881" cy="120179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Демо-⁠презентаций</a:t>
            </a:r>
            <a:endParaRPr lang="ru-RU" sz="1500"/>
          </a:p>
        </p:txBody>
      </p:sp>
      <p:sp>
        <p:nvSpPr>
          <p:cNvPr id="1229" name="Card 1229"/>
          <p:cNvSpPr/>
          <p:nvPr/>
        </p:nvSpPr>
        <p:spPr>
          <a:xfrm>
            <a:off x="3192616" y="1366182"/>
            <a:ext cx="2724231" cy="2313460"/>
          </a:xfrm>
          <a:prstGeom prst="roundRect">
            <a:avLst>
              <a:gd fmla="val 62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Figure 1230"/>
          <p:cNvSpPr txBox="1"/>
          <p:nvPr/>
        </p:nvSpPr>
        <p:spPr>
          <a:xfrm>
            <a:off x="3429903" y="1435143"/>
            <a:ext cx="2229769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116</a:t>
            </a: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 → </a:t>
            </a: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123</a:t>
            </a:r>
            <a:endParaRPr lang="ru-RU" sz="4800"/>
          </a:p>
        </p:txBody>
      </p:sp>
      <p:sp>
        <p:nvSpPr>
          <p:cNvPr id="1231" name="Label 1231"/>
          <p:cNvSpPr txBox="1"/>
          <p:nvPr/>
        </p:nvSpPr>
        <p:spPr>
          <a:xfrm>
            <a:off x="3449791" y="2220669"/>
            <a:ext cx="2209881" cy="120179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Сверенных чисел в каждой</a:t>
            </a:r>
            <a:endParaRPr lang="ru-RU" sz="1500"/>
          </a:p>
        </p:txBody>
      </p:sp>
      <p:sp>
        <p:nvSpPr>
          <p:cNvPr id="1232" name="Card 1232"/>
          <p:cNvSpPr/>
          <p:nvPr/>
        </p:nvSpPr>
        <p:spPr>
          <a:xfrm>
            <a:off x="6136303" y="1366182"/>
            <a:ext cx="2724231" cy="2313460"/>
          </a:xfrm>
          <a:prstGeom prst="roundRect">
            <a:avLst>
              <a:gd fmla="val 622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Figure 1233"/>
          <p:cNvSpPr txBox="1"/>
          <p:nvPr/>
        </p:nvSpPr>
        <p:spPr>
          <a:xfrm>
            <a:off x="6378238" y="1435143"/>
            <a:ext cx="2225121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</a:t>
            </a:r>
            <a:endParaRPr lang="ru-RU" sz="4800"/>
          </a:p>
        </p:txBody>
      </p:sp>
      <p:sp>
        <p:nvSpPr>
          <p:cNvPr id="1234" name="Label 1234"/>
          <p:cNvSpPr txBox="1"/>
          <p:nvPr/>
        </p:nvSpPr>
        <p:spPr>
          <a:xfrm>
            <a:off x="6393478" y="2220669"/>
            <a:ext cx="2209881" cy="120179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Выдуманных чисел</a:t>
            </a:r>
            <a:endParaRPr lang="ru-RU" sz="1500"/>
          </a:p>
        </p:txBody>
      </p:sp>
      <p:sp>
        <p:nvSpPr>
          <p:cNvPr id="1235" name="Conclusion bar 1235"/>
          <p:cNvSpPr/>
          <p:nvPr/>
        </p:nvSpPr>
        <p:spPr>
          <a:xfrm>
            <a:off x="248929" y="3918529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6" name="Conclusion 1236"/>
          <p:cNvSpPr txBox="1"/>
          <p:nvPr/>
        </p:nvSpPr>
        <p:spPr>
          <a:xfrm>
            <a:off x="439429" y="3895669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Каждое число проверено дважды — до и после вёрстки</a:t>
            </a:r>
            <a:endParaRPr lang="ru-RU" sz="15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87 шаблонов, 99 из 100 и 12 форматов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Figure 1227"/>
          <p:cNvSpPr txBox="1"/>
          <p:nvPr/>
        </p:nvSpPr>
        <p:spPr>
          <a:xfrm>
            <a:off x="489721" y="1045856"/>
            <a:ext cx="2226264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87</a:t>
            </a:r>
            <a:endParaRPr lang="ru-RU" sz="5400"/>
          </a:p>
        </p:txBody>
      </p:sp>
      <p:sp>
        <p:nvSpPr>
          <p:cNvPr id="1228" name="Label 1228"/>
          <p:cNvSpPr txBox="1"/>
          <p:nvPr/>
        </p:nvSpPr>
        <p:spPr>
          <a:xfrm>
            <a:off x="506104" y="1922822"/>
            <a:ext cx="2209881" cy="144843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Чужих шаблонов</a:t>
            </a:r>
            <a:endParaRPr lang="ru-RU" sz="1500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Figure 1230"/>
          <p:cNvSpPr txBox="1"/>
          <p:nvPr/>
        </p:nvSpPr>
        <p:spPr>
          <a:xfrm>
            <a:off x="3423121" y="1045856"/>
            <a:ext cx="2236551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99</a:t>
            </a: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из 100</a:t>
            </a:r>
            <a:endParaRPr lang="ru-RU" sz="5400"/>
          </a:p>
        </p:txBody>
      </p:sp>
      <p:sp>
        <p:nvSpPr>
          <p:cNvPr id="1231" name="Label 1231"/>
          <p:cNvSpPr txBox="1"/>
          <p:nvPr/>
        </p:nvSpPr>
        <p:spPr>
          <a:xfrm>
            <a:off x="3449791" y="1922822"/>
            <a:ext cx="2209881" cy="144843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оценка качества</a:t>
            </a:r>
            <a:endParaRPr lang="ru-RU" sz="1500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Figure 1233"/>
          <p:cNvSpPr txBox="1"/>
          <p:nvPr/>
        </p:nvSpPr>
        <p:spPr>
          <a:xfrm>
            <a:off x="6332518" y="1045856"/>
            <a:ext cx="2270841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12</a:t>
            </a:r>
            <a:endParaRPr lang="ru-RU" sz="5400"/>
          </a:p>
        </p:txBody>
      </p:sp>
      <p:sp>
        <p:nvSpPr>
          <p:cNvPr id="1234" name="Label 1234"/>
          <p:cNvSpPr txBox="1"/>
          <p:nvPr/>
        </p:nvSpPr>
        <p:spPr>
          <a:xfrm>
            <a:off x="6393478" y="1922822"/>
            <a:ext cx="2209881" cy="144843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Форматов</a:t>
            </a:r>
            <a:endParaRPr lang="ru-RU" sz="1500"/>
          </a:p>
        </p:txBody>
      </p:sp>
      <p:sp>
        <p:nvSpPr>
          <p:cNvPr id="1235" name="Conclusion bar 1235"/>
          <p:cNvSpPr/>
          <p:nvPr/>
        </p:nvSpPr>
        <p:spPr>
          <a:xfrm>
            <a:off x="248929" y="386732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6" name="Conclusion 1236"/>
          <p:cNvSpPr txBox="1"/>
          <p:nvPr/>
        </p:nvSpPr>
        <p:spPr>
          <a:xfrm>
            <a:off x="439429" y="3844462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Сервис поддерживает разные шаблоны и форматы</a:t>
            </a:r>
            <a:endParaRPr lang="ru-RU" sz="15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Генерация шаблонов занимает менее 5 минут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Время генерации трёх вариантов на шаблонах датасета, секунд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Label 1211"/>
          <p:cNvSpPr txBox="1"/>
          <p:nvPr/>
        </p:nvSpPr>
        <p:spPr>
          <a:xfrm>
            <a:off x="6449287" y="117739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шаблоны укладываются в лимит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 минут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 с запасом</a:t>
            </a:r>
            <a:endParaRPr lang="ru-RU" sz="150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Три шага развития Verstka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Badge 1227"/>
          <p:cNvSpPr/>
          <p:nvPr/>
        </p:nvSpPr>
        <p:spPr>
          <a:xfrm>
            <a:off x="480386" y="1231879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1</a:t>
            </a:r>
          </a:p>
        </p:txBody>
      </p:sp>
      <p:sp>
        <p:nvSpPr>
          <p:cNvPr id="1228" name="Step 1228"/>
          <p:cNvSpPr txBox="1"/>
          <p:nvPr/>
        </p:nvSpPr>
        <p:spPr>
          <a:xfrm>
            <a:off x="480386" y="1827953"/>
            <a:ext cx="2261317" cy="19467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Переход на инференс VK и модель Qwen3.8-⁠27B</a:t>
            </a:r>
            <a:endParaRPr lang="ru-RU" sz="1800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Badge 1230"/>
          <p:cNvSpPr/>
          <p:nvPr/>
        </p:nvSpPr>
        <p:spPr>
          <a:xfrm>
            <a:off x="3424073" y="1231879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2</a:t>
            </a:r>
          </a:p>
        </p:txBody>
      </p:sp>
      <p:sp>
        <p:nvSpPr>
          <p:cNvPr id="1231" name="Step 1231"/>
          <p:cNvSpPr txBox="1"/>
          <p:nvPr/>
        </p:nvSpPr>
        <p:spPr>
          <a:xfrm>
            <a:off x="3424073" y="1827953"/>
            <a:ext cx="2261317" cy="19467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Генерация изображений внутри слайдов</a:t>
            </a:r>
            <a:endParaRPr lang="ru-RU" sz="1800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Badge 1233"/>
          <p:cNvSpPr/>
          <p:nvPr/>
        </p:nvSpPr>
        <p:spPr>
          <a:xfrm>
            <a:off x="6367760" y="1231879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3</a:t>
            </a:r>
          </a:p>
        </p:txBody>
      </p:sp>
      <p:sp>
        <p:nvSpPr>
          <p:cNvPr id="1234" name="Step 1234"/>
          <p:cNvSpPr txBox="1"/>
          <p:nvPr/>
        </p:nvSpPr>
        <p:spPr>
          <a:xfrm>
            <a:off x="6367760" y="1827953"/>
            <a:ext cx="2261317" cy="19467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Пилот на шаблонах и сценариях VK Tech</a:t>
            </a:r>
            <a:endParaRPr lang="ru-RU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