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321"/>
          <c:y val="0.0114"/>
          <c:w val="0.8188"/>
          <c:h val="0.977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Проверки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&quot; проверок&quot;;&quot;−&quot;#,##0&quot; проверо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22"/>
          <c:y val="0.0870"/>
          <c:w val="0.9956"/>
          <c:h val="0.84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&quot;;&quot;−&quot;#,##0&quot; с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DDE3EA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Подготовка презентации занимает часы, а иногда и дни, и большая часть времени уходит не на содержание, а на оформление. Основные проблемы: ручная вёрстка, ИИ, который не воспроизводит стиль компании, и шаблоны, которые не объясняют, как построить новый слайд.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Verstka интерпретирует шаблон как набор дизайнерских правил и применяет их к тексту, создавая три редактируемые презентации за 2–3 минуты.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Агент работает по пяти этапам: аналитик находит слайды и данные, дизайнер разрабатывает каждый слайд, критик проверяет соответствие тексту и правилам, компилятор проверяет числа, вёрстка собирает слайды по шаблону.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Одинаковое содержание, разная подача. Нужны три карточки: «Структурный» — одна мысль на слайд и строгая сетка; «Визуальный» — крупные цифры и наглядные схемы; «Компактный» — вывод первой строкой, текст слева, данные справа.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Наибольшее число проверок приходится на категорию «Целостность» — 12 проверок. Всего выполнено 41 детерминированная и 2 модельные проверки.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Каждое число плана сверяется с текстом до вёрстки и ещё раз в готовом PPTX.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Регрессионный корпус включает 87 чужих шаблонов и 261 презентацию на них. Средняя оценка проверки качества по корпусу — 99 из 100. Сервис поддерживает 12 форматов: pptx, potx, ppt, odp, thmx и другие.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Время генерации всех шаблонов меньше 5 минут: VK Tech — 113 секунд, VK Education — 145 секунд, VK WorkSpace — 175 секунд.</a:t>
            </a:r>
          </a:p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слайде представлены три модели с лицензией Apache 2.0. Основная модель — Qwen3.8-27B, инференс VK, конфиг готов. Запасное звено — Qwen3-32B на Cloud.ru. Дополнительные запасные звенья — Gemma 4 и Qwen3-VL.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данном этапе Verstka предлагает 2 028 автотестов и поддерживает форматы PPTX, PDF и HTML. Дополнительно реализован чат с агентом для правок. В будущем планируется внедрение генерации изображений внутри слайдов и переход на инференс VK.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4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4755637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Оформление отнимает больше времени, чем содержание</a:t>
            </a:r>
            <a:endParaRPr/>
          </a:p>
        </p:txBody>
      </p:sp>
      <p:sp>
        <p:nvSpPr>
          <p:cNvPr id="1208" name="Card 1208"/>
          <p:cNvSpPr/>
          <p:nvPr/>
        </p:nvSpPr>
        <p:spPr>
          <a:xfrm>
            <a:off x="248929" y="1366182"/>
            <a:ext cx="2724231" cy="2887579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09" name="Index 1209"/>
          <p:cNvSpPr txBox="1"/>
          <p:nvPr/>
        </p:nvSpPr>
        <p:spPr>
          <a:xfrm>
            <a:off x="480488" y="1597741"/>
            <a:ext cx="2261113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6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3600"/>
          </a:p>
        </p:txBody>
      </p:sp>
      <p:sp>
        <p:nvSpPr>
          <p:cNvPr id="1210" name="Card text 1210"/>
          <p:cNvSpPr txBox="1"/>
          <p:nvPr/>
        </p:nvSpPr>
        <p:spPr>
          <a:xfrm>
            <a:off x="480488" y="2200387"/>
            <a:ext cx="2261113" cy="182181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98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Ручная вёрстка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Подобрать макет, подвинуть блоки, подогнать цвета под фирменный стиль</a:t>
            </a:r>
            <a:endParaRPr lang="ru-RU" sz="1500"/>
          </a:p>
        </p:txBody>
      </p:sp>
      <p:sp>
        <p:nvSpPr>
          <p:cNvPr id="1211" name="Card 1211"/>
          <p:cNvSpPr/>
          <p:nvPr/>
        </p:nvSpPr>
        <p:spPr>
          <a:xfrm>
            <a:off x="3192616" y="1366182"/>
            <a:ext cx="2724231" cy="2887579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2" name="Index 1212"/>
          <p:cNvSpPr txBox="1"/>
          <p:nvPr/>
        </p:nvSpPr>
        <p:spPr>
          <a:xfrm>
            <a:off x="3424175" y="1597741"/>
            <a:ext cx="2261113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6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3600"/>
          </a:p>
        </p:txBody>
      </p:sp>
      <p:sp>
        <p:nvSpPr>
          <p:cNvPr id="1213" name="Card text 1213"/>
          <p:cNvSpPr txBox="1"/>
          <p:nvPr/>
        </p:nvSpPr>
        <p:spPr>
          <a:xfrm>
            <a:off x="3424175" y="2200387"/>
            <a:ext cx="2261113" cy="182181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98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ИИ ломает стиль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Нейросети неплохо пишут текст, но не воспроизводят дизайн-⁠систему компании</a:t>
            </a:r>
            <a:endParaRPr lang="ru-RU" sz="1500"/>
          </a:p>
        </p:txBody>
      </p:sp>
      <p:sp>
        <p:nvSpPr>
          <p:cNvPr id="1214" name="Card 1214"/>
          <p:cNvSpPr/>
          <p:nvPr/>
        </p:nvSpPr>
        <p:spPr>
          <a:xfrm>
            <a:off x="6136303" y="1366182"/>
            <a:ext cx="2724231" cy="2887579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5" name="Index 1215"/>
          <p:cNvSpPr txBox="1"/>
          <p:nvPr/>
        </p:nvSpPr>
        <p:spPr>
          <a:xfrm>
            <a:off x="6367862" y="1597741"/>
            <a:ext cx="2261113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6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3600"/>
          </a:p>
        </p:txBody>
      </p:sp>
      <p:sp>
        <p:nvSpPr>
          <p:cNvPr id="1216" name="Card text 1216"/>
          <p:cNvSpPr txBox="1"/>
          <p:nvPr/>
        </p:nvSpPr>
        <p:spPr>
          <a:xfrm>
            <a:off x="6367862" y="2200387"/>
            <a:ext cx="2261113" cy="182181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2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Шаблон — не инструкция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Плейсхолдеры не объясняют, как построить новый слайд</a:t>
            </a:r>
            <a:endParaRPr lang="ru-RU" sz="15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437276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Verstka создаёт три редактируемые презентации за 2⁠–⁠3 минуты</a:t>
            </a:r>
            <a:endParaRPr/>
          </a:p>
        </p:txBody>
      </p:sp>
      <p:sp>
        <p:nvSpPr>
          <p:cNvPr id="1226" name="Card 1226"/>
          <p:cNvSpPr/>
          <p:nvPr/>
        </p:nvSpPr>
        <p:spPr>
          <a:xfrm>
            <a:off x="248929" y="1366182"/>
            <a:ext cx="2724231" cy="2313460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7" name="Badge 1227"/>
          <p:cNvSpPr/>
          <p:nvPr/>
        </p:nvSpPr>
        <p:spPr>
          <a:xfrm>
            <a:off x="480386" y="1597639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1</a:t>
            </a:r>
          </a:p>
        </p:txBody>
      </p:sp>
      <p:sp>
        <p:nvSpPr>
          <p:cNvPr id="1228" name="Step 1228"/>
          <p:cNvSpPr txBox="1"/>
          <p:nvPr/>
        </p:nvSpPr>
        <p:spPr>
          <a:xfrm>
            <a:off x="480386" y="2193713"/>
            <a:ext cx="2261317" cy="125447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546"/>
              </a:spcAft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 входе — шаблон и текст</a:t>
            </a:r>
            <a:endParaRPr lang="ru-RU" sz="11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99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Verstka использует любой шаблон PowerPoint и текст</a:t>
            </a:r>
            <a:endParaRPr lang="ru-RU" sz="992"/>
          </a:p>
        </p:txBody>
      </p:sp>
      <p:sp>
        <p:nvSpPr>
          <p:cNvPr id="1229" name="Card 1229"/>
          <p:cNvSpPr/>
          <p:nvPr/>
        </p:nvSpPr>
        <p:spPr>
          <a:xfrm>
            <a:off x="3192616" y="1366182"/>
            <a:ext cx="2724231" cy="2313460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0" name="Badge 1230"/>
          <p:cNvSpPr/>
          <p:nvPr/>
        </p:nvSpPr>
        <p:spPr>
          <a:xfrm>
            <a:off x="3424073" y="1597639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2</a:t>
            </a:r>
          </a:p>
        </p:txBody>
      </p:sp>
      <p:sp>
        <p:nvSpPr>
          <p:cNvPr id="1231" name="Step 1231"/>
          <p:cNvSpPr txBox="1"/>
          <p:nvPr/>
        </p:nvSpPr>
        <p:spPr>
          <a:xfrm>
            <a:off x="3424073" y="2193713"/>
            <a:ext cx="2261317" cy="125447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546"/>
              </a:spcAft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Шаблон — набор правил</a:t>
            </a:r>
            <a:endParaRPr lang="ru-RU" sz="11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99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Палитра, кегли, сетка, поля, логотипы и колонтитулы</a:t>
            </a:r>
            <a:endParaRPr lang="ru-RU" sz="992"/>
          </a:p>
        </p:txBody>
      </p:sp>
      <p:sp>
        <p:nvSpPr>
          <p:cNvPr id="1232" name="Card 1232"/>
          <p:cNvSpPr/>
          <p:nvPr/>
        </p:nvSpPr>
        <p:spPr>
          <a:xfrm>
            <a:off x="6136303" y="1366182"/>
            <a:ext cx="2724231" cy="2313460"/>
          </a:xfrm>
          <a:prstGeom prst="roundRect">
            <a:avLst>
              <a:gd fmla="val 6224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3" name="Badge 1233"/>
          <p:cNvSpPr/>
          <p:nvPr/>
        </p:nvSpPr>
        <p:spPr>
          <a:xfrm>
            <a:off x="6367760" y="1597639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3</a:t>
            </a:r>
          </a:p>
        </p:txBody>
      </p:sp>
      <p:sp>
        <p:nvSpPr>
          <p:cNvPr id="1234" name="Step 1234"/>
          <p:cNvSpPr txBox="1"/>
          <p:nvPr/>
        </p:nvSpPr>
        <p:spPr>
          <a:xfrm>
            <a:off x="6367760" y="2193713"/>
            <a:ext cx="2261317" cy="125447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546"/>
              </a:spcAft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 выходе — три редактируемые презентации</a:t>
            </a:r>
            <a:endParaRPr lang="ru-RU" sz="11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992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Три варианта презентации в стиле шаблона</a:t>
            </a:r>
            <a:endParaRPr lang="ru-RU" sz="992"/>
          </a:p>
        </p:txBody>
      </p:sp>
      <p:sp>
        <p:nvSpPr>
          <p:cNvPr id="1235" name="Conclusion bar 1235"/>
          <p:cNvSpPr/>
          <p:nvPr/>
        </p:nvSpPr>
        <p:spPr>
          <a:xfrm>
            <a:off x="248929" y="3918529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6" name="Conclusion 1236"/>
          <p:cNvSpPr txBox="1"/>
          <p:nvPr/>
        </p:nvSpPr>
        <p:spPr>
          <a:xfrm>
            <a:off x="439429" y="3895669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Из шаблона и текста формируются три варианта презентации</a:t>
            </a:r>
            <a:endParaRPr lang="ru-RU" sz="15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Пять этапов работы агента</a:t>
            </a:r>
            <a:endParaRPr/>
          </a:p>
        </p:txBody>
      </p:sp>
      <p:sp>
        <p:nvSpPr>
          <p:cNvPr id="1238" name="Card 1238"/>
          <p:cNvSpPr/>
          <p:nvPr/>
        </p:nvSpPr>
        <p:spPr>
          <a:xfrm>
            <a:off x="248929" y="1000422"/>
            <a:ext cx="1616983" cy="2649928"/>
          </a:xfrm>
          <a:prstGeom prst="roundRect">
            <a:avLst>
              <a:gd fmla="val 890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9" name="Badge 1239"/>
          <p:cNvSpPr/>
          <p:nvPr/>
        </p:nvSpPr>
        <p:spPr>
          <a:xfrm>
            <a:off x="362117" y="1113610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1</a:t>
            </a:r>
          </a:p>
        </p:txBody>
      </p:sp>
      <p:sp>
        <p:nvSpPr>
          <p:cNvPr id="1240" name="Step 1240"/>
          <p:cNvSpPr txBox="1"/>
          <p:nvPr/>
        </p:nvSpPr>
        <p:spPr>
          <a:xfrm>
            <a:off x="362117" y="1709684"/>
            <a:ext cx="1390607" cy="182747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605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Аналитик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Находит в тексте слайды, ряды данных и просьбы</a:t>
            </a:r>
            <a:endParaRPr lang="ru-RU" sz="1100"/>
          </a:p>
        </p:txBody>
      </p:sp>
      <p:sp>
        <p:nvSpPr>
          <p:cNvPr id="1241" name="Card 1241"/>
          <p:cNvSpPr/>
          <p:nvPr/>
        </p:nvSpPr>
        <p:spPr>
          <a:xfrm>
            <a:off x="1997585" y="1000422"/>
            <a:ext cx="1616983" cy="2649928"/>
          </a:xfrm>
          <a:prstGeom prst="roundRect">
            <a:avLst>
              <a:gd fmla="val 890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42" name="Badge 1242"/>
          <p:cNvSpPr/>
          <p:nvPr/>
        </p:nvSpPr>
        <p:spPr>
          <a:xfrm>
            <a:off x="2110773" y="1113610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2</a:t>
            </a:r>
          </a:p>
        </p:txBody>
      </p:sp>
      <p:sp>
        <p:nvSpPr>
          <p:cNvPr id="1243" name="Step 1243"/>
          <p:cNvSpPr txBox="1"/>
          <p:nvPr/>
        </p:nvSpPr>
        <p:spPr>
          <a:xfrm>
            <a:off x="2110773" y="1709684"/>
            <a:ext cx="1390607" cy="182747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605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Дизайнер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Продумывает каждый слайд отдельно</a:t>
            </a:r>
            <a:endParaRPr lang="ru-RU" sz="1100"/>
          </a:p>
        </p:txBody>
      </p:sp>
      <p:sp>
        <p:nvSpPr>
          <p:cNvPr id="1244" name="Card 1244"/>
          <p:cNvSpPr/>
          <p:nvPr/>
        </p:nvSpPr>
        <p:spPr>
          <a:xfrm>
            <a:off x="3746241" y="1000422"/>
            <a:ext cx="1616983" cy="2649928"/>
          </a:xfrm>
          <a:prstGeom prst="roundRect">
            <a:avLst>
              <a:gd fmla="val 890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45" name="Badge 1245"/>
          <p:cNvSpPr/>
          <p:nvPr/>
        </p:nvSpPr>
        <p:spPr>
          <a:xfrm>
            <a:off x="3859429" y="1113610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3</a:t>
            </a:r>
          </a:p>
        </p:txBody>
      </p:sp>
      <p:sp>
        <p:nvSpPr>
          <p:cNvPr id="1246" name="Step 1246"/>
          <p:cNvSpPr txBox="1"/>
          <p:nvPr/>
        </p:nvSpPr>
        <p:spPr>
          <a:xfrm>
            <a:off x="3859429" y="1709684"/>
            <a:ext cx="1390607" cy="182747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605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Критик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Сверяет план с текстом и правилами</a:t>
            </a:r>
            <a:endParaRPr lang="ru-RU" sz="1100"/>
          </a:p>
        </p:txBody>
      </p:sp>
      <p:sp>
        <p:nvSpPr>
          <p:cNvPr id="1247" name="Card 1247"/>
          <p:cNvSpPr/>
          <p:nvPr/>
        </p:nvSpPr>
        <p:spPr>
          <a:xfrm>
            <a:off x="5494897" y="1000422"/>
            <a:ext cx="1616983" cy="2649928"/>
          </a:xfrm>
          <a:prstGeom prst="roundRect">
            <a:avLst>
              <a:gd fmla="val 890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48" name="Badge 1248"/>
          <p:cNvSpPr/>
          <p:nvPr/>
        </p:nvSpPr>
        <p:spPr>
          <a:xfrm>
            <a:off x="5608085" y="1113610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4</a:t>
            </a:r>
          </a:p>
        </p:txBody>
      </p:sp>
      <p:sp>
        <p:nvSpPr>
          <p:cNvPr id="1249" name="Step 1249"/>
          <p:cNvSpPr txBox="1"/>
          <p:nvPr/>
        </p:nvSpPr>
        <p:spPr>
          <a:xfrm>
            <a:off x="5608085" y="1709684"/>
            <a:ext cx="1390607" cy="182747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605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Компилятор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Проверяет каждое число</a:t>
            </a:r>
            <a:endParaRPr lang="ru-RU" sz="1100"/>
          </a:p>
        </p:txBody>
      </p:sp>
      <p:sp>
        <p:nvSpPr>
          <p:cNvPr id="1250" name="Card 1250"/>
          <p:cNvSpPr/>
          <p:nvPr/>
        </p:nvSpPr>
        <p:spPr>
          <a:xfrm>
            <a:off x="7243553" y="1000422"/>
            <a:ext cx="1616983" cy="2649928"/>
          </a:xfrm>
          <a:prstGeom prst="roundRect">
            <a:avLst>
              <a:gd fmla="val 890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51" name="Badge 1251"/>
          <p:cNvSpPr/>
          <p:nvPr/>
        </p:nvSpPr>
        <p:spPr>
          <a:xfrm>
            <a:off x="7356741" y="1113610"/>
            <a:ext cx="457200" cy="45720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1800" b="0" cap="none" spc="0" baseline="0">
                <a:solidFill>
                  <a:srgbClr val="FFFFFF"/>
                </a:solidFill>
                <a:latin typeface="Play"/>
                <a:cs typeface="Play"/>
              </a:rPr>
              <a:t>5</a:t>
            </a:r>
          </a:p>
        </p:txBody>
      </p:sp>
      <p:sp>
        <p:nvSpPr>
          <p:cNvPr id="1252" name="Step 1252"/>
          <p:cNvSpPr txBox="1"/>
          <p:nvPr/>
        </p:nvSpPr>
        <p:spPr>
          <a:xfrm>
            <a:off x="7356741" y="1709684"/>
            <a:ext cx="1390607" cy="182747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605"/>
              </a:spcAft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Вёрстка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Собирает слайды по дизайн-⁠системе шаблона</a:t>
            </a:r>
            <a:endParaRPr lang="ru-RU" sz="11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Одинаковое содержание, разная подача</a:t>
            </a:r>
            <a:endParaRPr/>
          </a:p>
        </p:txBody>
      </p:sp>
      <p:sp>
        <p:nvSpPr>
          <p:cNvPr id="1226" name="Card 1226"/>
          <p:cNvSpPr/>
          <p:nvPr/>
        </p:nvSpPr>
        <p:spPr>
          <a:xfrm>
            <a:off x="248929" y="1000422"/>
            <a:ext cx="2724231" cy="3005696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7" name="Index 1227"/>
          <p:cNvSpPr txBox="1"/>
          <p:nvPr/>
        </p:nvSpPr>
        <p:spPr>
          <a:xfrm>
            <a:off x="480488" y="1231981"/>
            <a:ext cx="2261113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5400"/>
          </a:p>
        </p:txBody>
      </p:sp>
      <p:sp>
        <p:nvSpPr>
          <p:cNvPr id="1228" name="Card text 1228"/>
          <p:cNvSpPr txBox="1"/>
          <p:nvPr/>
        </p:nvSpPr>
        <p:spPr>
          <a:xfrm>
            <a:off x="480488" y="2108947"/>
            <a:ext cx="2261113" cy="16656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80"/>
              </a:spcAft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Структурный</a:t>
            </a:r>
            <a:endParaRPr lang="ru-RU" sz="2705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Одна мысль на слайде, строгая сетка</a:t>
            </a:r>
            <a:endParaRPr lang="ru-RU" sz="1600"/>
          </a:p>
        </p:txBody>
      </p:sp>
      <p:sp>
        <p:nvSpPr>
          <p:cNvPr id="1229" name="Card 1229"/>
          <p:cNvSpPr/>
          <p:nvPr/>
        </p:nvSpPr>
        <p:spPr>
          <a:xfrm>
            <a:off x="3192616" y="1000422"/>
            <a:ext cx="2724231" cy="3005696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0" name="Index 1230"/>
          <p:cNvSpPr txBox="1"/>
          <p:nvPr/>
        </p:nvSpPr>
        <p:spPr>
          <a:xfrm>
            <a:off x="3424175" y="1231981"/>
            <a:ext cx="2261113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5400"/>
          </a:p>
        </p:txBody>
      </p:sp>
      <p:sp>
        <p:nvSpPr>
          <p:cNvPr id="1231" name="Card text 1231"/>
          <p:cNvSpPr txBox="1"/>
          <p:nvPr/>
        </p:nvSpPr>
        <p:spPr>
          <a:xfrm>
            <a:off x="3424175" y="2108947"/>
            <a:ext cx="2261113" cy="16656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80"/>
              </a:spcAft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Визуальный</a:t>
            </a:r>
            <a:endParaRPr lang="ru-RU" sz="2705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Крупные цифры и наглядные схемы</a:t>
            </a:r>
            <a:endParaRPr lang="ru-RU" sz="1600"/>
          </a:p>
        </p:txBody>
      </p:sp>
      <p:sp>
        <p:nvSpPr>
          <p:cNvPr id="1232" name="Card 1232"/>
          <p:cNvSpPr/>
          <p:nvPr/>
        </p:nvSpPr>
        <p:spPr>
          <a:xfrm>
            <a:off x="6136303" y="1000422"/>
            <a:ext cx="2724231" cy="3005696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3" name="Index 1233"/>
          <p:cNvSpPr txBox="1"/>
          <p:nvPr/>
        </p:nvSpPr>
        <p:spPr>
          <a:xfrm>
            <a:off x="6367862" y="1231981"/>
            <a:ext cx="2261113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4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5400"/>
          </a:p>
        </p:txBody>
      </p:sp>
      <p:sp>
        <p:nvSpPr>
          <p:cNvPr id="1234" name="Card text 1234"/>
          <p:cNvSpPr txBox="1"/>
          <p:nvPr/>
        </p:nvSpPr>
        <p:spPr>
          <a:xfrm>
            <a:off x="6367862" y="2108947"/>
            <a:ext cx="2261113" cy="166561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80"/>
              </a:spcAft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Компактный</a:t>
            </a:r>
            <a:endParaRPr lang="ru-RU" sz="2705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6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Вывод первой строкой, данные справа</a:t>
            </a:r>
            <a:endParaRPr lang="ru-RU" sz="16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Целостность — самая большая категория проверок</a:t>
            </a:r>
            <a:endParaRPr/>
          </a:p>
        </p:txBody>
      </p:sp>
      <p:sp>
        <p:nvSpPr>
          <p:cNvPr id="1208" name="Unit 1208"/>
          <p:cNvSpPr txBox="1"/>
          <p:nvPr/>
        </p:nvSpPr>
        <p:spPr>
          <a:xfrm>
            <a:off x="248929" y="1000422"/>
            <a:ext cx="5761446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Проверки, проверок</a:t>
            </a:r>
            <a:endParaRPr lang="ru-RU" sz="9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209273"/>
          <a:ext cx="5761446" cy="300654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10" name="Rule 1210"/>
          <p:cNvSpPr/>
          <p:nvPr/>
        </p:nvSpPr>
        <p:spPr>
          <a:xfrm>
            <a:off x="6449287" y="1000422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1" name="Label 1211"/>
          <p:cNvSpPr txBox="1"/>
          <p:nvPr/>
        </p:nvSpPr>
        <p:spPr>
          <a:xfrm>
            <a:off x="6449287" y="1177396"/>
            <a:ext cx="2411249" cy="711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Всего проверок: </a:t>
            </a:r>
            <a:r>
              <a:rPr lang="ru-RU" sz="15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41 </a:t>
            </a: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детерминированная и 2 модельные</a:t>
            </a:r>
            <a:endParaRPr lang="ru-RU" sz="15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9 готовых презентаций без лишних чисел</a:t>
            </a:r>
            <a:endParaRPr/>
          </a:p>
        </p:txBody>
      </p:sp>
      <p:sp>
        <p:nvSpPr>
          <p:cNvPr id="1226" name="Card 1226"/>
          <p:cNvSpPr/>
          <p:nvPr/>
        </p:nvSpPr>
        <p:spPr>
          <a:xfrm>
            <a:off x="248929" y="1000422"/>
            <a:ext cx="2724231" cy="2550819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7" name="Figure 1227"/>
          <p:cNvSpPr txBox="1"/>
          <p:nvPr/>
        </p:nvSpPr>
        <p:spPr>
          <a:xfrm>
            <a:off x="484768" y="1069383"/>
            <a:ext cx="2231217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9</a:t>
            </a:r>
            <a:endParaRPr lang="ru-RU" sz="4800"/>
          </a:p>
        </p:txBody>
      </p:sp>
      <p:sp>
        <p:nvSpPr>
          <p:cNvPr id="1228" name="Label 1228"/>
          <p:cNvSpPr txBox="1"/>
          <p:nvPr/>
        </p:nvSpPr>
        <p:spPr>
          <a:xfrm>
            <a:off x="506104" y="1854909"/>
            <a:ext cx="2209881" cy="1439157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Демо-⁠презентаций</a:t>
            </a:r>
            <a:endParaRPr lang="ru-RU" sz="1500"/>
          </a:p>
        </p:txBody>
      </p:sp>
      <p:sp>
        <p:nvSpPr>
          <p:cNvPr id="1229" name="Card 1229"/>
          <p:cNvSpPr/>
          <p:nvPr/>
        </p:nvSpPr>
        <p:spPr>
          <a:xfrm>
            <a:off x="3192616" y="1000422"/>
            <a:ext cx="2724231" cy="2550819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0" name="Figure 1230"/>
          <p:cNvSpPr txBox="1"/>
          <p:nvPr/>
        </p:nvSpPr>
        <p:spPr>
          <a:xfrm>
            <a:off x="3429903" y="1069383"/>
            <a:ext cx="2229769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116</a:t>
            </a: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 → </a:t>
            </a:r>
            <a:r>
              <a:rPr lang="ru-RU" sz="4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123</a:t>
            </a:r>
            <a:endParaRPr lang="ru-RU" sz="4800"/>
          </a:p>
        </p:txBody>
      </p:sp>
      <p:sp>
        <p:nvSpPr>
          <p:cNvPr id="1231" name="Label 1231"/>
          <p:cNvSpPr txBox="1"/>
          <p:nvPr/>
        </p:nvSpPr>
        <p:spPr>
          <a:xfrm>
            <a:off x="3449791" y="1854909"/>
            <a:ext cx="2209881" cy="1439157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Сверенных чисел в каждой</a:t>
            </a:r>
            <a:endParaRPr lang="ru-RU" sz="1500"/>
          </a:p>
        </p:txBody>
      </p:sp>
      <p:sp>
        <p:nvSpPr>
          <p:cNvPr id="1232" name="Card 1232"/>
          <p:cNvSpPr/>
          <p:nvPr/>
        </p:nvSpPr>
        <p:spPr>
          <a:xfrm>
            <a:off x="6136303" y="1000422"/>
            <a:ext cx="2724231" cy="2550819"/>
          </a:xfrm>
          <a:prstGeom prst="roundRect">
            <a:avLst>
              <a:gd fmla="val 564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3" name="Figure 1233"/>
          <p:cNvSpPr txBox="1"/>
          <p:nvPr/>
        </p:nvSpPr>
        <p:spPr>
          <a:xfrm>
            <a:off x="6378238" y="1069383"/>
            <a:ext cx="2225121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8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</a:t>
            </a:r>
            <a:endParaRPr lang="ru-RU" sz="4800"/>
          </a:p>
        </p:txBody>
      </p:sp>
      <p:sp>
        <p:nvSpPr>
          <p:cNvPr id="1234" name="Label 1234"/>
          <p:cNvSpPr txBox="1"/>
          <p:nvPr/>
        </p:nvSpPr>
        <p:spPr>
          <a:xfrm>
            <a:off x="6393478" y="1854909"/>
            <a:ext cx="2209881" cy="1439157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Лишних чисел</a:t>
            </a:r>
            <a:endParaRPr lang="ru-RU" sz="1500"/>
          </a:p>
        </p:txBody>
      </p:sp>
      <p:sp>
        <p:nvSpPr>
          <p:cNvPr id="1235" name="Conclusion bar 1235"/>
          <p:cNvSpPr/>
          <p:nvPr/>
        </p:nvSpPr>
        <p:spPr>
          <a:xfrm>
            <a:off x="248929" y="3790128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6" name="Conclusion 1236"/>
          <p:cNvSpPr txBox="1"/>
          <p:nvPr/>
        </p:nvSpPr>
        <p:spPr>
          <a:xfrm>
            <a:off x="439429" y="3767268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Все цифры проверены дважды — в тексте и в PPTX</a:t>
            </a:r>
            <a:endParaRPr lang="ru-RU" sz="15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87 шаблонов и 99/100 качества</a:t>
            </a:r>
            <a:endParaRPr/>
          </a:p>
        </p:txBody>
      </p:sp>
      <p:sp>
        <p:nvSpPr>
          <p:cNvPr id="1226" name="Card 1226"/>
          <p:cNvSpPr/>
          <p:nvPr/>
        </p:nvSpPr>
        <p:spPr>
          <a:xfrm>
            <a:off x="248929" y="1000422"/>
            <a:ext cx="2724231" cy="1967736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7" name="Figure 1227"/>
          <p:cNvSpPr txBox="1"/>
          <p:nvPr/>
        </p:nvSpPr>
        <p:spPr>
          <a:xfrm>
            <a:off x="502294" y="1116436"/>
            <a:ext cx="2213691" cy="5486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6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87</a:t>
            </a:r>
            <a:endParaRPr lang="ru-RU" sz="3600"/>
          </a:p>
        </p:txBody>
      </p:sp>
      <p:sp>
        <p:nvSpPr>
          <p:cNvPr id="1228" name="Label 1228"/>
          <p:cNvSpPr txBox="1"/>
          <p:nvPr/>
        </p:nvSpPr>
        <p:spPr>
          <a:xfrm>
            <a:off x="506104" y="1719082"/>
            <a:ext cx="2209881" cy="99190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Чужих шаблонов</a:t>
            </a:r>
            <a:endParaRPr lang="ru-RU" sz="1500"/>
          </a:p>
        </p:txBody>
      </p:sp>
      <p:sp>
        <p:nvSpPr>
          <p:cNvPr id="1229" name="Card 1229"/>
          <p:cNvSpPr/>
          <p:nvPr/>
        </p:nvSpPr>
        <p:spPr>
          <a:xfrm>
            <a:off x="3192616" y="1000422"/>
            <a:ext cx="2724231" cy="1967736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0" name="Figure 1230"/>
          <p:cNvSpPr txBox="1"/>
          <p:nvPr/>
        </p:nvSpPr>
        <p:spPr>
          <a:xfrm>
            <a:off x="3439123" y="1116436"/>
            <a:ext cx="2220549" cy="5486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6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99/100</a:t>
            </a:r>
            <a:endParaRPr lang="ru-RU" sz="3600"/>
          </a:p>
        </p:txBody>
      </p:sp>
      <p:sp>
        <p:nvSpPr>
          <p:cNvPr id="1231" name="Label 1231"/>
          <p:cNvSpPr txBox="1"/>
          <p:nvPr/>
        </p:nvSpPr>
        <p:spPr>
          <a:xfrm>
            <a:off x="3449791" y="1719082"/>
            <a:ext cx="2209881" cy="99190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Качество проверки</a:t>
            </a:r>
            <a:endParaRPr lang="ru-RU" sz="1500"/>
          </a:p>
        </p:txBody>
      </p:sp>
      <p:sp>
        <p:nvSpPr>
          <p:cNvPr id="1232" name="Card 1232"/>
          <p:cNvSpPr/>
          <p:nvPr/>
        </p:nvSpPr>
        <p:spPr>
          <a:xfrm>
            <a:off x="6136303" y="1000422"/>
            <a:ext cx="2724231" cy="1967736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3" name="Figure 1233"/>
          <p:cNvSpPr txBox="1"/>
          <p:nvPr/>
        </p:nvSpPr>
        <p:spPr>
          <a:xfrm>
            <a:off x="6359950" y="1116436"/>
            <a:ext cx="2243409" cy="54864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6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12</a:t>
            </a:r>
            <a:endParaRPr lang="ru-RU" sz="3600"/>
          </a:p>
        </p:txBody>
      </p:sp>
      <p:sp>
        <p:nvSpPr>
          <p:cNvPr id="1234" name="Label 1234"/>
          <p:cNvSpPr txBox="1"/>
          <p:nvPr/>
        </p:nvSpPr>
        <p:spPr>
          <a:xfrm>
            <a:off x="6393478" y="1719082"/>
            <a:ext cx="2209881" cy="99190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Форматов</a:t>
            </a:r>
            <a:endParaRPr lang="ru-RU" sz="1500"/>
          </a:p>
        </p:txBody>
      </p:sp>
      <p:sp>
        <p:nvSpPr>
          <p:cNvPr id="1235" name="Conclusion bar 1235"/>
          <p:cNvSpPr/>
          <p:nvPr/>
        </p:nvSpPr>
        <p:spPr>
          <a:xfrm>
            <a:off x="248929" y="4264278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6" name="Conclusion 1236"/>
          <p:cNvSpPr txBox="1"/>
          <p:nvPr/>
        </p:nvSpPr>
        <p:spPr>
          <a:xfrm>
            <a:off x="439429" y="4241418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Поддержка </a:t>
            </a:r>
            <a:r>
              <a:rPr lang="ru-RU" sz="15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12 </a:t>
            </a: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форматов</a:t>
            </a:r>
            <a:endParaRPr lang="ru-RU" sz="15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Генерация всех шаблонов занимает меньше 5 минут</a:t>
            </a:r>
            <a:endParaRPr/>
          </a:p>
        </p:txBody>
      </p:sp>
      <p:sp>
        <p:nvSpPr>
          <p:cNvPr id="1208" name="Unit 1208"/>
          <p:cNvSpPr txBox="1"/>
          <p:nvPr/>
        </p:nvSpPr>
        <p:spPr>
          <a:xfrm>
            <a:off x="248929" y="1000422"/>
            <a:ext cx="5761446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Время генерации шаблонов, секунды</a:t>
            </a:r>
            <a:endParaRPr lang="ru-RU" sz="900"/>
          </a:p>
        </p:txBody>
      </p:sp>
      <p:graphicFrame>
        <p:nvGraphicFramePr>
          <p:cNvPr id="1209" name="Chart 1208"/>
          <p:cNvGraphicFramePr>
            <a:graphicFrameLocks noGrp="1"/>
          </p:cNvGraphicFramePr>
          <p:nvPr/>
        </p:nvGraphicFramePr>
        <p:xfrm>
          <a:off x="248929" y="1209273"/>
          <a:ext cx="5761446" cy="300654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10" name="Rule 1210"/>
          <p:cNvSpPr/>
          <p:nvPr/>
        </p:nvSpPr>
        <p:spPr>
          <a:xfrm>
            <a:off x="6449287" y="1000422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1" name="Label 1211"/>
          <p:cNvSpPr txBox="1"/>
          <p:nvPr/>
        </p:nvSpPr>
        <p:spPr>
          <a:xfrm>
            <a:off x="6449287" y="1177396"/>
            <a:ext cx="2411249" cy="711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Все шаблоны укладываются в лимит </a:t>
            </a:r>
            <a:r>
              <a:rPr lang="ru-RU" sz="15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5 минут</a:t>
            </a: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 с запасом</a:t>
            </a:r>
            <a:endParaRPr lang="ru-RU" sz="15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Три модели с лицензией Apache 2.0</a:t>
            </a:r>
            <a:endParaRPr/>
          </a:p>
        </p:txBody>
      </p:sp>
      <p:sp>
        <p:nvSpPr>
          <p:cNvPr id="1208" name="Card 1208"/>
          <p:cNvSpPr/>
          <p:nvPr/>
        </p:nvSpPr>
        <p:spPr>
          <a:xfrm>
            <a:off x="248929" y="1000422"/>
            <a:ext cx="2724231" cy="2430379"/>
          </a:xfrm>
          <a:prstGeom prst="roundRect">
            <a:avLst>
              <a:gd fmla="val 5924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09" name="Index 1209"/>
          <p:cNvSpPr txBox="1"/>
          <p:nvPr/>
        </p:nvSpPr>
        <p:spPr>
          <a:xfrm>
            <a:off x="480488" y="1231981"/>
            <a:ext cx="2261113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6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3600"/>
          </a:p>
        </p:txBody>
      </p:sp>
      <p:sp>
        <p:nvSpPr>
          <p:cNvPr id="1210" name="Card text 1210"/>
          <p:cNvSpPr txBox="1"/>
          <p:nvPr/>
        </p:nvSpPr>
        <p:spPr>
          <a:xfrm>
            <a:off x="480488" y="1834627"/>
            <a:ext cx="2261113" cy="136461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98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Qwen3.8-⁠27B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Основная модель, инференс VK, конфиг готов</a:t>
            </a:r>
            <a:endParaRPr lang="ru-RU" sz="1500"/>
          </a:p>
        </p:txBody>
      </p:sp>
      <p:sp>
        <p:nvSpPr>
          <p:cNvPr id="1211" name="Card 1211"/>
          <p:cNvSpPr/>
          <p:nvPr/>
        </p:nvSpPr>
        <p:spPr>
          <a:xfrm>
            <a:off x="3192616" y="1000422"/>
            <a:ext cx="2724231" cy="2430379"/>
          </a:xfrm>
          <a:prstGeom prst="roundRect">
            <a:avLst>
              <a:gd fmla="val 5924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2" name="Index 1212"/>
          <p:cNvSpPr txBox="1"/>
          <p:nvPr/>
        </p:nvSpPr>
        <p:spPr>
          <a:xfrm>
            <a:off x="3424175" y="1231981"/>
            <a:ext cx="2261113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6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3600"/>
          </a:p>
        </p:txBody>
      </p:sp>
      <p:sp>
        <p:nvSpPr>
          <p:cNvPr id="1213" name="Card text 1213"/>
          <p:cNvSpPr txBox="1"/>
          <p:nvPr/>
        </p:nvSpPr>
        <p:spPr>
          <a:xfrm>
            <a:off x="3424175" y="1834627"/>
            <a:ext cx="2261113" cy="136461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98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Qwen3-⁠32B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Запасное звено на Cloud.ru</a:t>
            </a:r>
            <a:endParaRPr lang="ru-RU" sz="1500"/>
          </a:p>
        </p:txBody>
      </p:sp>
      <p:sp>
        <p:nvSpPr>
          <p:cNvPr id="1214" name="Card 1214"/>
          <p:cNvSpPr/>
          <p:nvPr/>
        </p:nvSpPr>
        <p:spPr>
          <a:xfrm>
            <a:off x="6136303" y="1000422"/>
            <a:ext cx="2724231" cy="2430379"/>
          </a:xfrm>
          <a:prstGeom prst="roundRect">
            <a:avLst>
              <a:gd fmla="val 5924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15" name="Index 1215"/>
          <p:cNvSpPr txBox="1"/>
          <p:nvPr/>
        </p:nvSpPr>
        <p:spPr>
          <a:xfrm>
            <a:off x="6367862" y="1231981"/>
            <a:ext cx="2261113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3600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3600"/>
          </a:p>
        </p:txBody>
      </p:sp>
      <p:sp>
        <p:nvSpPr>
          <p:cNvPr id="1216" name="Card text 1216"/>
          <p:cNvSpPr txBox="1"/>
          <p:nvPr/>
        </p:nvSpPr>
        <p:spPr>
          <a:xfrm>
            <a:off x="6367862" y="1834627"/>
            <a:ext cx="2261113" cy="136461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25"/>
              </a:spcAft>
              <a:buNone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Gemma 4 и Qwen3-⁠VL</a:t>
            </a:r>
            <a:endParaRPr lang="ru-RU" sz="18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Два запасных звена цепочки</a:t>
            </a:r>
            <a:endParaRPr lang="ru-RU" sz="1500"/>
          </a:p>
        </p:txBody>
      </p:sp>
      <p:sp>
        <p:nvSpPr>
          <p:cNvPr id="1217" name="Conclusion bar 1217"/>
          <p:cNvSpPr/>
          <p:nvPr/>
        </p:nvSpPr>
        <p:spPr>
          <a:xfrm>
            <a:off x="248929" y="3669688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8" name="Conclusion 1218"/>
          <p:cNvSpPr txBox="1"/>
          <p:nvPr/>
        </p:nvSpPr>
        <p:spPr>
          <a:xfrm>
            <a:off x="439429" y="3646828"/>
            <a:ext cx="8421107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Все модели открыты и готовы к использованию</a:t>
            </a:r>
            <a:endParaRPr lang="ru-RU" sz="15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2 028 автотестов и форматы экспорта</a:t>
            </a:r>
            <a:endParaRPr/>
          </a:p>
        </p:txBody>
      </p:sp>
      <p:sp>
        <p:nvSpPr>
          <p:cNvPr id="1238" name="Card 1238"/>
          <p:cNvSpPr/>
          <p:nvPr/>
        </p:nvSpPr>
        <p:spPr>
          <a:xfrm>
            <a:off x="248929" y="1000422"/>
            <a:ext cx="1546756" cy="1953411"/>
          </a:xfrm>
          <a:prstGeom prst="roundRect">
            <a:avLst>
              <a:gd fmla="val 9309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9" name="Index 1239"/>
          <p:cNvSpPr txBox="1"/>
          <p:nvPr/>
        </p:nvSpPr>
        <p:spPr>
          <a:xfrm>
            <a:off x="362086" y="1113579"/>
            <a:ext cx="1320442" cy="4122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01</a:t>
            </a:r>
            <a:endParaRPr lang="ru-RU" sz="2705"/>
          </a:p>
        </p:txBody>
      </p:sp>
      <p:sp>
        <p:nvSpPr>
          <p:cNvPr id="1240" name="Card text 1240"/>
          <p:cNvSpPr txBox="1"/>
          <p:nvPr/>
        </p:nvSpPr>
        <p:spPr>
          <a:xfrm>
            <a:off x="362086" y="1579827"/>
            <a:ext cx="1320442" cy="12608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PPTX с редактируемыми объектами</a:t>
            </a:r>
            <a:endParaRPr lang="ru-RU" sz="1100"/>
          </a:p>
        </p:txBody>
      </p:sp>
      <p:sp>
        <p:nvSpPr>
          <p:cNvPr id="1241" name="Card 1241"/>
          <p:cNvSpPr/>
          <p:nvPr/>
        </p:nvSpPr>
        <p:spPr>
          <a:xfrm>
            <a:off x="2015141" y="1000422"/>
            <a:ext cx="1546756" cy="1953411"/>
          </a:xfrm>
          <a:prstGeom prst="roundRect">
            <a:avLst>
              <a:gd fmla="val 9309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42" name="Index 1242"/>
          <p:cNvSpPr txBox="1"/>
          <p:nvPr/>
        </p:nvSpPr>
        <p:spPr>
          <a:xfrm>
            <a:off x="2128298" y="1113579"/>
            <a:ext cx="1320442" cy="4122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02</a:t>
            </a:r>
            <a:endParaRPr lang="ru-RU" sz="2705"/>
          </a:p>
        </p:txBody>
      </p:sp>
      <p:sp>
        <p:nvSpPr>
          <p:cNvPr id="1243" name="Card text 1243"/>
          <p:cNvSpPr txBox="1"/>
          <p:nvPr/>
        </p:nvSpPr>
        <p:spPr>
          <a:xfrm>
            <a:off x="2128298" y="1579827"/>
            <a:ext cx="1320442" cy="12608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PDF и HTML</a:t>
            </a:r>
            <a:endParaRPr lang="ru-RU" sz="1100"/>
          </a:p>
        </p:txBody>
      </p:sp>
      <p:sp>
        <p:nvSpPr>
          <p:cNvPr id="1244" name="Card 1244"/>
          <p:cNvSpPr/>
          <p:nvPr/>
        </p:nvSpPr>
        <p:spPr>
          <a:xfrm>
            <a:off x="3781353" y="1000422"/>
            <a:ext cx="1546756" cy="1953411"/>
          </a:xfrm>
          <a:prstGeom prst="roundRect">
            <a:avLst>
              <a:gd fmla="val 9309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45" name="Index 1245"/>
          <p:cNvSpPr txBox="1"/>
          <p:nvPr/>
        </p:nvSpPr>
        <p:spPr>
          <a:xfrm>
            <a:off x="3894510" y="1113579"/>
            <a:ext cx="1320442" cy="4122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03</a:t>
            </a:r>
            <a:endParaRPr lang="ru-RU" sz="2705"/>
          </a:p>
        </p:txBody>
      </p:sp>
      <p:sp>
        <p:nvSpPr>
          <p:cNvPr id="1246" name="Card text 1246"/>
          <p:cNvSpPr txBox="1"/>
          <p:nvPr/>
        </p:nvSpPr>
        <p:spPr>
          <a:xfrm>
            <a:off x="3894510" y="1579827"/>
            <a:ext cx="1320442" cy="12608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Чат с агентом для правок</a:t>
            </a:r>
            <a:endParaRPr lang="ru-RU" sz="1100"/>
          </a:p>
        </p:txBody>
      </p:sp>
      <p:sp>
        <p:nvSpPr>
          <p:cNvPr id="1247" name="Card 1247"/>
          <p:cNvSpPr/>
          <p:nvPr/>
        </p:nvSpPr>
        <p:spPr>
          <a:xfrm>
            <a:off x="5547565" y="1000422"/>
            <a:ext cx="1546756" cy="1953411"/>
          </a:xfrm>
          <a:prstGeom prst="roundRect">
            <a:avLst>
              <a:gd fmla="val 9309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48" name="Index 1248"/>
          <p:cNvSpPr txBox="1"/>
          <p:nvPr/>
        </p:nvSpPr>
        <p:spPr>
          <a:xfrm>
            <a:off x="5660722" y="1113579"/>
            <a:ext cx="1320442" cy="4122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04</a:t>
            </a:r>
            <a:endParaRPr lang="ru-RU" sz="2705"/>
          </a:p>
        </p:txBody>
      </p:sp>
      <p:sp>
        <p:nvSpPr>
          <p:cNvPr id="1249" name="Card text 1249"/>
          <p:cNvSpPr txBox="1"/>
          <p:nvPr/>
        </p:nvSpPr>
        <p:spPr>
          <a:xfrm>
            <a:off x="5660722" y="1579827"/>
            <a:ext cx="1320442" cy="12608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Далее: генерация изображений внутри слайдов</a:t>
            </a:r>
            <a:endParaRPr lang="ru-RU" sz="1100"/>
          </a:p>
        </p:txBody>
      </p:sp>
      <p:sp>
        <p:nvSpPr>
          <p:cNvPr id="1250" name="Card 1250"/>
          <p:cNvSpPr/>
          <p:nvPr/>
        </p:nvSpPr>
        <p:spPr>
          <a:xfrm>
            <a:off x="7313777" y="1000422"/>
            <a:ext cx="1546756" cy="1953411"/>
          </a:xfrm>
          <a:prstGeom prst="roundRect">
            <a:avLst>
              <a:gd fmla="val 9309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51" name="Index 1251"/>
          <p:cNvSpPr txBox="1"/>
          <p:nvPr/>
        </p:nvSpPr>
        <p:spPr>
          <a:xfrm>
            <a:off x="7426934" y="1113579"/>
            <a:ext cx="1320442" cy="4122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77FF"/>
                </a:solidFill>
                <a:latin typeface="Play"/>
                <a:cs typeface="Play"/>
              </a:rPr>
              <a:t>05</a:t>
            </a:r>
            <a:endParaRPr lang="ru-RU" sz="2705"/>
          </a:p>
        </p:txBody>
      </p:sp>
      <p:sp>
        <p:nvSpPr>
          <p:cNvPr id="1252" name="Card text 1252"/>
          <p:cNvSpPr txBox="1"/>
          <p:nvPr/>
        </p:nvSpPr>
        <p:spPr>
          <a:xfrm>
            <a:off x="7426934" y="1579827"/>
            <a:ext cx="1320442" cy="12608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1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Переход на инференс VK</a:t>
            </a:r>
            <a:endParaRPr lang="ru-RU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