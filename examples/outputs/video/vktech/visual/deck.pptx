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45"/>
          <c:y val="0.0245"/>
          <c:w val="0.9510"/>
          <c:h val="0.9510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фигур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50A2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321"/>
          <c:y val="0.0128"/>
          <c:w val="0.8188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проверок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2"/>
          <c:y val="0.0870"/>
          <c:w val="0.9956"/>
          <c:h val="0.843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Автор быстро пишет текст, но потом часами раскладывает его по фирменному шаблону.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 фигуры, и только 5% — плейсхолдеры. Поэтому правила оформления приходится выводить из самих слайдов-образцов: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берёт любой шаблон PowerPoint и текст и собирает три редактируемые презентации в стиле этого шаблона. Шаблон читается как набор правил, а не как набор макетов.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использует открытые модели до 35 миллиардов параметров с лицензией Apache 2.0. Процесс состоит из пяти последовательных шагов: аналитик находит в тексте слайды, ряды данных и просьбы; дизайнер продумывает каждый слайд отдельно; критик сверяет план с текстом и правилами шаблона; компилятор проверяет каждое число; вёрстка собирает слайды по дизайн-системе шаблона.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слайда не меняется, меняется только подача: структурный вариант — для отчёта и защиты проекта, визуальный — для питча и выступления, компактный — для рассылки руководителю.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 проверок по категориям (12 + 11 + 7 + 6 + 5) составляет 41, что соответствует числу детерминированных проверок. Дополнительно выполняется 2 проверки моделью.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файле PowerPoint. Нужны три крупные цифры: 9 демо-презентаций, от 116 до 123 сверенных чисел в каждой, 0 выдуманных.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презентацию. Сервис принимает 12 форматов, включая pptx, potx, ppt, odp, thmx. Средняя оценка проверки качества составляет 99 из 100.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трёх вариантов на шаблонах датасета: VK Tech — 113 секунд, VK Education — 145 секунд, VK WorkSpace — 175 секунд.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Следующие шаги включают переход на инференс VK с моделью Qwen3.8-27B, добавление генерации изображений внутри слайдов и запуск пилота на шаблонах и сценариях VK Tech.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Оформление съедает часы на каждую презентацию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Index 1227"/>
          <p:cNvSpPr txBox="1"/>
          <p:nvPr/>
        </p:nvSpPr>
        <p:spPr>
          <a:xfrm>
            <a:off x="480488" y="1231981"/>
            <a:ext cx="2261113" cy="441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9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2900"/>
          </a:p>
        </p:txBody>
      </p:sp>
      <p:sp>
        <p:nvSpPr>
          <p:cNvPr id="1228" name="Card text 1228"/>
          <p:cNvSpPr txBox="1"/>
          <p:nvPr/>
        </p:nvSpPr>
        <p:spPr>
          <a:xfrm>
            <a:off x="480488" y="1727947"/>
            <a:ext cx="2261113" cy="166892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Подбор макета, перемещение блоков и подгонка цветов под фирменный стиль</a:t>
            </a:r>
            <a:endParaRPr lang="ru-RU" sz="1322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Index 1230"/>
          <p:cNvSpPr txBox="1"/>
          <p:nvPr/>
        </p:nvSpPr>
        <p:spPr>
          <a:xfrm>
            <a:off x="3424175" y="1231981"/>
            <a:ext cx="2261113" cy="441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9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2900"/>
          </a:p>
        </p:txBody>
      </p:sp>
      <p:sp>
        <p:nvSpPr>
          <p:cNvPr id="1231" name="Card text 1231"/>
          <p:cNvSpPr txBox="1"/>
          <p:nvPr/>
        </p:nvSpPr>
        <p:spPr>
          <a:xfrm>
            <a:off x="3424175" y="1727947"/>
            <a:ext cx="2261113" cy="166892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пишут текст, но не воспроизводят дизайн-⁠систему компании</a:t>
            </a:r>
            <a:endParaRPr lang="ru-RU" sz="1322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Index 1233"/>
          <p:cNvSpPr txBox="1"/>
          <p:nvPr/>
        </p:nvSpPr>
        <p:spPr>
          <a:xfrm>
            <a:off x="6367862" y="1231981"/>
            <a:ext cx="2261113" cy="441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9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2900"/>
          </a:p>
        </p:txBody>
      </p:sp>
      <p:sp>
        <p:nvSpPr>
          <p:cNvPr id="1234" name="Card text 1234"/>
          <p:cNvSpPr txBox="1"/>
          <p:nvPr/>
        </p:nvSpPr>
        <p:spPr>
          <a:xfrm>
            <a:off x="6367862" y="1727947"/>
            <a:ext cx="2261113" cy="166892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слайдам-⁠образцам не понять, как собрать новый слайд</a:t>
            </a:r>
            <a:endParaRPr lang="ru-RU" sz="1322"/>
          </a:p>
        </p:txBody>
      </p:sp>
      <p:sp>
        <p:nvSpPr>
          <p:cNvPr id="1235" name="Conclusion bar 1235"/>
          <p:cNvSpPr/>
          <p:nvPr/>
        </p:nvSpPr>
        <p:spPr>
          <a:xfrm>
            <a:off x="248929" y="386732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84446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Десятки презентаций рождаются каждую неделю</a:t>
            </a:r>
            <a:endParaRPr lang="ru-RU" sz="15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46643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95% фигур в шаблонах — свободные, не плейсхолдеры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366182"/>
          <a:ext cx="2797385" cy="279738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3485226" y="2155274"/>
            <a:ext cx="2525149" cy="6159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Состав фигур в реальных шаблонах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3485226" y="281694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3732114" y="277122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5531148" y="277122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3485226" y="316619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8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3732114" y="312047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5531148" y="312047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5%</a:t>
            </a:r>
            <a:endParaRPr lang="ru-RU" sz="1500"/>
          </a:p>
        </p:txBody>
      </p:sp>
      <p:sp>
        <p:nvSpPr>
          <p:cNvPr id="1216" name="Rule 1216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7" name="Figure 1217"/>
          <p:cNvSpPr txBox="1"/>
          <p:nvPr/>
        </p:nvSpPr>
        <p:spPr>
          <a:xfrm>
            <a:off x="6412330" y="1331415"/>
            <a:ext cx="2448206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5%</a:t>
            </a:r>
            <a:endParaRPr lang="ru-RU" sz="5400"/>
          </a:p>
        </p:txBody>
      </p:sp>
      <p:sp>
        <p:nvSpPr>
          <p:cNvPr id="1218" name="Label 1218"/>
          <p:cNvSpPr txBox="1"/>
          <p:nvPr/>
        </p:nvSpPr>
        <p:spPr>
          <a:xfrm>
            <a:off x="6449287" y="220066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Только 5% фигур — плейсхолдеры</a:t>
            </a:r>
            <a:endParaRPr lang="ru-RU" sz="1500"/>
          </a:p>
        </p:txBody>
      </p:sp>
      <p:sp>
        <p:nvSpPr>
          <p:cNvPr id="1219" name="Chart note 1219"/>
          <p:cNvSpPr txBox="1"/>
          <p:nvPr/>
        </p:nvSpPr>
        <p:spPr>
          <a:xfrm>
            <a:off x="6449287" y="2860716"/>
            <a:ext cx="2411249" cy="7727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Правила оформления выводятся из слайдов-⁠образцов</a:t>
            </a:r>
            <a:endParaRPr lang="ru-RU" sz="1100"/>
          </a:p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Палитра, кегли, сетка, поля, логотипы, колонтитулы</a:t>
            </a:r>
            <a:endParaRPr lang="ru-RU" sz="11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148069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Verstka собирает три презентации из шаблона и текста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Любой шаблон PowerPoint и текст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Читается как правила, а не макеты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презентации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Три редактируемые презентации в стиле шаблона</a:t>
            </a:r>
            <a:endParaRPr lang="ru-RU" sz="1500"/>
          </a:p>
        </p:txBody>
      </p:sp>
      <p:sp>
        <p:nvSpPr>
          <p:cNvPr id="1217" name="Conclusion bar 1217"/>
          <p:cNvSpPr/>
          <p:nvPr/>
        </p:nvSpPr>
        <p:spPr>
          <a:xfrm>
            <a:off x="248929" y="403544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401258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Презентация в фирменном стиле без ручной вёрстки</a:t>
            </a:r>
            <a:endParaRPr lang="ru-RU"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Как работает агент</a:t>
            </a:r>
            <a:endParaRPr/>
          </a:p>
        </p:txBody>
      </p:sp>
      <p:sp>
        <p:nvSpPr>
          <p:cNvPr id="1208" name="Intro 1208"/>
          <p:cNvSpPr txBox="1"/>
          <p:nvPr/>
        </p:nvSpPr>
        <p:spPr>
          <a:xfrm>
            <a:off x="248929" y="1000422"/>
            <a:ext cx="6717053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Агент работает на открытых моделях до 35 миллиардов параметров с лицензией Apache 2.0</a:t>
            </a:r>
            <a:endParaRPr lang="ru-RU" sz="1500"/>
          </a:p>
        </p:txBody>
      </p:sp>
      <p:sp>
        <p:nvSpPr>
          <p:cNvPr id="1209" name="Card 1209"/>
          <p:cNvSpPr/>
          <p:nvPr/>
        </p:nvSpPr>
        <p:spPr>
          <a:xfrm>
            <a:off x="248929" y="1652757"/>
            <a:ext cx="1616983" cy="1823845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0" name="Badge 1210"/>
          <p:cNvSpPr/>
          <p:nvPr/>
        </p:nvSpPr>
        <p:spPr>
          <a:xfrm>
            <a:off x="362117" y="1765945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11" name="Step 1211"/>
          <p:cNvSpPr txBox="1"/>
          <p:nvPr/>
        </p:nvSpPr>
        <p:spPr>
          <a:xfrm>
            <a:off x="362117" y="2362019"/>
            <a:ext cx="1390607" cy="1001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Находит в тексте слайды, ряды данных и просьбы</a:t>
            </a:r>
            <a:endParaRPr lang="ru-RU" sz="1100"/>
          </a:p>
        </p:txBody>
      </p:sp>
      <p:sp>
        <p:nvSpPr>
          <p:cNvPr id="1212" name="Card 1212"/>
          <p:cNvSpPr/>
          <p:nvPr/>
        </p:nvSpPr>
        <p:spPr>
          <a:xfrm>
            <a:off x="1997585" y="1652757"/>
            <a:ext cx="1616983" cy="1823845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3" name="Badge 1213"/>
          <p:cNvSpPr/>
          <p:nvPr/>
        </p:nvSpPr>
        <p:spPr>
          <a:xfrm>
            <a:off x="2110773" y="1765945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14" name="Step 1214"/>
          <p:cNvSpPr txBox="1"/>
          <p:nvPr/>
        </p:nvSpPr>
        <p:spPr>
          <a:xfrm>
            <a:off x="2110773" y="2362019"/>
            <a:ext cx="1390607" cy="1001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Продумывает каждый слайд отдельно</a:t>
            </a:r>
            <a:endParaRPr lang="ru-RU" sz="1100"/>
          </a:p>
        </p:txBody>
      </p:sp>
      <p:sp>
        <p:nvSpPr>
          <p:cNvPr id="1215" name="Card 1215"/>
          <p:cNvSpPr/>
          <p:nvPr/>
        </p:nvSpPr>
        <p:spPr>
          <a:xfrm>
            <a:off x="3746241" y="1652757"/>
            <a:ext cx="1616983" cy="1823845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6" name="Badge 1216"/>
          <p:cNvSpPr/>
          <p:nvPr/>
        </p:nvSpPr>
        <p:spPr>
          <a:xfrm>
            <a:off x="3859429" y="1765945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17" name="Step 1217"/>
          <p:cNvSpPr txBox="1"/>
          <p:nvPr/>
        </p:nvSpPr>
        <p:spPr>
          <a:xfrm>
            <a:off x="3859429" y="2362019"/>
            <a:ext cx="1390607" cy="1001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Сверяет план с текстом и правилами шаблона</a:t>
            </a:r>
            <a:endParaRPr lang="ru-RU" sz="1100"/>
          </a:p>
        </p:txBody>
      </p:sp>
      <p:sp>
        <p:nvSpPr>
          <p:cNvPr id="1218" name="Card 1218"/>
          <p:cNvSpPr/>
          <p:nvPr/>
        </p:nvSpPr>
        <p:spPr>
          <a:xfrm>
            <a:off x="5494897" y="1652757"/>
            <a:ext cx="1616983" cy="1823845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Badge 1219"/>
          <p:cNvSpPr/>
          <p:nvPr/>
        </p:nvSpPr>
        <p:spPr>
          <a:xfrm>
            <a:off x="5608085" y="1765945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4</a:t>
            </a:r>
          </a:p>
        </p:txBody>
      </p:sp>
      <p:sp>
        <p:nvSpPr>
          <p:cNvPr id="1220" name="Step 1220"/>
          <p:cNvSpPr txBox="1"/>
          <p:nvPr/>
        </p:nvSpPr>
        <p:spPr>
          <a:xfrm>
            <a:off x="5608085" y="2362019"/>
            <a:ext cx="1390607" cy="1001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Проверяет каждое число</a:t>
            </a:r>
            <a:endParaRPr lang="ru-RU" sz="1100"/>
          </a:p>
        </p:txBody>
      </p:sp>
      <p:sp>
        <p:nvSpPr>
          <p:cNvPr id="1221" name="Card 1221"/>
          <p:cNvSpPr/>
          <p:nvPr/>
        </p:nvSpPr>
        <p:spPr>
          <a:xfrm>
            <a:off x="7243553" y="1652757"/>
            <a:ext cx="1616983" cy="1823845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2" name="Badge 1222"/>
          <p:cNvSpPr/>
          <p:nvPr/>
        </p:nvSpPr>
        <p:spPr>
          <a:xfrm>
            <a:off x="7356741" y="1765945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5</a:t>
            </a:r>
          </a:p>
        </p:txBody>
      </p:sp>
      <p:sp>
        <p:nvSpPr>
          <p:cNvPr id="1223" name="Step 1223"/>
          <p:cNvSpPr txBox="1"/>
          <p:nvPr/>
        </p:nvSpPr>
        <p:spPr>
          <a:xfrm>
            <a:off x="7356741" y="2362019"/>
            <a:ext cx="1390607" cy="1001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Собирает слайды по дизайн-⁠системе шаблона</a:t>
            </a:r>
            <a:endParaRPr lang="ru-RU" sz="1100"/>
          </a:p>
        </p:txBody>
      </p:sp>
      <p:sp>
        <p:nvSpPr>
          <p:cNvPr id="1224" name="Conclusion bar 1224"/>
          <p:cNvSpPr/>
          <p:nvPr/>
        </p:nvSpPr>
        <p:spPr>
          <a:xfrm>
            <a:off x="248929" y="37154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5" name="Conclusion 1225"/>
          <p:cNvSpPr txBox="1"/>
          <p:nvPr/>
        </p:nvSpPr>
        <p:spPr>
          <a:xfrm>
            <a:off x="439429" y="36926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Каждый слайд проходит проверку критиком и компилятором перед сборкой</a:t>
            </a:r>
            <a:endParaRPr lang="ru-RU" sz="15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Подача меняется под задачу, содержание — нет</a:t>
            </a:r>
            <a:endParaRPr/>
          </a:p>
        </p:txBody>
      </p:sp>
      <p:sp>
        <p:nvSpPr>
          <p:cNvPr id="1217" name="Card 1217"/>
          <p:cNvSpPr/>
          <p:nvPr/>
        </p:nvSpPr>
        <p:spPr>
          <a:xfrm>
            <a:off x="248929" y="1000422"/>
            <a:ext cx="2724231" cy="327505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8" name="Index 1218"/>
          <p:cNvSpPr txBox="1"/>
          <p:nvPr/>
        </p:nvSpPr>
        <p:spPr>
          <a:xfrm>
            <a:off x="480488" y="1231981"/>
            <a:ext cx="2261113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5400"/>
          </a:p>
        </p:txBody>
      </p:sp>
      <p:sp>
        <p:nvSpPr>
          <p:cNvPr id="1219" name="Card text 1219"/>
          <p:cNvSpPr txBox="1"/>
          <p:nvPr/>
        </p:nvSpPr>
        <p:spPr>
          <a:xfrm>
            <a:off x="480488" y="210894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Структурный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Одна мысль на слайд, строгая сетка. Для отчёта и защиты проекта.</a:t>
            </a:r>
            <a:endParaRPr lang="ru-RU" sz="1800"/>
          </a:p>
        </p:txBody>
      </p:sp>
      <p:sp>
        <p:nvSpPr>
          <p:cNvPr id="1220" name="Card 1220"/>
          <p:cNvSpPr/>
          <p:nvPr/>
        </p:nvSpPr>
        <p:spPr>
          <a:xfrm>
            <a:off x="3192616" y="1000422"/>
            <a:ext cx="2724231" cy="327505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1" name="Index 1221"/>
          <p:cNvSpPr txBox="1"/>
          <p:nvPr/>
        </p:nvSpPr>
        <p:spPr>
          <a:xfrm>
            <a:off x="3424175" y="1231981"/>
            <a:ext cx="2261113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5400"/>
          </a:p>
        </p:txBody>
      </p:sp>
      <p:sp>
        <p:nvSpPr>
          <p:cNvPr id="1222" name="Card text 1222"/>
          <p:cNvSpPr txBox="1"/>
          <p:nvPr/>
        </p:nvSpPr>
        <p:spPr>
          <a:xfrm>
            <a:off x="3424175" y="210894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Визуальный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Крупные цифры и наглядные схемы. Для питча и выступления со сцены.</a:t>
            </a:r>
            <a:endParaRPr lang="ru-RU" sz="1800"/>
          </a:p>
        </p:txBody>
      </p:sp>
      <p:sp>
        <p:nvSpPr>
          <p:cNvPr id="1223" name="Card 1223"/>
          <p:cNvSpPr/>
          <p:nvPr/>
        </p:nvSpPr>
        <p:spPr>
          <a:xfrm>
            <a:off x="6136303" y="1000422"/>
            <a:ext cx="2724231" cy="327505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4" name="Index 1224"/>
          <p:cNvSpPr txBox="1"/>
          <p:nvPr/>
        </p:nvSpPr>
        <p:spPr>
          <a:xfrm>
            <a:off x="6367862" y="1231981"/>
            <a:ext cx="2261113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5400"/>
          </a:p>
        </p:txBody>
      </p:sp>
      <p:sp>
        <p:nvSpPr>
          <p:cNvPr id="1225" name="Card text 1225"/>
          <p:cNvSpPr txBox="1"/>
          <p:nvPr/>
        </p:nvSpPr>
        <p:spPr>
          <a:xfrm>
            <a:off x="6367862" y="210894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Компактный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Вывод первой строкой, данные справа. Для рассылки руководителю.</a:t>
            </a:r>
            <a:endParaRPr lang="ru-RU" sz="18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88843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41 детерминированная и 2 модельные проверки гарантируют качество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Число проверок по категориям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761446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Label 1211"/>
          <p:cNvSpPr txBox="1"/>
          <p:nvPr/>
        </p:nvSpPr>
        <p:spPr>
          <a:xfrm>
            <a:off x="6449287" y="1543156"/>
            <a:ext cx="2411249" cy="939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Каждое число проверяется дважды: до вёрстки и в готовом файле</a:t>
            </a:r>
            <a:endParaRPr lang="ru-RU" sz="1500"/>
          </a:p>
        </p:txBody>
      </p:sp>
      <p:sp>
        <p:nvSpPr>
          <p:cNvPr id="1212" name="Chart note 1212"/>
          <p:cNvSpPr txBox="1"/>
          <p:nvPr/>
        </p:nvSpPr>
        <p:spPr>
          <a:xfrm>
            <a:off x="6449287" y="2660406"/>
            <a:ext cx="2411249" cy="6051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Проблемы помечаются прямо на слайде</a:t>
            </a:r>
            <a:endParaRPr lang="ru-RU" sz="1100"/>
          </a:p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Исправляются автоматически</a:t>
            </a:r>
            <a:endParaRPr lang="ru-RU" sz="11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Каждое число плана сверяется с текстом до вёрстки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95436" y="1116436"/>
            <a:ext cx="222054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</a:t>
            </a:r>
            <a:endParaRPr lang="ru-RU" sz="36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Демо-⁠презентаций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16263" y="1116436"/>
            <a:ext cx="224340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116⁠–⁠123</a:t>
            </a:r>
            <a:endParaRPr lang="ru-RU" sz="36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Сверенных чисел в каждой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87382" y="1116436"/>
            <a:ext cx="2215977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</a:t>
            </a:r>
            <a:endParaRPr lang="ru-RU" sz="36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Выдуманных чисел</a:t>
            </a:r>
            <a:endParaRPr lang="ru-RU" sz="1500"/>
          </a:p>
        </p:txBody>
      </p:sp>
      <p:sp>
        <p:nvSpPr>
          <p:cNvPr id="1235" name="Conclusion bar 1235"/>
          <p:cNvSpPr/>
          <p:nvPr/>
        </p:nvSpPr>
        <p:spPr>
          <a:xfrm>
            <a:off x="248929" y="3572805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549945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Два этапа проверки: до вёрстки и в готовом файле</a:t>
            </a:r>
            <a:endParaRPr lang="ru-RU" sz="15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534951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Сервис работает с 87 чужими шаблонами и 12 форматами</a:t>
            </a:r>
            <a:endParaRPr/>
          </a:p>
        </p:txBody>
      </p:sp>
      <p:sp>
        <p:nvSpPr>
          <p:cNvPr id="1218" name="Card 1218"/>
          <p:cNvSpPr/>
          <p:nvPr/>
        </p:nvSpPr>
        <p:spPr>
          <a:xfrm>
            <a:off x="248929" y="1366182"/>
            <a:ext cx="2724231" cy="1662175"/>
          </a:xfrm>
          <a:prstGeom prst="roundRect">
            <a:avLst>
              <a:gd fmla="val 866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Figure 1219"/>
          <p:cNvSpPr txBox="1"/>
          <p:nvPr/>
        </p:nvSpPr>
        <p:spPr>
          <a:xfrm>
            <a:off x="489721" y="1411616"/>
            <a:ext cx="2226264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87</a:t>
            </a:r>
            <a:endParaRPr lang="ru-RU" sz="5400"/>
          </a:p>
        </p:txBody>
      </p:sp>
      <p:sp>
        <p:nvSpPr>
          <p:cNvPr id="1220" name="Label 1220"/>
          <p:cNvSpPr txBox="1"/>
          <p:nvPr/>
        </p:nvSpPr>
        <p:spPr>
          <a:xfrm>
            <a:off x="506104" y="2288582"/>
            <a:ext cx="2209881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Чужих шаблонов</a:t>
            </a:r>
            <a:endParaRPr lang="ru-RU" sz="1500"/>
          </a:p>
        </p:txBody>
      </p:sp>
      <p:sp>
        <p:nvSpPr>
          <p:cNvPr id="1221" name="Card 1221"/>
          <p:cNvSpPr/>
          <p:nvPr/>
        </p:nvSpPr>
        <p:spPr>
          <a:xfrm>
            <a:off x="3192616" y="1366182"/>
            <a:ext cx="2724231" cy="1662175"/>
          </a:xfrm>
          <a:prstGeom prst="roundRect">
            <a:avLst>
              <a:gd fmla="val 866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2" name="Figure 1222"/>
          <p:cNvSpPr txBox="1"/>
          <p:nvPr/>
        </p:nvSpPr>
        <p:spPr>
          <a:xfrm>
            <a:off x="3423121" y="1411616"/>
            <a:ext cx="223655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99</a:t>
            </a: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из 100</a:t>
            </a:r>
            <a:endParaRPr lang="ru-RU" sz="5400"/>
          </a:p>
        </p:txBody>
      </p:sp>
      <p:sp>
        <p:nvSpPr>
          <p:cNvPr id="1223" name="Label 1223"/>
          <p:cNvSpPr txBox="1"/>
          <p:nvPr/>
        </p:nvSpPr>
        <p:spPr>
          <a:xfrm>
            <a:off x="3449791" y="2288582"/>
            <a:ext cx="2209881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оценка качества</a:t>
            </a:r>
            <a:endParaRPr lang="ru-RU" sz="1500"/>
          </a:p>
        </p:txBody>
      </p:sp>
      <p:sp>
        <p:nvSpPr>
          <p:cNvPr id="1224" name="Card 1224"/>
          <p:cNvSpPr/>
          <p:nvPr/>
        </p:nvSpPr>
        <p:spPr>
          <a:xfrm>
            <a:off x="6136303" y="1366182"/>
            <a:ext cx="2724231" cy="1662175"/>
          </a:xfrm>
          <a:prstGeom prst="roundRect">
            <a:avLst>
              <a:gd fmla="val 866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5" name="Figure 1225"/>
          <p:cNvSpPr txBox="1"/>
          <p:nvPr/>
        </p:nvSpPr>
        <p:spPr>
          <a:xfrm>
            <a:off x="6332518" y="1411616"/>
            <a:ext cx="227084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12</a:t>
            </a:r>
            <a:endParaRPr lang="ru-RU" sz="5400"/>
          </a:p>
        </p:txBody>
      </p:sp>
      <p:sp>
        <p:nvSpPr>
          <p:cNvPr id="1226" name="Label 1226"/>
          <p:cNvSpPr txBox="1"/>
          <p:nvPr/>
        </p:nvSpPr>
        <p:spPr>
          <a:xfrm>
            <a:off x="6393478" y="2288582"/>
            <a:ext cx="2209881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Поддерживаемых форматов</a:t>
            </a:r>
            <a:endParaRPr lang="ru-RU" sz="1500"/>
          </a:p>
        </p:txBody>
      </p:sp>
      <p:sp>
        <p:nvSpPr>
          <p:cNvPr id="1227" name="Note 1227"/>
          <p:cNvSpPr txBox="1"/>
          <p:nvPr/>
        </p:nvSpPr>
        <p:spPr>
          <a:xfrm>
            <a:off x="248929" y="3244384"/>
            <a:ext cx="6889285" cy="5778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5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261 презентация в регрессионном корпусе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5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Форматы: pptx, potx, ppt, odp, thmx</a:t>
            </a:r>
            <a:endParaRPr lang="ru-RU"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трёх вариантов занимает до 175 секунд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трёх вариантов, секунд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Label 1211"/>
          <p:cNvSpPr txBox="1"/>
          <p:nvPr/>
        </p:nvSpPr>
        <p:spPr>
          <a:xfrm>
            <a:off x="6449287" y="117739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  <p:sp>
        <p:nvSpPr>
          <p:cNvPr id="1212" name="Rule 1212"/>
          <p:cNvSpPr/>
          <p:nvPr/>
        </p:nvSpPr>
        <p:spPr>
          <a:xfrm>
            <a:off x="6449287" y="2066046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Figure 1213"/>
          <p:cNvSpPr txBox="1"/>
          <p:nvPr/>
        </p:nvSpPr>
        <p:spPr>
          <a:xfrm>
            <a:off x="6412330" y="2031279"/>
            <a:ext cx="2448206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</a:t>
            </a:r>
            <a:endParaRPr lang="ru-RU" sz="5400"/>
          </a:p>
        </p:txBody>
      </p:sp>
      <p:sp>
        <p:nvSpPr>
          <p:cNvPr id="1214" name="Label 1214"/>
          <p:cNvSpPr txBox="1"/>
          <p:nvPr/>
        </p:nvSpPr>
        <p:spPr>
          <a:xfrm>
            <a:off x="6449287" y="2900530"/>
            <a:ext cx="241124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Лимит времени минут</a:t>
            </a:r>
            <a:endParaRPr lang="ru-RU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шага после финала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Badge 1227"/>
          <p:cNvSpPr/>
          <p:nvPr/>
        </p:nvSpPr>
        <p:spPr>
          <a:xfrm>
            <a:off x="480386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28" name="Step 1228"/>
          <p:cNvSpPr txBox="1"/>
          <p:nvPr/>
        </p:nvSpPr>
        <p:spPr>
          <a:xfrm>
            <a:off x="480386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28"/>
              </a:spcAft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</a:t>
            </a:r>
            <a:endParaRPr lang="ru-RU" sz="20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88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Модель Qwen3.8-⁠27B</a:t>
            </a:r>
            <a:endParaRPr lang="ru-RU" sz="1688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Badge 1230"/>
          <p:cNvSpPr/>
          <p:nvPr/>
        </p:nvSpPr>
        <p:spPr>
          <a:xfrm>
            <a:off x="3424073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31" name="Step 1231"/>
          <p:cNvSpPr txBox="1"/>
          <p:nvPr/>
        </p:nvSpPr>
        <p:spPr>
          <a:xfrm>
            <a:off x="3424073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28"/>
              </a:spcAft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Генерация изображений</a:t>
            </a:r>
            <a:endParaRPr lang="ru-RU" sz="20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88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Внутри слайдов</a:t>
            </a:r>
            <a:endParaRPr lang="ru-RU" sz="1688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Badge 1233"/>
          <p:cNvSpPr/>
          <p:nvPr/>
        </p:nvSpPr>
        <p:spPr>
          <a:xfrm>
            <a:off x="6367760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34" name="Step 1234"/>
          <p:cNvSpPr txBox="1"/>
          <p:nvPr/>
        </p:nvSpPr>
        <p:spPr>
          <a:xfrm>
            <a:off x="6367760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28"/>
              </a:spcAft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Пилот на шаблонах</a:t>
            </a:r>
            <a:endParaRPr lang="ru-RU" sz="20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88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Сценарии VK Tech</a:t>
            </a:r>
            <a:endParaRPr lang="ru-RU" sz="1688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