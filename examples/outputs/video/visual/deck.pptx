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1" r:id="rId58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290" r:id="rId68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Lato" panose="020F0502020204030203" pitchFamily="34" charset="77"/>
      <p:regular r:id="rId31"/>
      <p:bold r:id="rId32"/>
      <p:italic r:id="rId33"/>
      <p:boldItalic r:id="rId34"/>
    </p:embeddedFont>
    <p:embeddedFont>
      <p:font typeface="Lato Bold" panose="020F0502020204030203" pitchFamily="34" charset="77"/>
      <p:regular r:id="rId35"/>
      <p:bold r:id="rId36"/>
      <p:italic r:id="rId37"/>
      <p:boldItalic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Noto Sans Bold" panose="020B0802040504020204" pitchFamily="34" charset="0"/>
      <p:regular r:id="rId43"/>
      <p:bold r:id="rId44"/>
    </p:embeddedFont>
    <p:embeddedFont>
      <p:font typeface="Open Sans Bold" panose="020B0606030504020204" pitchFamily="34" charset="0"/>
      <p:regular r:id="rId45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uce" pitchFamily="2" charset="77"/>
      <p:regular r:id="rId51"/>
    </p:embeddedFont>
    <p:embeddedFont>
      <p:font typeface="Open Sauce Bold" pitchFamily="2" charset="77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>
        <p:scale>
          <a:sx n="50" d="100"/>
          <a:sy n="50" d="100"/>
        </p:scale>
        <p:origin x="2504" y="1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font" Target="fonts/font19.fntdata"/><Relationship Id="rId46" Type="http://schemas.openxmlformats.org/officeDocument/2006/relationships/font" Target="fonts/font20.fntdata"/><Relationship Id="rId47" Type="http://schemas.openxmlformats.org/officeDocument/2006/relationships/font" Target="fonts/font21.fntdata"/><Relationship Id="rId48" Type="http://schemas.openxmlformats.org/officeDocument/2006/relationships/font" Target="fonts/font22.fntdata"/><Relationship Id="rId49" Type="http://schemas.openxmlformats.org/officeDocument/2006/relationships/font" Target="fonts/font23.fntdata"/><Relationship Id="rId50" Type="http://schemas.openxmlformats.org/officeDocument/2006/relationships/font" Target="fonts/font24.fntdata"/><Relationship Id="rId51" Type="http://schemas.openxmlformats.org/officeDocument/2006/relationships/font" Target="fonts/font25.fntdata"/><Relationship Id="rId52" Type="http://schemas.openxmlformats.org/officeDocument/2006/relationships/font" Target="fonts/font26.fntdata"/><Relationship Id="rId53" Type="http://schemas.openxmlformats.org/officeDocument/2006/relationships/font" Target="fonts/font27.fnt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26.xml"/><Relationship Id="rId59" Type="http://schemas.openxmlformats.org/officeDocument/2006/relationships/notesMaster" Target="notesMasters/notesMaster1.xml"/><Relationship Id="rId60" Type="http://schemas.openxmlformats.org/officeDocument/2006/relationships/slide" Target="slides/slide27.xml"/><Relationship Id="rId61" Type="http://schemas.openxmlformats.org/officeDocument/2006/relationships/slide" Target="slides/slide28.xml"/><Relationship Id="rId62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438"/>
          <c:y val="0.0128"/>
          <c:w val="0.8081"/>
          <c:h val="0.97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проверок</c:v>
                </c:pt>
              </c:strCache>
            </c:strRef>
          </c:tx>
          <c:spPr>
            <a:solidFill>
              <a:srgbClr val="00C282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400" b="0">
                      <a:solidFill>
                        <a:srgbClr val="000000"/>
                      </a:solidFill>
                      <a:latin typeface="Arial"/>
                      <a:ea typeface="Noto Sans"/>
                      <a:cs typeface="Noto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0">
                    <a:solidFill>
                      <a:srgbClr val="000000"/>
                    </a:solidFill>
                    <a:latin typeface="Arial"/>
                    <a:ea typeface="Noto Sans"/>
                    <a:cs typeface="Noto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0">
                  <a:solidFill>
                    <a:srgbClr val="000000"/>
                  </a:solidFill>
                  <a:latin typeface="Arial"/>
                  <a:ea typeface="Noto Sans"/>
                  <a:cs typeface="Noto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2000" b="0">
                <a:solidFill>
                  <a:srgbClr val="575757"/>
                </a:solidFill>
                <a:latin typeface="Arial"/>
                <a:ea typeface="Noto Sans"/>
                <a:cs typeface="Noto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000000"/>
          </a:solidFill>
          <a:latin typeface="Arial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1"/>
          <c:y val="0.0770"/>
          <c:w val="0.9978"/>
          <c:h val="0.84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C282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400" b="0">
                      <a:solidFill>
                        <a:srgbClr val="000000"/>
                      </a:solidFill>
                      <a:latin typeface="Arial"/>
                      <a:ea typeface="Noto Sans"/>
                      <a:cs typeface="Noto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0">
                    <a:solidFill>
                      <a:srgbClr val="000000"/>
                    </a:solidFill>
                    <a:latin typeface="Arial"/>
                    <a:ea typeface="Noto Sans"/>
                    <a:cs typeface="Noto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0">
                  <a:solidFill>
                    <a:srgbClr val="000000"/>
                  </a:solidFill>
                  <a:latin typeface="Arial"/>
                  <a:ea typeface="Noto Sans"/>
                  <a:cs typeface="Noto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4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86EAE9"/>
            </a:solidFill>
          </a:ln>
        </c:spPr>
        <c:txPr>
          <a:bodyPr rot="0" vert="horz"/>
          <a:lstStyle/>
          <a:p>
            <a:pPr>
              <a:defRPr sz="2000" b="0">
                <a:solidFill>
                  <a:srgbClr val="575757"/>
                </a:solidFill>
                <a:latin typeface="Arial"/>
                <a:ea typeface="Noto Sans"/>
                <a:cs typeface="Noto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000000"/>
          </a:solidFill>
          <a:latin typeface="Arial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Подготовка презентации занимает часы, а иногда и дни. Большая часть времени уходит на оформление, а не на содержание. Три основные проблемы: ручная вёрстка, ИИ, который не воспроизводит стиль, и шаблоны, которые не помогают создать новый слайд.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Verstka интерпретирует шаблон как набор правил, таких как палитра, кегли, сетка, поля, логотипы и колонтитулы. На основе этих правил создаются три редактируемые презентации за 2–3 минуты.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Процесс включает 5 этапов, каждый из которых выполняется отдельным специалистом: аналитиком, дизайнером, критиком, компилятором и вёрсткой.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Одинаковое содержание, разная подача.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Наибольшее количество проверок (12) относится к категории «Целостность».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Каждое число плана сверяется с текстом до вёрстки и ещё раз в готовом PPTX.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Регрессионный корпус включает 87 чужих шаблонов и 261 презентацию на них. Средняя оценка проверки качества по корпусу — 99 из 100. Сервис принимает 12 форматов: pptx, potx, ppt, odp, thmx и другие.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 слайде представлены три модели с лицензией Apache 2.0: основная модель Qwen3.8-27B, запасное звено Qwen3-32B и два дополнительных запасных звена — Gemma 4 и Qwen3-VL.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 данном этапе реализованы 2 028 автотестов и поддержка форматов PPTX, PDF и HTML. В будущем запланированы генерация изображений внутри слайдов и переход на инференс VK.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10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40795" y="1038225"/>
            <a:ext cx="9703489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Оформление отнимает больше времени, чем содержание</a:t>
            </a:r>
          </a:p>
        </p:txBody>
      </p:sp>
      <p:sp>
        <p:nvSpPr>
          <p:cNvPr id="5" name="Card 5"/>
          <p:cNvSpPr/>
          <p:nvPr/>
        </p:nvSpPr>
        <p:spPr>
          <a:xfrm>
            <a:off x="365760" y="3168015"/>
            <a:ext cx="5559552" cy="4785621"/>
          </a:xfrm>
          <a:prstGeom prst="roundRect">
            <a:avLst>
              <a:gd name="adj" fmla="val 22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6" name="Index 6"/>
          <p:cNvSpPr txBox="1"/>
          <p:nvPr/>
        </p:nvSpPr>
        <p:spPr>
          <a:xfrm>
            <a:off x="838321" y="3640576"/>
            <a:ext cx="4614430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5000"/>
          </a:p>
        </p:txBody>
      </p:sp>
      <p:sp>
        <p:nvSpPr>
          <p:cNvPr id="7" name="Card text 7"/>
          <p:cNvSpPr txBox="1"/>
          <p:nvPr/>
        </p:nvSpPr>
        <p:spPr>
          <a:xfrm>
            <a:off x="838321" y="4510589"/>
            <a:ext cx="4614430" cy="297048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34"/>
              </a:spcAft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Ручная вёрстка</a:t>
            </a:r>
            <a:endParaRPr lang="ru-RU" sz="3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Подобрать макет, подвинуть блоки, подогнать цвета под фирменный стиль</a:t>
            </a:r>
            <a:endParaRPr lang="ru-RU" sz="2899"/>
          </a:p>
        </p:txBody>
      </p:sp>
      <p:sp>
        <p:nvSpPr>
          <p:cNvPr id="8" name="Card 8"/>
          <p:cNvSpPr/>
          <p:nvPr/>
        </p:nvSpPr>
        <p:spPr>
          <a:xfrm>
            <a:off x="6364224" y="3168015"/>
            <a:ext cx="5559552" cy="4785621"/>
          </a:xfrm>
          <a:prstGeom prst="roundRect">
            <a:avLst>
              <a:gd name="adj" fmla="val 22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9" name="Index 9"/>
          <p:cNvSpPr txBox="1"/>
          <p:nvPr/>
        </p:nvSpPr>
        <p:spPr>
          <a:xfrm>
            <a:off x="6836785" y="3640576"/>
            <a:ext cx="4614430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5000"/>
          </a:p>
        </p:txBody>
      </p:sp>
      <p:sp>
        <p:nvSpPr>
          <p:cNvPr id="10" name="Card text 10"/>
          <p:cNvSpPr txBox="1"/>
          <p:nvPr/>
        </p:nvSpPr>
        <p:spPr>
          <a:xfrm>
            <a:off x="6836785" y="4510589"/>
            <a:ext cx="4614430" cy="297048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34"/>
              </a:spcAft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ИИ ломает стиль</a:t>
            </a:r>
            <a:endParaRPr lang="ru-RU" sz="3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Нейросети неплохо пишут текст, но не воспроизводят дизайн-⁠систему компании</a:t>
            </a:r>
            <a:endParaRPr lang="ru-RU" sz="2899"/>
          </a:p>
        </p:txBody>
      </p:sp>
      <p:sp>
        <p:nvSpPr>
          <p:cNvPr id="11" name="Card 11"/>
          <p:cNvSpPr/>
          <p:nvPr/>
        </p:nvSpPr>
        <p:spPr>
          <a:xfrm>
            <a:off x="12362688" y="3168015"/>
            <a:ext cx="5559552" cy="4785621"/>
          </a:xfrm>
          <a:prstGeom prst="roundRect">
            <a:avLst>
              <a:gd name="adj" fmla="val 22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2" name="Index 12"/>
          <p:cNvSpPr txBox="1"/>
          <p:nvPr/>
        </p:nvSpPr>
        <p:spPr>
          <a:xfrm>
            <a:off x="12835249" y="3640576"/>
            <a:ext cx="4614430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5000"/>
          </a:p>
        </p:txBody>
      </p:sp>
      <p:sp>
        <p:nvSpPr>
          <p:cNvPr id="13" name="Card text 13"/>
          <p:cNvSpPr txBox="1"/>
          <p:nvPr/>
        </p:nvSpPr>
        <p:spPr>
          <a:xfrm>
            <a:off x="12835249" y="4510589"/>
            <a:ext cx="4614430" cy="297048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94"/>
              </a:spcAft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Шаблон — не инструкция</a:t>
            </a:r>
            <a:endParaRPr lang="ru-RU" sz="3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Плейсхолдеры не объясняют, как построить новый слайд</a:t>
            </a:r>
            <a:endParaRPr lang="ru-RU" sz="2899"/>
          </a:p>
        </p:txBody>
      </p:sp>
      <p:sp>
        <p:nvSpPr>
          <p:cNvPr id="14" name="Conclusion strip 14"/>
          <p:cNvSpPr/>
          <p:nvPr/>
        </p:nvSpPr>
        <p:spPr>
          <a:xfrm>
            <a:off x="365760" y="8385690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5" name="Conclusion bar 15"/>
          <p:cNvSpPr/>
          <p:nvPr/>
        </p:nvSpPr>
        <p:spPr>
          <a:xfrm>
            <a:off x="733933" y="8658138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16" name="Conclusion 16"/>
          <p:cNvSpPr txBox="1"/>
          <p:nvPr/>
        </p:nvSpPr>
        <p:spPr>
          <a:xfrm>
            <a:off x="1090193" y="8613957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Время тратится на оформление, а не на суть</a:t>
            </a:r>
            <a:endParaRPr lang="ru-RU" sz="2899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3330682" y="1038225"/>
            <a:ext cx="1112371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Verstka создаёт три редактируемые презентации за 2⁠–⁠3 минуты</a:t>
            </a:r>
          </a:p>
        </p:txBody>
      </p:sp>
      <p:sp>
        <p:nvSpPr>
          <p:cNvPr id="14" name="Card 14"/>
          <p:cNvSpPr/>
          <p:nvPr/>
        </p:nvSpPr>
        <p:spPr>
          <a:xfrm>
            <a:off x="365760" y="3168015"/>
            <a:ext cx="5559552" cy="4449064"/>
          </a:xfrm>
          <a:prstGeom prst="roundRect">
            <a:avLst>
              <a:gd name="adj" fmla="val 2466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5" name="Badge 15"/>
          <p:cNvSpPr/>
          <p:nvPr/>
        </p:nvSpPr>
        <p:spPr>
          <a:xfrm>
            <a:off x="828675" y="3630930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1</a:t>
            </a:r>
          </a:p>
        </p:txBody>
      </p:sp>
      <p:sp>
        <p:nvSpPr>
          <p:cNvPr id="16" name="Step 16"/>
          <p:cNvSpPr txBox="1"/>
          <p:nvPr/>
        </p:nvSpPr>
        <p:spPr>
          <a:xfrm>
            <a:off x="828675" y="4680204"/>
            <a:ext cx="4633722" cy="2473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На входе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Шаблон и текст</a:t>
            </a:r>
            <a:endParaRPr lang="ru-RU" sz="3200"/>
          </a:p>
        </p:txBody>
      </p:sp>
      <p:sp>
        <p:nvSpPr>
          <p:cNvPr id="17" name="Card 17"/>
          <p:cNvSpPr/>
          <p:nvPr/>
        </p:nvSpPr>
        <p:spPr>
          <a:xfrm>
            <a:off x="6364224" y="3168015"/>
            <a:ext cx="5559552" cy="4449064"/>
          </a:xfrm>
          <a:prstGeom prst="roundRect">
            <a:avLst>
              <a:gd name="adj" fmla="val 2466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8" name="Badge 18"/>
          <p:cNvSpPr/>
          <p:nvPr/>
        </p:nvSpPr>
        <p:spPr>
          <a:xfrm>
            <a:off x="6827139" y="3630930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2</a:t>
            </a:r>
          </a:p>
        </p:txBody>
      </p:sp>
      <p:sp>
        <p:nvSpPr>
          <p:cNvPr id="19" name="Step 19"/>
          <p:cNvSpPr txBox="1"/>
          <p:nvPr/>
        </p:nvSpPr>
        <p:spPr>
          <a:xfrm>
            <a:off x="6827139" y="4680204"/>
            <a:ext cx="4633722" cy="2473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Шаблон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Набор правил: палитра, кегли, сетка, поля, логотипы</a:t>
            </a:r>
            <a:endParaRPr lang="ru-RU" sz="3200"/>
          </a:p>
        </p:txBody>
      </p:sp>
      <p:sp>
        <p:nvSpPr>
          <p:cNvPr id="20" name="Card 20"/>
          <p:cNvSpPr/>
          <p:nvPr/>
        </p:nvSpPr>
        <p:spPr>
          <a:xfrm>
            <a:off x="12362688" y="3168015"/>
            <a:ext cx="5559552" cy="4449064"/>
          </a:xfrm>
          <a:prstGeom prst="roundRect">
            <a:avLst>
              <a:gd name="adj" fmla="val 2466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1" name="Badge 21"/>
          <p:cNvSpPr/>
          <p:nvPr/>
        </p:nvSpPr>
        <p:spPr>
          <a:xfrm>
            <a:off x="12825603" y="3630930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3</a:t>
            </a:r>
          </a:p>
        </p:txBody>
      </p:sp>
      <p:sp>
        <p:nvSpPr>
          <p:cNvPr id="22" name="Step 22"/>
          <p:cNvSpPr txBox="1"/>
          <p:nvPr/>
        </p:nvSpPr>
        <p:spPr>
          <a:xfrm>
            <a:off x="12825603" y="4680204"/>
            <a:ext cx="4633722" cy="2473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На выходе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Три редактируемые презентации</a:t>
            </a:r>
            <a:endParaRPr lang="ru-RU" sz="3200"/>
          </a:p>
        </p:txBody>
      </p:sp>
      <p:sp>
        <p:nvSpPr>
          <p:cNvPr id="23" name="Conclusion strip 23"/>
          <p:cNvSpPr/>
          <p:nvPr/>
        </p:nvSpPr>
        <p:spPr>
          <a:xfrm>
            <a:off x="365760" y="8049133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Conclusion bar 24"/>
          <p:cNvSpPr/>
          <p:nvPr/>
        </p:nvSpPr>
        <p:spPr>
          <a:xfrm>
            <a:off x="733933" y="8321581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25" name="Conclusion 25"/>
          <p:cNvSpPr txBox="1"/>
          <p:nvPr/>
        </p:nvSpPr>
        <p:spPr>
          <a:xfrm>
            <a:off x="1090193" y="8277400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Презентации создаются автоматически по правилам шаблона</a:t>
            </a:r>
            <a:endParaRPr lang="ru-RU" sz="2899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Команда из 5 ролей создаёт презентацию из текста</a:t>
            </a:r>
          </a:p>
        </p:txBody>
      </p:sp>
      <p:sp>
        <p:nvSpPr>
          <p:cNvPr id="35" name="Card 35"/>
          <p:cNvSpPr/>
          <p:nvPr/>
        </p:nvSpPr>
        <p:spPr>
          <a:xfrm>
            <a:off x="365760" y="2406015"/>
            <a:ext cx="3300618" cy="6372976"/>
          </a:xfrm>
          <a:prstGeom prst="roundRect">
            <a:avLst>
              <a:gd name="adj" fmla="val 332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6" name="Badge 36"/>
          <p:cNvSpPr/>
          <p:nvPr/>
        </p:nvSpPr>
        <p:spPr>
          <a:xfrm>
            <a:off x="596803" y="2637058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1</a:t>
            </a:r>
          </a:p>
        </p:txBody>
      </p:sp>
      <p:sp>
        <p:nvSpPr>
          <p:cNvPr id="37" name="Step 37"/>
          <p:cNvSpPr txBox="1"/>
          <p:nvPr/>
        </p:nvSpPr>
        <p:spPr>
          <a:xfrm>
            <a:off x="596803" y="3686332"/>
            <a:ext cx="2838532" cy="48616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65"/>
              </a:spcAft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1. Анализ текста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3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Аналитик находит слайды, ряды данных и просьбы</a:t>
            </a:r>
            <a:endParaRPr lang="ru-RU" sz="2300"/>
          </a:p>
        </p:txBody>
      </p:sp>
      <p:sp>
        <p:nvSpPr>
          <p:cNvPr id="38" name="Card 38"/>
          <p:cNvSpPr/>
          <p:nvPr/>
        </p:nvSpPr>
        <p:spPr>
          <a:xfrm>
            <a:off x="3929725" y="2406015"/>
            <a:ext cx="3300618" cy="6372976"/>
          </a:xfrm>
          <a:prstGeom prst="roundRect">
            <a:avLst>
              <a:gd name="adj" fmla="val 332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9" name="Badge 39"/>
          <p:cNvSpPr/>
          <p:nvPr/>
        </p:nvSpPr>
        <p:spPr>
          <a:xfrm>
            <a:off x="4160768" y="2637058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2</a:t>
            </a:r>
          </a:p>
        </p:txBody>
      </p:sp>
      <p:sp>
        <p:nvSpPr>
          <p:cNvPr id="40" name="Step 40"/>
          <p:cNvSpPr txBox="1"/>
          <p:nvPr/>
        </p:nvSpPr>
        <p:spPr>
          <a:xfrm>
            <a:off x="4160768" y="3686332"/>
            <a:ext cx="2838532" cy="48616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65"/>
              </a:spcAft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2. Дизайн слайдов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3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Дизайнер продумывает каждый слайд отдельно</a:t>
            </a:r>
            <a:endParaRPr lang="ru-RU" sz="2300"/>
          </a:p>
        </p:txBody>
      </p:sp>
      <p:sp>
        <p:nvSpPr>
          <p:cNvPr id="41" name="Card 41"/>
          <p:cNvSpPr/>
          <p:nvPr/>
        </p:nvSpPr>
        <p:spPr>
          <a:xfrm>
            <a:off x="7493690" y="2406015"/>
            <a:ext cx="3300618" cy="6372976"/>
          </a:xfrm>
          <a:prstGeom prst="roundRect">
            <a:avLst>
              <a:gd name="adj" fmla="val 332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2" name="Badge 42"/>
          <p:cNvSpPr/>
          <p:nvPr/>
        </p:nvSpPr>
        <p:spPr>
          <a:xfrm>
            <a:off x="7724733" y="2637058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3</a:t>
            </a:r>
          </a:p>
        </p:txBody>
      </p:sp>
      <p:sp>
        <p:nvSpPr>
          <p:cNvPr id="43" name="Step 43"/>
          <p:cNvSpPr txBox="1"/>
          <p:nvPr/>
        </p:nvSpPr>
        <p:spPr>
          <a:xfrm>
            <a:off x="7724733" y="3686332"/>
            <a:ext cx="2838532" cy="48616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65"/>
              </a:spcAft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3. Проверка плана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3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Критик сверяет план с текстом и правилами</a:t>
            </a:r>
            <a:endParaRPr lang="ru-RU" sz="2300"/>
          </a:p>
        </p:txBody>
      </p:sp>
      <p:sp>
        <p:nvSpPr>
          <p:cNvPr id="44" name="Card 44"/>
          <p:cNvSpPr/>
          <p:nvPr/>
        </p:nvSpPr>
        <p:spPr>
          <a:xfrm>
            <a:off x="11057655" y="2406015"/>
            <a:ext cx="3300618" cy="6372976"/>
          </a:xfrm>
          <a:prstGeom prst="roundRect">
            <a:avLst>
              <a:gd name="adj" fmla="val 332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5" name="Badge 45"/>
          <p:cNvSpPr/>
          <p:nvPr/>
        </p:nvSpPr>
        <p:spPr>
          <a:xfrm>
            <a:off x="11288698" y="2637058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4</a:t>
            </a:r>
          </a:p>
        </p:txBody>
      </p:sp>
      <p:sp>
        <p:nvSpPr>
          <p:cNvPr id="46" name="Step 46"/>
          <p:cNvSpPr txBox="1"/>
          <p:nvPr/>
        </p:nvSpPr>
        <p:spPr>
          <a:xfrm>
            <a:off x="11288698" y="3686332"/>
            <a:ext cx="2838532" cy="48616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65"/>
              </a:spcAft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4. Проверка чисел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3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Компилятор проверяет каждое число</a:t>
            </a:r>
            <a:endParaRPr lang="ru-RU" sz="2300"/>
          </a:p>
        </p:txBody>
      </p:sp>
      <p:sp>
        <p:nvSpPr>
          <p:cNvPr id="47" name="Card 47"/>
          <p:cNvSpPr/>
          <p:nvPr/>
        </p:nvSpPr>
        <p:spPr>
          <a:xfrm>
            <a:off x="14621620" y="2406015"/>
            <a:ext cx="3300618" cy="6372976"/>
          </a:xfrm>
          <a:prstGeom prst="roundRect">
            <a:avLst>
              <a:gd name="adj" fmla="val 332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8" name="Badge 48"/>
          <p:cNvSpPr/>
          <p:nvPr/>
        </p:nvSpPr>
        <p:spPr>
          <a:xfrm>
            <a:off x="14852663" y="2637058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5</a:t>
            </a:r>
          </a:p>
        </p:txBody>
      </p:sp>
      <p:sp>
        <p:nvSpPr>
          <p:cNvPr id="49" name="Step 49"/>
          <p:cNvSpPr txBox="1"/>
          <p:nvPr/>
        </p:nvSpPr>
        <p:spPr>
          <a:xfrm>
            <a:off x="14852663" y="3686332"/>
            <a:ext cx="2838532" cy="48616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65"/>
              </a:spcAft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5. Вёрстка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3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Слайды собираются по дизайн-⁠системе шаблона</a:t>
            </a:r>
            <a:endParaRPr lang="ru-RU" sz="2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Одинаковое содержание, разная подача</a:t>
            </a:r>
          </a:p>
        </p:txBody>
      </p:sp>
      <p:sp>
        <p:nvSpPr>
          <p:cNvPr id="23" name="Card 23"/>
          <p:cNvSpPr/>
          <p:nvPr/>
        </p:nvSpPr>
        <p:spPr>
          <a:xfrm>
            <a:off x="365760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Index 24"/>
          <p:cNvSpPr txBox="1"/>
          <p:nvPr/>
        </p:nvSpPr>
        <p:spPr>
          <a:xfrm>
            <a:off x="838321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7988"/>
          </a:p>
        </p:txBody>
      </p:sp>
      <p:sp>
        <p:nvSpPr>
          <p:cNvPr id="25" name="Card text 25"/>
          <p:cNvSpPr txBox="1"/>
          <p:nvPr/>
        </p:nvSpPr>
        <p:spPr>
          <a:xfrm>
            <a:off x="838321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Структурный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Одна мысль на слайде, строгая сетка</a:t>
            </a:r>
            <a:endParaRPr lang="ru-RU" sz="3200"/>
          </a:p>
        </p:txBody>
      </p:sp>
      <p:sp>
        <p:nvSpPr>
          <p:cNvPr id="26" name="Card 26"/>
          <p:cNvSpPr/>
          <p:nvPr/>
        </p:nvSpPr>
        <p:spPr>
          <a:xfrm>
            <a:off x="6364224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7" name="Index 27"/>
          <p:cNvSpPr txBox="1"/>
          <p:nvPr/>
        </p:nvSpPr>
        <p:spPr>
          <a:xfrm>
            <a:off x="6836785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7988"/>
          </a:p>
        </p:txBody>
      </p:sp>
      <p:sp>
        <p:nvSpPr>
          <p:cNvPr id="28" name="Card text 28"/>
          <p:cNvSpPr txBox="1"/>
          <p:nvPr/>
        </p:nvSpPr>
        <p:spPr>
          <a:xfrm>
            <a:off x="6836785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Визуальный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Крупные цифры и наглядные схемы</a:t>
            </a:r>
            <a:endParaRPr lang="ru-RU" sz="3200"/>
          </a:p>
        </p:txBody>
      </p:sp>
      <p:sp>
        <p:nvSpPr>
          <p:cNvPr id="29" name="Card 29"/>
          <p:cNvSpPr/>
          <p:nvPr/>
        </p:nvSpPr>
        <p:spPr>
          <a:xfrm>
            <a:off x="12362688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Index 30"/>
          <p:cNvSpPr txBox="1"/>
          <p:nvPr/>
        </p:nvSpPr>
        <p:spPr>
          <a:xfrm>
            <a:off x="12835249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7988"/>
          </a:p>
        </p:txBody>
      </p:sp>
      <p:sp>
        <p:nvSpPr>
          <p:cNvPr id="31" name="Card text 31"/>
          <p:cNvSpPr txBox="1"/>
          <p:nvPr/>
        </p:nvSpPr>
        <p:spPr>
          <a:xfrm>
            <a:off x="12835249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Компактный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Вывод первой строкой, текст слева, данные справа</a:t>
            </a:r>
            <a:endParaRPr lang="ru-RU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3069952" y="1038225"/>
            <a:ext cx="11645176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Целостность — самая многочисленная категория проверок</a:t>
            </a:r>
          </a:p>
        </p:txBody>
      </p:sp>
      <p:sp>
        <p:nvSpPr>
          <p:cNvPr id="5" name="Unit 5"/>
          <p:cNvSpPr txBox="1"/>
          <p:nvPr/>
        </p:nvSpPr>
        <p:spPr>
          <a:xfrm>
            <a:off x="365760" y="3168015"/>
            <a:ext cx="11762842" cy="294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68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Число проверок</a:t>
            </a:r>
            <a:endParaRPr lang="ru-RU" sz="1768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3555441"/>
          <a:ext cx="11762842" cy="59727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ule 7"/>
          <p:cNvSpPr/>
          <p:nvPr/>
        </p:nvSpPr>
        <p:spPr>
          <a:xfrm>
            <a:off x="13006426" y="3168015"/>
            <a:ext cx="720090" cy="38100"/>
          </a:xfrm>
          <a:prstGeom prst="rect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8" name="Label 8"/>
          <p:cNvSpPr txBox="1"/>
          <p:nvPr/>
        </p:nvSpPr>
        <p:spPr>
          <a:xfrm>
            <a:off x="13006426" y="3483864"/>
            <a:ext cx="4915814" cy="1350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В проверках больше всего нацелены на целостность — </a:t>
            </a:r>
            <a:r>
              <a:rPr lang="ru-RU" sz="2899" b="0" cap="none" spc="0" baseline="0" dirty="0">
                <a:solidFill>
                  <a:srgbClr val="1885F1"/>
                </a:solidFill>
                <a:latin typeface="Arial"/>
                <a:cs typeface="Noto Sans"/>
              </a:rPr>
              <a:t>12 </a:t>
            </a:r>
            <a:r>
              <a:rPr lang="ru-RU" sz="2899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проверок</a:t>
            </a:r>
            <a:endParaRPr lang="ru-RU" sz="2899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9 демок с 116⁠–⁠123 числами и 0 лишними</a:t>
            </a:r>
          </a:p>
        </p:txBody>
      </p:sp>
      <p:sp>
        <p:nvSpPr>
          <p:cNvPr id="23" name="Card 23"/>
          <p:cNvSpPr/>
          <p:nvPr/>
        </p:nvSpPr>
        <p:spPr>
          <a:xfrm>
            <a:off x="365760" y="2406015"/>
            <a:ext cx="5559552" cy="4272782"/>
          </a:xfrm>
          <a:prstGeom prst="roundRect">
            <a:avLst>
              <a:gd name="adj" fmla="val 256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Figure 24"/>
          <p:cNvSpPr txBox="1"/>
          <p:nvPr/>
        </p:nvSpPr>
        <p:spPr>
          <a:xfrm>
            <a:off x="880110" y="2783126"/>
            <a:ext cx="4530852" cy="762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9</a:t>
            </a:r>
            <a:endParaRPr lang="ru-RU" sz="5000"/>
          </a:p>
        </p:txBody>
      </p:sp>
      <p:sp>
        <p:nvSpPr>
          <p:cNvPr id="25" name="Label 25"/>
          <p:cNvSpPr txBox="1"/>
          <p:nvPr/>
        </p:nvSpPr>
        <p:spPr>
          <a:xfrm>
            <a:off x="880110" y="3653139"/>
            <a:ext cx="4530852" cy="25113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Демо-⁠презентаций</a:t>
            </a:r>
            <a:endParaRPr lang="ru-RU" sz="2899"/>
          </a:p>
        </p:txBody>
      </p:sp>
      <p:sp>
        <p:nvSpPr>
          <p:cNvPr id="26" name="Card 26"/>
          <p:cNvSpPr/>
          <p:nvPr/>
        </p:nvSpPr>
        <p:spPr>
          <a:xfrm>
            <a:off x="6364224" y="2406015"/>
            <a:ext cx="5559552" cy="4272782"/>
          </a:xfrm>
          <a:prstGeom prst="roundRect">
            <a:avLst>
              <a:gd name="adj" fmla="val 256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7" name="Figure 27"/>
          <p:cNvSpPr txBox="1"/>
          <p:nvPr/>
        </p:nvSpPr>
        <p:spPr>
          <a:xfrm>
            <a:off x="6856349" y="2783126"/>
            <a:ext cx="4553077" cy="762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116⁠–⁠123</a:t>
            </a:r>
            <a:endParaRPr lang="ru-RU" sz="5000"/>
          </a:p>
        </p:txBody>
      </p:sp>
      <p:sp>
        <p:nvSpPr>
          <p:cNvPr id="28" name="Label 28"/>
          <p:cNvSpPr txBox="1"/>
          <p:nvPr/>
        </p:nvSpPr>
        <p:spPr>
          <a:xfrm>
            <a:off x="6878574" y="3653139"/>
            <a:ext cx="4530852" cy="25113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Сверенных чисел в каждой</a:t>
            </a:r>
            <a:endParaRPr lang="ru-RU" sz="2899"/>
          </a:p>
        </p:txBody>
      </p:sp>
      <p:sp>
        <p:nvSpPr>
          <p:cNvPr id="29" name="Card 29"/>
          <p:cNvSpPr/>
          <p:nvPr/>
        </p:nvSpPr>
        <p:spPr>
          <a:xfrm>
            <a:off x="12362688" y="2406015"/>
            <a:ext cx="5559552" cy="4272782"/>
          </a:xfrm>
          <a:prstGeom prst="roundRect">
            <a:avLst>
              <a:gd name="adj" fmla="val 256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Figure 30"/>
          <p:cNvSpPr txBox="1"/>
          <p:nvPr/>
        </p:nvSpPr>
        <p:spPr>
          <a:xfrm>
            <a:off x="12877038" y="2783126"/>
            <a:ext cx="4530852" cy="762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</a:t>
            </a:r>
            <a:endParaRPr lang="ru-RU" sz="5000"/>
          </a:p>
        </p:txBody>
      </p:sp>
      <p:sp>
        <p:nvSpPr>
          <p:cNvPr id="31" name="Label 31"/>
          <p:cNvSpPr txBox="1"/>
          <p:nvPr/>
        </p:nvSpPr>
        <p:spPr>
          <a:xfrm>
            <a:off x="12877038" y="3653139"/>
            <a:ext cx="4530852" cy="25113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Лишних чисел</a:t>
            </a:r>
            <a:endParaRPr lang="ru-RU" sz="2899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87 шаблонов и 99 из 100 качества</a:t>
            </a:r>
          </a:p>
        </p:txBody>
      </p:sp>
      <p:sp>
        <p:nvSpPr>
          <p:cNvPr id="23" name="Card 23"/>
          <p:cNvSpPr/>
          <p:nvPr/>
        </p:nvSpPr>
        <p:spPr>
          <a:xfrm>
            <a:off x="365760" y="2406015"/>
            <a:ext cx="5559552" cy="4965355"/>
          </a:xfrm>
          <a:prstGeom prst="roundRect">
            <a:avLst>
              <a:gd name="adj" fmla="val 2209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Figure 24"/>
          <p:cNvSpPr txBox="1"/>
          <p:nvPr/>
        </p:nvSpPr>
        <p:spPr>
          <a:xfrm>
            <a:off x="852551" y="2590991"/>
            <a:ext cx="4558411" cy="18288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87</a:t>
            </a:r>
            <a:endParaRPr lang="ru-RU" sz="12000"/>
          </a:p>
        </p:txBody>
      </p:sp>
      <p:sp>
        <p:nvSpPr>
          <p:cNvPr id="25" name="Label 25"/>
          <p:cNvSpPr txBox="1"/>
          <p:nvPr/>
        </p:nvSpPr>
        <p:spPr>
          <a:xfrm>
            <a:off x="880110" y="4527804"/>
            <a:ext cx="4530852" cy="2329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Чужих шаблонов</a:t>
            </a:r>
            <a:endParaRPr lang="ru-RU" sz="2899"/>
          </a:p>
        </p:txBody>
      </p:sp>
      <p:sp>
        <p:nvSpPr>
          <p:cNvPr id="26" name="Card 26"/>
          <p:cNvSpPr/>
          <p:nvPr/>
        </p:nvSpPr>
        <p:spPr>
          <a:xfrm>
            <a:off x="6364224" y="2406015"/>
            <a:ext cx="5559552" cy="4965355"/>
          </a:xfrm>
          <a:prstGeom prst="roundRect">
            <a:avLst>
              <a:gd name="adj" fmla="val 2209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7" name="Figure 27"/>
          <p:cNvSpPr txBox="1"/>
          <p:nvPr/>
        </p:nvSpPr>
        <p:spPr>
          <a:xfrm>
            <a:off x="6835013" y="2590991"/>
            <a:ext cx="4574413" cy="18288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99</a:t>
            </a: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 из 100</a:t>
            </a:r>
            <a:endParaRPr lang="ru-RU" sz="12000"/>
          </a:p>
        </p:txBody>
      </p:sp>
      <p:sp>
        <p:nvSpPr>
          <p:cNvPr id="28" name="Label 28"/>
          <p:cNvSpPr txBox="1"/>
          <p:nvPr/>
        </p:nvSpPr>
        <p:spPr>
          <a:xfrm>
            <a:off x="6878574" y="4527804"/>
            <a:ext cx="4530852" cy="2329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Средняя оценка качества</a:t>
            </a:r>
            <a:endParaRPr lang="ru-RU" sz="2899"/>
          </a:p>
        </p:txBody>
      </p:sp>
      <p:sp>
        <p:nvSpPr>
          <p:cNvPr id="29" name="Card 29"/>
          <p:cNvSpPr/>
          <p:nvPr/>
        </p:nvSpPr>
        <p:spPr>
          <a:xfrm>
            <a:off x="12362688" y="2406015"/>
            <a:ext cx="5559552" cy="4965355"/>
          </a:xfrm>
          <a:prstGeom prst="roundRect">
            <a:avLst>
              <a:gd name="adj" fmla="val 2209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Figure 30"/>
          <p:cNvSpPr txBox="1"/>
          <p:nvPr/>
        </p:nvSpPr>
        <p:spPr>
          <a:xfrm>
            <a:off x="12780137" y="2590991"/>
            <a:ext cx="4627753" cy="18288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12</a:t>
            </a:r>
            <a:endParaRPr lang="ru-RU" sz="12000"/>
          </a:p>
        </p:txBody>
      </p:sp>
      <p:sp>
        <p:nvSpPr>
          <p:cNvPr id="31" name="Label 31"/>
          <p:cNvSpPr txBox="1"/>
          <p:nvPr/>
        </p:nvSpPr>
        <p:spPr>
          <a:xfrm>
            <a:off x="12877038" y="4527804"/>
            <a:ext cx="4530852" cy="2329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Форматов</a:t>
            </a:r>
            <a:endParaRPr lang="ru-RU" sz="2899"/>
          </a:p>
        </p:txBody>
      </p:sp>
      <p:sp>
        <p:nvSpPr>
          <p:cNvPr id="32" name="Conclusion strip 32"/>
          <p:cNvSpPr/>
          <p:nvPr/>
        </p:nvSpPr>
        <p:spPr>
          <a:xfrm>
            <a:off x="365760" y="7803424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3" name="Conclusion bar 33"/>
          <p:cNvSpPr/>
          <p:nvPr/>
        </p:nvSpPr>
        <p:spPr>
          <a:xfrm>
            <a:off x="733933" y="8075872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4" name="Conclusion 34"/>
          <p:cNvSpPr txBox="1"/>
          <p:nvPr/>
        </p:nvSpPr>
        <p:spPr>
          <a:xfrm>
            <a:off x="1090193" y="8031691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Сервис поддерживает </a:t>
            </a:r>
            <a:r>
              <a:rPr lang="ru-RU" sz="2899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12 </a:t>
            </a: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форматов</a:t>
            </a:r>
            <a:endParaRPr lang="ru-RU" sz="2899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61262" y="1038225"/>
            <a:ext cx="966255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Время генерации презентаций укладывается в лимит 5 минут</a:t>
            </a:r>
          </a:p>
        </p:txBody>
      </p:sp>
      <p:sp>
        <p:nvSpPr>
          <p:cNvPr id="5" name="Unit 5"/>
          <p:cNvSpPr txBox="1"/>
          <p:nvPr/>
        </p:nvSpPr>
        <p:spPr>
          <a:xfrm>
            <a:off x="365760" y="3168015"/>
            <a:ext cx="11762842" cy="294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68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секунд</a:t>
            </a:r>
            <a:endParaRPr lang="ru-RU" sz="1768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3555441"/>
          <a:ext cx="11762842" cy="59727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ule 7"/>
          <p:cNvSpPr/>
          <p:nvPr/>
        </p:nvSpPr>
        <p:spPr>
          <a:xfrm>
            <a:off x="13006426" y="3168015"/>
            <a:ext cx="720090" cy="38100"/>
          </a:xfrm>
          <a:prstGeom prst="rect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8" name="Label 8"/>
          <p:cNvSpPr txBox="1"/>
          <p:nvPr/>
        </p:nvSpPr>
        <p:spPr>
          <a:xfrm>
            <a:off x="13006426" y="3483864"/>
            <a:ext cx="4915814" cy="9090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Все шаблоны укладываются в лимит </a:t>
            </a:r>
            <a:r>
              <a:rPr lang="ru-RU" sz="2899" b="0" cap="none" spc="0" baseline="0" dirty="0">
                <a:solidFill>
                  <a:srgbClr val="1885F1"/>
                </a:solidFill>
                <a:latin typeface="Arial"/>
                <a:cs typeface="Noto Sans"/>
              </a:rPr>
              <a:t>5 минут</a:t>
            </a:r>
            <a:r>
              <a:rPr lang="ru-RU" sz="2899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 с запасом</a:t>
            </a:r>
            <a:endParaRPr lang="ru-RU" sz="2899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Три модели с лицензией Apache 2.0</a:t>
            </a:r>
          </a:p>
        </p:txBody>
      </p:sp>
      <p:sp>
        <p:nvSpPr>
          <p:cNvPr id="5" name="Card 5"/>
          <p:cNvSpPr/>
          <p:nvPr/>
        </p:nvSpPr>
        <p:spPr>
          <a:xfrm>
            <a:off x="365760" y="2406015"/>
            <a:ext cx="5559552" cy="5506466"/>
          </a:xfrm>
          <a:prstGeom prst="roundRect">
            <a:avLst>
              <a:gd name="adj" fmla="val 19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6" name="Index 6"/>
          <p:cNvSpPr txBox="1"/>
          <p:nvPr/>
        </p:nvSpPr>
        <p:spPr>
          <a:xfrm>
            <a:off x="838321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7988"/>
          </a:p>
        </p:txBody>
      </p:sp>
      <p:sp>
        <p:nvSpPr>
          <p:cNvPr id="7" name="Card text 7"/>
          <p:cNvSpPr txBox="1"/>
          <p:nvPr/>
        </p:nvSpPr>
        <p:spPr>
          <a:xfrm>
            <a:off x="838321" y="4203960"/>
            <a:ext cx="4614430" cy="323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Qwen3.8-⁠27B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Основная модель, инференс от VK, конфиг готов</a:t>
            </a:r>
            <a:endParaRPr lang="ru-RU" sz="3200"/>
          </a:p>
        </p:txBody>
      </p:sp>
      <p:sp>
        <p:nvSpPr>
          <p:cNvPr id="8" name="Card 8"/>
          <p:cNvSpPr/>
          <p:nvPr/>
        </p:nvSpPr>
        <p:spPr>
          <a:xfrm>
            <a:off x="6364224" y="2406015"/>
            <a:ext cx="5559552" cy="5506466"/>
          </a:xfrm>
          <a:prstGeom prst="roundRect">
            <a:avLst>
              <a:gd name="adj" fmla="val 19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9" name="Index 9"/>
          <p:cNvSpPr txBox="1"/>
          <p:nvPr/>
        </p:nvSpPr>
        <p:spPr>
          <a:xfrm>
            <a:off x="6836785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7988"/>
          </a:p>
        </p:txBody>
      </p:sp>
      <p:sp>
        <p:nvSpPr>
          <p:cNvPr id="10" name="Card text 10"/>
          <p:cNvSpPr txBox="1"/>
          <p:nvPr/>
        </p:nvSpPr>
        <p:spPr>
          <a:xfrm>
            <a:off x="6836785" y="4203960"/>
            <a:ext cx="4614430" cy="323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Qwen3-⁠32B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Запасное звено на Cloud.ru</a:t>
            </a:r>
            <a:endParaRPr lang="ru-RU" sz="3200"/>
          </a:p>
        </p:txBody>
      </p:sp>
      <p:sp>
        <p:nvSpPr>
          <p:cNvPr id="11" name="Card 11"/>
          <p:cNvSpPr/>
          <p:nvPr/>
        </p:nvSpPr>
        <p:spPr>
          <a:xfrm>
            <a:off x="12362688" y="2406015"/>
            <a:ext cx="5559552" cy="5506466"/>
          </a:xfrm>
          <a:prstGeom prst="roundRect">
            <a:avLst>
              <a:gd name="adj" fmla="val 19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2" name="Index 12"/>
          <p:cNvSpPr txBox="1"/>
          <p:nvPr/>
        </p:nvSpPr>
        <p:spPr>
          <a:xfrm>
            <a:off x="12835249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7988"/>
          </a:p>
        </p:txBody>
      </p:sp>
      <p:sp>
        <p:nvSpPr>
          <p:cNvPr id="13" name="Card text 13"/>
          <p:cNvSpPr txBox="1"/>
          <p:nvPr/>
        </p:nvSpPr>
        <p:spPr>
          <a:xfrm>
            <a:off x="12835249" y="4203960"/>
            <a:ext cx="4614430" cy="323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Gemma 4 и Qwen3-⁠VL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Два запасных звена цепочки</a:t>
            </a:r>
            <a:endParaRPr lang="ru-RU" sz="3200"/>
          </a:p>
        </p:txBody>
      </p:sp>
      <p:sp>
        <p:nvSpPr>
          <p:cNvPr id="14" name="Conclusion strip 14"/>
          <p:cNvSpPr/>
          <p:nvPr/>
        </p:nvSpPr>
        <p:spPr>
          <a:xfrm>
            <a:off x="365760" y="8344535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5" name="Conclusion bar 15"/>
          <p:cNvSpPr/>
          <p:nvPr/>
        </p:nvSpPr>
        <p:spPr>
          <a:xfrm>
            <a:off x="733933" y="8616983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16" name="Conclusion 16"/>
          <p:cNvSpPr txBox="1"/>
          <p:nvPr/>
        </p:nvSpPr>
        <p:spPr>
          <a:xfrm>
            <a:off x="1090193" y="8572802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Все модели открыты и готовы к использованию</a:t>
            </a:r>
            <a:endParaRPr lang="ru-RU" sz="2899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2 028 автотестов и форматы PPTX, PDF и HTML</a:t>
            </a:r>
          </a:p>
        </p:txBody>
      </p:sp>
      <p:sp>
        <p:nvSpPr>
          <p:cNvPr id="29" name="Card 29"/>
          <p:cNvSpPr/>
          <p:nvPr/>
        </p:nvSpPr>
        <p:spPr>
          <a:xfrm>
            <a:off x="365760" y="2406015"/>
            <a:ext cx="4059936" cy="4292609"/>
          </a:xfrm>
          <a:prstGeom prst="roundRect">
            <a:avLst>
              <a:gd name="adj" fmla="val 270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Index 30"/>
          <p:cNvSpPr txBox="1"/>
          <p:nvPr/>
        </p:nvSpPr>
        <p:spPr>
          <a:xfrm>
            <a:off x="710854" y="2751109"/>
            <a:ext cx="3369748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5000"/>
          </a:p>
        </p:txBody>
      </p:sp>
      <p:sp>
        <p:nvSpPr>
          <p:cNvPr id="31" name="Card text 31"/>
          <p:cNvSpPr txBox="1"/>
          <p:nvPr/>
        </p:nvSpPr>
        <p:spPr>
          <a:xfrm>
            <a:off x="710854" y="3621122"/>
            <a:ext cx="3369748" cy="27324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PPTX с редактируемыми объектами</a:t>
            </a:r>
            <a:endParaRPr lang="ru-RU" sz="2400"/>
          </a:p>
        </p:txBody>
      </p:sp>
      <p:sp>
        <p:nvSpPr>
          <p:cNvPr id="32" name="Card 32"/>
          <p:cNvSpPr/>
          <p:nvPr/>
        </p:nvSpPr>
        <p:spPr>
          <a:xfrm>
            <a:off x="4864608" y="2406015"/>
            <a:ext cx="4059936" cy="4292609"/>
          </a:xfrm>
          <a:prstGeom prst="roundRect">
            <a:avLst>
              <a:gd name="adj" fmla="val 270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3" name="Index 33"/>
          <p:cNvSpPr txBox="1"/>
          <p:nvPr/>
        </p:nvSpPr>
        <p:spPr>
          <a:xfrm>
            <a:off x="5209702" y="2751109"/>
            <a:ext cx="3369748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5000"/>
          </a:p>
        </p:txBody>
      </p:sp>
      <p:sp>
        <p:nvSpPr>
          <p:cNvPr id="34" name="Card text 34"/>
          <p:cNvSpPr txBox="1"/>
          <p:nvPr/>
        </p:nvSpPr>
        <p:spPr>
          <a:xfrm>
            <a:off x="5209702" y="3621122"/>
            <a:ext cx="3369748" cy="27324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Чат с агентом для правок</a:t>
            </a:r>
            <a:endParaRPr lang="ru-RU" sz="2400"/>
          </a:p>
        </p:txBody>
      </p:sp>
      <p:sp>
        <p:nvSpPr>
          <p:cNvPr id="35" name="Card 35"/>
          <p:cNvSpPr/>
          <p:nvPr/>
        </p:nvSpPr>
        <p:spPr>
          <a:xfrm>
            <a:off x="9363456" y="2406015"/>
            <a:ext cx="4059936" cy="4292609"/>
          </a:xfrm>
          <a:prstGeom prst="roundRect">
            <a:avLst>
              <a:gd name="adj" fmla="val 270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6" name="Index 36"/>
          <p:cNvSpPr txBox="1"/>
          <p:nvPr/>
        </p:nvSpPr>
        <p:spPr>
          <a:xfrm>
            <a:off x="9708550" y="2751109"/>
            <a:ext cx="3369748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5000"/>
          </a:p>
        </p:txBody>
      </p:sp>
      <p:sp>
        <p:nvSpPr>
          <p:cNvPr id="37" name="Card text 37"/>
          <p:cNvSpPr txBox="1"/>
          <p:nvPr/>
        </p:nvSpPr>
        <p:spPr>
          <a:xfrm>
            <a:off x="9708550" y="3621122"/>
            <a:ext cx="3369748" cy="27324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Генерация изображений внутри слайдов — в планах</a:t>
            </a:r>
            <a:endParaRPr lang="ru-RU" sz="2400"/>
          </a:p>
        </p:txBody>
      </p:sp>
      <p:sp>
        <p:nvSpPr>
          <p:cNvPr id="38" name="Card 38"/>
          <p:cNvSpPr/>
          <p:nvPr/>
        </p:nvSpPr>
        <p:spPr>
          <a:xfrm>
            <a:off x="13862304" y="2406015"/>
            <a:ext cx="4059936" cy="4292609"/>
          </a:xfrm>
          <a:prstGeom prst="roundRect">
            <a:avLst>
              <a:gd name="adj" fmla="val 270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9" name="Index 39"/>
          <p:cNvSpPr txBox="1"/>
          <p:nvPr/>
        </p:nvSpPr>
        <p:spPr>
          <a:xfrm>
            <a:off x="14207398" y="2751109"/>
            <a:ext cx="3369748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04</a:t>
            </a:r>
            <a:endParaRPr lang="ru-RU" sz="5000"/>
          </a:p>
        </p:txBody>
      </p:sp>
      <p:sp>
        <p:nvSpPr>
          <p:cNvPr id="40" name="Card text 40"/>
          <p:cNvSpPr txBox="1"/>
          <p:nvPr/>
        </p:nvSpPr>
        <p:spPr>
          <a:xfrm>
            <a:off x="14207398" y="3621122"/>
            <a:ext cx="3369748" cy="27324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Переход на инференс VK — в планах</a:t>
            </a:r>
            <a:endParaRPr lang="ru-RU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1316</Words>
  <Application>Microsoft Macintosh PowerPoint</Application>
  <PresentationFormat>Custom</PresentationFormat>
  <Paragraphs>263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Open Sans Bold</vt:lpstr>
      <vt:lpstr>Open Sauce Bold</vt:lpstr>
      <vt:lpstr>Calibri</vt:lpstr>
      <vt:lpstr>Noto Sans</vt:lpstr>
      <vt:lpstr>Noto Sans Bold</vt:lpstr>
      <vt:lpstr>Arial</vt:lpstr>
      <vt:lpstr>Lato</vt:lpstr>
      <vt:lpstr>Open Sauce</vt:lpstr>
      <vt:lpstr>Open Sans Light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Business infographic</dc:title>
  <dc:creator>Korisnik</dc:creator>
  <cp:lastModifiedBy>Maja Maksimovic</cp:lastModifiedBy>
  <cp:revision>4</cp:revision>
  <dcterms:created xsi:type="dcterms:W3CDTF">2006-08-16T00:00:00Z</dcterms:created>
  <dcterms:modified xsi:type="dcterms:W3CDTF">2022-08-29T06:55:29Z</dcterms:modified>
  <dc:identifier>DAFHJBCCLSI</dc:identifier>
</cp:coreProperties>
</file>