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81" r:id="rId58"/>
    <p:sldId id="282" r:id="rId60"/>
    <p:sldId id="283" r:id="rId61"/>
    <p:sldId id="284" r:id="rId62"/>
    <p:sldId id="285" r:id="rId63"/>
    <p:sldId id="286" r:id="rId64"/>
    <p:sldId id="287" r:id="rId65"/>
    <p:sldId id="288" r:id="rId66"/>
    <p:sldId id="289" r:id="rId67"/>
    <p:sldId id="290" r:id="rId68"/>
  </p:sldIdLst>
  <p:sldSz cx="18288000" cy="10287000"/>
  <p:notesSz cx="6858000" cy="9144000"/>
  <p:embeddedFontLs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Lato" panose="020F0502020204030203" pitchFamily="34" charset="77"/>
      <p:regular r:id="rId31"/>
      <p:bold r:id="rId32"/>
      <p:italic r:id="rId33"/>
      <p:boldItalic r:id="rId34"/>
    </p:embeddedFont>
    <p:embeddedFont>
      <p:font typeface="Lato Bold" panose="020F0502020204030203" pitchFamily="34" charset="77"/>
      <p:regular r:id="rId35"/>
      <p:bold r:id="rId36"/>
      <p:italic r:id="rId37"/>
      <p:boldItalic r:id="rId38"/>
    </p:embeddedFont>
    <p:embeddedFont>
      <p:font typeface="Noto Sans" panose="020B0502040504020204" pitchFamily="34" charset="0"/>
      <p:regular r:id="rId39"/>
      <p:bold r:id="rId40"/>
      <p:italic r:id="rId41"/>
      <p:boldItalic r:id="rId42"/>
    </p:embeddedFont>
    <p:embeddedFont>
      <p:font typeface="Noto Sans Bold" panose="020B0802040504020204" pitchFamily="34" charset="0"/>
      <p:regular r:id="rId43"/>
      <p:bold r:id="rId44"/>
    </p:embeddedFont>
    <p:embeddedFont>
      <p:font typeface="Open Sans Bold" panose="020B0606030504020204" pitchFamily="34" charset="0"/>
      <p:regular r:id="rId45"/>
      <p:bold r:id="rId46"/>
      <p:italic r:id="rId47"/>
      <p:boldItalic r:id="rId48"/>
    </p:embeddedFont>
    <p:embeddedFont>
      <p:font typeface="Open Sans Light" panose="020B0306030504020204" pitchFamily="34" charset="0"/>
      <p:regular r:id="rId49"/>
      <p:italic r:id="rId50"/>
    </p:embeddedFont>
    <p:embeddedFont>
      <p:font typeface="Open Sauce" pitchFamily="2" charset="77"/>
      <p:regular r:id="rId51"/>
    </p:embeddedFont>
    <p:embeddedFont>
      <p:font typeface="Open Sauce Bold" pitchFamily="2" charset="77"/>
      <p:regular r:id="rId52"/>
      <p:bold r:id="rId5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26" autoAdjust="0"/>
  </p:normalViewPr>
  <p:slideViewPr>
    <p:cSldViewPr>
      <p:cViewPr>
        <p:scale>
          <a:sx n="50" d="100"/>
          <a:sy n="50" d="100"/>
        </p:scale>
        <p:origin x="2504" y="11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7" Type="http://schemas.openxmlformats.org/officeDocument/2006/relationships/font" Target="fonts/font1.fntdata"/><Relationship Id="rId28" Type="http://schemas.openxmlformats.org/officeDocument/2006/relationships/font" Target="fonts/font2.fntdata"/><Relationship Id="rId29" Type="http://schemas.openxmlformats.org/officeDocument/2006/relationships/font" Target="fonts/font3.fntdata"/><Relationship Id="rId30" Type="http://schemas.openxmlformats.org/officeDocument/2006/relationships/font" Target="fonts/font4.fntdata"/><Relationship Id="rId31" Type="http://schemas.openxmlformats.org/officeDocument/2006/relationships/font" Target="fonts/font5.fntdata"/><Relationship Id="rId32" Type="http://schemas.openxmlformats.org/officeDocument/2006/relationships/font" Target="fonts/font6.fntdata"/><Relationship Id="rId33" Type="http://schemas.openxmlformats.org/officeDocument/2006/relationships/font" Target="fonts/font7.fntdata"/><Relationship Id="rId34" Type="http://schemas.openxmlformats.org/officeDocument/2006/relationships/font" Target="fonts/font8.fntdata"/><Relationship Id="rId35" Type="http://schemas.openxmlformats.org/officeDocument/2006/relationships/font" Target="fonts/font9.fntdata"/><Relationship Id="rId36" Type="http://schemas.openxmlformats.org/officeDocument/2006/relationships/font" Target="fonts/font10.fntdata"/><Relationship Id="rId37" Type="http://schemas.openxmlformats.org/officeDocument/2006/relationships/font" Target="fonts/font11.fntdata"/><Relationship Id="rId38" Type="http://schemas.openxmlformats.org/officeDocument/2006/relationships/font" Target="fonts/font12.fntdata"/><Relationship Id="rId39" Type="http://schemas.openxmlformats.org/officeDocument/2006/relationships/font" Target="fonts/font13.fntdata"/><Relationship Id="rId40" Type="http://schemas.openxmlformats.org/officeDocument/2006/relationships/font" Target="fonts/font14.fntdata"/><Relationship Id="rId41" Type="http://schemas.openxmlformats.org/officeDocument/2006/relationships/font" Target="fonts/font15.fntdata"/><Relationship Id="rId42" Type="http://schemas.openxmlformats.org/officeDocument/2006/relationships/font" Target="fonts/font16.fntdata"/><Relationship Id="rId43" Type="http://schemas.openxmlformats.org/officeDocument/2006/relationships/font" Target="fonts/font17.fntdata"/><Relationship Id="rId44" Type="http://schemas.openxmlformats.org/officeDocument/2006/relationships/font" Target="fonts/font18.fntdata"/><Relationship Id="rId45" Type="http://schemas.openxmlformats.org/officeDocument/2006/relationships/font" Target="fonts/font19.fntdata"/><Relationship Id="rId46" Type="http://schemas.openxmlformats.org/officeDocument/2006/relationships/font" Target="fonts/font20.fntdata"/><Relationship Id="rId47" Type="http://schemas.openxmlformats.org/officeDocument/2006/relationships/font" Target="fonts/font21.fntdata"/><Relationship Id="rId48" Type="http://schemas.openxmlformats.org/officeDocument/2006/relationships/font" Target="fonts/font22.fntdata"/><Relationship Id="rId49" Type="http://schemas.openxmlformats.org/officeDocument/2006/relationships/font" Target="fonts/font23.fntdata"/><Relationship Id="rId50" Type="http://schemas.openxmlformats.org/officeDocument/2006/relationships/font" Target="fonts/font24.fntdata"/><Relationship Id="rId51" Type="http://schemas.openxmlformats.org/officeDocument/2006/relationships/font" Target="fonts/font25.fntdata"/><Relationship Id="rId52" Type="http://schemas.openxmlformats.org/officeDocument/2006/relationships/font" Target="fonts/font26.fntdata"/><Relationship Id="rId53" Type="http://schemas.openxmlformats.org/officeDocument/2006/relationships/font" Target="fonts/font27.fntdata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openxmlformats.org/officeDocument/2006/relationships/slide" Target="slides/slide26.xml"/><Relationship Id="rId59" Type="http://schemas.openxmlformats.org/officeDocument/2006/relationships/notesMaster" Target="notesMasters/notesMaster1.xml"/><Relationship Id="rId60" Type="http://schemas.openxmlformats.org/officeDocument/2006/relationships/slide" Target="slides/slide27.xml"/><Relationship Id="rId61" Type="http://schemas.openxmlformats.org/officeDocument/2006/relationships/slide" Target="slides/slide28.xml"/><Relationship Id="rId62" Type="http://schemas.openxmlformats.org/officeDocument/2006/relationships/slide" Target="slides/slide29.xml"/><Relationship Id="rId63" Type="http://schemas.openxmlformats.org/officeDocument/2006/relationships/slide" Target="slides/slide30.xml"/><Relationship Id="rId64" Type="http://schemas.openxmlformats.org/officeDocument/2006/relationships/slide" Target="slides/slide31.xml"/><Relationship Id="rId65" Type="http://schemas.openxmlformats.org/officeDocument/2006/relationships/slide" Target="slides/slide32.xml"/><Relationship Id="rId66" Type="http://schemas.openxmlformats.org/officeDocument/2006/relationships/slide" Target="slides/slide33.xml"/><Relationship Id="rId67" Type="http://schemas.openxmlformats.org/officeDocument/2006/relationships/slide" Target="slides/slide34.xml"/><Relationship Id="rId68" Type="http://schemas.openxmlformats.org/officeDocument/2006/relationships/slide" Target="slides/slide3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579"/>
          <c:y val="0.0128"/>
          <c:w val="0.7892"/>
          <c:h val="0.974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Число проверок</c:v>
                </c:pt>
              </c:strCache>
            </c:strRef>
          </c:tx>
          <c:spPr>
            <a:solidFill>
              <a:srgbClr val="00C282"/>
            </a:solidFill>
            <a:ln>
              <a:noFill/>
            </a:ln>
          </c:spPr>
          <c:invertIfNegative val="0"/>
          <c:dLbls>
            <c:dLbl>
              <c:idx val="0"/>
              <c:numFmt formatCode="#,##0;&quot;−&quot;#,##0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2400" b="0">
                      <a:solidFill>
                        <a:srgbClr val="000000"/>
                      </a:solidFill>
                      <a:latin typeface="Arial"/>
                      <a:ea typeface="Noto Sans"/>
                      <a:cs typeface="Noto Sans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;&quot;−&quot;#,##0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2400" b="0">
                    <a:solidFill>
                      <a:srgbClr val="000000"/>
                    </a:solidFill>
                    <a:latin typeface="Arial"/>
                    <a:ea typeface="Noto Sans"/>
                    <a:cs typeface="Noto San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Целостность</c:v>
                </c:pt>
                <c:pt idx="1">
                  <c:v>Вёрстка</c:v>
                </c:pt>
                <c:pt idx="2">
                  <c:v>Шаблон</c:v>
                </c:pt>
                <c:pt idx="3">
                  <c:v>Контент</c:v>
                </c:pt>
                <c:pt idx="4">
                  <c:v>Плотность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12.0</c:v>
                </c:pt>
                <c:pt idx="1">
                  <c:v>11.0</c:v>
                </c:pt>
                <c:pt idx="2">
                  <c:v>7.0</c:v>
                </c:pt>
                <c:pt idx="3">
                  <c:v>6.0</c:v>
                </c:pt>
                <c:pt idx="4">
                  <c:v>5.0</c:v>
                </c:pt>
              </c:numCache>
            </c:numRef>
          </c:val>
        </c:ser>
        <c:dLbls>
          <c:numFmt formatCode="#,##0;&quot;−&quot;#,##0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2400" b="0">
                  <a:solidFill>
                    <a:srgbClr val="000000"/>
                  </a:solidFill>
                  <a:latin typeface="Arial"/>
                  <a:ea typeface="Noto Sans"/>
                  <a:cs typeface="Noto San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510000001"/>
        <c:axId val="510000002"/>
      </c:barChart>
      <c:catAx>
        <c:axId val="510000001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 rot="0" vert="horz"/>
          <a:lstStyle/>
          <a:p>
            <a:pPr>
              <a:defRPr sz="2000" b="0">
                <a:solidFill>
                  <a:srgbClr val="575757"/>
                </a:solidFill>
                <a:latin typeface="Arial"/>
                <a:ea typeface="Noto Sans"/>
                <a:cs typeface="Noto Sans"/>
              </a:defRPr>
            </a:pPr>
            <a:endParaRPr lang="ru-RU"/>
          </a:p>
        </c:txPr>
        <c:crossAx val="510000002"/>
        <c:crosses val="autoZero"/>
        <c:auto val="1"/>
        <c:lblAlgn val="ctr"/>
        <c:lblOffset val="100"/>
        <c:tickLblSkip val="1"/>
        <c:noMultiLvlLbl val="0"/>
      </c:catAx>
      <c:valAx>
        <c:axId val="510000002"/>
        <c:scaling>
          <c:max val="12.0"/>
          <c:min val="0.0"/>
        </c:scaling>
        <c:delete val="1"/>
        <c:axPos val="b"/>
        <c:majorTickMark val="out"/>
        <c:minorTickMark val="none"/>
        <c:tickLblPos val="nextTo"/>
        <c:crossAx val="510000001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2000">
          <a:solidFill>
            <a:srgbClr val="000000"/>
          </a:solidFill>
          <a:latin typeface="Arial"/>
          <a:ea typeface="Noto Sans"/>
          <a:cs typeface="Noto Sans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012"/>
          <c:y val="0.0770"/>
          <c:w val="0.9976"/>
          <c:h val="0.845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Время генерации</c:v>
                </c:pt>
              </c:strCache>
            </c:strRef>
          </c:tx>
          <c:spPr>
            <a:solidFill>
              <a:srgbClr val="00C282"/>
            </a:solidFill>
            <a:ln>
              <a:noFill/>
            </a:ln>
          </c:spPr>
          <c:invertIfNegative val="0"/>
          <c:dLbls>
            <c:dLbl>
              <c:idx val="2"/>
              <c:numFmt formatCode="#,##0;&quot;−&quot;#,##0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2400" b="0">
                      <a:solidFill>
                        <a:srgbClr val="000000"/>
                      </a:solidFill>
                      <a:latin typeface="Arial"/>
                      <a:ea typeface="Noto Sans"/>
                      <a:cs typeface="Noto Sans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;&quot;−&quot;#,##0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2400" b="0">
                    <a:solidFill>
                      <a:srgbClr val="000000"/>
                    </a:solidFill>
                    <a:latin typeface="Arial"/>
                    <a:ea typeface="Noto Sans"/>
                    <a:cs typeface="Noto San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VK Tech</c:v>
                </c:pt>
                <c:pt idx="1">
                  <c:v>VK Education</c:v>
                </c:pt>
                <c:pt idx="2">
                  <c:v>VK WorkSpace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113.0</c:v>
                </c:pt>
                <c:pt idx="1">
                  <c:v>145.0</c:v>
                </c:pt>
                <c:pt idx="2">
                  <c:v>175.0</c:v>
                </c:pt>
              </c:numCache>
            </c:numRef>
          </c:val>
        </c:ser>
        <c:dLbls>
          <c:numFmt formatCode="#,##0&quot; секунд&quot;;&quot;−&quot;#,##0&quot; секунд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2400" b="0">
                  <a:solidFill>
                    <a:srgbClr val="000000"/>
                  </a:solidFill>
                  <a:latin typeface="Arial"/>
                  <a:ea typeface="Noto Sans"/>
                  <a:cs typeface="Noto San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7"/>
        <c:axId val="510000001"/>
        <c:axId val="510000002"/>
      </c:barChart>
      <c:catAx>
        <c:axId val="510000001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86EAE9"/>
            </a:solidFill>
          </a:ln>
        </c:spPr>
        <c:txPr>
          <a:bodyPr rot="0" vert="horz"/>
          <a:lstStyle/>
          <a:p>
            <a:pPr>
              <a:defRPr sz="2000" b="0">
                <a:solidFill>
                  <a:srgbClr val="575757"/>
                </a:solidFill>
                <a:latin typeface="Arial"/>
                <a:ea typeface="Noto Sans"/>
                <a:cs typeface="Noto Sans"/>
              </a:defRPr>
            </a:pPr>
            <a:endParaRPr lang="ru-RU"/>
          </a:p>
        </c:txPr>
        <c:crossAx val="510000002"/>
        <c:crosses val="autoZero"/>
        <c:auto val="1"/>
        <c:lblAlgn val="ctr"/>
        <c:lblOffset val="100"/>
        <c:tickLblSkip val="1"/>
        <c:noMultiLvlLbl val="0"/>
      </c:catAx>
      <c:valAx>
        <c:axId val="510000002"/>
        <c:scaling>
          <c:max val="175.0"/>
          <c:min val="0.0"/>
        </c:scaling>
        <c:delete val="1"/>
        <c:axPos val="l"/>
        <c:majorTickMark val="out"/>
        <c:minorTickMark val="none"/>
        <c:tickLblPos val="nextTo"/>
        <c:crossAx val="510000001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2000">
          <a:solidFill>
            <a:srgbClr val="000000"/>
          </a:solidFill>
          <a:latin typeface="Arial"/>
          <a:ea typeface="Noto Sans"/>
          <a:cs typeface="Noto Sans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ru-RU"/>
              <a:t>Подготовка презентации занимает часы, а иногда и дни. Большая часть времени уходит на оформление, а не на содержание. Три основные проблемы: ручная вёрстка, ИИ, который не воспроизводит стиль, и шаблоны, которые не помогают создать новый слайд.</a:t>
            </a:r>
          </a:p>
          <a:p>
            <a:r>
              <a:t>[verstka:sl2]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ru-RU"/>
              <a:t>Verstka интерпретирует шаблон как набор правил, таких как палитра, кегли, сетка, поля, логотипы и колонтитулы. На основе этих правил создаются три редактируемые презентации за 2–3 минуты.</a:t>
            </a:r>
          </a:p>
          <a:p>
            <a:r>
              <a:t>[verstka:sl3]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ru-RU"/>
              <a:t>Процесс включает 5 этапов, каждый из которых выполняется отдельным специалистом: аналитиком, дизайнером, критиком, компилятором и вёрсткой.</a:t>
            </a:r>
          </a:p>
          <a:p>
            <a:r>
              <a:t>[verstka:sl4]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ru-RU"/>
              <a:t>Одинаковое содержание, разная подача.</a:t>
            </a:r>
          </a:p>
          <a:p>
            <a:r>
              <a:t>[verstka:sl5]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ru-RU"/>
              <a:t>Наибольшее количество проверок (12) относится к категории «Целостность».</a:t>
            </a:r>
          </a:p>
          <a:p>
            <a:r>
              <a:t>[verstka:sl6]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ru-RU"/>
              <a:t>Каждое число плана сверяется с текстом до вёрстки и ещё раз в готовом PPTX.</a:t>
            </a:r>
          </a:p>
          <a:p>
            <a:r>
              <a:t>[verstka:sl7]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ru-RU"/>
              <a:t>Регрессионный корпус включает 87 чужих шаблонов и 261 презентацию на них. Средняя оценка проверки качества по корпусу — 99 из 100. Сервис принимает 12 форматов: pptx, potx, ppt, odp, thmx и другие.</a:t>
            </a:r>
          </a:p>
          <a:p>
            <a:r>
              <a:t>[verstka:sl8]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[verstka:sl9]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ru-RU"/>
              <a:t>На слайде представлены три модели с лицензией Apache 2.0: основная модель Qwen3.8-27B, запасное звено Qwen3-32B и два дополнительных запасных звена — Gemma 4 и Qwen3-VL.</a:t>
            </a:r>
          </a:p>
          <a:p>
            <a:r>
              <a:t>[verstka:sl10]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ru-RU"/>
              <a:t>На данном этапе реализованы 2 028 автотестов и поддержка форматов PPTX, PDF и HTML. В будущем запланированы генерация изображений внутри слайдов и переход на инференс VK.</a:t>
            </a:r>
          </a:p>
          <a:p>
            <a:r>
              <a:t>[verstka:sl11]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eg"/><Relationship Id="rId3" Type="http://schemas.openxmlformats.org/officeDocument/2006/relationships/notesSlide" Target="../notesSlides/notesSlide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eg"/><Relationship Id="rId3" Type="http://schemas.openxmlformats.org/officeDocument/2006/relationships/notesSlide" Target="../notesSlides/notesSlide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eg"/><Relationship Id="rId3" Type="http://schemas.openxmlformats.org/officeDocument/2006/relationships/notesSlide" Target="../notesSlides/notesSlide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eg"/><Relationship Id="rId3" Type="http://schemas.openxmlformats.org/officeDocument/2006/relationships/notesSlide" Target="../notesSlides/notesSlide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e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eg"/><Relationship Id="rId3" Type="http://schemas.openxmlformats.org/officeDocument/2006/relationships/notesSlide" Target="../notesSlides/notesSlide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eg"/><Relationship Id="rId3" Type="http://schemas.openxmlformats.org/officeDocument/2006/relationships/notesSlide" Target="../notesSlides/notesSlide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eg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eg"/><Relationship Id="rId3" Type="http://schemas.openxmlformats.org/officeDocument/2006/relationships/notesSlide" Target="../notesSlides/notesSlide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eg"/><Relationship Id="rId3" Type="http://schemas.openxmlformats.org/officeDocument/2006/relationships/notesSlide" Target="../notesSlides/notesSlide10.xml"/></Relationships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4"/>
          <p:cNvSpPr txBox="1"/>
          <p:nvPr/>
        </p:nvSpPr>
        <p:spPr>
          <a:xfrm>
            <a:off x="4040795" y="1038225"/>
            <a:ext cx="9703489" cy="1615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5800"/>
              </a:lnSpc>
              <a:spcBef>
                <a:spcPct val="0"/>
              </a:spcBef>
            </a:pPr>
            <a:r>
              <a:rPr lang="ru-RU" sz="5000">
                <a:solidFill>
                  <a:srgbClr val="12222B"/>
                </a:solidFill>
                <a:latin typeface="Arial"/>
              </a:rPr>
              <a:t>Оформление отнимает больше времени, чем содержание</a:t>
            </a:r>
          </a:p>
        </p:txBody>
      </p:sp>
      <p:sp>
        <p:nvSpPr>
          <p:cNvPr id="19" name="Conclusion bar 19"/>
          <p:cNvSpPr/>
          <p:nvPr/>
        </p:nvSpPr>
        <p:spPr>
          <a:xfrm>
            <a:off x="365760" y="3212196"/>
            <a:ext cx="61722" cy="378846"/>
          </a:xfrm>
          <a:prstGeom prst="rect">
            <a:avLst/>
          </a:prstGeom>
          <a:solidFill>
            <a:srgbClr val="1885F1"/>
          </a:solidFill>
          <a:ln>
            <a:noFill/>
          </a:ln>
        </p:spPr>
      </p:sp>
      <p:sp>
        <p:nvSpPr>
          <p:cNvPr id="20" name="Conclusion 20"/>
          <p:cNvSpPr txBox="1"/>
          <p:nvPr/>
        </p:nvSpPr>
        <p:spPr>
          <a:xfrm>
            <a:off x="722020" y="3168015"/>
            <a:ext cx="15444572" cy="4672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899" b="1" cap="none" spc="0" baseline="0" dirty="0">
                <a:solidFill>
                  <a:srgbClr val="12222B"/>
                </a:solidFill>
                <a:latin typeface="Arial"/>
                <a:cs typeface="Noto Sans"/>
              </a:rPr>
              <a:t>Время тратится на оформление, а не на суть</a:t>
            </a:r>
            <a:endParaRPr lang="ru-RU" sz="2899"/>
          </a:p>
        </p:txBody>
      </p:sp>
      <p:sp>
        <p:nvSpPr>
          <p:cNvPr id="21" name="Card 21"/>
          <p:cNvSpPr/>
          <p:nvPr/>
        </p:nvSpPr>
        <p:spPr>
          <a:xfrm>
            <a:off x="365760" y="4005555"/>
            <a:ext cx="5559552" cy="5238322"/>
          </a:xfrm>
          <a:prstGeom prst="roundRect">
            <a:avLst>
              <a:gd name="adj" fmla="val 2094"/>
            </a:avLst>
          </a:prstGeom>
          <a:solidFill>
            <a:srgbClr val="494F56"/>
          </a:solidFill>
          <a:ln>
            <a:noFill/>
          </a:ln>
        </p:spPr>
      </p:sp>
      <p:sp>
        <p:nvSpPr>
          <p:cNvPr id="22" name="Rule 22"/>
          <p:cNvSpPr/>
          <p:nvPr/>
        </p:nvSpPr>
        <p:spPr>
          <a:xfrm>
            <a:off x="754928" y="4394723"/>
            <a:ext cx="720090" cy="38100"/>
          </a:xfrm>
          <a:prstGeom prst="rect">
            <a:avLst/>
          </a:prstGeom>
          <a:solidFill>
            <a:srgbClr val="00C282"/>
          </a:solidFill>
          <a:ln>
            <a:noFill/>
          </a:ln>
        </p:spPr>
      </p:sp>
      <p:sp>
        <p:nvSpPr>
          <p:cNvPr id="23" name="Column title 23"/>
          <p:cNvSpPr txBox="1"/>
          <p:nvPr/>
        </p:nvSpPr>
        <p:spPr>
          <a:xfrm>
            <a:off x="754928" y="4617989"/>
            <a:ext cx="4781216" cy="1549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5000" b="0" cap="none" spc="0" baseline="0" dirty="0">
                <a:solidFill>
                  <a:srgbClr val="FFFFFF"/>
                </a:solidFill>
                <a:latin typeface="Arial"/>
                <a:cs typeface="Noto Sans"/>
              </a:rPr>
              <a:t>Ручная вёрстка</a:t>
            </a:r>
            <a:endParaRPr lang="ru-RU" sz="5000"/>
          </a:p>
        </p:txBody>
      </p:sp>
      <p:sp>
        <p:nvSpPr>
          <p:cNvPr id="24" name="Column 24"/>
          <p:cNvSpPr txBox="1"/>
          <p:nvPr/>
        </p:nvSpPr>
        <p:spPr>
          <a:xfrm>
            <a:off x="754928" y="6390909"/>
            <a:ext cx="4781216" cy="2463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447040" indent="-447040">
              <a:lnSpc>
                <a:spcPct val="100000"/>
              </a:lnSpc>
              <a:buClr>
                <a:srgbClr val="00C282"/>
              </a:buClr>
              <a:buFont typeface="Arial"/>
              <a:buChar char="•"/>
            </a:pPr>
            <a:r>
              <a:rPr lang="ru-RU" sz="3200" b="0" cap="none" spc="0" baseline="0" dirty="0">
                <a:solidFill>
                  <a:srgbClr val="FFFFFF"/>
                </a:solidFill>
                <a:latin typeface="Arial"/>
                <a:cs typeface="Noto Sans"/>
              </a:rPr>
              <a:t>Подобрать макет, подвинуть блоки, подогнать цвета под фирменный стиль</a:t>
            </a:r>
            <a:endParaRPr lang="ru-RU" sz="3200"/>
          </a:p>
        </p:txBody>
      </p:sp>
      <p:sp>
        <p:nvSpPr>
          <p:cNvPr id="25" name="Card 25"/>
          <p:cNvSpPr/>
          <p:nvPr/>
        </p:nvSpPr>
        <p:spPr>
          <a:xfrm>
            <a:off x="6364224" y="4005555"/>
            <a:ext cx="5559552" cy="5238322"/>
          </a:xfrm>
          <a:prstGeom prst="roundRect">
            <a:avLst>
              <a:gd name="adj" fmla="val 2094"/>
            </a:avLst>
          </a:prstGeom>
          <a:solidFill>
            <a:srgbClr val="494F56"/>
          </a:solidFill>
          <a:ln>
            <a:noFill/>
          </a:ln>
        </p:spPr>
      </p:sp>
      <p:sp>
        <p:nvSpPr>
          <p:cNvPr id="26" name="Rule 26"/>
          <p:cNvSpPr/>
          <p:nvPr/>
        </p:nvSpPr>
        <p:spPr>
          <a:xfrm>
            <a:off x="6753392" y="4394723"/>
            <a:ext cx="720090" cy="38100"/>
          </a:xfrm>
          <a:prstGeom prst="rect">
            <a:avLst/>
          </a:prstGeom>
          <a:solidFill>
            <a:srgbClr val="00C282"/>
          </a:solidFill>
          <a:ln>
            <a:noFill/>
          </a:ln>
        </p:spPr>
      </p:sp>
      <p:sp>
        <p:nvSpPr>
          <p:cNvPr id="27" name="Column title 27"/>
          <p:cNvSpPr txBox="1"/>
          <p:nvPr/>
        </p:nvSpPr>
        <p:spPr>
          <a:xfrm>
            <a:off x="6753392" y="4617989"/>
            <a:ext cx="4781216" cy="1549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5000" b="0" cap="none" spc="0" baseline="0" dirty="0">
                <a:solidFill>
                  <a:srgbClr val="FFFFFF"/>
                </a:solidFill>
                <a:latin typeface="Arial"/>
                <a:cs typeface="Noto Sans"/>
              </a:rPr>
              <a:t>ИИ ломает стиль</a:t>
            </a:r>
            <a:endParaRPr lang="ru-RU" sz="5000"/>
          </a:p>
        </p:txBody>
      </p:sp>
      <p:sp>
        <p:nvSpPr>
          <p:cNvPr id="28" name="Column 28"/>
          <p:cNvSpPr txBox="1"/>
          <p:nvPr/>
        </p:nvSpPr>
        <p:spPr>
          <a:xfrm>
            <a:off x="6753392" y="6390909"/>
            <a:ext cx="4781216" cy="2463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447040" indent="-447040">
              <a:lnSpc>
                <a:spcPct val="100000"/>
              </a:lnSpc>
              <a:buClr>
                <a:srgbClr val="00C282"/>
              </a:buClr>
              <a:buFont typeface="Arial"/>
              <a:buChar char="•"/>
            </a:pPr>
            <a:r>
              <a:rPr lang="ru-RU" sz="3200" b="0" cap="none" spc="0" baseline="0" dirty="0">
                <a:solidFill>
                  <a:srgbClr val="FFFFFF"/>
                </a:solidFill>
                <a:latin typeface="Arial"/>
                <a:cs typeface="Noto Sans"/>
              </a:rPr>
              <a:t>Нейросети неплохо пишут текст, но не воспроизводят дизайн-⁠систему компании</a:t>
            </a:r>
            <a:endParaRPr lang="ru-RU" sz="3200"/>
          </a:p>
        </p:txBody>
      </p:sp>
      <p:sp>
        <p:nvSpPr>
          <p:cNvPr id="29" name="Card 29"/>
          <p:cNvSpPr/>
          <p:nvPr/>
        </p:nvSpPr>
        <p:spPr>
          <a:xfrm>
            <a:off x="12362688" y="4005555"/>
            <a:ext cx="5559552" cy="5238322"/>
          </a:xfrm>
          <a:prstGeom prst="roundRect">
            <a:avLst>
              <a:gd name="adj" fmla="val 2094"/>
            </a:avLst>
          </a:prstGeom>
          <a:solidFill>
            <a:srgbClr val="494F56"/>
          </a:solidFill>
          <a:ln>
            <a:noFill/>
          </a:ln>
        </p:spPr>
      </p:sp>
      <p:sp>
        <p:nvSpPr>
          <p:cNvPr id="30" name="Rule 30"/>
          <p:cNvSpPr/>
          <p:nvPr/>
        </p:nvSpPr>
        <p:spPr>
          <a:xfrm>
            <a:off x="12751856" y="4394723"/>
            <a:ext cx="720090" cy="38100"/>
          </a:xfrm>
          <a:prstGeom prst="rect">
            <a:avLst/>
          </a:prstGeom>
          <a:solidFill>
            <a:srgbClr val="00C282"/>
          </a:solidFill>
          <a:ln>
            <a:noFill/>
          </a:ln>
        </p:spPr>
      </p:sp>
      <p:sp>
        <p:nvSpPr>
          <p:cNvPr id="31" name="Column title 31"/>
          <p:cNvSpPr txBox="1"/>
          <p:nvPr/>
        </p:nvSpPr>
        <p:spPr>
          <a:xfrm>
            <a:off x="12751856" y="4617989"/>
            <a:ext cx="4781216" cy="1549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5000" b="0" cap="none" spc="0" baseline="0" dirty="0">
                <a:solidFill>
                  <a:srgbClr val="FFFFFF"/>
                </a:solidFill>
                <a:latin typeface="Arial"/>
                <a:cs typeface="Noto Sans"/>
              </a:rPr>
              <a:t>Шаблон — не инструкция</a:t>
            </a:r>
            <a:endParaRPr lang="ru-RU" sz="5000"/>
          </a:p>
        </p:txBody>
      </p:sp>
      <p:sp>
        <p:nvSpPr>
          <p:cNvPr id="32" name="Column 32"/>
          <p:cNvSpPr txBox="1"/>
          <p:nvPr/>
        </p:nvSpPr>
        <p:spPr>
          <a:xfrm>
            <a:off x="12751856" y="6390909"/>
            <a:ext cx="4781216" cy="2463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447040" indent="-447040">
              <a:lnSpc>
                <a:spcPct val="100000"/>
              </a:lnSpc>
              <a:buClr>
                <a:srgbClr val="00C282"/>
              </a:buClr>
              <a:buFont typeface="Arial"/>
              <a:buChar char="•"/>
            </a:pPr>
            <a:r>
              <a:rPr lang="ru-RU" sz="3200" b="0" cap="none" spc="0" baseline="0" dirty="0">
                <a:solidFill>
                  <a:srgbClr val="FFFFFF"/>
                </a:solidFill>
                <a:latin typeface="Arial"/>
                <a:cs typeface="Noto Sans"/>
              </a:rPr>
              <a:t>Плейсхолдеры не объясняют, как построить новый слайд</a:t>
            </a:r>
            <a:endParaRPr lang="ru-RU" sz="32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4"/>
          <p:cNvSpPr txBox="1"/>
          <p:nvPr/>
        </p:nvSpPr>
        <p:spPr>
          <a:xfrm>
            <a:off x="3330682" y="1038225"/>
            <a:ext cx="11123715" cy="1615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5800"/>
              </a:lnSpc>
              <a:spcBef>
                <a:spcPct val="0"/>
              </a:spcBef>
            </a:pPr>
            <a:r>
              <a:rPr lang="ru-RU" sz="5000">
                <a:solidFill>
                  <a:srgbClr val="12222B"/>
                </a:solidFill>
                <a:latin typeface="Arial"/>
              </a:rPr>
              <a:t>Verstka создаёт три редактируемые презентации за 2⁠–⁠3 минуты</a:t>
            </a:r>
          </a:p>
        </p:txBody>
      </p:sp>
      <p:sp>
        <p:nvSpPr>
          <p:cNvPr id="33" name="Conclusion bar 33"/>
          <p:cNvSpPr/>
          <p:nvPr/>
        </p:nvSpPr>
        <p:spPr>
          <a:xfrm>
            <a:off x="365760" y="3212196"/>
            <a:ext cx="61722" cy="378846"/>
          </a:xfrm>
          <a:prstGeom prst="rect">
            <a:avLst/>
          </a:prstGeom>
          <a:solidFill>
            <a:srgbClr val="1885F1"/>
          </a:solidFill>
          <a:ln>
            <a:noFill/>
          </a:ln>
        </p:spPr>
      </p:sp>
      <p:sp>
        <p:nvSpPr>
          <p:cNvPr id="34" name="Conclusion 34"/>
          <p:cNvSpPr txBox="1"/>
          <p:nvPr/>
        </p:nvSpPr>
        <p:spPr>
          <a:xfrm>
            <a:off x="722020" y="3168015"/>
            <a:ext cx="15444572" cy="4672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899" b="1" cap="none" spc="0" baseline="0" dirty="0">
                <a:solidFill>
                  <a:srgbClr val="12222B"/>
                </a:solidFill>
                <a:latin typeface="Arial"/>
                <a:cs typeface="Noto Sans"/>
              </a:rPr>
              <a:t>Презентации создаются автоматически по правилам шаблона</a:t>
            </a:r>
            <a:endParaRPr lang="ru-RU" sz="2899"/>
          </a:p>
        </p:txBody>
      </p:sp>
      <p:sp>
        <p:nvSpPr>
          <p:cNvPr id="35" name="Card 35"/>
          <p:cNvSpPr/>
          <p:nvPr/>
        </p:nvSpPr>
        <p:spPr>
          <a:xfrm>
            <a:off x="365760" y="4005555"/>
            <a:ext cx="5559552" cy="5225106"/>
          </a:xfrm>
          <a:prstGeom prst="roundRect">
            <a:avLst>
              <a:gd name="adj" fmla="val 2100"/>
            </a:avLst>
          </a:prstGeom>
          <a:solidFill>
            <a:srgbClr val="494F56"/>
          </a:solidFill>
          <a:ln>
            <a:noFill/>
          </a:ln>
        </p:spPr>
      </p:sp>
      <p:sp>
        <p:nvSpPr>
          <p:cNvPr id="36" name="Rule 36"/>
          <p:cNvSpPr/>
          <p:nvPr/>
        </p:nvSpPr>
        <p:spPr>
          <a:xfrm>
            <a:off x="754928" y="4394723"/>
            <a:ext cx="720090" cy="38100"/>
          </a:xfrm>
          <a:prstGeom prst="rect">
            <a:avLst/>
          </a:prstGeom>
          <a:solidFill>
            <a:srgbClr val="00C282"/>
          </a:solidFill>
          <a:ln>
            <a:noFill/>
          </a:ln>
        </p:spPr>
      </p:sp>
      <p:sp>
        <p:nvSpPr>
          <p:cNvPr id="37" name="Column title 37"/>
          <p:cNvSpPr txBox="1"/>
          <p:nvPr/>
        </p:nvSpPr>
        <p:spPr>
          <a:xfrm>
            <a:off x="754928" y="4617989"/>
            <a:ext cx="4781216" cy="787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5000" b="0" cap="none" spc="0" baseline="0" dirty="0">
                <a:solidFill>
                  <a:srgbClr val="FFFFFF"/>
                </a:solidFill>
                <a:latin typeface="Arial"/>
                <a:cs typeface="Noto Sans"/>
              </a:rPr>
              <a:t>На входе</a:t>
            </a:r>
            <a:endParaRPr lang="ru-RU" sz="5000"/>
          </a:p>
        </p:txBody>
      </p:sp>
      <p:sp>
        <p:nvSpPr>
          <p:cNvPr id="38" name="Column 38"/>
          <p:cNvSpPr txBox="1"/>
          <p:nvPr/>
        </p:nvSpPr>
        <p:spPr>
          <a:xfrm>
            <a:off x="754928" y="5628909"/>
            <a:ext cx="4781216" cy="321258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447040" indent="-447040">
              <a:lnSpc>
                <a:spcPct val="100000"/>
              </a:lnSpc>
              <a:buClr>
                <a:srgbClr val="00C282"/>
              </a:buClr>
              <a:buFont typeface="Arial"/>
              <a:buChar char="•"/>
            </a:pPr>
            <a:r>
              <a:rPr lang="ru-RU" sz="3200" b="0" cap="none" spc="0" baseline="0" dirty="0">
                <a:solidFill>
                  <a:srgbClr val="FFFFFF"/>
                </a:solidFill>
                <a:latin typeface="Arial"/>
                <a:cs typeface="Noto Sans"/>
              </a:rPr>
              <a:t>Шаблон и текст</a:t>
            </a:r>
            <a:endParaRPr lang="ru-RU" sz="3200"/>
          </a:p>
        </p:txBody>
      </p:sp>
      <p:sp>
        <p:nvSpPr>
          <p:cNvPr id="39" name="Card 39"/>
          <p:cNvSpPr/>
          <p:nvPr/>
        </p:nvSpPr>
        <p:spPr>
          <a:xfrm>
            <a:off x="6364224" y="4005555"/>
            <a:ext cx="5559552" cy="5225106"/>
          </a:xfrm>
          <a:prstGeom prst="roundRect">
            <a:avLst>
              <a:gd name="adj" fmla="val 2100"/>
            </a:avLst>
          </a:prstGeom>
          <a:solidFill>
            <a:srgbClr val="494F56"/>
          </a:solidFill>
          <a:ln>
            <a:noFill/>
          </a:ln>
        </p:spPr>
      </p:sp>
      <p:sp>
        <p:nvSpPr>
          <p:cNvPr id="40" name="Rule 40"/>
          <p:cNvSpPr/>
          <p:nvPr/>
        </p:nvSpPr>
        <p:spPr>
          <a:xfrm>
            <a:off x="6753392" y="4394723"/>
            <a:ext cx="720090" cy="38100"/>
          </a:xfrm>
          <a:prstGeom prst="rect">
            <a:avLst/>
          </a:prstGeom>
          <a:solidFill>
            <a:srgbClr val="00C282"/>
          </a:solidFill>
          <a:ln>
            <a:noFill/>
          </a:ln>
        </p:spPr>
      </p:sp>
      <p:sp>
        <p:nvSpPr>
          <p:cNvPr id="41" name="Column title 41"/>
          <p:cNvSpPr txBox="1"/>
          <p:nvPr/>
        </p:nvSpPr>
        <p:spPr>
          <a:xfrm>
            <a:off x="6753392" y="4617989"/>
            <a:ext cx="4781216" cy="787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5000" b="0" cap="none" spc="0" baseline="0" dirty="0">
                <a:solidFill>
                  <a:srgbClr val="FFFFFF"/>
                </a:solidFill>
                <a:latin typeface="Arial"/>
                <a:cs typeface="Noto Sans"/>
              </a:rPr>
              <a:t>Шаблон</a:t>
            </a:r>
            <a:endParaRPr lang="ru-RU" sz="5000"/>
          </a:p>
        </p:txBody>
      </p:sp>
      <p:sp>
        <p:nvSpPr>
          <p:cNvPr id="42" name="Column 42"/>
          <p:cNvSpPr txBox="1"/>
          <p:nvPr/>
        </p:nvSpPr>
        <p:spPr>
          <a:xfrm>
            <a:off x="6753392" y="5628909"/>
            <a:ext cx="4781216" cy="321258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447040" indent="-447040">
              <a:lnSpc>
                <a:spcPct val="100000"/>
              </a:lnSpc>
              <a:buClr>
                <a:srgbClr val="00C282"/>
              </a:buClr>
              <a:buFont typeface="Arial"/>
              <a:buChar char="•"/>
            </a:pPr>
            <a:r>
              <a:rPr lang="ru-RU" sz="3200" b="0" cap="none" spc="0" baseline="0" dirty="0">
                <a:solidFill>
                  <a:srgbClr val="FFFFFF"/>
                </a:solidFill>
                <a:latin typeface="Arial"/>
                <a:cs typeface="Noto Sans"/>
              </a:rPr>
              <a:t>Набор правил: палитра, кегли, сетка, поля, логотипы</a:t>
            </a:r>
            <a:endParaRPr lang="ru-RU" sz="3200"/>
          </a:p>
        </p:txBody>
      </p:sp>
      <p:sp>
        <p:nvSpPr>
          <p:cNvPr id="43" name="Card 43"/>
          <p:cNvSpPr/>
          <p:nvPr/>
        </p:nvSpPr>
        <p:spPr>
          <a:xfrm>
            <a:off x="12362688" y="4005555"/>
            <a:ext cx="5559552" cy="5225106"/>
          </a:xfrm>
          <a:prstGeom prst="roundRect">
            <a:avLst>
              <a:gd name="adj" fmla="val 2100"/>
            </a:avLst>
          </a:prstGeom>
          <a:solidFill>
            <a:srgbClr val="494F56"/>
          </a:solidFill>
          <a:ln>
            <a:noFill/>
          </a:ln>
        </p:spPr>
      </p:sp>
      <p:sp>
        <p:nvSpPr>
          <p:cNvPr id="44" name="Rule 44"/>
          <p:cNvSpPr/>
          <p:nvPr/>
        </p:nvSpPr>
        <p:spPr>
          <a:xfrm>
            <a:off x="12751856" y="4394723"/>
            <a:ext cx="720090" cy="38100"/>
          </a:xfrm>
          <a:prstGeom prst="rect">
            <a:avLst/>
          </a:prstGeom>
          <a:solidFill>
            <a:srgbClr val="00C282"/>
          </a:solidFill>
          <a:ln>
            <a:noFill/>
          </a:ln>
        </p:spPr>
      </p:sp>
      <p:sp>
        <p:nvSpPr>
          <p:cNvPr id="45" name="Column title 45"/>
          <p:cNvSpPr txBox="1"/>
          <p:nvPr/>
        </p:nvSpPr>
        <p:spPr>
          <a:xfrm>
            <a:off x="12751856" y="4617989"/>
            <a:ext cx="4781216" cy="787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5000" b="0" cap="none" spc="0" baseline="0" dirty="0">
                <a:solidFill>
                  <a:srgbClr val="FFFFFF"/>
                </a:solidFill>
                <a:latin typeface="Arial"/>
                <a:cs typeface="Noto Sans"/>
              </a:rPr>
              <a:t>На выходе</a:t>
            </a:r>
            <a:endParaRPr lang="ru-RU" sz="5000"/>
          </a:p>
        </p:txBody>
      </p:sp>
      <p:sp>
        <p:nvSpPr>
          <p:cNvPr id="46" name="Column 46"/>
          <p:cNvSpPr txBox="1"/>
          <p:nvPr/>
        </p:nvSpPr>
        <p:spPr>
          <a:xfrm>
            <a:off x="12751856" y="5628909"/>
            <a:ext cx="4781216" cy="321258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447040" indent="-447040">
              <a:lnSpc>
                <a:spcPct val="100000"/>
              </a:lnSpc>
              <a:buClr>
                <a:srgbClr val="00C282"/>
              </a:buClr>
              <a:buFont typeface="Arial"/>
              <a:buChar char="•"/>
            </a:pPr>
            <a:r>
              <a:rPr lang="ru-RU" sz="3200" b="0" cap="none" spc="0" baseline="0" dirty="0">
                <a:solidFill>
                  <a:srgbClr val="FFFFFF"/>
                </a:solidFill>
                <a:latin typeface="Arial"/>
                <a:cs typeface="Noto Sans"/>
              </a:rPr>
              <a:t>Три редактируемые презентации</a:t>
            </a:r>
            <a:endParaRPr lang="ru-RU" sz="32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4"/>
          <p:cNvSpPr txBox="1"/>
          <p:nvPr/>
        </p:nvSpPr>
        <p:spPr>
          <a:xfrm>
            <a:off x="1028700" y="1038225"/>
            <a:ext cx="15727680" cy="853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5800"/>
              </a:lnSpc>
              <a:spcBef>
                <a:spcPct val="0"/>
              </a:spcBef>
            </a:pPr>
            <a:r>
              <a:rPr lang="ru-RU" sz="5000">
                <a:solidFill>
                  <a:srgbClr val="12222B"/>
                </a:solidFill>
                <a:latin typeface="Arial"/>
              </a:rPr>
              <a:t>Команда из 5 ролей создаёт презентацию из текста</a:t>
            </a:r>
          </a:p>
        </p:txBody>
      </p:sp>
      <p:sp>
        <p:nvSpPr>
          <p:cNvPr id="33" name="Marker 33"/>
          <p:cNvSpPr/>
          <p:nvPr/>
        </p:nvSpPr>
        <p:spPr>
          <a:xfrm>
            <a:off x="365760" y="2572639"/>
            <a:ext cx="154432" cy="154432"/>
          </a:xfrm>
          <a:prstGeom prst="ellipse">
            <a:avLst/>
          </a:prstGeom>
          <a:solidFill>
            <a:srgbClr val="1885F1"/>
          </a:solidFill>
          <a:ln>
            <a:noFill/>
          </a:ln>
        </p:spPr>
      </p:sp>
      <p:sp>
        <p:nvSpPr>
          <p:cNvPr id="34" name="Item 34"/>
          <p:cNvSpPr txBox="1"/>
          <p:nvPr/>
        </p:nvSpPr>
        <p:spPr>
          <a:xfrm>
            <a:off x="1016000" y="2406015"/>
            <a:ext cx="13394944" cy="5130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3200" b="0" cap="none" spc="0" baseline="0" dirty="0">
                <a:solidFill>
                  <a:srgbClr val="000000"/>
                </a:solidFill>
                <a:latin typeface="Arial"/>
                <a:cs typeface="Noto Sans"/>
              </a:rPr>
              <a:t>1. Анализ текста — аналитик находит слайды, ряды данных и просьбы</a:t>
            </a:r>
            <a:endParaRPr lang="ru-RU" sz="3200"/>
          </a:p>
        </p:txBody>
      </p:sp>
      <p:cxnSp>
        <p:nvCxnSpPr>
          <p:cNvPr id="35" name="Line 35"/>
          <p:cNvCxnSpPr/>
          <p:nvPr/>
        </p:nvCxnSpPr>
        <p:spPr>
          <a:xfrm>
            <a:off x="1016000" y="3423508"/>
            <a:ext cx="13394944" cy="0"/>
          </a:xfrm>
          <a:prstGeom prst="line">
            <a:avLst/>
          </a:prstGeom>
          <a:ln w="9525">
            <a:solidFill>
              <a:srgbClr val="86EAE9"/>
            </a:solidFill>
          </a:ln>
        </p:spPr>
      </p:cxnSp>
      <p:sp>
        <p:nvSpPr>
          <p:cNvPr id="36" name="Marker 36"/>
          <p:cNvSpPr/>
          <p:nvPr/>
        </p:nvSpPr>
        <p:spPr>
          <a:xfrm>
            <a:off x="365760" y="4094545"/>
            <a:ext cx="154432" cy="154432"/>
          </a:xfrm>
          <a:prstGeom prst="ellipse">
            <a:avLst/>
          </a:prstGeom>
          <a:solidFill>
            <a:srgbClr val="1885F1"/>
          </a:solidFill>
          <a:ln>
            <a:noFill/>
          </a:ln>
        </p:spPr>
      </p:sp>
      <p:sp>
        <p:nvSpPr>
          <p:cNvPr id="37" name="Item 37"/>
          <p:cNvSpPr txBox="1"/>
          <p:nvPr/>
        </p:nvSpPr>
        <p:spPr>
          <a:xfrm>
            <a:off x="1016000" y="3927921"/>
            <a:ext cx="13394944" cy="5130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3200" b="0" cap="none" spc="0" baseline="0" dirty="0">
                <a:solidFill>
                  <a:srgbClr val="000000"/>
                </a:solidFill>
                <a:latin typeface="Arial"/>
                <a:cs typeface="Noto Sans"/>
              </a:rPr>
              <a:t>2. Дизайн слайдов — дизайнер продумывает каждый слайд отдельно</a:t>
            </a:r>
            <a:endParaRPr lang="ru-RU" sz="3200"/>
          </a:p>
        </p:txBody>
      </p:sp>
      <p:cxnSp>
        <p:nvCxnSpPr>
          <p:cNvPr id="38" name="Line 38"/>
          <p:cNvCxnSpPr/>
          <p:nvPr/>
        </p:nvCxnSpPr>
        <p:spPr>
          <a:xfrm>
            <a:off x="1016000" y="4945414"/>
            <a:ext cx="13394944" cy="0"/>
          </a:xfrm>
          <a:prstGeom prst="line">
            <a:avLst/>
          </a:prstGeom>
          <a:ln w="9525">
            <a:solidFill>
              <a:srgbClr val="86EAE9"/>
            </a:solidFill>
          </a:ln>
        </p:spPr>
      </p:cxnSp>
      <p:sp>
        <p:nvSpPr>
          <p:cNvPr id="39" name="Marker 39"/>
          <p:cNvSpPr/>
          <p:nvPr/>
        </p:nvSpPr>
        <p:spPr>
          <a:xfrm>
            <a:off x="365760" y="5616451"/>
            <a:ext cx="154432" cy="154432"/>
          </a:xfrm>
          <a:prstGeom prst="ellipse">
            <a:avLst/>
          </a:prstGeom>
          <a:solidFill>
            <a:srgbClr val="1885F1"/>
          </a:solidFill>
          <a:ln>
            <a:noFill/>
          </a:ln>
        </p:spPr>
      </p:sp>
      <p:sp>
        <p:nvSpPr>
          <p:cNvPr id="40" name="Item 40"/>
          <p:cNvSpPr txBox="1"/>
          <p:nvPr/>
        </p:nvSpPr>
        <p:spPr>
          <a:xfrm>
            <a:off x="1016000" y="5449827"/>
            <a:ext cx="13394944" cy="5130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3200" b="0" cap="none" spc="0" baseline="0" dirty="0">
                <a:solidFill>
                  <a:srgbClr val="000000"/>
                </a:solidFill>
                <a:latin typeface="Arial"/>
                <a:cs typeface="Noto Sans"/>
              </a:rPr>
              <a:t>3. Проверка плана — критик сверяет план с текстом и правилами</a:t>
            </a:r>
            <a:endParaRPr lang="ru-RU" sz="3200"/>
          </a:p>
        </p:txBody>
      </p:sp>
      <p:cxnSp>
        <p:nvCxnSpPr>
          <p:cNvPr id="41" name="Line 41"/>
          <p:cNvCxnSpPr/>
          <p:nvPr/>
        </p:nvCxnSpPr>
        <p:spPr>
          <a:xfrm>
            <a:off x="1016000" y="6467320"/>
            <a:ext cx="13394944" cy="0"/>
          </a:xfrm>
          <a:prstGeom prst="line">
            <a:avLst/>
          </a:prstGeom>
          <a:ln w="9525">
            <a:solidFill>
              <a:srgbClr val="86EAE9"/>
            </a:solidFill>
          </a:ln>
        </p:spPr>
      </p:cxnSp>
      <p:sp>
        <p:nvSpPr>
          <p:cNvPr id="42" name="Marker 42"/>
          <p:cNvSpPr/>
          <p:nvPr/>
        </p:nvSpPr>
        <p:spPr>
          <a:xfrm>
            <a:off x="365760" y="7138357"/>
            <a:ext cx="154432" cy="154432"/>
          </a:xfrm>
          <a:prstGeom prst="ellipse">
            <a:avLst/>
          </a:prstGeom>
          <a:solidFill>
            <a:srgbClr val="1885F1"/>
          </a:solidFill>
          <a:ln>
            <a:noFill/>
          </a:ln>
        </p:spPr>
      </p:sp>
      <p:sp>
        <p:nvSpPr>
          <p:cNvPr id="43" name="Item 43"/>
          <p:cNvSpPr txBox="1"/>
          <p:nvPr/>
        </p:nvSpPr>
        <p:spPr>
          <a:xfrm>
            <a:off x="1016000" y="6971733"/>
            <a:ext cx="13394944" cy="5130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3200" b="0" cap="none" spc="0" baseline="0" dirty="0">
                <a:solidFill>
                  <a:srgbClr val="000000"/>
                </a:solidFill>
                <a:latin typeface="Arial"/>
                <a:cs typeface="Noto Sans"/>
              </a:rPr>
              <a:t>4. Проверка чисел — компилятор проверяет каждое число</a:t>
            </a:r>
            <a:endParaRPr lang="ru-RU" sz="3200"/>
          </a:p>
        </p:txBody>
      </p:sp>
      <p:cxnSp>
        <p:nvCxnSpPr>
          <p:cNvPr id="44" name="Line 44"/>
          <p:cNvCxnSpPr/>
          <p:nvPr/>
        </p:nvCxnSpPr>
        <p:spPr>
          <a:xfrm>
            <a:off x="1016000" y="7989226"/>
            <a:ext cx="13394944" cy="0"/>
          </a:xfrm>
          <a:prstGeom prst="line">
            <a:avLst/>
          </a:prstGeom>
          <a:ln w="9525">
            <a:solidFill>
              <a:srgbClr val="86EAE9"/>
            </a:solidFill>
          </a:ln>
        </p:spPr>
      </p:cxnSp>
      <p:sp>
        <p:nvSpPr>
          <p:cNvPr id="45" name="Marker 45"/>
          <p:cNvSpPr/>
          <p:nvPr/>
        </p:nvSpPr>
        <p:spPr>
          <a:xfrm>
            <a:off x="365760" y="8660263"/>
            <a:ext cx="154432" cy="154432"/>
          </a:xfrm>
          <a:prstGeom prst="ellipse">
            <a:avLst/>
          </a:prstGeom>
          <a:solidFill>
            <a:srgbClr val="1885F1"/>
          </a:solidFill>
          <a:ln>
            <a:noFill/>
          </a:ln>
        </p:spPr>
      </p:sp>
      <p:sp>
        <p:nvSpPr>
          <p:cNvPr id="46" name="Item 46"/>
          <p:cNvSpPr txBox="1"/>
          <p:nvPr/>
        </p:nvSpPr>
        <p:spPr>
          <a:xfrm>
            <a:off x="1016000" y="8493639"/>
            <a:ext cx="13394944" cy="5130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3200" b="0" cap="none" spc="0" baseline="0" dirty="0">
                <a:solidFill>
                  <a:srgbClr val="000000"/>
                </a:solidFill>
                <a:latin typeface="Arial"/>
                <a:cs typeface="Noto Sans"/>
              </a:rPr>
              <a:t>5. Вёрстка — слайды собираются по дизайн-⁠системе шаблона</a:t>
            </a:r>
            <a:endParaRPr lang="ru-RU" sz="32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4"/>
          <p:cNvSpPr txBox="1"/>
          <p:nvPr/>
        </p:nvSpPr>
        <p:spPr>
          <a:xfrm>
            <a:off x="1028700" y="1038225"/>
            <a:ext cx="15727680" cy="853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5800"/>
              </a:lnSpc>
              <a:spcBef>
                <a:spcPct val="0"/>
              </a:spcBef>
            </a:pPr>
            <a:r>
              <a:rPr lang="ru-RU" sz="5000">
                <a:solidFill>
                  <a:srgbClr val="12222B"/>
                </a:solidFill>
                <a:latin typeface="Arial"/>
              </a:rPr>
              <a:t>Одинаковое содержание, разная подача</a:t>
            </a:r>
          </a:p>
        </p:txBody>
      </p:sp>
      <p:sp>
        <p:nvSpPr>
          <p:cNvPr id="29" name="Card 29"/>
          <p:cNvSpPr/>
          <p:nvPr/>
        </p:nvSpPr>
        <p:spPr>
          <a:xfrm>
            <a:off x="365760" y="2406015"/>
            <a:ext cx="5559552" cy="5601539"/>
          </a:xfrm>
          <a:prstGeom prst="roundRect">
            <a:avLst>
              <a:gd name="adj" fmla="val 1973"/>
            </a:avLst>
          </a:prstGeom>
          <a:solidFill>
            <a:srgbClr val="494F56"/>
          </a:solidFill>
          <a:ln>
            <a:noFill/>
          </a:ln>
        </p:spPr>
      </p:sp>
      <p:sp>
        <p:nvSpPr>
          <p:cNvPr id="30" name="Rule 30"/>
          <p:cNvSpPr/>
          <p:nvPr/>
        </p:nvSpPr>
        <p:spPr>
          <a:xfrm>
            <a:off x="754928" y="2795183"/>
            <a:ext cx="720090" cy="38100"/>
          </a:xfrm>
          <a:prstGeom prst="rect">
            <a:avLst/>
          </a:prstGeom>
          <a:solidFill>
            <a:srgbClr val="00C282"/>
          </a:solidFill>
          <a:ln>
            <a:noFill/>
          </a:ln>
        </p:spPr>
      </p:sp>
      <p:sp>
        <p:nvSpPr>
          <p:cNvPr id="31" name="Column title 31"/>
          <p:cNvSpPr txBox="1"/>
          <p:nvPr/>
        </p:nvSpPr>
        <p:spPr>
          <a:xfrm>
            <a:off x="754928" y="3018449"/>
            <a:ext cx="4781216" cy="787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5000" b="0" cap="none" spc="0" baseline="0" dirty="0">
                <a:solidFill>
                  <a:srgbClr val="FFFFFF"/>
                </a:solidFill>
                <a:latin typeface="Arial"/>
                <a:cs typeface="Noto Sans"/>
              </a:rPr>
              <a:t>Структурный</a:t>
            </a:r>
            <a:endParaRPr lang="ru-RU" sz="5000"/>
          </a:p>
        </p:txBody>
      </p:sp>
      <p:sp>
        <p:nvSpPr>
          <p:cNvPr id="32" name="Column 32"/>
          <p:cNvSpPr txBox="1"/>
          <p:nvPr/>
        </p:nvSpPr>
        <p:spPr>
          <a:xfrm>
            <a:off x="754928" y="4029369"/>
            <a:ext cx="4781216" cy="3589017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447040" indent="-447040">
              <a:lnSpc>
                <a:spcPct val="100000"/>
              </a:lnSpc>
              <a:buClr>
                <a:srgbClr val="00C282"/>
              </a:buClr>
              <a:buFont typeface="Arial"/>
              <a:buChar char="•"/>
            </a:pPr>
            <a:r>
              <a:rPr lang="ru-RU" sz="3200" b="0" cap="none" spc="0" baseline="0" dirty="0">
                <a:solidFill>
                  <a:srgbClr val="FFFFFF"/>
                </a:solidFill>
                <a:latin typeface="Arial"/>
                <a:cs typeface="Noto Sans"/>
              </a:rPr>
              <a:t>Одна мысль на слайде, строгая сетка</a:t>
            </a:r>
            <a:endParaRPr lang="ru-RU" sz="3200"/>
          </a:p>
        </p:txBody>
      </p:sp>
      <p:sp>
        <p:nvSpPr>
          <p:cNvPr id="33" name="Card 33"/>
          <p:cNvSpPr/>
          <p:nvPr/>
        </p:nvSpPr>
        <p:spPr>
          <a:xfrm>
            <a:off x="6364224" y="2406015"/>
            <a:ext cx="5559552" cy="5601539"/>
          </a:xfrm>
          <a:prstGeom prst="roundRect">
            <a:avLst>
              <a:gd name="adj" fmla="val 1973"/>
            </a:avLst>
          </a:prstGeom>
          <a:solidFill>
            <a:srgbClr val="494F56"/>
          </a:solidFill>
          <a:ln>
            <a:noFill/>
          </a:ln>
        </p:spPr>
      </p:sp>
      <p:sp>
        <p:nvSpPr>
          <p:cNvPr id="34" name="Rule 34"/>
          <p:cNvSpPr/>
          <p:nvPr/>
        </p:nvSpPr>
        <p:spPr>
          <a:xfrm>
            <a:off x="6753392" y="2795183"/>
            <a:ext cx="720090" cy="38100"/>
          </a:xfrm>
          <a:prstGeom prst="rect">
            <a:avLst/>
          </a:prstGeom>
          <a:solidFill>
            <a:srgbClr val="00C282"/>
          </a:solidFill>
          <a:ln>
            <a:noFill/>
          </a:ln>
        </p:spPr>
      </p:sp>
      <p:sp>
        <p:nvSpPr>
          <p:cNvPr id="35" name="Column title 35"/>
          <p:cNvSpPr txBox="1"/>
          <p:nvPr/>
        </p:nvSpPr>
        <p:spPr>
          <a:xfrm>
            <a:off x="6753392" y="3018449"/>
            <a:ext cx="4781216" cy="787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5000" b="0" cap="none" spc="0" baseline="0" dirty="0">
                <a:solidFill>
                  <a:srgbClr val="FFFFFF"/>
                </a:solidFill>
                <a:latin typeface="Arial"/>
                <a:cs typeface="Noto Sans"/>
              </a:rPr>
              <a:t>Визуальный</a:t>
            </a:r>
            <a:endParaRPr lang="ru-RU" sz="5000"/>
          </a:p>
        </p:txBody>
      </p:sp>
      <p:sp>
        <p:nvSpPr>
          <p:cNvPr id="36" name="Column 36"/>
          <p:cNvSpPr txBox="1"/>
          <p:nvPr/>
        </p:nvSpPr>
        <p:spPr>
          <a:xfrm>
            <a:off x="6753392" y="4029369"/>
            <a:ext cx="4781216" cy="3589017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447040" indent="-447040">
              <a:lnSpc>
                <a:spcPct val="100000"/>
              </a:lnSpc>
              <a:buClr>
                <a:srgbClr val="00C282"/>
              </a:buClr>
              <a:buFont typeface="Arial"/>
              <a:buChar char="•"/>
            </a:pPr>
            <a:r>
              <a:rPr lang="ru-RU" sz="3200" b="0" cap="none" spc="0" baseline="0" dirty="0">
                <a:solidFill>
                  <a:srgbClr val="FFFFFF"/>
                </a:solidFill>
                <a:latin typeface="Arial"/>
                <a:cs typeface="Noto Sans"/>
              </a:rPr>
              <a:t>Крупные цифры и наглядные схемы</a:t>
            </a:r>
            <a:endParaRPr lang="ru-RU" sz="3200"/>
          </a:p>
        </p:txBody>
      </p:sp>
      <p:sp>
        <p:nvSpPr>
          <p:cNvPr id="37" name="Card 37"/>
          <p:cNvSpPr/>
          <p:nvPr/>
        </p:nvSpPr>
        <p:spPr>
          <a:xfrm>
            <a:off x="12362688" y="2406015"/>
            <a:ext cx="5559552" cy="5601539"/>
          </a:xfrm>
          <a:prstGeom prst="roundRect">
            <a:avLst>
              <a:gd name="adj" fmla="val 1973"/>
            </a:avLst>
          </a:prstGeom>
          <a:solidFill>
            <a:srgbClr val="494F56"/>
          </a:solidFill>
          <a:ln>
            <a:noFill/>
          </a:ln>
        </p:spPr>
      </p:sp>
      <p:sp>
        <p:nvSpPr>
          <p:cNvPr id="38" name="Rule 38"/>
          <p:cNvSpPr/>
          <p:nvPr/>
        </p:nvSpPr>
        <p:spPr>
          <a:xfrm>
            <a:off x="12751856" y="2795183"/>
            <a:ext cx="720090" cy="38100"/>
          </a:xfrm>
          <a:prstGeom prst="rect">
            <a:avLst/>
          </a:prstGeom>
          <a:solidFill>
            <a:srgbClr val="00C282"/>
          </a:solidFill>
          <a:ln>
            <a:noFill/>
          </a:ln>
        </p:spPr>
      </p:sp>
      <p:sp>
        <p:nvSpPr>
          <p:cNvPr id="39" name="Column title 39"/>
          <p:cNvSpPr txBox="1"/>
          <p:nvPr/>
        </p:nvSpPr>
        <p:spPr>
          <a:xfrm>
            <a:off x="12751856" y="3018449"/>
            <a:ext cx="4781216" cy="787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5000" b="0" cap="none" spc="0" baseline="0" dirty="0">
                <a:solidFill>
                  <a:srgbClr val="FFFFFF"/>
                </a:solidFill>
                <a:latin typeface="Arial"/>
                <a:cs typeface="Noto Sans"/>
              </a:rPr>
              <a:t>Компактный</a:t>
            </a:r>
            <a:endParaRPr lang="ru-RU" sz="5000"/>
          </a:p>
        </p:txBody>
      </p:sp>
      <p:sp>
        <p:nvSpPr>
          <p:cNvPr id="40" name="Column 40"/>
          <p:cNvSpPr txBox="1"/>
          <p:nvPr/>
        </p:nvSpPr>
        <p:spPr>
          <a:xfrm>
            <a:off x="12751856" y="4029369"/>
            <a:ext cx="4781216" cy="3589017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447040" indent="-447040">
              <a:lnSpc>
                <a:spcPct val="100000"/>
              </a:lnSpc>
              <a:buClr>
                <a:srgbClr val="00C282"/>
              </a:buClr>
              <a:buFont typeface="Arial"/>
              <a:buChar char="•"/>
            </a:pPr>
            <a:r>
              <a:rPr lang="ru-RU" sz="3200" b="0" cap="none" spc="0" baseline="0" dirty="0">
                <a:solidFill>
                  <a:srgbClr val="FFFFFF"/>
                </a:solidFill>
                <a:latin typeface="Arial"/>
                <a:cs typeface="Noto Sans"/>
              </a:rPr>
              <a:t>Вывод первой строкой, текст слева, данные справа</a:t>
            </a:r>
            <a:endParaRPr lang="ru-RU" sz="32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4"/>
          <p:cNvSpPr txBox="1"/>
          <p:nvPr/>
        </p:nvSpPr>
        <p:spPr>
          <a:xfrm>
            <a:off x="3069952" y="1038225"/>
            <a:ext cx="11645176" cy="1615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5800"/>
              </a:lnSpc>
              <a:spcBef>
                <a:spcPct val="0"/>
              </a:spcBef>
            </a:pPr>
            <a:r>
              <a:rPr lang="ru-RU" sz="5000">
                <a:solidFill>
                  <a:srgbClr val="12222B"/>
                </a:solidFill>
                <a:latin typeface="Arial"/>
              </a:rPr>
              <a:t>Целостность — самая многочисленная категория проверок</a:t>
            </a:r>
          </a:p>
        </p:txBody>
      </p:sp>
      <p:sp>
        <p:nvSpPr>
          <p:cNvPr id="5" name="Chart note 5"/>
          <p:cNvSpPr txBox="1"/>
          <p:nvPr/>
        </p:nvSpPr>
        <p:spPr>
          <a:xfrm>
            <a:off x="365760" y="3168015"/>
            <a:ext cx="5969203" cy="1350823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899" b="1" cap="none" spc="0" baseline="0" dirty="0">
                <a:solidFill>
                  <a:srgbClr val="12222B"/>
                </a:solidFill>
                <a:latin typeface="Arial"/>
                <a:cs typeface="Noto Sans"/>
              </a:rPr>
              <a:t>В проверках больше всего нацелены на целостность — </a:t>
            </a:r>
            <a:r>
              <a:rPr lang="ru-RU" sz="2899" b="1" cap="none" spc="0" baseline="0" dirty="0">
                <a:solidFill>
                  <a:srgbClr val="1885F1"/>
                </a:solidFill>
                <a:latin typeface="Arial"/>
                <a:cs typeface="Noto Sans"/>
              </a:rPr>
              <a:t>12 </a:t>
            </a:r>
            <a:r>
              <a:rPr lang="ru-RU" sz="2899" b="1" cap="none" spc="0" baseline="0" dirty="0">
                <a:solidFill>
                  <a:srgbClr val="12222B"/>
                </a:solidFill>
                <a:latin typeface="Arial"/>
                <a:cs typeface="Noto Sans"/>
              </a:rPr>
              <a:t>проверок</a:t>
            </a:r>
            <a:endParaRPr lang="ru-RU" sz="2899"/>
          </a:p>
        </p:txBody>
      </p:sp>
      <p:cxnSp>
        <p:nvCxnSpPr>
          <p:cNvPr id="6" name="Line 6"/>
          <p:cNvCxnSpPr/>
          <p:nvPr/>
        </p:nvCxnSpPr>
        <p:spPr>
          <a:xfrm>
            <a:off x="6773875" y="3168015"/>
            <a:ext cx="0" cy="1350823"/>
          </a:xfrm>
          <a:prstGeom prst="line">
            <a:avLst/>
          </a:prstGeom>
          <a:ln w="12700">
            <a:solidFill>
              <a:srgbClr val="86EAE9"/>
            </a:solidFill>
          </a:ln>
        </p:spPr>
      </p:cxnSp>
      <p:sp>
        <p:nvSpPr>
          <p:cNvPr id="7" name="Unit 7"/>
          <p:cNvSpPr txBox="1"/>
          <p:nvPr/>
        </p:nvSpPr>
        <p:spPr>
          <a:xfrm>
            <a:off x="7212787" y="3168015"/>
            <a:ext cx="10709453" cy="294843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768" b="0" cap="none" spc="0" baseline="0" dirty="0">
                <a:solidFill>
                  <a:srgbClr val="494F56"/>
                </a:solidFill>
                <a:latin typeface="Arial"/>
                <a:cs typeface="Noto Sans"/>
              </a:rPr>
              <a:t>Число проверок</a:t>
            </a:r>
            <a:endParaRPr lang="ru-RU" sz="1768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212787" y="3555441"/>
          <a:ext cx="10709453" cy="597275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4"/>
          <p:cNvSpPr txBox="1"/>
          <p:nvPr/>
        </p:nvSpPr>
        <p:spPr>
          <a:xfrm>
            <a:off x="1028700" y="1038225"/>
            <a:ext cx="15727680" cy="853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5800"/>
              </a:lnSpc>
              <a:spcBef>
                <a:spcPct val="0"/>
              </a:spcBef>
            </a:pPr>
            <a:r>
              <a:rPr lang="ru-RU" sz="5000">
                <a:solidFill>
                  <a:srgbClr val="12222B"/>
                </a:solidFill>
                <a:latin typeface="Arial"/>
              </a:rPr>
              <a:t>9 демок с 116⁠–⁠123 числами и 0 лишними</a:t>
            </a:r>
          </a:p>
        </p:txBody>
      </p:sp>
      <p:graphicFrame>
        <p:nvGraphicFramePr>
          <p:cNvPr id="5" name="Table"/>
          <p:cNvGraphicFramePr>
            <a:graphicFrameLocks noGrp="1"/>
          </p:cNvGraphicFramePr>
          <p:nvPr/>
        </p:nvGraphicFramePr>
        <p:xfrm>
          <a:off x="365760" y="2406015"/>
          <a:ext cx="12640665" cy="5014912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9391225"/>
                <a:gridCol w="3249440"/>
              </a:tblGrid>
              <a:tr h="100298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899" b="0" i="0" cap="none" spc="0" baseline="0" lang="ru-RU">
                          <a:solidFill>
                            <a:srgbClr val="000000"/>
                          </a:solidFill>
                          <a:latin typeface="Arial"/>
                          <a:ea typeface="Noto Sans"/>
                          <a:cs typeface="Noto Sans"/>
                        </a:rPr>
                        <a:t>Показатель</a:t>
                      </a:r>
                    </a:p>
                  </a:txBody>
                  <a:tcPr marL="177800" marR="1778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6C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899" b="0" i="0" cap="none" spc="0" baseline="0" lang="ru-RU">
                          <a:solidFill>
                            <a:srgbClr val="000000"/>
                          </a:solidFill>
                          <a:latin typeface="Arial"/>
                          <a:ea typeface="Noto Sans"/>
                          <a:cs typeface="Noto Sans"/>
                        </a:rPr>
                        <a:t>Значение</a:t>
                      </a:r>
                    </a:p>
                  </a:txBody>
                  <a:tcPr marL="177800" marR="1778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6C5FF"/>
                    </a:solidFill>
                  </a:tcPr>
                </a:tc>
              </a:tr>
              <a:tr h="133731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899" b="0" i="0" cap="none" spc="0" baseline="0" lang="ru-RU">
                          <a:solidFill>
                            <a:srgbClr val="000000"/>
                          </a:solidFill>
                          <a:latin typeface="Arial"/>
                          <a:ea typeface="Noto Sans"/>
                          <a:cs typeface="Noto Sans"/>
                        </a:rPr>
                        <a:t>Демо-презентаций</a:t>
                      </a:r>
                    </a:p>
                  </a:txBody>
                  <a:tcPr marL="177800" marR="1778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DEC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899" b="0" i="0" cap="none" spc="0" baseline="0">
                          <a:solidFill>
                            <a:srgbClr val="000000"/>
                          </a:solidFill>
                          <a:latin typeface="Arial"/>
                          <a:ea typeface="Noto Sans"/>
                          <a:cs typeface="Noto Sans"/>
                        </a:rPr>
                        <a:t>9</a:t>
                      </a:r>
                    </a:p>
                  </a:txBody>
                  <a:tcPr marL="177800" marR="1778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DECED"/>
                    </a:solidFill>
                  </a:tcPr>
                </a:tc>
              </a:tr>
              <a:tr h="133731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899" b="0" i="0" cap="none" spc="0" baseline="0" lang="ru-RU">
                          <a:solidFill>
                            <a:srgbClr val="000000"/>
                          </a:solidFill>
                          <a:latin typeface="Arial"/>
                          <a:ea typeface="Noto Sans"/>
                          <a:cs typeface="Noto Sans"/>
                        </a:rPr>
                        <a:t>Сверенных чисел в каждой</a:t>
                      </a:r>
                    </a:p>
                  </a:txBody>
                  <a:tcPr marL="177800" marR="1778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DEC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899" b="0" i="0" cap="none" spc="0" baseline="0">
                          <a:solidFill>
                            <a:srgbClr val="000000"/>
                          </a:solidFill>
                          <a:latin typeface="Arial"/>
                          <a:ea typeface="Noto Sans"/>
                          <a:cs typeface="Noto Sans"/>
                        </a:rPr>
                        <a:t>116–123</a:t>
                      </a:r>
                    </a:p>
                  </a:txBody>
                  <a:tcPr marL="177800" marR="1778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DECED"/>
                    </a:solidFill>
                  </a:tcPr>
                </a:tc>
              </a:tr>
              <a:tr h="133731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899" b="0" i="0" cap="none" spc="0" baseline="0" lang="ru-RU">
                          <a:solidFill>
                            <a:srgbClr val="000000"/>
                          </a:solidFill>
                          <a:latin typeface="Arial"/>
                          <a:ea typeface="Noto Sans"/>
                          <a:cs typeface="Noto Sans"/>
                        </a:rPr>
                        <a:t>Лишних чисел</a:t>
                      </a:r>
                    </a:p>
                  </a:txBody>
                  <a:tcPr marL="177800" marR="1778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DEC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899" b="0" i="0" cap="none" spc="0" baseline="0">
                          <a:solidFill>
                            <a:srgbClr val="000000"/>
                          </a:solidFill>
                          <a:latin typeface="Arial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177800" marR="1778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DEC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4"/>
          <p:cNvSpPr txBox="1"/>
          <p:nvPr/>
        </p:nvSpPr>
        <p:spPr>
          <a:xfrm>
            <a:off x="1028700" y="1038225"/>
            <a:ext cx="15727680" cy="853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5800"/>
              </a:lnSpc>
              <a:spcBef>
                <a:spcPct val="0"/>
              </a:spcBef>
            </a:pPr>
            <a:r>
              <a:rPr lang="ru-RU" sz="5000">
                <a:solidFill>
                  <a:srgbClr val="12222B"/>
                </a:solidFill>
                <a:latin typeface="Arial"/>
              </a:rPr>
              <a:t>87 шаблонов и 99 из 100 качества</a:t>
            </a:r>
          </a:p>
        </p:txBody>
      </p:sp>
      <p:sp>
        <p:nvSpPr>
          <p:cNvPr id="9" name="Conclusion bar 9"/>
          <p:cNvSpPr/>
          <p:nvPr/>
        </p:nvSpPr>
        <p:spPr>
          <a:xfrm>
            <a:off x="365760" y="2450196"/>
            <a:ext cx="61722" cy="378846"/>
          </a:xfrm>
          <a:prstGeom prst="rect">
            <a:avLst/>
          </a:prstGeom>
          <a:solidFill>
            <a:srgbClr val="1885F1"/>
          </a:solidFill>
          <a:ln>
            <a:noFill/>
          </a:ln>
        </p:spPr>
      </p:sp>
      <p:sp>
        <p:nvSpPr>
          <p:cNvPr id="10" name="Conclusion 10"/>
          <p:cNvSpPr txBox="1"/>
          <p:nvPr/>
        </p:nvSpPr>
        <p:spPr>
          <a:xfrm>
            <a:off x="722020" y="2406015"/>
            <a:ext cx="15444572" cy="4672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899" b="1" cap="none" spc="0" baseline="0" dirty="0">
                <a:solidFill>
                  <a:srgbClr val="12222B"/>
                </a:solidFill>
                <a:latin typeface="Arial"/>
                <a:cs typeface="Noto Sans"/>
              </a:rPr>
              <a:t>Сервис поддерживает </a:t>
            </a:r>
            <a:r>
              <a:rPr lang="ru-RU" sz="2899" b="1" cap="none" spc="0" baseline="0" dirty="0">
                <a:solidFill>
                  <a:srgbClr val="1885F1"/>
                </a:solidFill>
                <a:latin typeface="Arial"/>
                <a:cs typeface="Noto Sans"/>
              </a:rPr>
              <a:t>12 </a:t>
            </a:r>
            <a:r>
              <a:rPr lang="ru-RU" sz="2899" b="1" cap="none" spc="0" baseline="0" dirty="0">
                <a:solidFill>
                  <a:srgbClr val="12222B"/>
                </a:solidFill>
                <a:latin typeface="Arial"/>
                <a:cs typeface="Noto Sans"/>
              </a:rPr>
              <a:t>форматов</a:t>
            </a:r>
            <a:endParaRPr lang="ru-RU" sz="2899"/>
          </a:p>
        </p:txBody>
      </p:sp>
      <p:graphicFrame>
        <p:nvGraphicFramePr>
          <p:cNvPr id="11" name="Table"/>
          <p:cNvGraphicFramePr>
            <a:graphicFrameLocks noGrp="1"/>
          </p:cNvGraphicFramePr>
          <p:nvPr/>
        </p:nvGraphicFramePr>
        <p:xfrm>
          <a:off x="365760" y="3243555"/>
          <a:ext cx="12640665" cy="5014912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9391225"/>
                <a:gridCol w="3249440"/>
              </a:tblGrid>
              <a:tr h="100298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899" b="0" i="0" cap="none" spc="0" baseline="0" lang="ru-RU">
                          <a:solidFill>
                            <a:srgbClr val="000000"/>
                          </a:solidFill>
                          <a:latin typeface="Arial"/>
                          <a:ea typeface="Noto Sans"/>
                          <a:cs typeface="Noto Sans"/>
                        </a:rPr>
                        <a:t>Показатель</a:t>
                      </a:r>
                    </a:p>
                  </a:txBody>
                  <a:tcPr marL="177800" marR="1778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6C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899" b="0" i="0" cap="none" spc="0" baseline="0" lang="ru-RU">
                          <a:solidFill>
                            <a:srgbClr val="000000"/>
                          </a:solidFill>
                          <a:latin typeface="Arial"/>
                          <a:ea typeface="Noto Sans"/>
                          <a:cs typeface="Noto Sans"/>
                        </a:rPr>
                        <a:t>Значение</a:t>
                      </a:r>
                    </a:p>
                  </a:txBody>
                  <a:tcPr marL="177800" marR="1778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6C5FF"/>
                    </a:solidFill>
                  </a:tcPr>
                </a:tc>
              </a:tr>
              <a:tr h="133731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899" b="0" i="0" cap="none" spc="0" baseline="0" lang="ru-RU">
                          <a:solidFill>
                            <a:srgbClr val="000000"/>
                          </a:solidFill>
                          <a:latin typeface="Arial"/>
                          <a:ea typeface="Noto Sans"/>
                          <a:cs typeface="Noto Sans"/>
                        </a:rPr>
                        <a:t>Чужих шаблонов</a:t>
                      </a:r>
                    </a:p>
                  </a:txBody>
                  <a:tcPr marL="177800" marR="1778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DEC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899" b="0" i="0" cap="none" spc="0" baseline="0">
                          <a:solidFill>
                            <a:srgbClr val="000000"/>
                          </a:solidFill>
                          <a:latin typeface="Arial"/>
                          <a:ea typeface="Noto Sans"/>
                          <a:cs typeface="Noto Sans"/>
                        </a:rPr>
                        <a:t>87</a:t>
                      </a:r>
                    </a:p>
                  </a:txBody>
                  <a:tcPr marL="177800" marR="1778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DECED"/>
                    </a:solidFill>
                  </a:tcPr>
                </a:tc>
              </a:tr>
              <a:tr h="133731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899" b="0" i="0" cap="none" spc="0" baseline="0" lang="ru-RU">
                          <a:solidFill>
                            <a:srgbClr val="000000"/>
                          </a:solidFill>
                          <a:latin typeface="Arial"/>
                          <a:ea typeface="Noto Sans"/>
                          <a:cs typeface="Noto Sans"/>
                        </a:rPr>
                        <a:t>Средняя оценка качества</a:t>
                      </a:r>
                    </a:p>
                  </a:txBody>
                  <a:tcPr marL="177800" marR="1778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DEC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899" b="0" i="0" cap="none" spc="0" baseline="0" lang="ru-RU">
                          <a:solidFill>
                            <a:srgbClr val="000000"/>
                          </a:solidFill>
                          <a:latin typeface="Arial"/>
                          <a:ea typeface="Noto Sans"/>
                          <a:cs typeface="Noto Sans"/>
                        </a:rPr>
                        <a:t>99 из 100</a:t>
                      </a:r>
                    </a:p>
                  </a:txBody>
                  <a:tcPr marL="177800" marR="1778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DECED"/>
                    </a:solidFill>
                  </a:tcPr>
                </a:tc>
              </a:tr>
              <a:tr h="133731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899" b="0" i="0" cap="none" spc="0" baseline="0" lang="ru-RU">
                          <a:solidFill>
                            <a:srgbClr val="000000"/>
                          </a:solidFill>
                          <a:latin typeface="Arial"/>
                          <a:ea typeface="Noto Sans"/>
                          <a:cs typeface="Noto Sans"/>
                        </a:rPr>
                        <a:t>Форматов</a:t>
                      </a:r>
                    </a:p>
                  </a:txBody>
                  <a:tcPr marL="177800" marR="1778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DEC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899" b="0" i="0" cap="none" spc="0" baseline="0">
                          <a:solidFill>
                            <a:srgbClr val="000000"/>
                          </a:solidFill>
                          <a:latin typeface="Arial"/>
                          <a:ea typeface="Noto Sans"/>
                          <a:cs typeface="Noto Sans"/>
                        </a:rPr>
                        <a:t>12</a:t>
                      </a:r>
                    </a:p>
                  </a:txBody>
                  <a:tcPr marL="177800" marR="1778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DEC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4"/>
          <p:cNvSpPr txBox="1"/>
          <p:nvPr/>
        </p:nvSpPr>
        <p:spPr>
          <a:xfrm>
            <a:off x="4061262" y="1038225"/>
            <a:ext cx="9662555" cy="1615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5800"/>
              </a:lnSpc>
              <a:spcBef>
                <a:spcPct val="0"/>
              </a:spcBef>
            </a:pPr>
            <a:r>
              <a:rPr lang="ru-RU" sz="5000">
                <a:solidFill>
                  <a:srgbClr val="12222B"/>
                </a:solidFill>
                <a:latin typeface="Arial"/>
              </a:rPr>
              <a:t>Время генерации презентаций укладывается в лимит 5 минут</a:t>
            </a:r>
          </a:p>
        </p:txBody>
      </p:sp>
      <p:sp>
        <p:nvSpPr>
          <p:cNvPr id="5" name="Chart note 5"/>
          <p:cNvSpPr txBox="1"/>
          <p:nvPr/>
        </p:nvSpPr>
        <p:spPr>
          <a:xfrm>
            <a:off x="365760" y="3168015"/>
            <a:ext cx="5969203" cy="909015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899" b="1" cap="none" spc="0" baseline="0" dirty="0">
                <a:solidFill>
                  <a:srgbClr val="12222B"/>
                </a:solidFill>
                <a:latin typeface="Arial"/>
                <a:cs typeface="Noto Sans"/>
              </a:rPr>
              <a:t>Все шаблоны укладываются в лимит </a:t>
            </a:r>
            <a:r>
              <a:rPr lang="ru-RU" sz="2899" b="1" cap="none" spc="0" baseline="0" dirty="0">
                <a:solidFill>
                  <a:srgbClr val="1885F1"/>
                </a:solidFill>
                <a:latin typeface="Arial"/>
                <a:cs typeface="Noto Sans"/>
              </a:rPr>
              <a:t>5 минут</a:t>
            </a:r>
            <a:r>
              <a:rPr lang="ru-RU" sz="2899" b="1" cap="none" spc="0" baseline="0" dirty="0">
                <a:solidFill>
                  <a:srgbClr val="12222B"/>
                </a:solidFill>
                <a:latin typeface="Arial"/>
                <a:cs typeface="Noto Sans"/>
              </a:rPr>
              <a:t> с запасом</a:t>
            </a:r>
            <a:endParaRPr lang="ru-RU" sz="2899"/>
          </a:p>
        </p:txBody>
      </p:sp>
      <p:cxnSp>
        <p:nvCxnSpPr>
          <p:cNvPr id="6" name="Line 6"/>
          <p:cNvCxnSpPr/>
          <p:nvPr/>
        </p:nvCxnSpPr>
        <p:spPr>
          <a:xfrm>
            <a:off x="6773875" y="3168015"/>
            <a:ext cx="0" cy="909015"/>
          </a:xfrm>
          <a:prstGeom prst="line">
            <a:avLst/>
          </a:prstGeom>
          <a:ln w="12700">
            <a:solidFill>
              <a:srgbClr val="86EAE9"/>
            </a:solidFill>
          </a:ln>
        </p:spPr>
      </p:cxnSp>
      <p:sp>
        <p:nvSpPr>
          <p:cNvPr id="7" name="Unit 7"/>
          <p:cNvSpPr txBox="1"/>
          <p:nvPr/>
        </p:nvSpPr>
        <p:spPr>
          <a:xfrm>
            <a:off x="7212787" y="3168015"/>
            <a:ext cx="10709453" cy="294843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768" b="0" cap="none" spc="0" baseline="0" dirty="0">
                <a:solidFill>
                  <a:srgbClr val="494F56"/>
                </a:solidFill>
                <a:latin typeface="Arial"/>
                <a:cs typeface="Noto Sans"/>
              </a:rPr>
              <a:t>секунд</a:t>
            </a:r>
            <a:endParaRPr lang="ru-RU" sz="1768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212787" y="3555441"/>
          <a:ext cx="10709453" cy="597275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4"/>
          <p:cNvSpPr txBox="1"/>
          <p:nvPr/>
        </p:nvSpPr>
        <p:spPr>
          <a:xfrm>
            <a:off x="1028700" y="1038225"/>
            <a:ext cx="15727680" cy="853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5800"/>
              </a:lnSpc>
              <a:spcBef>
                <a:spcPct val="0"/>
              </a:spcBef>
            </a:pPr>
            <a:r>
              <a:rPr lang="ru-RU" sz="5000">
                <a:solidFill>
                  <a:srgbClr val="12222B"/>
                </a:solidFill>
                <a:latin typeface="Arial"/>
              </a:rPr>
              <a:t>Три модели с лицензией Apache 2.0</a:t>
            </a:r>
          </a:p>
        </p:txBody>
      </p:sp>
      <p:sp>
        <p:nvSpPr>
          <p:cNvPr id="33" name="Conclusion bar 33"/>
          <p:cNvSpPr/>
          <p:nvPr/>
        </p:nvSpPr>
        <p:spPr>
          <a:xfrm>
            <a:off x="365760" y="2450196"/>
            <a:ext cx="61722" cy="378846"/>
          </a:xfrm>
          <a:prstGeom prst="rect">
            <a:avLst/>
          </a:prstGeom>
          <a:solidFill>
            <a:srgbClr val="1885F1"/>
          </a:solidFill>
          <a:ln>
            <a:noFill/>
          </a:ln>
        </p:spPr>
      </p:sp>
      <p:sp>
        <p:nvSpPr>
          <p:cNvPr id="34" name="Conclusion 34"/>
          <p:cNvSpPr txBox="1"/>
          <p:nvPr/>
        </p:nvSpPr>
        <p:spPr>
          <a:xfrm>
            <a:off x="722020" y="2406015"/>
            <a:ext cx="15444572" cy="4672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899" b="1" cap="none" spc="0" baseline="0" dirty="0">
                <a:solidFill>
                  <a:srgbClr val="12222B"/>
                </a:solidFill>
                <a:latin typeface="Arial"/>
                <a:cs typeface="Noto Sans"/>
              </a:rPr>
              <a:t>Все модели открыты и готовы к использованию</a:t>
            </a:r>
            <a:endParaRPr lang="ru-RU" sz="2899"/>
          </a:p>
        </p:txBody>
      </p:sp>
      <p:sp>
        <p:nvSpPr>
          <p:cNvPr id="35" name="Card 35"/>
          <p:cNvSpPr/>
          <p:nvPr/>
        </p:nvSpPr>
        <p:spPr>
          <a:xfrm>
            <a:off x="365760" y="3243555"/>
            <a:ext cx="5559552" cy="5880426"/>
          </a:xfrm>
          <a:prstGeom prst="roundRect">
            <a:avLst>
              <a:gd name="adj" fmla="val 1973"/>
            </a:avLst>
          </a:prstGeom>
          <a:solidFill>
            <a:srgbClr val="494F56"/>
          </a:solidFill>
          <a:ln>
            <a:noFill/>
          </a:ln>
        </p:spPr>
      </p:sp>
      <p:sp>
        <p:nvSpPr>
          <p:cNvPr id="36" name="Rule 36"/>
          <p:cNvSpPr/>
          <p:nvPr/>
        </p:nvSpPr>
        <p:spPr>
          <a:xfrm>
            <a:off x="754928" y="3632723"/>
            <a:ext cx="720090" cy="38100"/>
          </a:xfrm>
          <a:prstGeom prst="rect">
            <a:avLst/>
          </a:prstGeom>
          <a:solidFill>
            <a:srgbClr val="00C282"/>
          </a:solidFill>
          <a:ln>
            <a:noFill/>
          </a:ln>
        </p:spPr>
      </p:sp>
      <p:sp>
        <p:nvSpPr>
          <p:cNvPr id="37" name="Column title 37"/>
          <p:cNvSpPr txBox="1"/>
          <p:nvPr/>
        </p:nvSpPr>
        <p:spPr>
          <a:xfrm>
            <a:off x="754928" y="3855989"/>
            <a:ext cx="4781216" cy="1549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5000" b="0" cap="none" spc="0" baseline="0" dirty="0">
                <a:solidFill>
                  <a:srgbClr val="FFFFFF"/>
                </a:solidFill>
                <a:latin typeface="Noto Sans"/>
                <a:cs typeface="Noto Sans"/>
              </a:rPr>
              <a:t>Qwen3.8-⁠27B</a:t>
            </a:r>
            <a:endParaRPr lang="ru-RU" sz="5000"/>
          </a:p>
        </p:txBody>
      </p:sp>
      <p:sp>
        <p:nvSpPr>
          <p:cNvPr id="38" name="Column 38"/>
          <p:cNvSpPr txBox="1"/>
          <p:nvPr/>
        </p:nvSpPr>
        <p:spPr>
          <a:xfrm>
            <a:off x="754928" y="5628909"/>
            <a:ext cx="4781216" cy="310590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447040" indent="-447040">
              <a:lnSpc>
                <a:spcPct val="100000"/>
              </a:lnSpc>
              <a:buClr>
                <a:srgbClr val="00C282"/>
              </a:buClr>
              <a:buFont typeface="Arial"/>
              <a:buChar char="•"/>
            </a:pPr>
            <a:r>
              <a:rPr lang="ru-RU" sz="3200" b="0" cap="none" spc="0" baseline="0" dirty="0">
                <a:solidFill>
                  <a:srgbClr val="FFFFFF"/>
                </a:solidFill>
                <a:latin typeface="Arial"/>
                <a:cs typeface="Noto Sans"/>
              </a:rPr>
              <a:t>Основная модель, инференс от VK, конфиг готов</a:t>
            </a:r>
            <a:endParaRPr lang="ru-RU" sz="3200"/>
          </a:p>
        </p:txBody>
      </p:sp>
      <p:sp>
        <p:nvSpPr>
          <p:cNvPr id="39" name="Card 39"/>
          <p:cNvSpPr/>
          <p:nvPr/>
        </p:nvSpPr>
        <p:spPr>
          <a:xfrm>
            <a:off x="6364224" y="3243555"/>
            <a:ext cx="5559552" cy="5880426"/>
          </a:xfrm>
          <a:prstGeom prst="roundRect">
            <a:avLst>
              <a:gd name="adj" fmla="val 1973"/>
            </a:avLst>
          </a:prstGeom>
          <a:solidFill>
            <a:srgbClr val="494F56"/>
          </a:solidFill>
          <a:ln>
            <a:noFill/>
          </a:ln>
        </p:spPr>
      </p:sp>
      <p:sp>
        <p:nvSpPr>
          <p:cNvPr id="40" name="Rule 40"/>
          <p:cNvSpPr/>
          <p:nvPr/>
        </p:nvSpPr>
        <p:spPr>
          <a:xfrm>
            <a:off x="6753392" y="3632723"/>
            <a:ext cx="720090" cy="38100"/>
          </a:xfrm>
          <a:prstGeom prst="rect">
            <a:avLst/>
          </a:prstGeom>
          <a:solidFill>
            <a:srgbClr val="00C282"/>
          </a:solidFill>
          <a:ln>
            <a:noFill/>
          </a:ln>
        </p:spPr>
      </p:sp>
      <p:sp>
        <p:nvSpPr>
          <p:cNvPr id="41" name="Column title 41"/>
          <p:cNvSpPr txBox="1"/>
          <p:nvPr/>
        </p:nvSpPr>
        <p:spPr>
          <a:xfrm>
            <a:off x="6753392" y="3855989"/>
            <a:ext cx="4781216" cy="1549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5000" b="0" cap="none" spc="0" baseline="0" dirty="0">
                <a:solidFill>
                  <a:srgbClr val="FFFFFF"/>
                </a:solidFill>
                <a:latin typeface="Noto Sans"/>
                <a:cs typeface="Noto Sans"/>
              </a:rPr>
              <a:t>Qwen3-⁠32B</a:t>
            </a:r>
            <a:endParaRPr lang="ru-RU" sz="5000"/>
          </a:p>
        </p:txBody>
      </p:sp>
      <p:sp>
        <p:nvSpPr>
          <p:cNvPr id="42" name="Column 42"/>
          <p:cNvSpPr txBox="1"/>
          <p:nvPr/>
        </p:nvSpPr>
        <p:spPr>
          <a:xfrm>
            <a:off x="6753392" y="5628909"/>
            <a:ext cx="4781216" cy="310590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447040" indent="-447040">
              <a:lnSpc>
                <a:spcPct val="100000"/>
              </a:lnSpc>
              <a:buClr>
                <a:srgbClr val="00C282"/>
              </a:buClr>
              <a:buFont typeface="Arial"/>
              <a:buChar char="•"/>
            </a:pPr>
            <a:r>
              <a:rPr lang="ru-RU" sz="3200" b="0" cap="none" spc="0" baseline="0" dirty="0">
                <a:solidFill>
                  <a:srgbClr val="FFFFFF"/>
                </a:solidFill>
                <a:latin typeface="Arial"/>
                <a:cs typeface="Noto Sans"/>
              </a:rPr>
              <a:t>Запасное звено на Cloud.ru</a:t>
            </a:r>
            <a:endParaRPr lang="ru-RU" sz="3200"/>
          </a:p>
        </p:txBody>
      </p:sp>
      <p:sp>
        <p:nvSpPr>
          <p:cNvPr id="43" name="Card 43"/>
          <p:cNvSpPr/>
          <p:nvPr/>
        </p:nvSpPr>
        <p:spPr>
          <a:xfrm>
            <a:off x="12362688" y="3243555"/>
            <a:ext cx="5559552" cy="5880426"/>
          </a:xfrm>
          <a:prstGeom prst="roundRect">
            <a:avLst>
              <a:gd name="adj" fmla="val 1973"/>
            </a:avLst>
          </a:prstGeom>
          <a:solidFill>
            <a:srgbClr val="494F56"/>
          </a:solidFill>
          <a:ln>
            <a:noFill/>
          </a:ln>
        </p:spPr>
      </p:sp>
      <p:sp>
        <p:nvSpPr>
          <p:cNvPr id="44" name="Rule 44"/>
          <p:cNvSpPr/>
          <p:nvPr/>
        </p:nvSpPr>
        <p:spPr>
          <a:xfrm>
            <a:off x="12751856" y="3632723"/>
            <a:ext cx="720090" cy="38100"/>
          </a:xfrm>
          <a:prstGeom prst="rect">
            <a:avLst/>
          </a:prstGeom>
          <a:solidFill>
            <a:srgbClr val="00C282"/>
          </a:solidFill>
          <a:ln>
            <a:noFill/>
          </a:ln>
        </p:spPr>
      </p:sp>
      <p:sp>
        <p:nvSpPr>
          <p:cNvPr id="45" name="Column title 45"/>
          <p:cNvSpPr txBox="1"/>
          <p:nvPr/>
        </p:nvSpPr>
        <p:spPr>
          <a:xfrm>
            <a:off x="12751856" y="3855989"/>
            <a:ext cx="4781216" cy="1549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5000" b="0" cap="none" spc="0" baseline="0" dirty="0">
                <a:solidFill>
                  <a:srgbClr val="FFFFFF"/>
                </a:solidFill>
                <a:latin typeface="Arial"/>
                <a:cs typeface="Noto Sans"/>
              </a:rPr>
              <a:t>Gemma 4 и Qwen3-⁠VL</a:t>
            </a:r>
            <a:endParaRPr lang="ru-RU" sz="5000"/>
          </a:p>
        </p:txBody>
      </p:sp>
      <p:sp>
        <p:nvSpPr>
          <p:cNvPr id="46" name="Column 46"/>
          <p:cNvSpPr txBox="1"/>
          <p:nvPr/>
        </p:nvSpPr>
        <p:spPr>
          <a:xfrm>
            <a:off x="12751856" y="5628909"/>
            <a:ext cx="4781216" cy="310590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447040" indent="-447040">
              <a:lnSpc>
                <a:spcPct val="100000"/>
              </a:lnSpc>
              <a:buClr>
                <a:srgbClr val="00C282"/>
              </a:buClr>
              <a:buFont typeface="Arial"/>
              <a:buChar char="•"/>
            </a:pPr>
            <a:r>
              <a:rPr lang="ru-RU" sz="3200" b="0" cap="none" spc="0" baseline="0" dirty="0">
                <a:solidFill>
                  <a:srgbClr val="FFFFFF"/>
                </a:solidFill>
                <a:latin typeface="Arial"/>
                <a:cs typeface="Noto Sans"/>
              </a:rPr>
              <a:t>Два запасных звена цепочки</a:t>
            </a:r>
            <a:endParaRPr lang="ru-RU" sz="32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4"/>
          <p:cNvSpPr txBox="1"/>
          <p:nvPr/>
        </p:nvSpPr>
        <p:spPr>
          <a:xfrm>
            <a:off x="1028700" y="1038225"/>
            <a:ext cx="15727680" cy="853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5800"/>
              </a:lnSpc>
              <a:spcBef>
                <a:spcPct val="0"/>
              </a:spcBef>
            </a:pPr>
            <a:r>
              <a:rPr lang="ru-RU" sz="5000">
                <a:solidFill>
                  <a:srgbClr val="12222B"/>
                </a:solidFill>
                <a:latin typeface="Arial"/>
              </a:rPr>
              <a:t>2 028 автотестов и форматы PPTX, PDF и HTML</a:t>
            </a:r>
          </a:p>
        </p:txBody>
      </p:sp>
      <p:sp>
        <p:nvSpPr>
          <p:cNvPr id="27" name="Marker 27"/>
          <p:cNvSpPr/>
          <p:nvPr/>
        </p:nvSpPr>
        <p:spPr>
          <a:xfrm>
            <a:off x="365760" y="2572639"/>
            <a:ext cx="154432" cy="154432"/>
          </a:xfrm>
          <a:prstGeom prst="ellipse">
            <a:avLst/>
          </a:prstGeom>
          <a:solidFill>
            <a:srgbClr val="1885F1"/>
          </a:solidFill>
          <a:ln>
            <a:noFill/>
          </a:ln>
        </p:spPr>
      </p:sp>
      <p:sp>
        <p:nvSpPr>
          <p:cNvPr id="28" name="Item 28"/>
          <p:cNvSpPr txBox="1"/>
          <p:nvPr/>
        </p:nvSpPr>
        <p:spPr>
          <a:xfrm>
            <a:off x="1016000" y="2406015"/>
            <a:ext cx="13394944" cy="5130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3200" b="0" cap="none" spc="0" baseline="0" dirty="0">
                <a:solidFill>
                  <a:srgbClr val="000000"/>
                </a:solidFill>
                <a:latin typeface="Arial"/>
                <a:cs typeface="Noto Sans"/>
              </a:rPr>
              <a:t>PPTX с редактируемыми объектами</a:t>
            </a:r>
            <a:endParaRPr lang="ru-RU" sz="3200"/>
          </a:p>
        </p:txBody>
      </p:sp>
      <p:cxnSp>
        <p:nvCxnSpPr>
          <p:cNvPr id="29" name="Line 29"/>
          <p:cNvCxnSpPr/>
          <p:nvPr/>
        </p:nvCxnSpPr>
        <p:spPr>
          <a:xfrm>
            <a:off x="1016000" y="3528695"/>
            <a:ext cx="13394944" cy="0"/>
          </a:xfrm>
          <a:prstGeom prst="line">
            <a:avLst/>
          </a:prstGeom>
          <a:ln w="9525">
            <a:solidFill>
              <a:srgbClr val="86EAE9"/>
            </a:solidFill>
          </a:ln>
        </p:spPr>
      </p:cxnSp>
      <p:sp>
        <p:nvSpPr>
          <p:cNvPr id="30" name="Marker 30"/>
          <p:cNvSpPr/>
          <p:nvPr/>
        </p:nvSpPr>
        <p:spPr>
          <a:xfrm>
            <a:off x="365760" y="4304919"/>
            <a:ext cx="154432" cy="154432"/>
          </a:xfrm>
          <a:prstGeom prst="ellipse">
            <a:avLst/>
          </a:prstGeom>
          <a:solidFill>
            <a:srgbClr val="1885F1"/>
          </a:solidFill>
          <a:ln>
            <a:noFill/>
          </a:ln>
        </p:spPr>
      </p:sp>
      <p:sp>
        <p:nvSpPr>
          <p:cNvPr id="31" name="Item 31"/>
          <p:cNvSpPr txBox="1"/>
          <p:nvPr/>
        </p:nvSpPr>
        <p:spPr>
          <a:xfrm>
            <a:off x="1016000" y="4138295"/>
            <a:ext cx="13394944" cy="5130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3200" b="0" cap="none" spc="0" baseline="0" dirty="0">
                <a:solidFill>
                  <a:srgbClr val="000000"/>
                </a:solidFill>
                <a:latin typeface="Arial"/>
                <a:cs typeface="Noto Sans"/>
              </a:rPr>
              <a:t>Чат с агентом для правок</a:t>
            </a:r>
            <a:endParaRPr lang="ru-RU" sz="3200"/>
          </a:p>
        </p:txBody>
      </p:sp>
      <p:cxnSp>
        <p:nvCxnSpPr>
          <p:cNvPr id="32" name="Line 32"/>
          <p:cNvCxnSpPr/>
          <p:nvPr/>
        </p:nvCxnSpPr>
        <p:spPr>
          <a:xfrm>
            <a:off x="1016000" y="5260975"/>
            <a:ext cx="13394944" cy="0"/>
          </a:xfrm>
          <a:prstGeom prst="line">
            <a:avLst/>
          </a:prstGeom>
          <a:ln w="9525">
            <a:solidFill>
              <a:srgbClr val="86EAE9"/>
            </a:solidFill>
          </a:ln>
        </p:spPr>
      </p:cxnSp>
      <p:sp>
        <p:nvSpPr>
          <p:cNvPr id="33" name="Marker 33"/>
          <p:cNvSpPr/>
          <p:nvPr/>
        </p:nvSpPr>
        <p:spPr>
          <a:xfrm>
            <a:off x="365760" y="6037199"/>
            <a:ext cx="154432" cy="154432"/>
          </a:xfrm>
          <a:prstGeom prst="ellipse">
            <a:avLst/>
          </a:prstGeom>
          <a:solidFill>
            <a:srgbClr val="1885F1"/>
          </a:solidFill>
          <a:ln>
            <a:noFill/>
          </a:ln>
        </p:spPr>
      </p:sp>
      <p:sp>
        <p:nvSpPr>
          <p:cNvPr id="34" name="Item 34"/>
          <p:cNvSpPr txBox="1"/>
          <p:nvPr/>
        </p:nvSpPr>
        <p:spPr>
          <a:xfrm>
            <a:off x="1016000" y="5870575"/>
            <a:ext cx="13394944" cy="5130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3200" b="0" cap="none" spc="0" baseline="0" dirty="0">
                <a:solidFill>
                  <a:srgbClr val="000000"/>
                </a:solidFill>
                <a:latin typeface="Arial"/>
                <a:cs typeface="Noto Sans"/>
              </a:rPr>
              <a:t>Генерация изображений внутри слайдов — в планах</a:t>
            </a:r>
            <a:endParaRPr lang="ru-RU" sz="3200"/>
          </a:p>
        </p:txBody>
      </p:sp>
      <p:cxnSp>
        <p:nvCxnSpPr>
          <p:cNvPr id="35" name="Line 35"/>
          <p:cNvCxnSpPr/>
          <p:nvPr/>
        </p:nvCxnSpPr>
        <p:spPr>
          <a:xfrm>
            <a:off x="1016000" y="6993255"/>
            <a:ext cx="13394944" cy="0"/>
          </a:xfrm>
          <a:prstGeom prst="line">
            <a:avLst/>
          </a:prstGeom>
          <a:ln w="9525">
            <a:solidFill>
              <a:srgbClr val="86EAE9"/>
            </a:solidFill>
          </a:ln>
        </p:spPr>
      </p:cxnSp>
      <p:sp>
        <p:nvSpPr>
          <p:cNvPr id="36" name="Marker 36"/>
          <p:cNvSpPr/>
          <p:nvPr/>
        </p:nvSpPr>
        <p:spPr>
          <a:xfrm>
            <a:off x="365760" y="7769479"/>
            <a:ext cx="154432" cy="154432"/>
          </a:xfrm>
          <a:prstGeom prst="ellipse">
            <a:avLst/>
          </a:prstGeom>
          <a:solidFill>
            <a:srgbClr val="1885F1"/>
          </a:solidFill>
          <a:ln>
            <a:noFill/>
          </a:ln>
        </p:spPr>
      </p:sp>
      <p:sp>
        <p:nvSpPr>
          <p:cNvPr id="37" name="Item 37"/>
          <p:cNvSpPr txBox="1"/>
          <p:nvPr/>
        </p:nvSpPr>
        <p:spPr>
          <a:xfrm>
            <a:off x="1016000" y="7602855"/>
            <a:ext cx="13394944" cy="5130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3200" b="0" cap="none" spc="0" baseline="0" dirty="0">
                <a:solidFill>
                  <a:srgbClr val="000000"/>
                </a:solidFill>
                <a:latin typeface="Arial"/>
                <a:cs typeface="Noto Sans"/>
              </a:rPr>
              <a:t>Переход на инференс VK — в планах</a:t>
            </a:r>
            <a:endParaRPr lang="ru-RU" sz="3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1316</Words>
  <Application>Microsoft Macintosh PowerPoint</Application>
  <PresentationFormat>Custom</PresentationFormat>
  <Paragraphs>263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6" baseType="lpstr">
      <vt:lpstr>Open Sans Bold</vt:lpstr>
      <vt:lpstr>Open Sauce Bold</vt:lpstr>
      <vt:lpstr>Calibri</vt:lpstr>
      <vt:lpstr>Noto Sans</vt:lpstr>
      <vt:lpstr>Noto Sans Bold</vt:lpstr>
      <vt:lpstr>Arial</vt:lpstr>
      <vt:lpstr>Lato</vt:lpstr>
      <vt:lpstr>Open Sauce</vt:lpstr>
      <vt:lpstr>Open Sans Light</vt:lpstr>
      <vt:lpstr>Lato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Green Business infographic</dc:title>
  <dc:creator>Korisnik</dc:creator>
  <cp:lastModifiedBy>Maja Maksimovic</cp:lastModifiedBy>
  <cp:revision>4</cp:revision>
  <dcterms:created xsi:type="dcterms:W3CDTF">2006-08-16T00:00:00Z</dcterms:created>
  <dcterms:modified xsi:type="dcterms:W3CDTF">2022-08-29T06:55:29Z</dcterms:modified>
  <dc:identifier>DAFHJBCCLSI</dc:identifier>
</cp:coreProperties>
</file>