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</p:sldIdLst>
  <p:sldSz cy="10287000" cx="18288000"/>
  <p:notesSz cx="6858000" cy="9144000"/>
  <p:embeddedFontLst>
    <p:embeddedFont>
      <p:font typeface="Inter Light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7" Type="http://schemas.openxmlformats.org/officeDocument/2006/relationships/font" Target="fonts/InterLight-regular.fntdata"/><Relationship Id="rId28" Type="http://schemas.openxmlformats.org/officeDocument/2006/relationships/font" Target="fonts/InterLight-bold.fntdata"/><Relationship Id="rId29" Type="http://schemas.openxmlformats.org/officeDocument/2006/relationships/font" Target="fonts/InterLight-italic.fntdata"/><Relationship Id="rId30" Type="http://schemas.openxmlformats.org/officeDocument/2006/relationships/font" Target="fonts/InterLight-boldItalic.fntdata"/><Relationship Id="rId31" Type="http://schemas.openxmlformats.org/officeDocument/2006/relationships/font" Target="fonts/Inter-regular.fntdata"/><Relationship Id="rId32" Type="http://schemas.openxmlformats.org/officeDocument/2006/relationships/font" Target="fonts/Inter-bold.fntdata"/><Relationship Id="rId33" Type="http://schemas.openxmlformats.org/officeDocument/2006/relationships/font" Target="fonts/Inter-italic.fntdata"/><Relationship Id="rId34" Type="http://schemas.openxmlformats.org/officeDocument/2006/relationships/font" Target="fonts/Inter-boldItalic.fntdata"/><Relationship Id="rId35" Type="http://schemas.openxmlformats.org/officeDocument/2006/relationships/font" Target="fonts/InterMedium-regular.fntdata"/><Relationship Id="rId36" Type="http://schemas.openxmlformats.org/officeDocument/2006/relationships/font" Target="fonts/InterMedium-bold.fntdata"/><Relationship Id="rId37" Type="http://schemas.openxmlformats.org/officeDocument/2006/relationships/font" Target="fonts/InterMedium-italic.fntdata"/><Relationship Id="rId38" Type="http://schemas.openxmlformats.org/officeDocument/2006/relationships/font" Target="fonts/InterMedium-boldItalic.fntdata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9.xml"/><Relationship Id="rId48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332"/>
          <c:y val="0.0332"/>
          <c:w val="0.9337"/>
          <c:h val="0.933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Состав</c:v>
                </c:pt>
              </c:strCache>
            </c:strRef>
          </c:tx>
          <c:dPt>
            <c:idx val="0"/>
            <c:spPr>
              <a:solidFill>
                <a:srgbClr val="C2D076"/>
              </a:solidFill>
              <a:ln w="25400">
                <a:solidFill>
                  <a:srgbClr val="001514"/>
                </a:solidFill>
              </a:ln>
            </c:spPr>
          </c:dPt>
          <c:dPt>
            <c:idx val="1"/>
            <c:spPr>
              <a:solidFill>
                <a:srgbClr val="E8EDCB"/>
              </a:solidFill>
              <a:ln w="25400">
                <a:solidFill>
                  <a:srgbClr val="001514"/>
                </a:solidFill>
              </a:ln>
            </c:spPr>
          </c:dPt>
          <c:dLbls>
            <c:dLbl>
              <c:idx val="0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200" b="0">
                      <a:solidFill>
                        <a:srgbClr val="001514"/>
                      </a:solidFill>
                      <a:latin typeface="Inter Light"/>
                      <a:ea typeface="Inter Light"/>
                      <a:cs typeface="Inter Light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</c:dLbl>
            <c:numFmt formatCode="0&quot;%&quot;;&quot;−&quot;0&quot;%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200" b="0">
                    <a:solidFill>
                      <a:srgbClr val="FFFFFF"/>
                    </a:solidFill>
                    <a:latin typeface="Inter Light"/>
                    <a:ea typeface="Inter Light"/>
                    <a:cs typeface="Inter Ligh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Свободные фигуры</c:v>
                </c:pt>
                <c:pt idx="1">
                  <c:v>Плейсхолдеры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95.0</c:v>
                </c:pt>
                <c:pt idx="1">
                  <c:v>5.0</c:v>
                </c:pt>
              </c:numCache>
            </c:numRef>
          </c:val>
        </c:ser>
        <c:dLbls>
          <c:numFmt formatCode="0&quot;%&quot;;&quot;−&quot;0&quot;%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200" b="0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>
          <a:solidFill>
            <a:srgbClr val="FFFFFF"/>
          </a:solidFill>
          <a:latin typeface="Inter Light"/>
          <a:ea typeface="Inter Light"/>
          <a:cs typeface="Inter Light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588"/>
          <c:y val="0.0159"/>
          <c:w val="0.7875"/>
          <c:h val="0.96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Проверки</c:v>
                </c:pt>
              </c:strCache>
            </c:strRef>
          </c:tx>
          <c:spPr>
            <a:solidFill>
              <a:srgbClr val="C2D076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200" b="0">
                      <a:solidFill>
                        <a:srgbClr val="FFFFFF"/>
                      </a:solidFill>
                      <a:latin typeface="Inter Light"/>
                      <a:ea typeface="Inter Light"/>
                      <a:cs typeface="Inter Ligh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200" b="0">
                    <a:solidFill>
                      <a:srgbClr val="FFFFFF"/>
                    </a:solidFill>
                    <a:latin typeface="Inter Light"/>
                    <a:ea typeface="Inter Light"/>
                    <a:cs typeface="Inter Light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Целостность</c:v>
                </c:pt>
                <c:pt idx="1">
                  <c:v>Вёрстка</c:v>
                </c:pt>
                <c:pt idx="2">
                  <c:v>Шаблон</c:v>
                </c:pt>
                <c:pt idx="3">
                  <c:v>Контент</c:v>
                </c:pt>
                <c:pt idx="4">
                  <c:v>Плотность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12.0</c:v>
                </c:pt>
                <c:pt idx="1">
                  <c:v>11.0</c:v>
                </c:pt>
                <c:pt idx="2">
                  <c:v>7.0</c:v>
                </c:pt>
                <c:pt idx="3">
                  <c:v>6.0</c:v>
                </c:pt>
                <c:pt idx="4">
                  <c:v>5.0</c:v>
                </c:pt>
              </c:numCache>
            </c:numRef>
          </c:val>
        </c:ser>
        <c:dLbls>
          <c:numFmt formatCode="#,##0;&quot;−&quot;#,##0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200" b="0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800" b="0">
                <a:solidFill>
                  <a:srgbClr val="A8AFAF"/>
                </a:solidFill>
                <a:latin typeface="Inter Light"/>
                <a:ea typeface="Inter Light"/>
                <a:cs typeface="Inter Light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FFFFFF"/>
          </a:solidFill>
          <a:latin typeface="Inter Light"/>
          <a:ea typeface="Inter Light"/>
          <a:cs typeface="Inter Ligh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13"/>
          <c:y val="0.0952"/>
          <c:w val="0.9974"/>
          <c:h val="0.812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генерации</c:v>
                </c:pt>
              </c:strCache>
            </c:strRef>
          </c:tx>
          <c:spPr>
            <a:solidFill>
              <a:srgbClr val="C2D076"/>
            </a:solidFill>
            <a:ln>
              <a:noFill/>
            </a:ln>
          </c:spPr>
          <c:invertIfNegative val="0"/>
          <c:dLbls>
            <c:dLbl>
              <c:idx val="2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200" b="0">
                      <a:solidFill>
                        <a:srgbClr val="FFFFFF"/>
                      </a:solidFill>
                      <a:latin typeface="Inter Light"/>
                      <a:ea typeface="Inter Light"/>
                      <a:cs typeface="Inter Ligh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200" b="0">
                    <a:solidFill>
                      <a:srgbClr val="FFFFFF"/>
                    </a:solidFill>
                    <a:latin typeface="Inter Light"/>
                    <a:ea typeface="Inter Light"/>
                    <a:cs typeface="Inter Light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Education</c:v>
                </c:pt>
                <c:pt idx="2">
                  <c:v>VK WorkSpace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113.0</c:v>
                </c:pt>
                <c:pt idx="1">
                  <c:v>145.0</c:v>
                </c:pt>
                <c:pt idx="2">
                  <c:v>175.0</c:v>
                </c:pt>
              </c:numCache>
            </c:numRef>
          </c:val>
        </c:ser>
        <c:dLbls>
          <c:numFmt formatCode="#,##0&quot; секунд&quot;;&quot;−&quot;#,##0&quot; секунд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200" b="0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384848"/>
            </a:solidFill>
          </a:ln>
        </c:spPr>
        <c:txPr>
          <a:bodyPr rot="0" vert="horz"/>
          <a:lstStyle/>
          <a:p>
            <a:pPr>
              <a:defRPr sz="1800" b="0">
                <a:solidFill>
                  <a:srgbClr val="A8AFAF"/>
                </a:solidFill>
                <a:latin typeface="Inter Light"/>
                <a:ea typeface="Inter Light"/>
                <a:cs typeface="Inter Light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75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FFFFFF"/>
          </a:solidFill>
          <a:latin typeface="Inter Light"/>
          <a:ea typeface="Inter Light"/>
          <a:cs typeface="Inter Ligh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ИИ пока не способен воспроизводить фирменный стиль, а шаблоны не дают понятной инструкции для новых слайдов.</a:t>
            </a:r>
          </a:p>
          <a:p>
            <a:r>
              <a:t>[verstka:sl2]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реальных шаблонах 95% фигур — свободные, поэтому правила оформления приходится выводить из самих слайдов-образцов, включая палитру, кегли, сетку, поля, логотипы и колонтитулы.</a:t>
            </a:r>
          </a:p>
          <a:p>
            <a:r>
              <a:t>[verstka:sl3]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Verstka использует шаблон как набор правил, а не макетов, чтобы автоматически создать три редактируемые презентации на основе текста.</a:t>
            </a:r>
          </a:p>
          <a:p>
            <a:r>
              <a:t>[verstka:sl4]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Агент работает на открытых моделях до 35 миллиардов параметров с лицензией Apache 2.0. Процесс включает анализ текста, проектирование, проверку и вёрстку слайдов.</a:t>
            </a:r>
          </a:p>
          <a:p>
            <a:r>
              <a:t>[verstka:sl5]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Содержание одно, подача разная. | Вариант | Подача | Когда подходит |. |---|---|---|. | Структурный | одна мысль на слайд, строгая сетка | отчёт и защита проекта |. | Визуальный | крупные цифры и наглядные схемы | питч и выступление со сцены |. | Компактный | вывод первой строкой, данные справа | рассылка руководителю |.</a:t>
            </a:r>
          </a:p>
          <a:p>
            <a:r>
              <a:t>[verstka:sl6]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Каждый слайд проходит 41 проверку: 12 на целостность, 11 на вёрстку, 7 на шаблон, 6 на контент и 5 на плотность. Найденные проблемы помечаются на слайде и исправляются автоматически.</a:t>
            </a:r>
          </a:p>
          <a:p>
            <a:r>
              <a:t>[verstka:sl7]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Каждое число в презентации сверяется дважды: до вёрстки и после. Всего было подготовлено 9 демонстрационных презентаций без выдуманных чисел.</a:t>
            </a:r>
          </a:p>
          <a:p>
            <a:r>
              <a:t>[verstka:sl8]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Сервис поддерживает 12 форматов файлов, включая pptx, potx, ppt, odp, thmx и другие. Он проверяет качество презентаций по 87 чужим шаблонам, средняя оценка качества — 99 из 100.</a:t>
            </a:r>
          </a:p>
          <a:p>
            <a:r>
              <a:t>[verstka:sl9]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Время генерации трёх вариантов на шаблонах датасета: VK Tech — 113 секунд, VK Education — 145 секунд, VK WorkSpace — 175 секунд. Все значения значительно ниже установленного лимита в 5 минут.</a:t>
            </a:r>
          </a:p>
          <a:p>
            <a:r>
              <a:t>[verstka:sl10]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После финала компания планирует три ключевых шага: переход на более мощные технологии инференса, внедрение генерации изображений в слайдах и запуск пилота на шаблонах и сценариях VK Tech.</a:t>
            </a:r>
          </a:p>
          <a:p>
            <a:r>
              <a:t>[verstka:sl11]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9136050" y="1007975"/>
            <a:ext cx="8131200" cy="8270400"/>
          </a:xfrm>
          <a:prstGeom prst="rect">
            <a:avLst/>
          </a:prstGeom>
          <a:noFill/>
          <a:ln cap="flat" cmpd="sng" w="1905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w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>
            <p:ph idx="2" type="pic"/>
          </p:nvPr>
        </p:nvSpPr>
        <p:spPr>
          <a:xfrm>
            <a:off x="1009200" y="1006800"/>
            <a:ext cx="8154300" cy="4158600"/>
          </a:xfrm>
          <a:prstGeom prst="rect">
            <a:avLst/>
          </a:prstGeom>
          <a:noFill/>
          <a:ln cap="flat" cmpd="sng" w="1905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4"/>
          <p:cNvSpPr/>
          <p:nvPr>
            <p:ph idx="3" type="pic"/>
          </p:nvPr>
        </p:nvSpPr>
        <p:spPr>
          <a:xfrm>
            <a:off x="1009200" y="5165400"/>
            <a:ext cx="8154300" cy="4158600"/>
          </a:xfrm>
          <a:prstGeom prst="rect">
            <a:avLst/>
          </a:prstGeom>
          <a:noFill/>
          <a:ln cap="flat" cmpd="sng" w="1905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2D076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4400"/>
              <a:buFont typeface="Inter"/>
              <a:buNone/>
              <a:defRPr i="0" sz="4400" u="none" cap="none" strike="noStrike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Char char="•"/>
              <a:defRPr i="0" sz="3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–"/>
              <a:defRPr i="0" sz="2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Char char="•"/>
              <a:defRPr i="0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9651876" cy="1527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2799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Вёрстка забирает больше времени, чем написание текста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Conclusion bar 43"/>
          <p:cNvSpPr/>
          <p:nvPr/>
        </p:nvSpPr>
        <p:spPr>
          <a:xfrm>
            <a:off x="1024128" y="4708484"/>
            <a:ext cx="61722" cy="366654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4" name="Conclusion 44"/>
          <p:cNvSpPr txBox="1"/>
          <p:nvPr/>
        </p:nvSpPr>
        <p:spPr>
          <a:xfrm>
            <a:off x="1370228" y="4665827"/>
            <a:ext cx="14269669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Ручная вёрстка, ИИ и шаблоны — три проблемы, которые тормозят</a:t>
            </a:r>
            <a:endParaRPr lang="ru-RU" sz="2799"/>
          </a:p>
        </p:txBody>
      </p:sp>
      <p:sp>
        <p:nvSpPr>
          <p:cNvPr id="45" name="Card 45"/>
          <p:cNvSpPr/>
          <p:nvPr/>
        </p:nvSpPr>
        <p:spPr>
          <a:xfrm>
            <a:off x="1024128" y="5488127"/>
            <a:ext cx="5120640" cy="3319302"/>
          </a:xfrm>
          <a:prstGeom prst="roundRect">
            <a:avLst>
              <a:gd name="adj" fmla="val 3305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6" name="Rule 46"/>
          <p:cNvSpPr/>
          <p:nvPr/>
        </p:nvSpPr>
        <p:spPr>
          <a:xfrm>
            <a:off x="1382572" y="5846571"/>
            <a:ext cx="720090" cy="38100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7" name="Column title 47"/>
          <p:cNvSpPr txBox="1"/>
          <p:nvPr/>
        </p:nvSpPr>
        <p:spPr>
          <a:xfrm>
            <a:off x="1382572" y="6069837"/>
            <a:ext cx="4403752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Ручная вёрстка</a:t>
            </a:r>
            <a:endParaRPr lang="ru-RU" sz="2799"/>
          </a:p>
        </p:txBody>
      </p:sp>
      <p:sp>
        <p:nvSpPr>
          <p:cNvPr id="48" name="Column 48"/>
          <p:cNvSpPr txBox="1"/>
          <p:nvPr/>
        </p:nvSpPr>
        <p:spPr>
          <a:xfrm>
            <a:off x="1382572" y="6717315"/>
            <a:ext cx="4403752" cy="173167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91020" indent="-391020">
              <a:lnSpc>
                <a:spcPct val="100000"/>
              </a:lnSpc>
              <a:buClr>
                <a:srgbClr val="C2D076"/>
              </a:buClr>
              <a:buFont typeface="Arial"/>
              <a:buChar char="•"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Подобрать макет, подвинуть блоки, подогнать цвета под фирменный стиль</a:t>
            </a:r>
            <a:endParaRPr lang="ru-RU" sz="2799"/>
          </a:p>
        </p:txBody>
      </p:sp>
      <p:sp>
        <p:nvSpPr>
          <p:cNvPr id="49" name="Card 49"/>
          <p:cNvSpPr/>
          <p:nvPr/>
        </p:nvSpPr>
        <p:spPr>
          <a:xfrm>
            <a:off x="6583680" y="5488127"/>
            <a:ext cx="5120640" cy="3319302"/>
          </a:xfrm>
          <a:prstGeom prst="roundRect">
            <a:avLst>
              <a:gd name="adj" fmla="val 3305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0" name="Rule 50"/>
          <p:cNvSpPr/>
          <p:nvPr/>
        </p:nvSpPr>
        <p:spPr>
          <a:xfrm>
            <a:off x="6942124" y="5846571"/>
            <a:ext cx="720090" cy="38100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51" name="Column title 51"/>
          <p:cNvSpPr txBox="1"/>
          <p:nvPr/>
        </p:nvSpPr>
        <p:spPr>
          <a:xfrm>
            <a:off x="6942124" y="6069837"/>
            <a:ext cx="4403752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ИИ ломает стиль</a:t>
            </a:r>
            <a:endParaRPr lang="ru-RU" sz="2799"/>
          </a:p>
        </p:txBody>
      </p:sp>
      <p:sp>
        <p:nvSpPr>
          <p:cNvPr id="52" name="Column 52"/>
          <p:cNvSpPr txBox="1"/>
          <p:nvPr/>
        </p:nvSpPr>
        <p:spPr>
          <a:xfrm>
            <a:off x="6942124" y="6717315"/>
            <a:ext cx="4403752" cy="173167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91020" indent="-391020">
              <a:lnSpc>
                <a:spcPct val="100000"/>
              </a:lnSpc>
              <a:buClr>
                <a:srgbClr val="C2D076"/>
              </a:buClr>
              <a:buFont typeface="Arial"/>
              <a:buChar char="•"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Нейросети пишут текст, но не воспроизводят дизайн-⁠систему</a:t>
            </a:r>
            <a:endParaRPr lang="ru-RU" sz="2799"/>
          </a:p>
        </p:txBody>
      </p:sp>
      <p:sp>
        <p:nvSpPr>
          <p:cNvPr id="53" name="Card 53"/>
          <p:cNvSpPr/>
          <p:nvPr/>
        </p:nvSpPr>
        <p:spPr>
          <a:xfrm>
            <a:off x="12143232" y="5488127"/>
            <a:ext cx="5120640" cy="3319302"/>
          </a:xfrm>
          <a:prstGeom prst="roundRect">
            <a:avLst>
              <a:gd name="adj" fmla="val 3305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4" name="Rule 54"/>
          <p:cNvSpPr/>
          <p:nvPr/>
        </p:nvSpPr>
        <p:spPr>
          <a:xfrm>
            <a:off x="12501676" y="5846571"/>
            <a:ext cx="720090" cy="38100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55" name="Column title 55"/>
          <p:cNvSpPr txBox="1"/>
          <p:nvPr/>
        </p:nvSpPr>
        <p:spPr>
          <a:xfrm>
            <a:off x="12501676" y="6069837"/>
            <a:ext cx="4403752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Шаблон — не инструкция</a:t>
            </a:r>
            <a:endParaRPr lang="ru-RU" sz="2799"/>
          </a:p>
        </p:txBody>
      </p:sp>
      <p:sp>
        <p:nvSpPr>
          <p:cNvPr id="56" name="Column 56"/>
          <p:cNvSpPr txBox="1"/>
          <p:nvPr/>
        </p:nvSpPr>
        <p:spPr>
          <a:xfrm>
            <a:off x="12501676" y="6717315"/>
            <a:ext cx="4403752" cy="173167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91020" indent="-391020">
              <a:lnSpc>
                <a:spcPct val="100000"/>
              </a:lnSpc>
              <a:buClr>
                <a:srgbClr val="C2D076"/>
              </a:buClr>
              <a:buFont typeface="Arial"/>
              <a:buChar char="•"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по слайдам-⁠образцам не понять, как собрать новый слайд</a:t>
            </a:r>
            <a:endParaRPr lang="ru-RU" sz="279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809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95% фигур — свободные, 5% — плейсхолдеры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Chart note 43"/>
          <p:cNvSpPr txBox="1"/>
          <p:nvPr/>
        </p:nvSpPr>
        <p:spPr>
          <a:xfrm>
            <a:off x="1024128" y="3947718"/>
            <a:ext cx="5521512" cy="272699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91020" indent="-391020">
              <a:lnSpc>
                <a:spcPct val="100000"/>
              </a:lnSpc>
              <a:spcAft>
                <a:spcPts val="1120"/>
              </a:spcAft>
              <a:buClr>
                <a:srgbClr val="C2D076"/>
              </a:buClr>
              <a:buFont typeface="Arial"/>
              <a:buChar char="•"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Правила оформления приходится выводить из образцов</a:t>
            </a:r>
            <a:endParaRPr lang="ru-RU" sz="2799"/>
          </a:p>
          <a:p>
            <a:pPr algn="l" marL="391020" indent="-391020">
              <a:lnSpc>
                <a:spcPct val="100000"/>
              </a:lnSpc>
              <a:buClr>
                <a:srgbClr val="C2D076"/>
              </a:buClr>
              <a:buFont typeface="Arial"/>
              <a:buChar char="•"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Палитра, кегли, сетка, поля, логотипы и колонтитулы не автоматизированы</a:t>
            </a:r>
            <a:endParaRPr lang="ru-RU" sz="2799"/>
          </a:p>
        </p:txBody>
      </p:sp>
      <p:cxnSp>
        <p:nvCxnSpPr>
          <p:cNvPr id="44" name="Line 44"/>
          <p:cNvCxnSpPr/>
          <p:nvPr/>
        </p:nvCxnSpPr>
        <p:spPr>
          <a:xfrm>
            <a:off x="6984552" y="3947718"/>
            <a:ext cx="0" cy="2726995"/>
          </a:xfrm>
          <a:prstGeom prst="line">
            <a:avLst/>
          </a:prstGeom>
          <a:ln w="12700">
            <a:solidFill>
              <a:srgbClr val="384848"/>
            </a:solidFill>
          </a:ln>
        </p:spPr>
      </p:cxn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7423464" y="3947718"/>
          <a:ext cx="4134849" cy="41348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6" name="Legend title 46"/>
          <p:cNvSpPr txBox="1"/>
          <p:nvPr/>
        </p:nvSpPr>
        <p:spPr>
          <a:xfrm>
            <a:off x="12436137" y="5123907"/>
            <a:ext cx="4827735" cy="70079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Состав фигур в шаблоне</a:t>
            </a:r>
            <a:endParaRPr lang="ru-RU" sz="2799"/>
          </a:p>
        </p:txBody>
      </p:sp>
      <p:sp>
        <p:nvSpPr>
          <p:cNvPr id="47" name="Swatch 47"/>
          <p:cNvSpPr/>
          <p:nvPr/>
        </p:nvSpPr>
        <p:spPr>
          <a:xfrm>
            <a:off x="12436137" y="5910019"/>
            <a:ext cx="255941" cy="255941"/>
          </a:xfrm>
          <a:prstGeom prst="roundRect">
            <a:avLst>
              <a:gd name="adj" fmla="val 24999"/>
            </a:avLst>
          </a:prstGeom>
          <a:solidFill>
            <a:srgbClr val="C2D076"/>
          </a:solidFill>
          <a:ln>
            <a:noFill/>
          </a:ln>
        </p:spPr>
      </p:sp>
      <p:sp>
        <p:nvSpPr>
          <p:cNvPr id="48" name="Legend 48"/>
          <p:cNvSpPr txBox="1"/>
          <p:nvPr/>
        </p:nvSpPr>
        <p:spPr>
          <a:xfrm>
            <a:off x="12896830" y="5824706"/>
            <a:ext cx="3451310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Свободные фигуры</a:t>
            </a:r>
            <a:endParaRPr lang="ru-RU" sz="2799"/>
          </a:p>
        </p:txBody>
      </p:sp>
      <p:sp>
        <p:nvSpPr>
          <p:cNvPr id="49" name="Share 49"/>
          <p:cNvSpPr txBox="1"/>
          <p:nvPr/>
        </p:nvSpPr>
        <p:spPr>
          <a:xfrm>
            <a:off x="16348140" y="5824706"/>
            <a:ext cx="915732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27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95%</a:t>
            </a:r>
            <a:endParaRPr lang="ru-RU" sz="2799"/>
          </a:p>
        </p:txBody>
      </p:sp>
      <p:sp>
        <p:nvSpPr>
          <p:cNvPr id="50" name="Swatch 50"/>
          <p:cNvSpPr/>
          <p:nvPr/>
        </p:nvSpPr>
        <p:spPr>
          <a:xfrm>
            <a:off x="12436137" y="6539723"/>
            <a:ext cx="255941" cy="255941"/>
          </a:xfrm>
          <a:prstGeom prst="roundRect">
            <a:avLst>
              <a:gd name="adj" fmla="val 24999"/>
            </a:avLst>
          </a:prstGeom>
          <a:solidFill>
            <a:srgbClr val="E8EDCB"/>
          </a:solidFill>
          <a:ln>
            <a:noFill/>
          </a:ln>
        </p:spPr>
      </p:sp>
      <p:sp>
        <p:nvSpPr>
          <p:cNvPr id="51" name="Legend 51"/>
          <p:cNvSpPr txBox="1"/>
          <p:nvPr/>
        </p:nvSpPr>
        <p:spPr>
          <a:xfrm>
            <a:off x="12896830" y="6454410"/>
            <a:ext cx="3451310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Плейсхолдеры</a:t>
            </a:r>
            <a:endParaRPr lang="ru-RU" sz="2799"/>
          </a:p>
        </p:txBody>
      </p:sp>
      <p:sp>
        <p:nvSpPr>
          <p:cNvPr id="52" name="Share 52"/>
          <p:cNvSpPr txBox="1"/>
          <p:nvPr/>
        </p:nvSpPr>
        <p:spPr>
          <a:xfrm>
            <a:off x="16348140" y="6454410"/>
            <a:ext cx="915732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2799" b="1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5%</a:t>
            </a:r>
            <a:endParaRPr lang="ru-RU" sz="2799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Шаблон читается как набор правил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Conclusion bar 43"/>
          <p:cNvSpPr/>
          <p:nvPr/>
        </p:nvSpPr>
        <p:spPr>
          <a:xfrm>
            <a:off x="1024128" y="4180317"/>
            <a:ext cx="61722" cy="366654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4" name="Conclusion 44"/>
          <p:cNvSpPr txBox="1"/>
          <p:nvPr/>
        </p:nvSpPr>
        <p:spPr>
          <a:xfrm>
            <a:off x="1370228" y="4137660"/>
            <a:ext cx="14269669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Презентация в фирменном стиле без ручной вёрстки</a:t>
            </a:r>
            <a:endParaRPr lang="ru-RU" sz="2799"/>
          </a:p>
        </p:txBody>
      </p:sp>
      <p:sp>
        <p:nvSpPr>
          <p:cNvPr id="45" name="Card 45"/>
          <p:cNvSpPr/>
          <p:nvPr/>
        </p:nvSpPr>
        <p:spPr>
          <a:xfrm>
            <a:off x="1024128" y="4959960"/>
            <a:ext cx="5120640" cy="3968602"/>
          </a:xfrm>
          <a:prstGeom prst="roundRect">
            <a:avLst>
              <a:gd name="adj" fmla="val 2764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6" name="Rule 46"/>
          <p:cNvSpPr/>
          <p:nvPr/>
        </p:nvSpPr>
        <p:spPr>
          <a:xfrm>
            <a:off x="1382572" y="5318404"/>
            <a:ext cx="720090" cy="38100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7" name="Column title 47"/>
          <p:cNvSpPr txBox="1"/>
          <p:nvPr/>
        </p:nvSpPr>
        <p:spPr>
          <a:xfrm>
            <a:off x="1382572" y="5541670"/>
            <a:ext cx="4403752" cy="130510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На входе — шаблон и текст</a:t>
            </a:r>
            <a:endParaRPr lang="ru-RU" sz="2799"/>
          </a:p>
        </p:txBody>
      </p:sp>
      <p:sp>
        <p:nvSpPr>
          <p:cNvPr id="48" name="Column 48"/>
          <p:cNvSpPr txBox="1"/>
          <p:nvPr/>
        </p:nvSpPr>
        <p:spPr>
          <a:xfrm>
            <a:off x="1382572" y="7021328"/>
            <a:ext cx="4403752" cy="15487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49110" indent="-349110">
              <a:lnSpc>
                <a:spcPct val="100000"/>
              </a:lnSpc>
              <a:buClr>
                <a:srgbClr val="C2D076"/>
              </a:buClr>
              <a:buFont typeface="Arial"/>
              <a:buChar char="•"/>
            </a:pPr>
            <a:r>
              <a:rPr lang="ru-RU" sz="24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Verstka берёт шаблон и текст</a:t>
            </a:r>
            <a:endParaRPr lang="ru-RU" sz="2499"/>
          </a:p>
        </p:txBody>
      </p:sp>
      <p:sp>
        <p:nvSpPr>
          <p:cNvPr id="49" name="Card 49"/>
          <p:cNvSpPr/>
          <p:nvPr/>
        </p:nvSpPr>
        <p:spPr>
          <a:xfrm>
            <a:off x="6583680" y="4959960"/>
            <a:ext cx="5120640" cy="3968602"/>
          </a:xfrm>
          <a:prstGeom prst="roundRect">
            <a:avLst>
              <a:gd name="adj" fmla="val 2764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0" name="Rule 50"/>
          <p:cNvSpPr/>
          <p:nvPr/>
        </p:nvSpPr>
        <p:spPr>
          <a:xfrm>
            <a:off x="6942124" y="5318404"/>
            <a:ext cx="720090" cy="38100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51" name="Column title 51"/>
          <p:cNvSpPr txBox="1"/>
          <p:nvPr/>
        </p:nvSpPr>
        <p:spPr>
          <a:xfrm>
            <a:off x="6942124" y="5541670"/>
            <a:ext cx="4403752" cy="130510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Шаблон — набор правил</a:t>
            </a:r>
            <a:endParaRPr lang="ru-RU" sz="2799"/>
          </a:p>
        </p:txBody>
      </p:sp>
      <p:sp>
        <p:nvSpPr>
          <p:cNvPr id="52" name="Column 52"/>
          <p:cNvSpPr txBox="1"/>
          <p:nvPr/>
        </p:nvSpPr>
        <p:spPr>
          <a:xfrm>
            <a:off x="6942124" y="7021328"/>
            <a:ext cx="4403752" cy="15487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49110" indent="-349110">
              <a:lnSpc>
                <a:spcPct val="100000"/>
              </a:lnSpc>
              <a:buClr>
                <a:srgbClr val="C2D076"/>
              </a:buClr>
              <a:buFont typeface="Arial"/>
              <a:buChar char="•"/>
            </a:pPr>
            <a:r>
              <a:rPr lang="ru-RU" sz="24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Шаблон читается как набор правил, а не как набор макетов</a:t>
            </a:r>
            <a:endParaRPr lang="ru-RU" sz="2499"/>
          </a:p>
        </p:txBody>
      </p:sp>
      <p:sp>
        <p:nvSpPr>
          <p:cNvPr id="53" name="Card 53"/>
          <p:cNvSpPr/>
          <p:nvPr/>
        </p:nvSpPr>
        <p:spPr>
          <a:xfrm>
            <a:off x="12143232" y="4959960"/>
            <a:ext cx="5120640" cy="3968602"/>
          </a:xfrm>
          <a:prstGeom prst="roundRect">
            <a:avLst>
              <a:gd name="adj" fmla="val 2764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4" name="Rule 54"/>
          <p:cNvSpPr/>
          <p:nvPr/>
        </p:nvSpPr>
        <p:spPr>
          <a:xfrm>
            <a:off x="12501676" y="5318404"/>
            <a:ext cx="720090" cy="38100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55" name="Column title 55"/>
          <p:cNvSpPr txBox="1"/>
          <p:nvPr/>
        </p:nvSpPr>
        <p:spPr>
          <a:xfrm>
            <a:off x="12501676" y="5541670"/>
            <a:ext cx="4403752" cy="130510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На выходе — три редактируемые презентации</a:t>
            </a:r>
            <a:endParaRPr lang="ru-RU" sz="2799"/>
          </a:p>
        </p:txBody>
      </p:sp>
      <p:sp>
        <p:nvSpPr>
          <p:cNvPr id="56" name="Column 56"/>
          <p:cNvSpPr txBox="1"/>
          <p:nvPr/>
        </p:nvSpPr>
        <p:spPr>
          <a:xfrm>
            <a:off x="12501676" y="7021328"/>
            <a:ext cx="4403752" cy="15487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49110" indent="-349110">
              <a:lnSpc>
                <a:spcPct val="100000"/>
              </a:lnSpc>
              <a:buClr>
                <a:srgbClr val="C2D076"/>
              </a:buClr>
              <a:buFont typeface="Arial"/>
              <a:buChar char="•"/>
            </a:pPr>
            <a:r>
              <a:rPr lang="ru-RU" sz="24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Создаются три редактируемые презентации в стиле шаблона</a:t>
            </a:r>
            <a:endParaRPr lang="ru-RU" sz="249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0417162" cy="1527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2799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Открытые модели до 35 млрд параметров создают презентации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Marker 43"/>
          <p:cNvSpPr/>
          <p:nvPr/>
        </p:nvSpPr>
        <p:spPr>
          <a:xfrm>
            <a:off x="1024128" y="4811571"/>
            <a:ext cx="135080" cy="135080"/>
          </a:xfrm>
          <a:prstGeom prst="ellipse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4" name="Item 44"/>
          <p:cNvSpPr txBox="1"/>
          <p:nvPr/>
        </p:nvSpPr>
        <p:spPr>
          <a:xfrm>
            <a:off x="1592885" y="4665827"/>
            <a:ext cx="12423038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Аналитик — находит слайды, ряды данных и просьбы</a:t>
            </a:r>
            <a:endParaRPr lang="ru-RU" sz="2799"/>
          </a:p>
        </p:txBody>
      </p:sp>
      <p:cxnSp>
        <p:nvCxnSpPr>
          <p:cNvPr id="45" name="Line 45"/>
          <p:cNvCxnSpPr/>
          <p:nvPr/>
        </p:nvCxnSpPr>
        <p:spPr>
          <a:xfrm>
            <a:off x="1592885" y="5384399"/>
            <a:ext cx="12423038" cy="0"/>
          </a:xfrm>
          <a:prstGeom prst="line">
            <a:avLst/>
          </a:prstGeom>
          <a:ln w="9525">
            <a:solidFill>
              <a:srgbClr val="384848"/>
            </a:solidFill>
          </a:ln>
        </p:spPr>
      </p:cxnSp>
      <p:sp>
        <p:nvSpPr>
          <p:cNvPr id="46" name="Marker 46"/>
          <p:cNvSpPr/>
          <p:nvPr/>
        </p:nvSpPr>
        <p:spPr>
          <a:xfrm>
            <a:off x="1024128" y="5796747"/>
            <a:ext cx="135080" cy="135080"/>
          </a:xfrm>
          <a:prstGeom prst="ellipse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7" name="Item 47"/>
          <p:cNvSpPr txBox="1"/>
          <p:nvPr/>
        </p:nvSpPr>
        <p:spPr>
          <a:xfrm>
            <a:off x="1592885" y="5651003"/>
            <a:ext cx="12423038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Дизайнер — продумывает каждый слайд отдельно</a:t>
            </a:r>
            <a:endParaRPr lang="ru-RU" sz="2799"/>
          </a:p>
        </p:txBody>
      </p:sp>
      <p:cxnSp>
        <p:nvCxnSpPr>
          <p:cNvPr id="48" name="Line 48"/>
          <p:cNvCxnSpPr/>
          <p:nvPr/>
        </p:nvCxnSpPr>
        <p:spPr>
          <a:xfrm>
            <a:off x="1592885" y="6369575"/>
            <a:ext cx="12423038" cy="0"/>
          </a:xfrm>
          <a:prstGeom prst="line">
            <a:avLst/>
          </a:prstGeom>
          <a:ln w="9525">
            <a:solidFill>
              <a:srgbClr val="384848"/>
            </a:solidFill>
          </a:ln>
        </p:spPr>
      </p:cxnSp>
      <p:sp>
        <p:nvSpPr>
          <p:cNvPr id="49" name="Marker 49"/>
          <p:cNvSpPr/>
          <p:nvPr/>
        </p:nvSpPr>
        <p:spPr>
          <a:xfrm>
            <a:off x="1024128" y="6781923"/>
            <a:ext cx="135080" cy="135080"/>
          </a:xfrm>
          <a:prstGeom prst="ellipse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50" name="Item 50"/>
          <p:cNvSpPr txBox="1"/>
          <p:nvPr/>
        </p:nvSpPr>
        <p:spPr>
          <a:xfrm>
            <a:off x="1592885" y="6636179"/>
            <a:ext cx="12423038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Критик — сверяет план с текстом и правилами шаблона</a:t>
            </a:r>
            <a:endParaRPr lang="ru-RU" sz="2799"/>
          </a:p>
        </p:txBody>
      </p:sp>
      <p:cxnSp>
        <p:nvCxnSpPr>
          <p:cNvPr id="51" name="Line 51"/>
          <p:cNvCxnSpPr/>
          <p:nvPr/>
        </p:nvCxnSpPr>
        <p:spPr>
          <a:xfrm>
            <a:off x="1592885" y="7354751"/>
            <a:ext cx="12423038" cy="0"/>
          </a:xfrm>
          <a:prstGeom prst="line">
            <a:avLst/>
          </a:prstGeom>
          <a:ln w="9525">
            <a:solidFill>
              <a:srgbClr val="384848"/>
            </a:solidFill>
          </a:ln>
        </p:spPr>
      </p:cxnSp>
      <p:sp>
        <p:nvSpPr>
          <p:cNvPr id="52" name="Marker 52"/>
          <p:cNvSpPr/>
          <p:nvPr/>
        </p:nvSpPr>
        <p:spPr>
          <a:xfrm>
            <a:off x="1024128" y="7767099"/>
            <a:ext cx="135080" cy="135080"/>
          </a:xfrm>
          <a:prstGeom prst="ellipse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53" name="Item 53"/>
          <p:cNvSpPr txBox="1"/>
          <p:nvPr/>
        </p:nvSpPr>
        <p:spPr>
          <a:xfrm>
            <a:off x="1592885" y="7621355"/>
            <a:ext cx="12423038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Компилятор — проверяет каждое число</a:t>
            </a:r>
            <a:endParaRPr lang="ru-RU" sz="2799"/>
          </a:p>
        </p:txBody>
      </p:sp>
      <p:cxnSp>
        <p:nvCxnSpPr>
          <p:cNvPr id="54" name="Line 54"/>
          <p:cNvCxnSpPr/>
          <p:nvPr/>
        </p:nvCxnSpPr>
        <p:spPr>
          <a:xfrm>
            <a:off x="1592885" y="8339927"/>
            <a:ext cx="12423038" cy="0"/>
          </a:xfrm>
          <a:prstGeom prst="line">
            <a:avLst/>
          </a:prstGeom>
          <a:ln w="9525">
            <a:solidFill>
              <a:srgbClr val="384848"/>
            </a:solidFill>
          </a:ln>
        </p:spPr>
      </p:cxnSp>
      <p:sp>
        <p:nvSpPr>
          <p:cNvPr id="55" name="Marker 55"/>
          <p:cNvSpPr/>
          <p:nvPr/>
        </p:nvSpPr>
        <p:spPr>
          <a:xfrm>
            <a:off x="1024128" y="8752275"/>
            <a:ext cx="135080" cy="135080"/>
          </a:xfrm>
          <a:prstGeom prst="ellipse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56" name="Item 56"/>
          <p:cNvSpPr txBox="1"/>
          <p:nvPr/>
        </p:nvSpPr>
        <p:spPr>
          <a:xfrm>
            <a:off x="1592885" y="8606531"/>
            <a:ext cx="12423038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Вёрстка — собирает слайды по дизайн-⁠системе шаблона</a:t>
            </a:r>
            <a:endParaRPr lang="ru-RU" sz="2799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Одно содержание, три подхода к подаче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43" name="Table"/>
          <p:cNvGraphicFramePr>
            <a:graphicFrameLocks noGrp="1"/>
          </p:cNvGraphicFramePr>
          <p:nvPr/>
        </p:nvGraphicFramePr>
        <p:xfrm>
          <a:off x="1024128" y="4137660"/>
          <a:ext cx="16239744" cy="459931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992235"/>
                <a:gridCol w="7485664"/>
                <a:gridCol w="5761845"/>
              </a:tblGrid>
              <a:tr h="919863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000000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Вариант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2D0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000000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Подача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2D0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000000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Когда подходит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2D076"/>
                    </a:solidFill>
                  </a:tcPr>
                </a:tc>
              </a:tr>
              <a:tr h="122648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Структурный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одна мысль на слайд, строгая сетка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отчёт и защита проекта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</a:tr>
              <a:tr h="122648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Визуальный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крупные цифры и наглядные схемы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питч и выступление со сцены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</a:tr>
              <a:tr h="122648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Компактный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вывод первой строкой, данные справа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рассылка руководителю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41 проверка качества на слайд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Chart note 43"/>
          <p:cNvSpPr txBox="1"/>
          <p:nvPr/>
        </p:nvSpPr>
        <p:spPr>
          <a:xfrm>
            <a:off x="1024128" y="4137660"/>
            <a:ext cx="5521512" cy="205159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2519"/>
              </a:spcAft>
              <a:buNone/>
            </a:pPr>
            <a:r>
              <a:rPr lang="ru-RU" sz="27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12 </a:t>
            </a:r>
            <a:r>
              <a:rPr lang="ru-RU" sz="27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проверок на целостность — самая большая группа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Найденные проблемы помечаются на слайде</a:t>
            </a:r>
            <a:endParaRPr lang="ru-RU" sz="2799"/>
          </a:p>
        </p:txBody>
      </p:sp>
      <p:cxnSp>
        <p:nvCxnSpPr>
          <p:cNvPr id="44" name="Line 44"/>
          <p:cNvCxnSpPr/>
          <p:nvPr/>
        </p:nvCxnSpPr>
        <p:spPr>
          <a:xfrm>
            <a:off x="6984552" y="4137660"/>
            <a:ext cx="0" cy="2051596"/>
          </a:xfrm>
          <a:prstGeom prst="line">
            <a:avLst/>
          </a:prstGeom>
          <a:ln w="12700">
            <a:solidFill>
              <a:srgbClr val="384848"/>
            </a:solidFill>
          </a:ln>
        </p:spPr>
      </p:cxnSp>
      <p:sp>
        <p:nvSpPr>
          <p:cNvPr id="45" name="Unit 45"/>
          <p:cNvSpPr txBox="1"/>
          <p:nvPr/>
        </p:nvSpPr>
        <p:spPr>
          <a:xfrm>
            <a:off x="7423464" y="4137660"/>
            <a:ext cx="9840408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Число проверок по категориям</a:t>
            </a:r>
            <a:endParaRPr lang="ru-RU" sz="1800"/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7423464" y="4529963"/>
          <a:ext cx="9840408" cy="43092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0495470" cy="1527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2799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9 демонстрационных презентаций без выдуманных чисел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43" name="Table"/>
          <p:cNvGraphicFramePr>
            <a:graphicFrameLocks noGrp="1"/>
          </p:cNvGraphicFramePr>
          <p:nvPr/>
        </p:nvGraphicFramePr>
        <p:xfrm>
          <a:off x="1024128" y="4665827"/>
          <a:ext cx="11692615" cy="412396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8490075"/>
                <a:gridCol w="3202540"/>
              </a:tblGrid>
              <a:tr h="824793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000000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Показатель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2D0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000000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Значение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2D076"/>
                    </a:solidFill>
                  </a:tcPr>
                </a:tc>
              </a:tr>
              <a:tr h="109972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Демо-презентаций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9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</a:tr>
              <a:tr h="109972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Проверенных чисел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116–123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</a:tr>
              <a:tr h="109972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Выдуманных чисел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0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87 шаблонов, 99 из 100 и 12 форматов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7" name="Conclusion bar 47"/>
          <p:cNvSpPr/>
          <p:nvPr/>
        </p:nvSpPr>
        <p:spPr>
          <a:xfrm>
            <a:off x="1024128" y="4180317"/>
            <a:ext cx="61722" cy="366654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8" name="Conclusion 48"/>
          <p:cNvSpPr txBox="1"/>
          <p:nvPr/>
        </p:nvSpPr>
        <p:spPr>
          <a:xfrm>
            <a:off x="1370228" y="4137660"/>
            <a:ext cx="14269669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Сервис работает с любыми шаблонами и форматами</a:t>
            </a:r>
            <a:endParaRPr lang="ru-RU" sz="2799"/>
          </a:p>
        </p:txBody>
      </p:sp>
      <p:graphicFrame>
        <p:nvGraphicFramePr>
          <p:cNvPr id="49" name="Table"/>
          <p:cNvGraphicFramePr>
            <a:graphicFrameLocks noGrp="1"/>
          </p:cNvGraphicFramePr>
          <p:nvPr/>
        </p:nvGraphicFramePr>
        <p:xfrm>
          <a:off x="1024128" y="4959960"/>
          <a:ext cx="11692615" cy="385924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8490075"/>
                <a:gridCol w="3202540"/>
              </a:tblGrid>
              <a:tr h="771849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000000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Показатель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2D0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000000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Значение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2D076"/>
                    </a:solidFill>
                  </a:tcPr>
                </a:tc>
              </a:tr>
              <a:tr h="1029133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Чужих шаблонов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87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</a:tr>
              <a:tr h="1029133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Средняя оценка качества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99 из 100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</a:tr>
              <a:tr h="1029133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 lang="ru-RU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Форматов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799" b="0" i="0" cap="none" spc="0" baseline="0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12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38484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809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VK WorkSpace — самый долгий, но всё в лимите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Chart note 43"/>
          <p:cNvSpPr txBox="1"/>
          <p:nvPr/>
        </p:nvSpPr>
        <p:spPr>
          <a:xfrm>
            <a:off x="1024128" y="3947718"/>
            <a:ext cx="5521512" cy="87853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Все шаблоны укладываются в лимит </a:t>
            </a:r>
            <a:r>
              <a:rPr lang="ru-RU" sz="27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5 минут</a:t>
            </a:r>
            <a:r>
              <a:rPr lang="ru-RU" sz="27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 с запасом</a:t>
            </a:r>
            <a:endParaRPr lang="ru-RU" sz="2799"/>
          </a:p>
        </p:txBody>
      </p:sp>
      <p:cxnSp>
        <p:nvCxnSpPr>
          <p:cNvPr id="44" name="Line 44"/>
          <p:cNvCxnSpPr/>
          <p:nvPr/>
        </p:nvCxnSpPr>
        <p:spPr>
          <a:xfrm>
            <a:off x="6984552" y="3947718"/>
            <a:ext cx="0" cy="878535"/>
          </a:xfrm>
          <a:prstGeom prst="line">
            <a:avLst/>
          </a:prstGeom>
          <a:ln w="12700">
            <a:solidFill>
              <a:srgbClr val="384848"/>
            </a:solidFill>
          </a:ln>
        </p:spPr>
      </p:cxnSp>
      <p:sp>
        <p:nvSpPr>
          <p:cNvPr id="45" name="Unit 45"/>
          <p:cNvSpPr txBox="1"/>
          <p:nvPr/>
        </p:nvSpPr>
        <p:spPr>
          <a:xfrm>
            <a:off x="7423464" y="3947718"/>
            <a:ext cx="9840408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Время генерации трёх вариантов на шаблонах датасета, секунд</a:t>
            </a:r>
            <a:endParaRPr lang="ru-RU" sz="1800"/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7423464" y="4340021"/>
          <a:ext cx="9840408" cy="4483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Три шага развития после финала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Marker 43"/>
          <p:cNvSpPr/>
          <p:nvPr/>
        </p:nvSpPr>
        <p:spPr>
          <a:xfrm>
            <a:off x="1024128" y="4383014"/>
            <a:ext cx="227401" cy="227401"/>
          </a:xfrm>
          <a:prstGeom prst="ellipse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4" name="Item 44"/>
          <p:cNvSpPr txBox="1"/>
          <p:nvPr/>
        </p:nvSpPr>
        <p:spPr>
          <a:xfrm>
            <a:off x="1981606" y="4137660"/>
            <a:ext cx="12034317" cy="146161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712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Переход на инференс VK и модель Qwen3.8-⁠27B</a:t>
            </a:r>
            <a:endParaRPr lang="ru-RU" sz="4712"/>
          </a:p>
        </p:txBody>
      </p:sp>
      <p:cxnSp>
        <p:nvCxnSpPr>
          <p:cNvPr id="45" name="Line 45"/>
          <p:cNvCxnSpPr/>
          <p:nvPr/>
        </p:nvCxnSpPr>
        <p:spPr>
          <a:xfrm>
            <a:off x="1981606" y="6048095"/>
            <a:ext cx="12034317" cy="0"/>
          </a:xfrm>
          <a:prstGeom prst="line">
            <a:avLst/>
          </a:prstGeom>
          <a:ln w="9525">
            <a:solidFill>
              <a:srgbClr val="384848"/>
            </a:solidFill>
          </a:ln>
        </p:spPr>
      </p:cxnSp>
      <p:sp>
        <p:nvSpPr>
          <p:cNvPr id="46" name="Marker 46"/>
          <p:cNvSpPr/>
          <p:nvPr/>
        </p:nvSpPr>
        <p:spPr>
          <a:xfrm>
            <a:off x="1024128" y="6742266"/>
            <a:ext cx="227401" cy="227401"/>
          </a:xfrm>
          <a:prstGeom prst="ellipse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7" name="Item 47"/>
          <p:cNvSpPr txBox="1"/>
          <p:nvPr/>
        </p:nvSpPr>
        <p:spPr>
          <a:xfrm>
            <a:off x="1981606" y="6496912"/>
            <a:ext cx="12034317" cy="74350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712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Генерация изображений внутри слайдов</a:t>
            </a:r>
            <a:endParaRPr lang="ru-RU" sz="4712"/>
          </a:p>
        </p:txBody>
      </p:sp>
      <p:cxnSp>
        <p:nvCxnSpPr>
          <p:cNvPr id="48" name="Line 48"/>
          <p:cNvCxnSpPr/>
          <p:nvPr/>
        </p:nvCxnSpPr>
        <p:spPr>
          <a:xfrm>
            <a:off x="1981606" y="7689238"/>
            <a:ext cx="12034317" cy="0"/>
          </a:xfrm>
          <a:prstGeom prst="line">
            <a:avLst/>
          </a:prstGeom>
          <a:ln w="9525">
            <a:solidFill>
              <a:srgbClr val="384848"/>
            </a:solidFill>
          </a:ln>
        </p:spPr>
      </p:cxnSp>
      <p:sp>
        <p:nvSpPr>
          <p:cNvPr id="49" name="Marker 49"/>
          <p:cNvSpPr/>
          <p:nvPr/>
        </p:nvSpPr>
        <p:spPr>
          <a:xfrm>
            <a:off x="1024128" y="8383409"/>
            <a:ext cx="227401" cy="227401"/>
          </a:xfrm>
          <a:prstGeom prst="ellipse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50" name="Item 50"/>
          <p:cNvSpPr txBox="1"/>
          <p:nvPr/>
        </p:nvSpPr>
        <p:spPr>
          <a:xfrm>
            <a:off x="1981606" y="8138055"/>
            <a:ext cx="12034317" cy="74350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712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Пилот на шаблонах и сценариях VK Tech</a:t>
            </a:r>
            <a:endParaRPr lang="ru-RU" sz="4712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inimalis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