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Relationship Id="rId49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332"/>
          <c:y val="0.0332"/>
          <c:w val="0.9337"/>
          <c:h val="0.933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фигур</c:v>
                </c:pt>
              </c:strCache>
            </c:strRef>
          </c:tx>
          <c:dPt>
            <c:idx val="0"/>
            <c:spPr>
              <a:solidFill>
                <a:srgbClr val="C2D076"/>
              </a:solidFill>
              <a:ln w="25400">
                <a:solidFill>
                  <a:srgbClr val="001514"/>
                </a:solidFill>
              </a:ln>
            </c:spPr>
          </c:dPt>
          <c:dPt>
            <c:idx val="1"/>
            <c:spPr>
              <a:solidFill>
                <a:srgbClr val="E8EDCB"/>
              </a:solidFill>
              <a:ln w="25400">
                <a:solidFill>
                  <a:srgbClr val="001514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588"/>
          <c:y val="0.0153"/>
          <c:w val="0.7875"/>
          <c:h val="0.969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;&quot;−&quot;#,##0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3"/>
          <c:y val="0.0952"/>
          <c:w val="0.9974"/>
          <c:h val="0.8120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— цифровой дизайнер презентаций. Команда «Рекрут 2», задача № 4 VK Tech.</a:t>
            </a:r>
          </a:p>
          <a:p>
            <a:r>
              <a:t>[verstka:sl1]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ИИ может помочь с текстом, но не с дизайном.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и только 5% — плейсхолдеры. Это означает, что правила оформления нельзя просто применить, их нужно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автоматически создаёт три редактируемые презентации на основе шаблона и текста, сохраняя фирменный стиль без необходимости ручной вёрстки.</a:t>
            </a:r>
          </a:p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на открытых моделях до 35 миллиардов параметров с лицензией Apache 2.0. Пять шагов: аналитик находит в тексте слайды, ряды данных и просьбы; дизайнер продумывает каждый слайд отдельно; критик сверяет план с текстом и правилами шаблона; компилятор проверяет каждое число; вёрстка собирает слайды по дизайн-системе шаблона.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 | Визуальный | крупные цифры и наглядные схемы | питч и выступление со сцены |. | Компактный | вывод первой строкой, данные справа | рассылка руководителю |.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Каждый слайд проходит 41 проверку: 12 на целостность, 11 на вёрстку, 7 на шаблон, 6 на контент и 5 на плотность. Найденные проблемы исправляются автоматически.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итоге не было выдумано ни одного числа.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поддерживает 12 форматов, включая pptx, potx, ppt, odp, thmx и другие.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cxnSp>
        <p:nvCxnSpPr>
          <p:cNvPr id="25" name="Google Shape;25;p6"/>
          <p:cNvCxnSpPr/>
          <p:nvPr/>
        </p:nvCxnSpPr>
        <p:spPr>
          <a:xfrm>
            <a:off x="1028700" y="9258300"/>
            <a:ext cx="16230600" cy="0"/>
          </a:xfrm>
          <a:prstGeom prst="straightConnector1">
            <a:avLst/>
          </a:prstGeom>
          <a:noFill/>
          <a:ln cap="flat" cmpd="sng" w="3810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6"/>
          <p:cNvSpPr txBox="1"/>
          <p:nvPr/>
        </p:nvSpPr>
        <p:spPr>
          <a:xfrm>
            <a:off x="1028700" y="4650572"/>
            <a:ext cx="10740300" cy="3001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Verstka —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цифровой дизайнер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презентаций</a:t>
            </a:r>
            <a:endParaRPr b="0"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30" name="Подзаголовок"/>
          <p:cNvSpPr txBox="1"/>
          <p:nvPr/>
        </p:nvSpPr>
        <p:spPr>
          <a:xfrm>
            <a:off x="1028700" y="8097859"/>
            <a:ext cx="10740300" cy="4049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-RU" sz="2199" u="none" cap="none" strike="noStrike" b="0" spc="0">
                <a:solidFill>
                  <a:srgbClr val="C2D076"/>
                </a:solidFill>
                <a:latin typeface="Inter Medium"/>
                <a:ea typeface="Inter Medium"/>
                <a:sym typeface="Inter Medium"/>
              </a:rPr>
              <a:t>Команда «Рекрут 2» · задача № 4 VK Tech · ЛЦТ 2026</a:t>
            </a:r>
            <a:endParaRPr b="0" cap="none" spc="0">
              <a:solidFill>
                <a:srgbClr val="C2D076"/>
              </a:solidFill>
              <a:latin typeface="Inter Medium"/>
              <a:ea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215842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Вёрстка занимает больше времени, чем создание текста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4328952"/>
          </a:xfrm>
          <a:prstGeom prst="roundRect">
            <a:avLst>
              <a:gd name="adj" fmla="val 253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Rule 44"/>
          <p:cNvSpPr/>
          <p:nvPr/>
        </p:nvSpPr>
        <p:spPr>
          <a:xfrm>
            <a:off x="1382572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5" name="Column title 45"/>
          <p:cNvSpPr txBox="1"/>
          <p:nvPr/>
        </p:nvSpPr>
        <p:spPr>
          <a:xfrm>
            <a:off x="1382572" y="5247537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4712"/>
          </a:p>
        </p:txBody>
      </p:sp>
      <p:sp>
        <p:nvSpPr>
          <p:cNvPr id="46" name="Column 46"/>
          <p:cNvSpPr txBox="1"/>
          <p:nvPr/>
        </p:nvSpPr>
        <p:spPr>
          <a:xfrm>
            <a:off x="1382572" y="6904665"/>
            <a:ext cx="4403752" cy="17316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Подбор макета, подгонка цветов и блоков</a:t>
            </a:r>
            <a:endParaRPr lang="ru-RU" sz="2799"/>
          </a:p>
        </p:txBody>
      </p:sp>
      <p:sp>
        <p:nvSpPr>
          <p:cNvPr id="47" name="Card 47"/>
          <p:cNvSpPr/>
          <p:nvPr/>
        </p:nvSpPr>
        <p:spPr>
          <a:xfrm>
            <a:off x="6583680" y="4665827"/>
            <a:ext cx="5120640" cy="4328952"/>
          </a:xfrm>
          <a:prstGeom prst="roundRect">
            <a:avLst>
              <a:gd name="adj" fmla="val 253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8" name="Rule 48"/>
          <p:cNvSpPr/>
          <p:nvPr/>
        </p:nvSpPr>
        <p:spPr>
          <a:xfrm>
            <a:off x="6942124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9" name="Column title 49"/>
          <p:cNvSpPr txBox="1"/>
          <p:nvPr/>
        </p:nvSpPr>
        <p:spPr>
          <a:xfrm>
            <a:off x="6942124" y="5247537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4712"/>
          </a:p>
        </p:txBody>
      </p:sp>
      <p:sp>
        <p:nvSpPr>
          <p:cNvPr id="50" name="Column 50"/>
          <p:cNvSpPr txBox="1"/>
          <p:nvPr/>
        </p:nvSpPr>
        <p:spPr>
          <a:xfrm>
            <a:off x="6942124" y="6904665"/>
            <a:ext cx="4403752" cy="17316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пишут текст, но не воспроизводят дизайн</a:t>
            </a:r>
            <a:endParaRPr lang="ru-RU" sz="2799"/>
          </a:p>
        </p:txBody>
      </p:sp>
      <p:sp>
        <p:nvSpPr>
          <p:cNvPr id="51" name="Card 51"/>
          <p:cNvSpPr/>
          <p:nvPr/>
        </p:nvSpPr>
        <p:spPr>
          <a:xfrm>
            <a:off x="12143232" y="4665827"/>
            <a:ext cx="5120640" cy="4328952"/>
          </a:xfrm>
          <a:prstGeom prst="roundRect">
            <a:avLst>
              <a:gd name="adj" fmla="val 253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2" name="Rule 52"/>
          <p:cNvSpPr/>
          <p:nvPr/>
        </p:nvSpPr>
        <p:spPr>
          <a:xfrm>
            <a:off x="12501676" y="5024271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3" name="Column title 53"/>
          <p:cNvSpPr txBox="1"/>
          <p:nvPr/>
        </p:nvSpPr>
        <p:spPr>
          <a:xfrm>
            <a:off x="12501676" y="5247537"/>
            <a:ext cx="4403752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4712"/>
          </a:p>
        </p:txBody>
      </p:sp>
      <p:sp>
        <p:nvSpPr>
          <p:cNvPr id="54" name="Column 54"/>
          <p:cNvSpPr txBox="1"/>
          <p:nvPr/>
        </p:nvSpPr>
        <p:spPr>
          <a:xfrm>
            <a:off x="12501676" y="6904665"/>
            <a:ext cx="4403752" cy="17316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Слайды-⁠образцы не показывают, как собрать новый слайд</a:t>
            </a:r>
            <a:endParaRPr lang="ru-RU" sz="27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95% фигур — свободные, 5% — плейсхолдеры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hart note 43"/>
          <p:cNvSpPr txBox="1"/>
          <p:nvPr/>
        </p:nvSpPr>
        <p:spPr>
          <a:xfrm>
            <a:off x="1024128" y="3947718"/>
            <a:ext cx="5521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Правила оформления нужно выводить из образцов</a:t>
            </a:r>
            <a:endParaRPr lang="ru-RU" sz="2799"/>
          </a:p>
        </p:txBody>
      </p:sp>
      <p:cxnSp>
        <p:nvCxnSpPr>
          <p:cNvPr id="44" name="Line 44"/>
          <p:cNvCxnSpPr/>
          <p:nvPr/>
        </p:nvCxnSpPr>
        <p:spPr>
          <a:xfrm>
            <a:off x="6984552" y="3947718"/>
            <a:ext cx="0" cy="878535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423464" y="3947718"/>
          <a:ext cx="4134849" cy="41348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Legend title 46"/>
          <p:cNvSpPr txBox="1"/>
          <p:nvPr/>
        </p:nvSpPr>
        <p:spPr>
          <a:xfrm>
            <a:off x="12436137" y="5123907"/>
            <a:ext cx="4827735" cy="7007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Состав фигур в шаблонах</a:t>
            </a:r>
            <a:endParaRPr lang="ru-RU" sz="2799"/>
          </a:p>
        </p:txBody>
      </p:sp>
      <p:sp>
        <p:nvSpPr>
          <p:cNvPr id="47" name="Swatch 47"/>
          <p:cNvSpPr/>
          <p:nvPr/>
        </p:nvSpPr>
        <p:spPr>
          <a:xfrm>
            <a:off x="12436137" y="5910019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C2D076"/>
          </a:solidFill>
          <a:ln>
            <a:noFill/>
          </a:ln>
        </p:spPr>
      </p:sp>
      <p:sp>
        <p:nvSpPr>
          <p:cNvPr id="48" name="Legend 48"/>
          <p:cNvSpPr txBox="1"/>
          <p:nvPr/>
        </p:nvSpPr>
        <p:spPr>
          <a:xfrm>
            <a:off x="12896830" y="5824706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Свободные фигуры</a:t>
            </a:r>
            <a:endParaRPr lang="ru-RU" sz="2799"/>
          </a:p>
        </p:txBody>
      </p:sp>
      <p:sp>
        <p:nvSpPr>
          <p:cNvPr id="49" name="Share 49"/>
          <p:cNvSpPr txBox="1"/>
          <p:nvPr/>
        </p:nvSpPr>
        <p:spPr>
          <a:xfrm>
            <a:off x="16348140" y="5824706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95%</a:t>
            </a:r>
            <a:endParaRPr lang="ru-RU" sz="2799"/>
          </a:p>
        </p:txBody>
      </p:sp>
      <p:sp>
        <p:nvSpPr>
          <p:cNvPr id="50" name="Swatch 50"/>
          <p:cNvSpPr/>
          <p:nvPr/>
        </p:nvSpPr>
        <p:spPr>
          <a:xfrm>
            <a:off x="12436137" y="6539723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E8EDCB"/>
          </a:solidFill>
          <a:ln>
            <a:noFill/>
          </a:ln>
        </p:spPr>
      </p:sp>
      <p:sp>
        <p:nvSpPr>
          <p:cNvPr id="51" name="Legend 51"/>
          <p:cNvSpPr txBox="1"/>
          <p:nvPr/>
        </p:nvSpPr>
        <p:spPr>
          <a:xfrm>
            <a:off x="12896830" y="6454410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</a:t>
            </a:r>
            <a:endParaRPr lang="ru-RU" sz="2799"/>
          </a:p>
        </p:txBody>
      </p:sp>
      <p:sp>
        <p:nvSpPr>
          <p:cNvPr id="52" name="Share 52"/>
          <p:cNvSpPr txBox="1"/>
          <p:nvPr/>
        </p:nvSpPr>
        <p:spPr>
          <a:xfrm>
            <a:off x="16348140" y="6454410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5%</a:t>
            </a:r>
            <a:endParaRPr lang="ru-RU" sz="27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Решение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onclusion bar 43"/>
          <p:cNvSpPr/>
          <p:nvPr/>
        </p:nvSpPr>
        <p:spPr>
          <a:xfrm>
            <a:off x="1024128" y="4180317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Conclusion 44"/>
          <p:cNvSpPr txBox="1"/>
          <p:nvPr/>
        </p:nvSpPr>
        <p:spPr>
          <a:xfrm>
            <a:off x="1370228" y="4137660"/>
            <a:ext cx="1426966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Презентация в фирменном стиле без ручной вёрстки</a:t>
            </a:r>
            <a:endParaRPr lang="ru-RU" sz="2799"/>
          </a:p>
        </p:txBody>
      </p:sp>
      <p:sp>
        <p:nvSpPr>
          <p:cNvPr id="45" name="Card 45"/>
          <p:cNvSpPr/>
          <p:nvPr/>
        </p:nvSpPr>
        <p:spPr>
          <a:xfrm>
            <a:off x="1024128" y="4959960"/>
            <a:ext cx="5120640" cy="3968602"/>
          </a:xfrm>
          <a:prstGeom prst="roundRect">
            <a:avLst>
              <a:gd name="adj" fmla="val 276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6" name="Rule 46"/>
          <p:cNvSpPr/>
          <p:nvPr/>
        </p:nvSpPr>
        <p:spPr>
          <a:xfrm>
            <a:off x="1382572" y="53184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Column title 47"/>
          <p:cNvSpPr txBox="1"/>
          <p:nvPr/>
        </p:nvSpPr>
        <p:spPr>
          <a:xfrm>
            <a:off x="1382572" y="5541670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входе — шаблон и текст</a:t>
            </a:r>
            <a:endParaRPr lang="ru-RU" sz="2799"/>
          </a:p>
        </p:txBody>
      </p:sp>
      <p:sp>
        <p:nvSpPr>
          <p:cNvPr id="48" name="Column 48"/>
          <p:cNvSpPr txBox="1"/>
          <p:nvPr/>
        </p:nvSpPr>
        <p:spPr>
          <a:xfrm>
            <a:off x="1382572" y="7021328"/>
            <a:ext cx="4403752" cy="15487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49110" indent="-34911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Verstka использует любой шаблон PowerPoint и текст для создания презентации.</a:t>
            </a:r>
            <a:endParaRPr lang="ru-RU" sz="2499"/>
          </a:p>
        </p:txBody>
      </p:sp>
      <p:sp>
        <p:nvSpPr>
          <p:cNvPr id="49" name="Card 49"/>
          <p:cNvSpPr/>
          <p:nvPr/>
        </p:nvSpPr>
        <p:spPr>
          <a:xfrm>
            <a:off x="6583680" y="4959960"/>
            <a:ext cx="5120640" cy="3968602"/>
          </a:xfrm>
          <a:prstGeom prst="roundRect">
            <a:avLst>
              <a:gd name="adj" fmla="val 276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Rule 50"/>
          <p:cNvSpPr/>
          <p:nvPr/>
        </p:nvSpPr>
        <p:spPr>
          <a:xfrm>
            <a:off x="6942124" y="53184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1" name="Column title 51"/>
          <p:cNvSpPr txBox="1"/>
          <p:nvPr/>
        </p:nvSpPr>
        <p:spPr>
          <a:xfrm>
            <a:off x="6942124" y="5541670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набор правил</a:t>
            </a:r>
            <a:endParaRPr lang="ru-RU" sz="2799"/>
          </a:p>
        </p:txBody>
      </p:sp>
      <p:sp>
        <p:nvSpPr>
          <p:cNvPr id="52" name="Column 52"/>
          <p:cNvSpPr txBox="1"/>
          <p:nvPr/>
        </p:nvSpPr>
        <p:spPr>
          <a:xfrm>
            <a:off x="6942124" y="7021328"/>
            <a:ext cx="4403752" cy="15487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49110" indent="-34911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 интерпретируется как набор правил, а не макетов.</a:t>
            </a:r>
            <a:endParaRPr lang="ru-RU" sz="2499"/>
          </a:p>
        </p:txBody>
      </p:sp>
      <p:sp>
        <p:nvSpPr>
          <p:cNvPr id="53" name="Card 53"/>
          <p:cNvSpPr/>
          <p:nvPr/>
        </p:nvSpPr>
        <p:spPr>
          <a:xfrm>
            <a:off x="12143232" y="4959960"/>
            <a:ext cx="5120640" cy="3968602"/>
          </a:xfrm>
          <a:prstGeom prst="roundRect">
            <a:avLst>
              <a:gd name="adj" fmla="val 2764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4" name="Rule 54"/>
          <p:cNvSpPr/>
          <p:nvPr/>
        </p:nvSpPr>
        <p:spPr>
          <a:xfrm>
            <a:off x="12501676" y="5318404"/>
            <a:ext cx="720090" cy="38100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5" name="Column title 55"/>
          <p:cNvSpPr txBox="1"/>
          <p:nvPr/>
        </p:nvSpPr>
        <p:spPr>
          <a:xfrm>
            <a:off x="12501676" y="5541670"/>
            <a:ext cx="4403752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выходе — три редактируемые презентации</a:t>
            </a:r>
            <a:endParaRPr lang="ru-RU" sz="2799"/>
          </a:p>
        </p:txBody>
      </p:sp>
      <p:sp>
        <p:nvSpPr>
          <p:cNvPr id="56" name="Column 56"/>
          <p:cNvSpPr txBox="1"/>
          <p:nvPr/>
        </p:nvSpPr>
        <p:spPr>
          <a:xfrm>
            <a:off x="12501676" y="7021328"/>
            <a:ext cx="4403752" cy="15487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49110" indent="-34911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4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Результат — три презентации в стиле шаблона, готовые к редактированию.</a:t>
            </a:r>
            <a:endParaRPr lang="ru-RU" sz="24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70767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Открытые модели до 35 млрд параметров создают презентации по правилам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onclusion bar 43"/>
          <p:cNvSpPr/>
          <p:nvPr/>
        </p:nvSpPr>
        <p:spPr>
          <a:xfrm>
            <a:off x="1024128" y="4708484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Conclusion 44"/>
          <p:cNvSpPr txBox="1"/>
          <p:nvPr/>
        </p:nvSpPr>
        <p:spPr>
          <a:xfrm>
            <a:off x="1370228" y="4665827"/>
            <a:ext cx="1426966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Работа агента включает анализ, проектирование, проверку и сборку слайдов</a:t>
            </a:r>
            <a:endParaRPr lang="ru-RU" sz="2799"/>
          </a:p>
        </p:txBody>
      </p:sp>
      <p:sp>
        <p:nvSpPr>
          <p:cNvPr id="45" name="Marker 45"/>
          <p:cNvSpPr/>
          <p:nvPr/>
        </p:nvSpPr>
        <p:spPr>
          <a:xfrm>
            <a:off x="1024128" y="5633871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6" name="Item 46"/>
          <p:cNvSpPr txBox="1"/>
          <p:nvPr/>
        </p:nvSpPr>
        <p:spPr>
          <a:xfrm>
            <a:off x="1592885" y="5488127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Аналитик — находит в тексте слайды, ряды данных и просьбы</a:t>
            </a:r>
            <a:endParaRPr lang="ru-RU" sz="2799"/>
          </a:p>
        </p:txBody>
      </p:sp>
      <p:cxnSp>
        <p:nvCxnSpPr>
          <p:cNvPr id="47" name="Line 47"/>
          <p:cNvCxnSpPr/>
          <p:nvPr/>
        </p:nvCxnSpPr>
        <p:spPr>
          <a:xfrm>
            <a:off x="1592885" y="6100057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8" name="Marker 48"/>
          <p:cNvSpPr/>
          <p:nvPr/>
        </p:nvSpPr>
        <p:spPr>
          <a:xfrm>
            <a:off x="1024128" y="6405763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9" name="Item 49"/>
          <p:cNvSpPr txBox="1"/>
          <p:nvPr/>
        </p:nvSpPr>
        <p:spPr>
          <a:xfrm>
            <a:off x="1592885" y="6260019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Дизайнер — продумывает каждый слайд отдельно</a:t>
            </a:r>
            <a:endParaRPr lang="ru-RU" sz="2799"/>
          </a:p>
        </p:txBody>
      </p:sp>
      <p:cxnSp>
        <p:nvCxnSpPr>
          <p:cNvPr id="50" name="Line 50"/>
          <p:cNvCxnSpPr/>
          <p:nvPr/>
        </p:nvCxnSpPr>
        <p:spPr>
          <a:xfrm>
            <a:off x="1592885" y="6871949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51" name="Marker 51"/>
          <p:cNvSpPr/>
          <p:nvPr/>
        </p:nvSpPr>
        <p:spPr>
          <a:xfrm>
            <a:off x="1024128" y="7177655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2" name="Item 52"/>
          <p:cNvSpPr txBox="1"/>
          <p:nvPr/>
        </p:nvSpPr>
        <p:spPr>
          <a:xfrm>
            <a:off x="1592885" y="7031911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Критик — сверяет план с текстом и правилами шаблона</a:t>
            </a:r>
            <a:endParaRPr lang="ru-RU" sz="2799"/>
          </a:p>
        </p:txBody>
      </p:sp>
      <p:cxnSp>
        <p:nvCxnSpPr>
          <p:cNvPr id="53" name="Line 53"/>
          <p:cNvCxnSpPr/>
          <p:nvPr/>
        </p:nvCxnSpPr>
        <p:spPr>
          <a:xfrm>
            <a:off x="1592885" y="7643841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54" name="Marker 54"/>
          <p:cNvSpPr/>
          <p:nvPr/>
        </p:nvSpPr>
        <p:spPr>
          <a:xfrm>
            <a:off x="1024128" y="7949547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5" name="Item 55"/>
          <p:cNvSpPr txBox="1"/>
          <p:nvPr/>
        </p:nvSpPr>
        <p:spPr>
          <a:xfrm>
            <a:off x="1592885" y="7803803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Компилятор — проверяет каждое число</a:t>
            </a:r>
            <a:endParaRPr lang="ru-RU" sz="2799"/>
          </a:p>
        </p:txBody>
      </p:sp>
      <p:cxnSp>
        <p:nvCxnSpPr>
          <p:cNvPr id="56" name="Line 56"/>
          <p:cNvCxnSpPr/>
          <p:nvPr/>
        </p:nvCxnSpPr>
        <p:spPr>
          <a:xfrm>
            <a:off x="1592885" y="8415733"/>
            <a:ext cx="12423038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57" name="Marker 57"/>
          <p:cNvSpPr/>
          <p:nvPr/>
        </p:nvSpPr>
        <p:spPr>
          <a:xfrm>
            <a:off x="1024128" y="8721439"/>
            <a:ext cx="135080" cy="135080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8" name="Item 58"/>
          <p:cNvSpPr txBox="1"/>
          <p:nvPr/>
        </p:nvSpPr>
        <p:spPr>
          <a:xfrm>
            <a:off x="1592885" y="8575695"/>
            <a:ext cx="1242303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Вёрстка — собирает слайды по дизайн-⁠системе шаблона</a:t>
            </a:r>
            <a:endParaRPr lang="ru-RU" sz="279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Содержание одно, подача разная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6239744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992235"/>
                <a:gridCol w="7485664"/>
                <a:gridCol w="5761845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Вариант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Подача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Когда подходит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Структурный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одна мысль на слайд, строгая сетка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отчёт и защита проекта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Визуальный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крупные цифры и наглядные схемы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питч и выступление со сцены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Компактный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вывод первой строкой, данные справа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рассылка руководителю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41 автоматическая проверка на качество слайда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hart note 43"/>
          <p:cNvSpPr txBox="1"/>
          <p:nvPr/>
        </p:nvSpPr>
        <p:spPr>
          <a:xfrm>
            <a:off x="1024128" y="3947718"/>
            <a:ext cx="5521512" cy="347348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519"/>
              </a:spcAft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Наибольшее число проверок — на целостность (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)</a:t>
            </a:r>
            <a:endParaRPr lang="ru-RU" sz="2799"/>
          </a:p>
          <a:p>
            <a:pPr algn="l" marL="391020" indent="-391020">
              <a:lnSpc>
                <a:spcPct val="100000"/>
              </a:lnSpc>
              <a:spcAft>
                <a:spcPts val="1120"/>
              </a:spcAft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Проблемы исправляются автоматически</a:t>
            </a:r>
            <a:endParaRPr lang="ru-RU" sz="2799"/>
          </a:p>
          <a:p>
            <a:pPr algn="l" marL="391020" indent="-391020">
              <a:lnSpc>
                <a:spcPct val="100000"/>
              </a:lnSpc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Проверки распределены по категориям</a:t>
            </a:r>
            <a:endParaRPr lang="ru-RU" sz="2799"/>
          </a:p>
        </p:txBody>
      </p:sp>
      <p:cxnSp>
        <p:nvCxnSpPr>
          <p:cNvPr id="44" name="Line 44"/>
          <p:cNvCxnSpPr/>
          <p:nvPr/>
        </p:nvCxnSpPr>
        <p:spPr>
          <a:xfrm>
            <a:off x="6984552" y="3947718"/>
            <a:ext cx="0" cy="3473488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45" name="Unit 45"/>
          <p:cNvSpPr txBox="1"/>
          <p:nvPr/>
        </p:nvSpPr>
        <p:spPr>
          <a:xfrm>
            <a:off x="7423464" y="3947718"/>
            <a:ext cx="9840408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Число проверок по категориям</a:t>
            </a:r>
            <a:endParaRPr lang="ru-RU" sz="1800"/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7423464" y="4340021"/>
          <a:ext cx="9840408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готовых презентаций без выдуманных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7" name="Conclusion bar 47"/>
          <p:cNvSpPr/>
          <p:nvPr/>
        </p:nvSpPr>
        <p:spPr>
          <a:xfrm>
            <a:off x="1024128" y="3990375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8" name="Conclusion 48"/>
          <p:cNvSpPr txBox="1"/>
          <p:nvPr/>
        </p:nvSpPr>
        <p:spPr>
          <a:xfrm>
            <a:off x="1370228" y="3947718"/>
            <a:ext cx="1426966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числа проверены дважды — до и после вёрстки</a:t>
            </a:r>
            <a:endParaRPr lang="ru-RU" sz="2799"/>
          </a:p>
        </p:txBody>
      </p:sp>
      <p:graphicFrame>
        <p:nvGraphicFramePr>
          <p:cNvPr id="49" name="Table"/>
          <p:cNvGraphicFramePr>
            <a:graphicFrameLocks noGrp="1"/>
          </p:cNvGraphicFramePr>
          <p:nvPr/>
        </p:nvGraphicFramePr>
        <p:xfrm>
          <a:off x="1024128" y="4770018"/>
          <a:ext cx="11692615" cy="403019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5846308"/>
                <a:gridCol w="5846307"/>
              </a:tblGrid>
              <a:tr h="806039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Показатель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Значение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074719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Демо-презентаций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9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074719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Проверенных чисел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от 116 до 123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074719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Выдуманных чисел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0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44071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шаблонов, 99 из 100 и 12 форматов — универсальный инструмент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onclusion bar 43"/>
          <p:cNvSpPr/>
          <p:nvPr/>
        </p:nvSpPr>
        <p:spPr>
          <a:xfrm>
            <a:off x="1024128" y="4708484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Conclusion 44"/>
          <p:cNvSpPr txBox="1"/>
          <p:nvPr/>
        </p:nvSpPr>
        <p:spPr>
          <a:xfrm>
            <a:off x="1370228" y="4665827"/>
            <a:ext cx="14269669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Сервис работает с любыми шаблонами и форматами</a:t>
            </a:r>
            <a:endParaRPr lang="ru-RU" sz="2799"/>
          </a:p>
        </p:txBody>
      </p:sp>
      <p:graphicFrame>
        <p:nvGraphicFramePr>
          <p:cNvPr id="45" name="Table"/>
          <p:cNvGraphicFramePr>
            <a:graphicFrameLocks noGrp="1"/>
          </p:cNvGraphicFramePr>
          <p:nvPr/>
        </p:nvGraphicFramePr>
        <p:xfrm>
          <a:off x="1024128" y="5488127"/>
          <a:ext cx="11692615" cy="26746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9062238"/>
                <a:gridCol w="2630377"/>
              </a:tblGrid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Показатель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Значение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Чужих шаблонов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87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Средняя оценка качества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99 из 100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Форматов поддержки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199" b="0" i="0" cap="none" spc="0" baseline="0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12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VK WorkSpace — самый долгий, но всё в лимите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hart note 43"/>
          <p:cNvSpPr txBox="1"/>
          <p:nvPr/>
        </p:nvSpPr>
        <p:spPr>
          <a:xfrm>
            <a:off x="1024128" y="3947718"/>
            <a:ext cx="5521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  <p:cxnSp>
        <p:nvCxnSpPr>
          <p:cNvPr id="44" name="Line 44"/>
          <p:cNvCxnSpPr/>
          <p:nvPr/>
        </p:nvCxnSpPr>
        <p:spPr>
          <a:xfrm>
            <a:off x="6984552" y="3947718"/>
            <a:ext cx="0" cy="878535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45" name="Unit 45"/>
          <p:cNvSpPr txBox="1"/>
          <p:nvPr/>
        </p:nvSpPr>
        <p:spPr>
          <a:xfrm>
            <a:off x="7423464" y="3947718"/>
            <a:ext cx="9840408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трёх вариантов на шаблонах датасета, секунд</a:t>
            </a:r>
            <a:endParaRPr lang="ru-RU" sz="1800"/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7423464" y="4340021"/>
          <a:ext cx="9840408" cy="44839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шага после финала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Marker 43"/>
          <p:cNvSpPr/>
          <p:nvPr/>
        </p:nvSpPr>
        <p:spPr>
          <a:xfrm>
            <a:off x="1024128" y="4383014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Item 44"/>
          <p:cNvSpPr txBox="1"/>
          <p:nvPr/>
        </p:nvSpPr>
        <p:spPr>
          <a:xfrm>
            <a:off x="1981606" y="4137660"/>
            <a:ext cx="12034317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Переход на инференс VK и модель Qwen3.8-⁠27B</a:t>
            </a:r>
            <a:endParaRPr lang="ru-RU" sz="4712"/>
          </a:p>
        </p:txBody>
      </p:sp>
      <p:cxnSp>
        <p:nvCxnSpPr>
          <p:cNvPr id="45" name="Line 45"/>
          <p:cNvCxnSpPr/>
          <p:nvPr/>
        </p:nvCxnSpPr>
        <p:spPr>
          <a:xfrm>
            <a:off x="1981606" y="6048095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6" name="Marker 46"/>
          <p:cNvSpPr/>
          <p:nvPr/>
        </p:nvSpPr>
        <p:spPr>
          <a:xfrm>
            <a:off x="1024128" y="6742266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Item 47"/>
          <p:cNvSpPr txBox="1"/>
          <p:nvPr/>
        </p:nvSpPr>
        <p:spPr>
          <a:xfrm>
            <a:off x="1981606" y="6496912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внутри слайдов</a:t>
            </a:r>
            <a:endParaRPr lang="ru-RU" sz="4712"/>
          </a:p>
        </p:txBody>
      </p:sp>
      <p:cxnSp>
        <p:nvCxnSpPr>
          <p:cNvPr id="48" name="Line 48"/>
          <p:cNvCxnSpPr/>
          <p:nvPr/>
        </p:nvCxnSpPr>
        <p:spPr>
          <a:xfrm>
            <a:off x="1981606" y="7689238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9" name="Marker 49"/>
          <p:cNvSpPr/>
          <p:nvPr/>
        </p:nvSpPr>
        <p:spPr>
          <a:xfrm>
            <a:off x="1024128" y="8383409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0" name="Item 50"/>
          <p:cNvSpPr txBox="1"/>
          <p:nvPr/>
        </p:nvSpPr>
        <p:spPr>
          <a:xfrm>
            <a:off x="1981606" y="8138055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Пилот на шаблонах и сценариях VK Tech</a:t>
            </a:r>
            <a:endParaRPr lang="ru-RU" sz="4712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