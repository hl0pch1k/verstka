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4"/>
  </p:sldMasterIdLst>
  <p:notesMasterIdLst>
    <p:notesMasterId r:id="rId5"/>
  </p:notesMasterIdLst>
  <p:sldIdLst>
    <p:sldId id="277" r:id="rId39"/>
    <p:sldId id="278" r:id="rId40"/>
    <p:sldId id="279" r:id="rId41"/>
    <p:sldId id="280" r:id="rId42"/>
    <p:sldId id="281" r:id="rId43"/>
    <p:sldId id="282" r:id="rId44"/>
    <p:sldId id="283" r:id="rId45"/>
    <p:sldId id="284" r:id="rId46"/>
    <p:sldId id="285" r:id="rId47"/>
    <p:sldId id="286" r:id="rId48"/>
  </p:sldIdLst>
  <p:sldSz cy="10287000" cx="18288000"/>
  <p:notesSz cx="6858000" cy="9144000"/>
  <p:embeddedFontLst>
    <p:embeddedFont>
      <p:font typeface="Inter Light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Inter Medium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7" Type="http://schemas.openxmlformats.org/officeDocument/2006/relationships/font" Target="fonts/InterLight-regular.fntdata"/><Relationship Id="rId28" Type="http://schemas.openxmlformats.org/officeDocument/2006/relationships/font" Target="fonts/InterLight-bold.fntdata"/><Relationship Id="rId29" Type="http://schemas.openxmlformats.org/officeDocument/2006/relationships/font" Target="fonts/InterLight-italic.fntdata"/><Relationship Id="rId30" Type="http://schemas.openxmlformats.org/officeDocument/2006/relationships/font" Target="fonts/InterLight-boldItalic.fntdata"/><Relationship Id="rId31" Type="http://schemas.openxmlformats.org/officeDocument/2006/relationships/font" Target="fonts/Inter-regular.fntdata"/><Relationship Id="rId32" Type="http://schemas.openxmlformats.org/officeDocument/2006/relationships/font" Target="fonts/Inter-bold.fntdata"/><Relationship Id="rId33" Type="http://schemas.openxmlformats.org/officeDocument/2006/relationships/font" Target="fonts/Inter-italic.fntdata"/><Relationship Id="rId34" Type="http://schemas.openxmlformats.org/officeDocument/2006/relationships/font" Target="fonts/Inter-boldItalic.fntdata"/><Relationship Id="rId35" Type="http://schemas.openxmlformats.org/officeDocument/2006/relationships/font" Target="fonts/InterMedium-regular.fntdata"/><Relationship Id="rId36" Type="http://schemas.openxmlformats.org/officeDocument/2006/relationships/font" Target="fonts/InterMedium-bold.fntdata"/><Relationship Id="rId37" Type="http://schemas.openxmlformats.org/officeDocument/2006/relationships/font" Target="fonts/InterMedium-italic.fntdata"/><Relationship Id="rId38" Type="http://schemas.openxmlformats.org/officeDocument/2006/relationships/font" Target="fonts/InterMedium-boldItalic.fntdata"/><Relationship Id="rId39" Type="http://schemas.openxmlformats.org/officeDocument/2006/relationships/slide" Target="slides/slide1.xml"/><Relationship Id="rId40" Type="http://schemas.openxmlformats.org/officeDocument/2006/relationships/slide" Target="slides/slide2.xml"/><Relationship Id="rId41" Type="http://schemas.openxmlformats.org/officeDocument/2006/relationships/slide" Target="slides/slide3.xml"/><Relationship Id="rId42" Type="http://schemas.openxmlformats.org/officeDocument/2006/relationships/slide" Target="slides/slide4.xml"/><Relationship Id="rId43" Type="http://schemas.openxmlformats.org/officeDocument/2006/relationships/slide" Target="slides/slide5.xml"/><Relationship Id="rId44" Type="http://schemas.openxmlformats.org/officeDocument/2006/relationships/slide" Target="slides/slide6.xml"/><Relationship Id="rId45" Type="http://schemas.openxmlformats.org/officeDocument/2006/relationships/slide" Target="slides/slide7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588"/>
          <c:y val="0.0153"/>
          <c:w val="0.7875"/>
          <c:h val="0.969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проверок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&quot; проверок&quot;;&quot;−&quot;#,##0&quot; проверо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13"/>
          <c:y val="0.0952"/>
          <c:w val="0.9974"/>
          <c:h val="0.812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&quot;;&quot;−&quot;#,##0&quot; с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84848"/>
            </a:solidFill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Три основные проблемы: ручная вёрстка, ИИ, который не воспроизводит стиль компании, и шаблоны, которые не являются инструкциями.</a:t>
            </a:r>
          </a:p>
          <a:p>
            <a:r>
              <a:t>[verstka:sl2]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использует шаблон как набор дизайнерских правил и на его основе генерирует три редактируемые презентации.</a:t>
            </a:r>
          </a:p>
          <a:p>
            <a:r>
              <a:t>[verstka:sl3]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[verstka:sl4]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Одинаковое содержание, разная подача.</a:t>
            </a:r>
          </a:p>
          <a:p>
            <a:r>
              <a:t>[verstka:sl5]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диаграмме показано распределение 41 проверки по категориям: 12 — целостность, 11 — вёрстка, 7 — шаблон, 6 — контент, 5 — плотность.</a:t>
            </a:r>
          </a:p>
          <a:p>
            <a:r>
              <a:t>[verstka:sl6]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Каждое число плана сверяется с текстом до вёрстки и ещё раз в готовом PPTX.</a:t>
            </a:r>
          </a:p>
          <a:p>
            <a:r>
              <a:t>[verstka:sl7]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Регрессионный корпус включает 87 чужих шаблонов и 261 презентацию на них. Средняя оценка проверки качества по корпусу — 99 из 100. Сервис поддерживает 12 форматов: pptx, potx, ppt, odp, thmx и другие.</a:t>
            </a:r>
          </a:p>
          <a:p>
            <a:r>
              <a:t>[verstka:sl8]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всех шаблонов меньше 5 минут, что подтверждает высокую скорость работы системы. VK Tech генерируется за 113 секунд, VK Education — за 145 секунд, VK WorkSpace — за 175 секунд.</a:t>
            </a:r>
          </a:p>
          <a:p>
            <a:r>
              <a:t>[verstka:sl9]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Все три модели используют лицензию Apache 2.0 и предназначены для разных сценариев использования: основная модель и два запасных звена.</a:t>
            </a:r>
          </a:p>
          <a:p>
            <a:r>
              <a:t>[verstka:sl10]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2 028 автотестов, PPTX с редактируемыми объектами, PDF и HTML, чат с агентом для правок. Дальше — генерация изображений внутри слайдов и переход на инференс VK.</a:t>
            </a:r>
          </a:p>
          <a:p>
            <a:r>
              <a:t>[verstka:sl11]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n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>
            <p:ph idx="2" type="pic"/>
          </p:nvPr>
        </p:nvSpPr>
        <p:spPr>
          <a:xfrm>
            <a:off x="9136050" y="1007975"/>
            <a:ext cx="8131200" cy="82704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Tw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>
            <p:ph idx="2" type="pic"/>
          </p:nvPr>
        </p:nvSpPr>
        <p:spPr>
          <a:xfrm>
            <a:off x="1009200" y="10068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" name="Google Shape;19;p4"/>
          <p:cNvSpPr/>
          <p:nvPr>
            <p:ph idx="3" type="pic"/>
          </p:nvPr>
        </p:nvSpPr>
        <p:spPr>
          <a:xfrm>
            <a:off x="1009200" y="51654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C2D076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51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4400"/>
              <a:buFont typeface="Inter"/>
              <a:buNone/>
              <a:defRPr i="0" sz="4400" u="none" cap="none" strike="noStrike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Char char="•"/>
              <a:defRPr i="0" sz="32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–"/>
              <a:defRPr i="0" sz="28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•"/>
              <a:defRPr i="0" sz="24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–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»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9424071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Оформление отнимает больше времени, чем содержание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665827"/>
            <a:ext cx="5120640" cy="3745870"/>
          </a:xfrm>
          <a:prstGeom prst="roundRect">
            <a:avLst>
              <a:gd name="adj" fmla="val 292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Rule 44"/>
          <p:cNvSpPr/>
          <p:nvPr/>
        </p:nvSpPr>
        <p:spPr>
          <a:xfrm>
            <a:off x="1382572" y="5024271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5" name="Column title 45"/>
          <p:cNvSpPr txBox="1"/>
          <p:nvPr/>
        </p:nvSpPr>
        <p:spPr>
          <a:xfrm>
            <a:off x="1382572" y="5247537"/>
            <a:ext cx="440375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Ручная вёрстка</a:t>
            </a:r>
            <a:endParaRPr lang="ru-RU" sz="2799"/>
          </a:p>
        </p:txBody>
      </p:sp>
      <p:sp>
        <p:nvSpPr>
          <p:cNvPr id="46" name="Column 46"/>
          <p:cNvSpPr txBox="1"/>
          <p:nvPr/>
        </p:nvSpPr>
        <p:spPr>
          <a:xfrm>
            <a:off x="1382572" y="5895015"/>
            <a:ext cx="4403752" cy="215823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Подобрать макет, подвинуть блоки, подогнать цвета под фирменный стиль</a:t>
            </a:r>
            <a:endParaRPr lang="ru-RU" sz="2799"/>
          </a:p>
        </p:txBody>
      </p:sp>
      <p:sp>
        <p:nvSpPr>
          <p:cNvPr id="47" name="Card 47"/>
          <p:cNvSpPr/>
          <p:nvPr/>
        </p:nvSpPr>
        <p:spPr>
          <a:xfrm>
            <a:off x="6583680" y="4665827"/>
            <a:ext cx="5120640" cy="3745870"/>
          </a:xfrm>
          <a:prstGeom prst="roundRect">
            <a:avLst>
              <a:gd name="adj" fmla="val 292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8" name="Rule 48"/>
          <p:cNvSpPr/>
          <p:nvPr/>
        </p:nvSpPr>
        <p:spPr>
          <a:xfrm>
            <a:off x="6942124" y="5024271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9" name="Column title 49"/>
          <p:cNvSpPr txBox="1"/>
          <p:nvPr/>
        </p:nvSpPr>
        <p:spPr>
          <a:xfrm>
            <a:off x="6942124" y="5247537"/>
            <a:ext cx="440375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ИИ ломает стиль</a:t>
            </a:r>
            <a:endParaRPr lang="ru-RU" sz="2799"/>
          </a:p>
        </p:txBody>
      </p:sp>
      <p:sp>
        <p:nvSpPr>
          <p:cNvPr id="50" name="Column 50"/>
          <p:cNvSpPr txBox="1"/>
          <p:nvPr/>
        </p:nvSpPr>
        <p:spPr>
          <a:xfrm>
            <a:off x="6942124" y="5895015"/>
            <a:ext cx="4403752" cy="215823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Нейросети неплохо пишут текст, но не воспроизводят дизайн-⁠систему компании</a:t>
            </a:r>
            <a:endParaRPr lang="ru-RU" sz="2799"/>
          </a:p>
        </p:txBody>
      </p:sp>
      <p:sp>
        <p:nvSpPr>
          <p:cNvPr id="51" name="Card 51"/>
          <p:cNvSpPr/>
          <p:nvPr/>
        </p:nvSpPr>
        <p:spPr>
          <a:xfrm>
            <a:off x="12143232" y="4665827"/>
            <a:ext cx="5120640" cy="3745870"/>
          </a:xfrm>
          <a:prstGeom prst="roundRect">
            <a:avLst>
              <a:gd name="adj" fmla="val 292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2" name="Rule 52"/>
          <p:cNvSpPr/>
          <p:nvPr/>
        </p:nvSpPr>
        <p:spPr>
          <a:xfrm>
            <a:off x="12501676" y="5024271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3" name="Column title 53"/>
          <p:cNvSpPr txBox="1"/>
          <p:nvPr/>
        </p:nvSpPr>
        <p:spPr>
          <a:xfrm>
            <a:off x="12501676" y="5247537"/>
            <a:ext cx="440375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не инструкция</a:t>
            </a:r>
            <a:endParaRPr lang="ru-RU" sz="2799"/>
          </a:p>
        </p:txBody>
      </p:sp>
      <p:sp>
        <p:nvSpPr>
          <p:cNvPr id="54" name="Column 54"/>
          <p:cNvSpPr txBox="1"/>
          <p:nvPr/>
        </p:nvSpPr>
        <p:spPr>
          <a:xfrm>
            <a:off x="12501676" y="5895015"/>
            <a:ext cx="4403752" cy="215823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Плейсхолдеры не объясняют, как построить новый слайд</a:t>
            </a:r>
            <a:endParaRPr lang="ru-RU" sz="2799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Verstka создаёт три презентации за 2⁠–⁠3 минуты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67" name="Card 67"/>
          <p:cNvSpPr/>
          <p:nvPr/>
        </p:nvSpPr>
        <p:spPr>
          <a:xfrm>
            <a:off x="1024128" y="3947718"/>
            <a:ext cx="5120640" cy="4558253"/>
          </a:xfrm>
          <a:prstGeom prst="roundRect">
            <a:avLst>
              <a:gd name="adj" fmla="val 240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8" name="Rule 68"/>
          <p:cNvSpPr/>
          <p:nvPr/>
        </p:nvSpPr>
        <p:spPr>
          <a:xfrm>
            <a:off x="1382572" y="4306162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69" name="Column title 69"/>
          <p:cNvSpPr txBox="1"/>
          <p:nvPr/>
        </p:nvSpPr>
        <p:spPr>
          <a:xfrm>
            <a:off x="1382572" y="4529428"/>
            <a:ext cx="4403752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 входе — шаблон и текст</a:t>
            </a:r>
            <a:endParaRPr lang="ru-RU" sz="2799"/>
          </a:p>
        </p:txBody>
      </p:sp>
      <p:sp>
        <p:nvSpPr>
          <p:cNvPr id="70" name="Column 70"/>
          <p:cNvSpPr txBox="1"/>
          <p:nvPr/>
        </p:nvSpPr>
        <p:spPr>
          <a:xfrm>
            <a:off x="1382572" y="6030041"/>
            <a:ext cx="4403752" cy="211748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Шаблон и текст для генерации презентаций</a:t>
            </a:r>
            <a:endParaRPr lang="ru-RU" sz="2799"/>
          </a:p>
        </p:txBody>
      </p:sp>
      <p:sp>
        <p:nvSpPr>
          <p:cNvPr id="71" name="Card 71"/>
          <p:cNvSpPr/>
          <p:nvPr/>
        </p:nvSpPr>
        <p:spPr>
          <a:xfrm>
            <a:off x="6583680" y="3947718"/>
            <a:ext cx="5120640" cy="4558253"/>
          </a:xfrm>
          <a:prstGeom prst="roundRect">
            <a:avLst>
              <a:gd name="adj" fmla="val 240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72" name="Rule 72"/>
          <p:cNvSpPr/>
          <p:nvPr/>
        </p:nvSpPr>
        <p:spPr>
          <a:xfrm>
            <a:off x="6942124" y="4306162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73" name="Column title 73"/>
          <p:cNvSpPr txBox="1"/>
          <p:nvPr/>
        </p:nvSpPr>
        <p:spPr>
          <a:xfrm>
            <a:off x="6942124" y="4529428"/>
            <a:ext cx="4403752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набор правил</a:t>
            </a:r>
            <a:endParaRPr lang="ru-RU" sz="2799"/>
          </a:p>
        </p:txBody>
      </p:sp>
      <p:sp>
        <p:nvSpPr>
          <p:cNvPr id="74" name="Column 74"/>
          <p:cNvSpPr txBox="1"/>
          <p:nvPr/>
        </p:nvSpPr>
        <p:spPr>
          <a:xfrm>
            <a:off x="6942124" y="6030041"/>
            <a:ext cx="4403752" cy="211748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Палитра, кегли, сетка, поля, логотипы и колонтитулы</a:t>
            </a:r>
            <a:endParaRPr lang="ru-RU" sz="2799"/>
          </a:p>
        </p:txBody>
      </p:sp>
      <p:sp>
        <p:nvSpPr>
          <p:cNvPr id="75" name="Card 75"/>
          <p:cNvSpPr/>
          <p:nvPr/>
        </p:nvSpPr>
        <p:spPr>
          <a:xfrm>
            <a:off x="12143232" y="3947718"/>
            <a:ext cx="5120640" cy="4558253"/>
          </a:xfrm>
          <a:prstGeom prst="roundRect">
            <a:avLst>
              <a:gd name="adj" fmla="val 240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76" name="Rule 76"/>
          <p:cNvSpPr/>
          <p:nvPr/>
        </p:nvSpPr>
        <p:spPr>
          <a:xfrm>
            <a:off x="12501676" y="4306162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77" name="Column title 77"/>
          <p:cNvSpPr txBox="1"/>
          <p:nvPr/>
        </p:nvSpPr>
        <p:spPr>
          <a:xfrm>
            <a:off x="12501676" y="4529428"/>
            <a:ext cx="4403752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 выходе — три редактируемые презентации</a:t>
            </a:r>
            <a:endParaRPr lang="ru-RU" sz="2799"/>
          </a:p>
        </p:txBody>
      </p:sp>
      <p:sp>
        <p:nvSpPr>
          <p:cNvPr id="78" name="Column 78"/>
          <p:cNvSpPr txBox="1"/>
          <p:nvPr/>
        </p:nvSpPr>
        <p:spPr>
          <a:xfrm>
            <a:off x="12501676" y="6030041"/>
            <a:ext cx="4403752" cy="211748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Готовые файлы в стиле шаблона</a:t>
            </a:r>
            <a:endParaRPr lang="ru-RU" sz="2799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Команда из пяти специалистов создаёт презентацию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Marker 43"/>
          <p:cNvSpPr/>
          <p:nvPr/>
        </p:nvSpPr>
        <p:spPr>
          <a:xfrm>
            <a:off x="1024128" y="4093462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4" name="Item 44"/>
          <p:cNvSpPr txBox="1"/>
          <p:nvPr/>
        </p:nvSpPr>
        <p:spPr>
          <a:xfrm>
            <a:off x="1592885" y="3947718"/>
            <a:ext cx="1242303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Аналитик — находит слайды, ряды данных и просьбы</a:t>
            </a:r>
            <a:endParaRPr lang="ru-RU" sz="2799"/>
          </a:p>
        </p:txBody>
      </p:sp>
      <p:cxnSp>
        <p:nvCxnSpPr>
          <p:cNvPr id="45" name="Line 45"/>
          <p:cNvCxnSpPr/>
          <p:nvPr/>
        </p:nvCxnSpPr>
        <p:spPr>
          <a:xfrm>
            <a:off x="1592885" y="4666290"/>
            <a:ext cx="12423038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46" name="Marker 46"/>
          <p:cNvSpPr/>
          <p:nvPr/>
        </p:nvSpPr>
        <p:spPr>
          <a:xfrm>
            <a:off x="1024128" y="5078638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7" name="Item 47"/>
          <p:cNvSpPr txBox="1"/>
          <p:nvPr/>
        </p:nvSpPr>
        <p:spPr>
          <a:xfrm>
            <a:off x="1592885" y="4932894"/>
            <a:ext cx="1242303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Дизайнер — продумывает каждый слайд отдельно</a:t>
            </a:r>
            <a:endParaRPr lang="ru-RU" sz="2799"/>
          </a:p>
        </p:txBody>
      </p:sp>
      <p:cxnSp>
        <p:nvCxnSpPr>
          <p:cNvPr id="48" name="Line 48"/>
          <p:cNvCxnSpPr/>
          <p:nvPr/>
        </p:nvCxnSpPr>
        <p:spPr>
          <a:xfrm>
            <a:off x="1592885" y="5651466"/>
            <a:ext cx="12423038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49" name="Marker 49"/>
          <p:cNvSpPr/>
          <p:nvPr/>
        </p:nvSpPr>
        <p:spPr>
          <a:xfrm>
            <a:off x="1024128" y="6063814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0" name="Item 50"/>
          <p:cNvSpPr txBox="1"/>
          <p:nvPr/>
        </p:nvSpPr>
        <p:spPr>
          <a:xfrm>
            <a:off x="1592885" y="5918070"/>
            <a:ext cx="1242303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Критик — сверяет план с текстом и правилами</a:t>
            </a:r>
            <a:endParaRPr lang="ru-RU" sz="2799"/>
          </a:p>
        </p:txBody>
      </p:sp>
      <p:cxnSp>
        <p:nvCxnSpPr>
          <p:cNvPr id="51" name="Line 51"/>
          <p:cNvCxnSpPr/>
          <p:nvPr/>
        </p:nvCxnSpPr>
        <p:spPr>
          <a:xfrm>
            <a:off x="1592885" y="6636642"/>
            <a:ext cx="12423038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52" name="Marker 52"/>
          <p:cNvSpPr/>
          <p:nvPr/>
        </p:nvSpPr>
        <p:spPr>
          <a:xfrm>
            <a:off x="1024128" y="7048990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3" name="Item 53"/>
          <p:cNvSpPr txBox="1"/>
          <p:nvPr/>
        </p:nvSpPr>
        <p:spPr>
          <a:xfrm>
            <a:off x="1592885" y="6903246"/>
            <a:ext cx="1242303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Компилятор — проверяет каждое число</a:t>
            </a:r>
            <a:endParaRPr lang="ru-RU" sz="2799"/>
          </a:p>
        </p:txBody>
      </p:sp>
      <p:cxnSp>
        <p:nvCxnSpPr>
          <p:cNvPr id="54" name="Line 54"/>
          <p:cNvCxnSpPr/>
          <p:nvPr/>
        </p:nvCxnSpPr>
        <p:spPr>
          <a:xfrm>
            <a:off x="1592885" y="7621818"/>
            <a:ext cx="12423038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55" name="Marker 55"/>
          <p:cNvSpPr/>
          <p:nvPr/>
        </p:nvSpPr>
        <p:spPr>
          <a:xfrm>
            <a:off x="1024128" y="8034166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6" name="Item 56"/>
          <p:cNvSpPr txBox="1"/>
          <p:nvPr/>
        </p:nvSpPr>
        <p:spPr>
          <a:xfrm>
            <a:off x="1592885" y="7888422"/>
            <a:ext cx="1242303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Вёрстка — собирает слайды по дизайн-⁠системе</a:t>
            </a:r>
            <a:endParaRPr lang="ru-RU" sz="2799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Одинаковое содержание, разная подача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67" name="Card 67"/>
          <p:cNvSpPr/>
          <p:nvPr/>
        </p:nvSpPr>
        <p:spPr>
          <a:xfrm>
            <a:off x="1024128" y="4137660"/>
            <a:ext cx="5120640" cy="4394903"/>
          </a:xfrm>
          <a:prstGeom prst="roundRect">
            <a:avLst>
              <a:gd name="adj" fmla="val 2496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8" name="Rule 68"/>
          <p:cNvSpPr/>
          <p:nvPr/>
        </p:nvSpPr>
        <p:spPr>
          <a:xfrm>
            <a:off x="1382572" y="4496104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69" name="Column title 69"/>
          <p:cNvSpPr txBox="1"/>
          <p:nvPr/>
        </p:nvSpPr>
        <p:spPr>
          <a:xfrm>
            <a:off x="1382572" y="4719370"/>
            <a:ext cx="4403752" cy="8788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Структурный</a:t>
            </a:r>
            <a:endParaRPr lang="ru-RU" sz="5600"/>
          </a:p>
        </p:txBody>
      </p:sp>
      <p:sp>
        <p:nvSpPr>
          <p:cNvPr id="70" name="Column 70"/>
          <p:cNvSpPr txBox="1"/>
          <p:nvPr/>
        </p:nvSpPr>
        <p:spPr>
          <a:xfrm>
            <a:off x="1382572" y="5793720"/>
            <a:ext cx="4403752" cy="238039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Одна мысль на слайде, строгая сетка</a:t>
            </a:r>
            <a:endParaRPr lang="ru-RU" sz="2799"/>
          </a:p>
        </p:txBody>
      </p:sp>
      <p:sp>
        <p:nvSpPr>
          <p:cNvPr id="71" name="Card 71"/>
          <p:cNvSpPr/>
          <p:nvPr/>
        </p:nvSpPr>
        <p:spPr>
          <a:xfrm>
            <a:off x="6583680" y="4137660"/>
            <a:ext cx="5120640" cy="4394903"/>
          </a:xfrm>
          <a:prstGeom prst="roundRect">
            <a:avLst>
              <a:gd name="adj" fmla="val 2496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72" name="Rule 72"/>
          <p:cNvSpPr/>
          <p:nvPr/>
        </p:nvSpPr>
        <p:spPr>
          <a:xfrm>
            <a:off x="6942124" y="4496104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73" name="Column title 73"/>
          <p:cNvSpPr txBox="1"/>
          <p:nvPr/>
        </p:nvSpPr>
        <p:spPr>
          <a:xfrm>
            <a:off x="6942124" y="4719370"/>
            <a:ext cx="4403752" cy="8788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Визуальный</a:t>
            </a:r>
            <a:endParaRPr lang="ru-RU" sz="5600"/>
          </a:p>
        </p:txBody>
      </p:sp>
      <p:sp>
        <p:nvSpPr>
          <p:cNvPr id="74" name="Column 74"/>
          <p:cNvSpPr txBox="1"/>
          <p:nvPr/>
        </p:nvSpPr>
        <p:spPr>
          <a:xfrm>
            <a:off x="6942124" y="5793720"/>
            <a:ext cx="4403752" cy="238039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Крупные цифры и наглядные схемы</a:t>
            </a:r>
            <a:endParaRPr lang="ru-RU" sz="2799"/>
          </a:p>
        </p:txBody>
      </p:sp>
      <p:sp>
        <p:nvSpPr>
          <p:cNvPr id="75" name="Card 75"/>
          <p:cNvSpPr/>
          <p:nvPr/>
        </p:nvSpPr>
        <p:spPr>
          <a:xfrm>
            <a:off x="12143232" y="4137660"/>
            <a:ext cx="5120640" cy="4394903"/>
          </a:xfrm>
          <a:prstGeom prst="roundRect">
            <a:avLst>
              <a:gd name="adj" fmla="val 2496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76" name="Rule 76"/>
          <p:cNvSpPr/>
          <p:nvPr/>
        </p:nvSpPr>
        <p:spPr>
          <a:xfrm>
            <a:off x="12501676" y="4496104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77" name="Column title 77"/>
          <p:cNvSpPr txBox="1"/>
          <p:nvPr/>
        </p:nvSpPr>
        <p:spPr>
          <a:xfrm>
            <a:off x="12501676" y="4719370"/>
            <a:ext cx="4403752" cy="8788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Компактный</a:t>
            </a:r>
            <a:endParaRPr lang="ru-RU" sz="5600"/>
          </a:p>
        </p:txBody>
      </p:sp>
      <p:sp>
        <p:nvSpPr>
          <p:cNvPr id="78" name="Column 78"/>
          <p:cNvSpPr txBox="1"/>
          <p:nvPr/>
        </p:nvSpPr>
        <p:spPr>
          <a:xfrm>
            <a:off x="12501676" y="5793720"/>
            <a:ext cx="4403752" cy="238039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Вывод первой строкой, текст слева, данные справа</a:t>
            </a:r>
            <a:endParaRPr lang="ru-RU" sz="2799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Целостность — основная категория проверок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hart note 43"/>
          <p:cNvSpPr txBox="1"/>
          <p:nvPr/>
        </p:nvSpPr>
        <p:spPr>
          <a:xfrm>
            <a:off x="1024128" y="3947718"/>
            <a:ext cx="5521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Всего 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41 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проверка: 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12 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 целостность, 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11 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 вёрстку</a:t>
            </a:r>
            <a:endParaRPr lang="ru-RU" sz="2799"/>
          </a:p>
        </p:txBody>
      </p:sp>
      <p:cxnSp>
        <p:nvCxnSpPr>
          <p:cNvPr id="44" name="Line 44"/>
          <p:cNvCxnSpPr/>
          <p:nvPr/>
        </p:nvCxnSpPr>
        <p:spPr>
          <a:xfrm>
            <a:off x="6984552" y="3947718"/>
            <a:ext cx="0" cy="878535"/>
          </a:xfrm>
          <a:prstGeom prst="line">
            <a:avLst/>
          </a:prstGeom>
          <a:ln w="12700">
            <a:solidFill>
              <a:srgbClr val="384848"/>
            </a:solidFill>
          </a:ln>
        </p:spPr>
      </p:cxnSp>
      <p:sp>
        <p:nvSpPr>
          <p:cNvPr id="45" name="Unit 45"/>
          <p:cNvSpPr txBox="1"/>
          <p:nvPr/>
        </p:nvSpPr>
        <p:spPr>
          <a:xfrm>
            <a:off x="7423464" y="3947718"/>
            <a:ext cx="9840408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Число проверок по категориям</a:t>
            </a:r>
            <a:endParaRPr lang="ru-RU" sz="1800"/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7423464" y="4340021"/>
          <a:ext cx="9840408" cy="4483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9 демонстрационных презентаций без лишних чисел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aphicFrame>
        <p:nvGraphicFramePr>
          <p:cNvPr id="43" name="Table"/>
          <p:cNvGraphicFramePr>
            <a:graphicFrameLocks noGrp="1"/>
          </p:cNvGraphicFramePr>
          <p:nvPr/>
        </p:nvGraphicFramePr>
        <p:xfrm>
          <a:off x="1024128" y="3947718"/>
          <a:ext cx="11692615" cy="477026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5846308"/>
                <a:gridCol w="5846307"/>
              </a:tblGrid>
              <a:tr h="95405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Показатель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Значение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</a:tr>
              <a:tr h="1272071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Демо-презентаций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9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72071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Сверенных чисел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116 → 123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72071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Лишних чисел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0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87 шаблонов и 99/100 качества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aphicFrame>
        <p:nvGraphicFramePr>
          <p:cNvPr id="43" name="Table"/>
          <p:cNvGraphicFramePr>
            <a:graphicFrameLocks noGrp="1"/>
          </p:cNvGraphicFramePr>
          <p:nvPr/>
        </p:nvGraphicFramePr>
        <p:xfrm>
          <a:off x="1024128" y="4137660"/>
          <a:ext cx="11692615" cy="459931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5846308"/>
                <a:gridCol w="5846307"/>
              </a:tblGrid>
              <a:tr h="91986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Показатель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Значение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Чужих шаблонов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87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Средняя оценка качества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99/100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Форматов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12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Генерация шаблонов укладывается в 5 минут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hart note 43"/>
          <p:cNvSpPr txBox="1"/>
          <p:nvPr/>
        </p:nvSpPr>
        <p:spPr>
          <a:xfrm>
            <a:off x="1024128" y="3947718"/>
            <a:ext cx="5521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 шаблоны укладываются в лимит 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5 минут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 с запасом</a:t>
            </a:r>
            <a:endParaRPr lang="ru-RU" sz="2799"/>
          </a:p>
        </p:txBody>
      </p:sp>
      <p:cxnSp>
        <p:nvCxnSpPr>
          <p:cNvPr id="44" name="Line 44"/>
          <p:cNvCxnSpPr/>
          <p:nvPr/>
        </p:nvCxnSpPr>
        <p:spPr>
          <a:xfrm>
            <a:off x="6984552" y="3947718"/>
            <a:ext cx="0" cy="878535"/>
          </a:xfrm>
          <a:prstGeom prst="line">
            <a:avLst/>
          </a:prstGeom>
          <a:ln w="12700">
            <a:solidFill>
              <a:srgbClr val="384848"/>
            </a:solidFill>
          </a:ln>
        </p:spPr>
      </p:cxnSp>
      <p:sp>
        <p:nvSpPr>
          <p:cNvPr id="45" name="Unit 45"/>
          <p:cNvSpPr txBox="1"/>
          <p:nvPr/>
        </p:nvSpPr>
        <p:spPr>
          <a:xfrm>
            <a:off x="7423464" y="3947718"/>
            <a:ext cx="9840408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Время генерации шаблонов (секунды)</a:t>
            </a:r>
            <a:endParaRPr lang="ru-RU" sz="1800"/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7423464" y="4340021"/>
          <a:ext cx="9840408" cy="4483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Три открытые модели с лицензией Apache 2.0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onclusion bar 43"/>
          <p:cNvSpPr/>
          <p:nvPr/>
        </p:nvSpPr>
        <p:spPr>
          <a:xfrm>
            <a:off x="1024128" y="3990375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4" name="Conclusion 44"/>
          <p:cNvSpPr txBox="1"/>
          <p:nvPr/>
        </p:nvSpPr>
        <p:spPr>
          <a:xfrm>
            <a:off x="1370228" y="3947718"/>
            <a:ext cx="14269669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 модели поддерживают масштаб до 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35 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миллиардов параметров</a:t>
            </a:r>
            <a:endParaRPr lang="ru-RU" sz="2799"/>
          </a:p>
        </p:txBody>
      </p:sp>
      <p:sp>
        <p:nvSpPr>
          <p:cNvPr id="45" name="Card 45"/>
          <p:cNvSpPr/>
          <p:nvPr/>
        </p:nvSpPr>
        <p:spPr>
          <a:xfrm>
            <a:off x="1024128" y="4770018"/>
            <a:ext cx="5120640" cy="3902385"/>
          </a:xfrm>
          <a:prstGeom prst="roundRect">
            <a:avLst>
              <a:gd name="adj" fmla="val 2811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6" name="Rule 46"/>
          <p:cNvSpPr/>
          <p:nvPr/>
        </p:nvSpPr>
        <p:spPr>
          <a:xfrm>
            <a:off x="1382572" y="5128462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7" name="Column title 47"/>
          <p:cNvSpPr txBox="1"/>
          <p:nvPr/>
        </p:nvSpPr>
        <p:spPr>
          <a:xfrm>
            <a:off x="1382572" y="5351728"/>
            <a:ext cx="4403752" cy="146161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Qwen3.8-⁠27B</a:t>
            </a:r>
            <a:endParaRPr lang="ru-RU" sz="4712"/>
          </a:p>
        </p:txBody>
      </p:sp>
      <p:sp>
        <p:nvSpPr>
          <p:cNvPr id="48" name="Column 48"/>
          <p:cNvSpPr txBox="1"/>
          <p:nvPr/>
        </p:nvSpPr>
        <p:spPr>
          <a:xfrm>
            <a:off x="1382572" y="7008856"/>
            <a:ext cx="4403752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Основная модель, инференс VK, конфиг готов</a:t>
            </a:r>
            <a:endParaRPr lang="ru-RU" sz="2799"/>
          </a:p>
        </p:txBody>
      </p:sp>
      <p:sp>
        <p:nvSpPr>
          <p:cNvPr id="49" name="Card 49"/>
          <p:cNvSpPr/>
          <p:nvPr/>
        </p:nvSpPr>
        <p:spPr>
          <a:xfrm>
            <a:off x="6583680" y="4770018"/>
            <a:ext cx="5120640" cy="3902385"/>
          </a:xfrm>
          <a:prstGeom prst="roundRect">
            <a:avLst>
              <a:gd name="adj" fmla="val 2811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Rule 50"/>
          <p:cNvSpPr/>
          <p:nvPr/>
        </p:nvSpPr>
        <p:spPr>
          <a:xfrm>
            <a:off x="6942124" y="5128462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1" name="Column title 51"/>
          <p:cNvSpPr txBox="1"/>
          <p:nvPr/>
        </p:nvSpPr>
        <p:spPr>
          <a:xfrm>
            <a:off x="6942124" y="5351728"/>
            <a:ext cx="4403752" cy="146161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Qwen3-⁠32B</a:t>
            </a:r>
            <a:endParaRPr lang="ru-RU" sz="4712"/>
          </a:p>
        </p:txBody>
      </p:sp>
      <p:sp>
        <p:nvSpPr>
          <p:cNvPr id="52" name="Column 52"/>
          <p:cNvSpPr txBox="1"/>
          <p:nvPr/>
        </p:nvSpPr>
        <p:spPr>
          <a:xfrm>
            <a:off x="6942124" y="7008856"/>
            <a:ext cx="4403752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Запасное звено на Cloud.ru</a:t>
            </a:r>
            <a:endParaRPr lang="ru-RU" sz="2799"/>
          </a:p>
        </p:txBody>
      </p:sp>
      <p:sp>
        <p:nvSpPr>
          <p:cNvPr id="53" name="Card 53"/>
          <p:cNvSpPr/>
          <p:nvPr/>
        </p:nvSpPr>
        <p:spPr>
          <a:xfrm>
            <a:off x="12143232" y="4770018"/>
            <a:ext cx="5120640" cy="3902385"/>
          </a:xfrm>
          <a:prstGeom prst="roundRect">
            <a:avLst>
              <a:gd name="adj" fmla="val 2811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4" name="Rule 54"/>
          <p:cNvSpPr/>
          <p:nvPr/>
        </p:nvSpPr>
        <p:spPr>
          <a:xfrm>
            <a:off x="12501676" y="5128462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5" name="Column title 55"/>
          <p:cNvSpPr txBox="1"/>
          <p:nvPr/>
        </p:nvSpPr>
        <p:spPr>
          <a:xfrm>
            <a:off x="12501676" y="5351728"/>
            <a:ext cx="4403752" cy="146161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Gemma 4 и Qwen3-⁠VL</a:t>
            </a:r>
            <a:endParaRPr lang="ru-RU" sz="4712"/>
          </a:p>
        </p:txBody>
      </p:sp>
      <p:sp>
        <p:nvSpPr>
          <p:cNvPr id="56" name="Column 56"/>
          <p:cNvSpPr txBox="1"/>
          <p:nvPr/>
        </p:nvSpPr>
        <p:spPr>
          <a:xfrm>
            <a:off x="12501676" y="7008856"/>
            <a:ext cx="4403752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Два запасных звена цепочки</a:t>
            </a:r>
            <a:endParaRPr lang="ru-RU" sz="2799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1696789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2 028 автотестов и редактируемые объекты в форматах PPTX, PDF и HTML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Marker 43"/>
          <p:cNvSpPr/>
          <p:nvPr/>
        </p:nvSpPr>
        <p:spPr>
          <a:xfrm>
            <a:off x="1024128" y="4911181"/>
            <a:ext cx="227401" cy="227401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4" name="Item 44"/>
          <p:cNvSpPr txBox="1"/>
          <p:nvPr/>
        </p:nvSpPr>
        <p:spPr>
          <a:xfrm>
            <a:off x="1981606" y="4665827"/>
            <a:ext cx="12034317" cy="7435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Чат с агентом для правок</a:t>
            </a:r>
            <a:endParaRPr lang="ru-RU" sz="4712"/>
          </a:p>
        </p:txBody>
      </p:sp>
      <p:cxnSp>
        <p:nvCxnSpPr>
          <p:cNvPr id="45" name="Line 45"/>
          <p:cNvCxnSpPr/>
          <p:nvPr/>
        </p:nvCxnSpPr>
        <p:spPr>
          <a:xfrm>
            <a:off x="1981606" y="5768390"/>
            <a:ext cx="12034317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46" name="Marker 46"/>
          <p:cNvSpPr/>
          <p:nvPr/>
        </p:nvSpPr>
        <p:spPr>
          <a:xfrm>
            <a:off x="1024128" y="6372798"/>
            <a:ext cx="227401" cy="227401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7" name="Item 47"/>
          <p:cNvSpPr txBox="1"/>
          <p:nvPr/>
        </p:nvSpPr>
        <p:spPr>
          <a:xfrm>
            <a:off x="1981606" y="6127444"/>
            <a:ext cx="12034317" cy="146161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Генерация изображений внутри слайдов — в планах</a:t>
            </a:r>
            <a:endParaRPr lang="ru-RU" sz="4712"/>
          </a:p>
        </p:txBody>
      </p:sp>
      <p:cxnSp>
        <p:nvCxnSpPr>
          <p:cNvPr id="48" name="Line 48"/>
          <p:cNvCxnSpPr/>
          <p:nvPr/>
        </p:nvCxnSpPr>
        <p:spPr>
          <a:xfrm>
            <a:off x="1981606" y="7948116"/>
            <a:ext cx="12034317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49" name="Marker 49"/>
          <p:cNvSpPr/>
          <p:nvPr/>
        </p:nvSpPr>
        <p:spPr>
          <a:xfrm>
            <a:off x="1024128" y="8552524"/>
            <a:ext cx="227401" cy="227401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0" name="Item 50"/>
          <p:cNvSpPr txBox="1"/>
          <p:nvPr/>
        </p:nvSpPr>
        <p:spPr>
          <a:xfrm>
            <a:off x="1981606" y="8307170"/>
            <a:ext cx="12034317" cy="7435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Переход на инференс VK — в планах</a:t>
            </a:r>
            <a:endParaRPr lang="ru-RU" sz="4712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Minimalis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