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</p:sldIdLst>
  <p:sldSz cy="10287000" cx="18288000"/>
  <p:notesSz cx="6858000" cy="9144000"/>
  <p:embeddedFontLst>
    <p:embeddedFont>
      <p:font typeface="Inter Ligh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7" Type="http://schemas.openxmlformats.org/officeDocument/2006/relationships/font" Target="fonts/InterLight-regular.fntdata"/><Relationship Id="rId28" Type="http://schemas.openxmlformats.org/officeDocument/2006/relationships/font" Target="fonts/InterLight-bold.fntdata"/><Relationship Id="rId29" Type="http://schemas.openxmlformats.org/officeDocument/2006/relationships/font" Target="fonts/InterLight-italic.fntdata"/><Relationship Id="rId30" Type="http://schemas.openxmlformats.org/officeDocument/2006/relationships/font" Target="fonts/InterLight-boldItalic.fntdata"/><Relationship Id="rId31" Type="http://schemas.openxmlformats.org/officeDocument/2006/relationships/font" Target="fonts/Inter-regular.fntdata"/><Relationship Id="rId32" Type="http://schemas.openxmlformats.org/officeDocument/2006/relationships/font" Target="fonts/Inter-bold.fntdata"/><Relationship Id="rId33" Type="http://schemas.openxmlformats.org/officeDocument/2006/relationships/font" Target="fonts/Inter-italic.fntdata"/><Relationship Id="rId34" Type="http://schemas.openxmlformats.org/officeDocument/2006/relationships/font" Target="fonts/Inter-boldItalic.fntdata"/><Relationship Id="rId35" Type="http://schemas.openxmlformats.org/officeDocument/2006/relationships/font" Target="fonts/InterMedium-regular.fntdata"/><Relationship Id="rId36" Type="http://schemas.openxmlformats.org/officeDocument/2006/relationships/font" Target="fonts/InterMedium-bold.fntdata"/><Relationship Id="rId37" Type="http://schemas.openxmlformats.org/officeDocument/2006/relationships/font" Target="fonts/InterMedium-italic.fntdata"/><Relationship Id="rId38" Type="http://schemas.openxmlformats.org/officeDocument/2006/relationships/font" Target="fonts/InterMedium-boldItalic.fntdata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293"/>
          <c:y val="0.0293"/>
          <c:w val="0.9415"/>
          <c:h val="0.941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Состав</c:v>
                </c:pt>
              </c:strCache>
            </c:strRef>
          </c:tx>
          <c:dPt>
            <c:idx val="0"/>
            <c:spPr>
              <a:solidFill>
                <a:srgbClr val="C2D076"/>
              </a:solidFill>
              <a:ln w="25400">
                <a:solidFill>
                  <a:srgbClr val="001514"/>
                </a:solidFill>
              </a:ln>
            </c:spPr>
          </c:dPt>
          <c:dPt>
            <c:idx val="1"/>
            <c:spPr>
              <a:solidFill>
                <a:srgbClr val="E8EDCB"/>
              </a:solidFill>
              <a:ln w="25400">
                <a:solidFill>
                  <a:srgbClr val="001514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b="0">
                      <a:solidFill>
                        <a:srgbClr val="001514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b="0">
                      <a:solidFill>
                        <a:srgbClr val="001514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8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Свободные фигуры</c:v>
                </c:pt>
                <c:pt idx="1">
                  <c:v>Плейсхолдеры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95.0</c:v>
                </c:pt>
                <c:pt idx="1">
                  <c:v>5.0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8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503"/>
          <c:y val="0.0218"/>
          <c:w val="0.7988"/>
          <c:h val="0.95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Проверки</c:v>
                </c:pt>
              </c:strCache>
            </c:strRef>
          </c:tx>
          <c:spPr>
            <a:solidFill>
              <a:srgbClr val="C2D076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200" b="0">
                      <a:solidFill>
                        <a:srgbClr val="FFFFFF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2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;&quot;−&quot;#,##0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2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800" b="0">
                <a:solidFill>
                  <a:srgbClr val="A8AFAF"/>
                </a:solidFill>
                <a:latin typeface="Inter Light"/>
                <a:ea typeface="Inter Light"/>
                <a:cs typeface="Inter Light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08"/>
          <c:y val="0.1462"/>
          <c:w val="0.9984"/>
          <c:h val="0.71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C2D076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200" b="0">
                      <a:solidFill>
                        <a:srgbClr val="FFFFFF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2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2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9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384848"/>
            </a:solidFill>
          </a:ln>
        </c:spPr>
        <c:txPr>
          <a:bodyPr rot="0" vert="horz"/>
          <a:lstStyle/>
          <a:p>
            <a:pPr>
              <a:defRPr sz="1800" b="0">
                <a:solidFill>
                  <a:srgbClr val="A8AFAF"/>
                </a:solidFill>
                <a:latin typeface="Inter Light"/>
                <a:ea typeface="Inter Light"/>
                <a:cs typeface="Inter Light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ИИ пока не способен воспроизводить фирменный стиль, а шаблоны не дают понятной инструкции для новых слайдов.</a:t>
            </a:r>
          </a:p>
          <a:p>
            <a:r>
              <a:t>[verstka:sl2]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реальных шаблонах 95% фигур — свободные, поэтому правила оформления приходится выводить из самих слайдов-образцов, включая палитру, кегли, сетку, поля, логотипы и колонтитулы.</a:t>
            </a:r>
          </a:p>
          <a:p>
            <a:r>
              <a:t>[verstka:sl3]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использует шаблон как набор правил, а не макетов, чтобы автоматически создать три редактируемые презентации на основе текста.</a:t>
            </a:r>
          </a:p>
          <a:p>
            <a:r>
              <a:t>[verstka:sl4]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Агент работает на открытых моделях до 35 миллиардов параметров с лицензией Apache 2.0. Процесс включает анализ текста, проектирование, проверку и вёрстку слайдов.</a:t>
            </a:r>
          </a:p>
          <a:p>
            <a:r>
              <a:t>[verstka:sl5]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Содержание одно, подача разная. | Вариант | Подача | Когда подходит |. |---|---|---|. | Структурный | одна мысль на слайд, строгая сетка | отчёт и защита проекта |. | Визуальный | крупные цифры и наглядные схемы | питч и выступление со сцены |. | Компактный | вывод первой строкой, данные справа | рассылка руководителю |.</a:t>
            </a:r>
          </a:p>
          <a:p>
            <a:r>
              <a:t>[verstka:sl6]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Каждый слайд проходит 41 проверку: 12 на целостность, 11 на вёрстку, 7 на шаблон, 6 на контент и 5 на плотность. Найденные проблемы помечаются на слайде и исправляются автоматически.</a:t>
            </a:r>
          </a:p>
          <a:p>
            <a:r>
              <a:t>[verstka:sl7]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Каждое число в презентации сверяется дважды: до вёрстки и после. Всего было подготовлено 9 демонстрационных презентаций без выдуманных чисел.</a:t>
            </a:r>
          </a:p>
          <a:p>
            <a:r>
              <a:t>[verstka:sl8]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Сервис поддерживает 12 форматов файлов, включая pptx, potx, ppt, odp, thmx и другие. Он проверяет качество презентаций по 87 чужим шаблонам, средняя оценка качества — 99 из 100.</a:t>
            </a:r>
          </a:p>
          <a:p>
            <a:r>
              <a:t>[verstka:sl9]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Время генерации трёх вариантов на шаблонах датасета: VK Tech — 113 секунд, VK Education — 145 секунд, VK WorkSpace — 175 секунд. Все значения значительно ниже установленного лимита в 5 минут.</a:t>
            </a:r>
          </a:p>
          <a:p>
            <a:r>
              <a:t>[verstka:sl10]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После финала компания планирует три ключевых шага: переход на более мощные технологии инференса, внедрение генерации изображений в слайдах и запуск пилота на шаблонах и сценариях VK Tech.</a:t>
            </a:r>
          </a:p>
          <a:p>
            <a:r>
              <a:t>[verstka:sl11]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9136050" y="1007975"/>
            <a:ext cx="8131200" cy="82704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1009200" y="10068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4"/>
          <p:cNvSpPr/>
          <p:nvPr>
            <p:ph idx="3" type="pic"/>
          </p:nvPr>
        </p:nvSpPr>
        <p:spPr>
          <a:xfrm>
            <a:off x="1009200" y="51654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2D07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4400"/>
              <a:buFont typeface="Inter"/>
              <a:buNone/>
              <a:defRPr i="0" sz="4400" u="none" cap="none" strike="noStrik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Char char="•"/>
              <a:defRPr i="0" sz="3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–"/>
              <a:defRPr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•"/>
              <a:defRPr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9651876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Вёрстка забирает больше времени, чем написание текста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4665827"/>
            <a:ext cx="5120640" cy="3261861"/>
          </a:xfrm>
          <a:prstGeom prst="roundRect">
            <a:avLst>
              <a:gd name="adj" fmla="val 336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Index 44"/>
          <p:cNvSpPr txBox="1"/>
          <p:nvPr/>
        </p:nvSpPr>
        <p:spPr>
          <a:xfrm>
            <a:off x="1459382" y="5101081"/>
            <a:ext cx="4250132" cy="7181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01</a:t>
            </a:r>
            <a:endParaRPr lang="ru-RU" sz="4712"/>
          </a:p>
        </p:txBody>
      </p:sp>
      <p:sp>
        <p:nvSpPr>
          <p:cNvPr id="45" name="Card text 45"/>
          <p:cNvSpPr txBox="1"/>
          <p:nvPr/>
        </p:nvSpPr>
        <p:spPr>
          <a:xfrm>
            <a:off x="1459382" y="5927203"/>
            <a:ext cx="4250132" cy="156523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4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Ручная вёрстка</a:t>
            </a:r>
            <a:endParaRPr lang="ru-RU" sz="24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Подобрать макет, подвинуть блоки, подогнать цвета под фирменный стиль</a:t>
            </a:r>
            <a:endParaRPr lang="ru-RU" sz="2199"/>
          </a:p>
        </p:txBody>
      </p:sp>
      <p:sp>
        <p:nvSpPr>
          <p:cNvPr id="46" name="Card 46"/>
          <p:cNvSpPr/>
          <p:nvPr/>
        </p:nvSpPr>
        <p:spPr>
          <a:xfrm>
            <a:off x="6583680" y="4665827"/>
            <a:ext cx="5120640" cy="3261861"/>
          </a:xfrm>
          <a:prstGeom prst="roundRect">
            <a:avLst>
              <a:gd name="adj" fmla="val 336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Index 47"/>
          <p:cNvSpPr txBox="1"/>
          <p:nvPr/>
        </p:nvSpPr>
        <p:spPr>
          <a:xfrm>
            <a:off x="7018934" y="5101081"/>
            <a:ext cx="4250132" cy="7181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02</a:t>
            </a:r>
            <a:endParaRPr lang="ru-RU" sz="4712"/>
          </a:p>
        </p:txBody>
      </p:sp>
      <p:sp>
        <p:nvSpPr>
          <p:cNvPr id="48" name="Card text 48"/>
          <p:cNvSpPr txBox="1"/>
          <p:nvPr/>
        </p:nvSpPr>
        <p:spPr>
          <a:xfrm>
            <a:off x="7018934" y="5927203"/>
            <a:ext cx="4250132" cy="156523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4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ИИ ломает стиль</a:t>
            </a:r>
            <a:endParaRPr lang="ru-RU" sz="24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Нейросети пишут текст, но не воспроизводят дизайн-⁠систему</a:t>
            </a:r>
            <a:endParaRPr lang="ru-RU" sz="2199"/>
          </a:p>
        </p:txBody>
      </p:sp>
      <p:sp>
        <p:nvSpPr>
          <p:cNvPr id="49" name="Card 49"/>
          <p:cNvSpPr/>
          <p:nvPr/>
        </p:nvSpPr>
        <p:spPr>
          <a:xfrm>
            <a:off x="12143232" y="4665827"/>
            <a:ext cx="5120640" cy="3261861"/>
          </a:xfrm>
          <a:prstGeom prst="roundRect">
            <a:avLst>
              <a:gd name="adj" fmla="val 336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Index 50"/>
          <p:cNvSpPr txBox="1"/>
          <p:nvPr/>
        </p:nvSpPr>
        <p:spPr>
          <a:xfrm>
            <a:off x="12578486" y="5101081"/>
            <a:ext cx="4250132" cy="7181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03</a:t>
            </a:r>
            <a:endParaRPr lang="ru-RU" sz="4712"/>
          </a:p>
        </p:txBody>
      </p:sp>
      <p:sp>
        <p:nvSpPr>
          <p:cNvPr id="51" name="Card text 51"/>
          <p:cNvSpPr txBox="1"/>
          <p:nvPr/>
        </p:nvSpPr>
        <p:spPr>
          <a:xfrm>
            <a:off x="12578486" y="5927203"/>
            <a:ext cx="4250132" cy="156523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4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Шаблон — не инструкция</a:t>
            </a:r>
            <a:endParaRPr lang="ru-RU" sz="24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по слайдам-⁠образцам не понять, как собрать новый слайд</a:t>
            </a:r>
            <a:endParaRPr lang="ru-RU" sz="2199"/>
          </a:p>
        </p:txBody>
      </p:sp>
      <p:sp>
        <p:nvSpPr>
          <p:cNvPr id="52" name="Conclusion strip 52"/>
          <p:cNvSpPr/>
          <p:nvPr/>
        </p:nvSpPr>
        <p:spPr>
          <a:xfrm>
            <a:off x="1024128" y="8355259"/>
            <a:ext cx="16239744" cy="892754"/>
          </a:xfrm>
          <a:prstGeom prst="roundRect">
            <a:avLst>
              <a:gd name="adj" fmla="val 1229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3" name="Conclusion bar 53"/>
          <p:cNvSpPr/>
          <p:nvPr/>
        </p:nvSpPr>
        <p:spPr>
          <a:xfrm>
            <a:off x="1379601" y="8618309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4" name="Conclusion 54"/>
          <p:cNvSpPr txBox="1"/>
          <p:nvPr/>
        </p:nvSpPr>
        <p:spPr>
          <a:xfrm>
            <a:off x="1725701" y="8575652"/>
            <a:ext cx="1518269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Ручная вёрстка, ИИ и шаблоны — три проблемы, которые тормозят</a:t>
            </a:r>
            <a:endParaRPr lang="ru-RU" sz="279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95% фигур — свободные, 5% — плейсхолдеры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1024128" y="3947718"/>
          <a:ext cx="4687877" cy="468787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Legend title 44"/>
          <p:cNvSpPr txBox="1"/>
          <p:nvPr/>
        </p:nvSpPr>
        <p:spPr>
          <a:xfrm>
            <a:off x="6589829" y="5400421"/>
            <a:ext cx="4827735" cy="70079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Состав фигур в шаблоне</a:t>
            </a:r>
            <a:endParaRPr lang="ru-RU" sz="2799"/>
          </a:p>
        </p:txBody>
      </p:sp>
      <p:sp>
        <p:nvSpPr>
          <p:cNvPr id="45" name="Swatch 45"/>
          <p:cNvSpPr/>
          <p:nvPr/>
        </p:nvSpPr>
        <p:spPr>
          <a:xfrm>
            <a:off x="6589829" y="6186533"/>
            <a:ext cx="255941" cy="255941"/>
          </a:xfrm>
          <a:prstGeom prst="roundRect">
            <a:avLst>
              <a:gd name="adj" fmla="val 24999"/>
            </a:avLst>
          </a:prstGeom>
          <a:solidFill>
            <a:srgbClr val="C2D076"/>
          </a:solidFill>
          <a:ln>
            <a:noFill/>
          </a:ln>
        </p:spPr>
      </p:sp>
      <p:sp>
        <p:nvSpPr>
          <p:cNvPr id="46" name="Legend 46"/>
          <p:cNvSpPr txBox="1"/>
          <p:nvPr/>
        </p:nvSpPr>
        <p:spPr>
          <a:xfrm>
            <a:off x="7050522" y="6101220"/>
            <a:ext cx="3451310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Свободные фигуры</a:t>
            </a:r>
            <a:endParaRPr lang="ru-RU" sz="2799"/>
          </a:p>
        </p:txBody>
      </p:sp>
      <p:sp>
        <p:nvSpPr>
          <p:cNvPr id="47" name="Share 47"/>
          <p:cNvSpPr txBox="1"/>
          <p:nvPr/>
        </p:nvSpPr>
        <p:spPr>
          <a:xfrm>
            <a:off x="10501832" y="6101220"/>
            <a:ext cx="915732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95%</a:t>
            </a:r>
            <a:endParaRPr lang="ru-RU" sz="2799"/>
          </a:p>
        </p:txBody>
      </p:sp>
      <p:sp>
        <p:nvSpPr>
          <p:cNvPr id="48" name="Swatch 48"/>
          <p:cNvSpPr/>
          <p:nvPr/>
        </p:nvSpPr>
        <p:spPr>
          <a:xfrm>
            <a:off x="6589829" y="6816237"/>
            <a:ext cx="255941" cy="255941"/>
          </a:xfrm>
          <a:prstGeom prst="roundRect">
            <a:avLst>
              <a:gd name="adj" fmla="val 24999"/>
            </a:avLst>
          </a:prstGeom>
          <a:solidFill>
            <a:srgbClr val="E8EDCB"/>
          </a:solidFill>
          <a:ln>
            <a:noFill/>
          </a:ln>
        </p:spPr>
      </p:sp>
      <p:sp>
        <p:nvSpPr>
          <p:cNvPr id="49" name="Legend 49"/>
          <p:cNvSpPr txBox="1"/>
          <p:nvPr/>
        </p:nvSpPr>
        <p:spPr>
          <a:xfrm>
            <a:off x="7050522" y="6730924"/>
            <a:ext cx="3451310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Плейсхолдеры</a:t>
            </a:r>
            <a:endParaRPr lang="ru-RU" sz="2799"/>
          </a:p>
        </p:txBody>
      </p:sp>
      <p:sp>
        <p:nvSpPr>
          <p:cNvPr id="50" name="Share 50"/>
          <p:cNvSpPr txBox="1"/>
          <p:nvPr/>
        </p:nvSpPr>
        <p:spPr>
          <a:xfrm>
            <a:off x="10501832" y="6730924"/>
            <a:ext cx="915732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5%</a:t>
            </a:r>
            <a:endParaRPr lang="ru-RU" sz="2799"/>
          </a:p>
        </p:txBody>
      </p:sp>
      <p:cxnSp>
        <p:nvCxnSpPr>
          <p:cNvPr id="51" name="Line 51"/>
          <p:cNvCxnSpPr/>
          <p:nvPr/>
        </p:nvCxnSpPr>
        <p:spPr>
          <a:xfrm>
            <a:off x="11856476" y="4680418"/>
            <a:ext cx="0" cy="3206864"/>
          </a:xfrm>
          <a:prstGeom prst="line">
            <a:avLst/>
          </a:prstGeom>
          <a:ln w="12700">
            <a:solidFill>
              <a:srgbClr val="384848"/>
            </a:solidFill>
          </a:ln>
        </p:spPr>
      </p:cxnSp>
      <p:sp>
        <p:nvSpPr>
          <p:cNvPr id="52" name="Takeaway 52"/>
          <p:cNvSpPr txBox="1"/>
          <p:nvPr/>
        </p:nvSpPr>
        <p:spPr>
          <a:xfrm>
            <a:off x="12295388" y="4680418"/>
            <a:ext cx="4968484" cy="320686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91020" indent="-391020">
              <a:lnSpc>
                <a:spcPct val="100000"/>
              </a:lnSpc>
              <a:spcAft>
                <a:spcPts val="1539"/>
              </a:spcAft>
              <a:buClr>
                <a:srgbClr val="C2D076"/>
              </a:buClr>
              <a:buFont typeface="Arial"/>
              <a:buChar char="•"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Правила оформления приходится выводить из образцов</a:t>
            </a:r>
            <a:endParaRPr lang="ru-RU" sz="2799"/>
          </a:p>
          <a:p>
            <a:pPr algn="l" marL="391020" indent="-391020">
              <a:lnSpc>
                <a:spcPct val="100000"/>
              </a:lnSpc>
              <a:spcAft>
                <a:spcPts val="1539"/>
              </a:spcAft>
              <a:buClr>
                <a:srgbClr val="C2D076"/>
              </a:buClr>
              <a:buFont typeface="Arial"/>
              <a:buChar char="•"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Палитра, кегли, сетка, поля, логотипы и колонтитулы не автоматизированы</a:t>
            </a:r>
            <a:endParaRPr lang="ru-RU" sz="279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Шаблон читается как набор правил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4137660"/>
            <a:ext cx="5120640" cy="3825588"/>
          </a:xfrm>
          <a:prstGeom prst="roundRect">
            <a:avLst>
              <a:gd name="adj" fmla="val 2868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Index 44"/>
          <p:cNvSpPr txBox="1"/>
          <p:nvPr/>
        </p:nvSpPr>
        <p:spPr>
          <a:xfrm>
            <a:off x="1459382" y="4572914"/>
            <a:ext cx="4250132" cy="7181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01</a:t>
            </a:r>
            <a:endParaRPr lang="ru-RU" sz="4712"/>
          </a:p>
        </p:txBody>
      </p:sp>
      <p:sp>
        <p:nvSpPr>
          <p:cNvPr id="45" name="Card text 45"/>
          <p:cNvSpPr txBox="1"/>
          <p:nvPr/>
        </p:nvSpPr>
        <p:spPr>
          <a:xfrm>
            <a:off x="1459382" y="5399036"/>
            <a:ext cx="4250132" cy="212895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4568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На входе — шаблон и текст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Verstka берёт шаблон и текст</a:t>
            </a:r>
            <a:endParaRPr lang="ru-RU" sz="2199"/>
          </a:p>
        </p:txBody>
      </p:sp>
      <p:sp>
        <p:nvSpPr>
          <p:cNvPr id="46" name="Card 46"/>
          <p:cNvSpPr/>
          <p:nvPr/>
        </p:nvSpPr>
        <p:spPr>
          <a:xfrm>
            <a:off x="6583680" y="4137660"/>
            <a:ext cx="5120640" cy="3825588"/>
          </a:xfrm>
          <a:prstGeom prst="roundRect">
            <a:avLst>
              <a:gd name="adj" fmla="val 2868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Index 47"/>
          <p:cNvSpPr txBox="1"/>
          <p:nvPr/>
        </p:nvSpPr>
        <p:spPr>
          <a:xfrm>
            <a:off x="7018934" y="4572914"/>
            <a:ext cx="4250132" cy="7181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02</a:t>
            </a:r>
            <a:endParaRPr lang="ru-RU" sz="4712"/>
          </a:p>
        </p:txBody>
      </p:sp>
      <p:sp>
        <p:nvSpPr>
          <p:cNvPr id="48" name="Card text 48"/>
          <p:cNvSpPr txBox="1"/>
          <p:nvPr/>
        </p:nvSpPr>
        <p:spPr>
          <a:xfrm>
            <a:off x="7018934" y="5399036"/>
            <a:ext cx="4250132" cy="212895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927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Шаблон — набор правил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Шаблон читается как набор правил, а не как набор макетов</a:t>
            </a:r>
            <a:endParaRPr lang="ru-RU" sz="2199"/>
          </a:p>
        </p:txBody>
      </p:sp>
      <p:sp>
        <p:nvSpPr>
          <p:cNvPr id="49" name="Card 49"/>
          <p:cNvSpPr/>
          <p:nvPr/>
        </p:nvSpPr>
        <p:spPr>
          <a:xfrm>
            <a:off x="12143232" y="4137660"/>
            <a:ext cx="5120640" cy="3825588"/>
          </a:xfrm>
          <a:prstGeom prst="roundRect">
            <a:avLst>
              <a:gd name="adj" fmla="val 2868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Index 50"/>
          <p:cNvSpPr txBox="1"/>
          <p:nvPr/>
        </p:nvSpPr>
        <p:spPr>
          <a:xfrm>
            <a:off x="12578486" y="4572914"/>
            <a:ext cx="4250132" cy="7181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03</a:t>
            </a:r>
            <a:endParaRPr lang="ru-RU" sz="4712"/>
          </a:p>
        </p:txBody>
      </p:sp>
      <p:sp>
        <p:nvSpPr>
          <p:cNvPr id="51" name="Card text 51"/>
          <p:cNvSpPr txBox="1"/>
          <p:nvPr/>
        </p:nvSpPr>
        <p:spPr>
          <a:xfrm>
            <a:off x="12578486" y="5399036"/>
            <a:ext cx="4250132" cy="212895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На выходе — три редактируемые презентации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Создаются три редактируемые презентации в стиле шаблона</a:t>
            </a:r>
            <a:endParaRPr lang="ru-RU" sz="2199"/>
          </a:p>
        </p:txBody>
      </p:sp>
      <p:sp>
        <p:nvSpPr>
          <p:cNvPr id="52" name="Conclusion strip 52"/>
          <p:cNvSpPr/>
          <p:nvPr/>
        </p:nvSpPr>
        <p:spPr>
          <a:xfrm>
            <a:off x="1024128" y="8355259"/>
            <a:ext cx="16239744" cy="892754"/>
          </a:xfrm>
          <a:prstGeom prst="roundRect">
            <a:avLst>
              <a:gd name="adj" fmla="val 1229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3" name="Conclusion bar 53"/>
          <p:cNvSpPr/>
          <p:nvPr/>
        </p:nvSpPr>
        <p:spPr>
          <a:xfrm>
            <a:off x="1379601" y="8618309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4" name="Conclusion 54"/>
          <p:cNvSpPr txBox="1"/>
          <p:nvPr/>
        </p:nvSpPr>
        <p:spPr>
          <a:xfrm>
            <a:off x="1725701" y="8575652"/>
            <a:ext cx="1518269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Презентация в фирменном стиле без ручной вёрстки</a:t>
            </a:r>
            <a:endParaRPr lang="ru-RU" sz="279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0417162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Открытые модели до 35 млрд параметров создают презентации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76" name="Axis 76"/>
          <p:cNvCxnSpPr/>
          <p:nvPr/>
        </p:nvCxnSpPr>
        <p:spPr>
          <a:xfrm>
            <a:off x="1409890" y="5051589"/>
            <a:ext cx="13202472" cy="0"/>
          </a:xfrm>
          <a:prstGeom prst="line">
            <a:avLst/>
          </a:prstGeom>
          <a:ln w="19050">
            <a:solidFill>
              <a:srgbClr val="C2D076"/>
            </a:solidFill>
          </a:ln>
        </p:spPr>
      </p:cxnSp>
      <p:sp>
        <p:nvSpPr>
          <p:cNvPr id="77" name="Badge 77"/>
          <p:cNvSpPr/>
          <p:nvPr/>
        </p:nvSpPr>
        <p:spPr>
          <a:xfrm>
            <a:off x="1024128" y="4665827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1</a:t>
            </a:r>
          </a:p>
        </p:txBody>
      </p:sp>
      <p:sp>
        <p:nvSpPr>
          <p:cNvPr id="78" name="Step 78"/>
          <p:cNvSpPr txBox="1"/>
          <p:nvPr/>
        </p:nvSpPr>
        <p:spPr>
          <a:xfrm>
            <a:off x="1024128" y="5715101"/>
            <a:ext cx="3037271" cy="161095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Аналитик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Находит слайды, ряды данных и просьбы</a:t>
            </a:r>
            <a:endParaRPr lang="ru-RU" sz="2199"/>
          </a:p>
        </p:txBody>
      </p:sp>
      <p:sp>
        <p:nvSpPr>
          <p:cNvPr id="79" name="Badge 79"/>
          <p:cNvSpPr/>
          <p:nvPr/>
        </p:nvSpPr>
        <p:spPr>
          <a:xfrm>
            <a:off x="4324746" y="4665827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2</a:t>
            </a:r>
          </a:p>
        </p:txBody>
      </p:sp>
      <p:sp>
        <p:nvSpPr>
          <p:cNvPr id="80" name="Step 80"/>
          <p:cNvSpPr txBox="1"/>
          <p:nvPr/>
        </p:nvSpPr>
        <p:spPr>
          <a:xfrm>
            <a:off x="4324746" y="5715101"/>
            <a:ext cx="3037271" cy="161095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Дизайнер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Продумывает каждый слайд отдельно</a:t>
            </a:r>
            <a:endParaRPr lang="ru-RU" sz="2199"/>
          </a:p>
        </p:txBody>
      </p:sp>
      <p:sp>
        <p:nvSpPr>
          <p:cNvPr id="81" name="Badge 81"/>
          <p:cNvSpPr/>
          <p:nvPr/>
        </p:nvSpPr>
        <p:spPr>
          <a:xfrm>
            <a:off x="7625364" y="4665827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3</a:t>
            </a:r>
          </a:p>
        </p:txBody>
      </p:sp>
      <p:sp>
        <p:nvSpPr>
          <p:cNvPr id="82" name="Step 82"/>
          <p:cNvSpPr txBox="1"/>
          <p:nvPr/>
        </p:nvSpPr>
        <p:spPr>
          <a:xfrm>
            <a:off x="7625364" y="5715101"/>
            <a:ext cx="3037271" cy="161095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Критик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Сверяет план с текстом и правилами шаблона</a:t>
            </a:r>
            <a:endParaRPr lang="ru-RU" sz="2199"/>
          </a:p>
        </p:txBody>
      </p:sp>
      <p:sp>
        <p:nvSpPr>
          <p:cNvPr id="83" name="Badge 83"/>
          <p:cNvSpPr/>
          <p:nvPr/>
        </p:nvSpPr>
        <p:spPr>
          <a:xfrm>
            <a:off x="10925982" y="4665827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4</a:t>
            </a:r>
          </a:p>
        </p:txBody>
      </p:sp>
      <p:sp>
        <p:nvSpPr>
          <p:cNvPr id="84" name="Step 84"/>
          <p:cNvSpPr txBox="1"/>
          <p:nvPr/>
        </p:nvSpPr>
        <p:spPr>
          <a:xfrm>
            <a:off x="10925982" y="5715101"/>
            <a:ext cx="3037271" cy="161095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Компилятор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Проверяет каждое число</a:t>
            </a:r>
            <a:endParaRPr lang="ru-RU" sz="2199"/>
          </a:p>
        </p:txBody>
      </p:sp>
      <p:sp>
        <p:nvSpPr>
          <p:cNvPr id="85" name="Badge 85"/>
          <p:cNvSpPr/>
          <p:nvPr/>
        </p:nvSpPr>
        <p:spPr>
          <a:xfrm>
            <a:off x="14226600" y="4665827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5</a:t>
            </a:r>
          </a:p>
        </p:txBody>
      </p:sp>
      <p:sp>
        <p:nvSpPr>
          <p:cNvPr id="86" name="Step 86"/>
          <p:cNvSpPr txBox="1"/>
          <p:nvPr/>
        </p:nvSpPr>
        <p:spPr>
          <a:xfrm>
            <a:off x="14226600" y="5715101"/>
            <a:ext cx="3037271" cy="161095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Вёрстка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Собирает слайды по дизайн-⁠системе шаблона</a:t>
            </a:r>
            <a:endParaRPr lang="ru-RU" sz="219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Одно содержание, три подхода к подаче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43" name="Table"/>
          <p:cNvGraphicFramePr>
            <a:graphicFrameLocks noGrp="1"/>
          </p:cNvGraphicFramePr>
          <p:nvPr/>
        </p:nvGraphicFramePr>
        <p:xfrm>
          <a:off x="1024128" y="4137660"/>
          <a:ext cx="16239744" cy="459931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992235"/>
                <a:gridCol w="7485664"/>
                <a:gridCol w="5761845"/>
              </a:tblGrid>
              <a:tr h="91986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Вариант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Подача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Когда подходит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</a:tr>
              <a:tr h="122648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Структурный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одна мысль на слайд, строгая сетка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отчёт и защита проекта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22648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Визуальный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крупные цифры и наглядные схемы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питч и выступление со сцены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22648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Компактный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вывод первой строкой, данные справа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рассылка руководителю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41 проверка качества на слайд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Unit 43"/>
          <p:cNvSpPr txBox="1"/>
          <p:nvPr/>
        </p:nvSpPr>
        <p:spPr>
          <a:xfrm>
            <a:off x="1024128" y="4137660"/>
            <a:ext cx="10393436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Число проверок по категориям</a:t>
            </a:r>
            <a:endParaRPr lang="ru-RU" sz="1800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1024128" y="4529963"/>
          <a:ext cx="10393436" cy="314718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5" name="Line 45"/>
          <p:cNvCxnSpPr/>
          <p:nvPr/>
        </p:nvCxnSpPr>
        <p:spPr>
          <a:xfrm>
            <a:off x="11856476" y="5176716"/>
            <a:ext cx="0" cy="878535"/>
          </a:xfrm>
          <a:prstGeom prst="line">
            <a:avLst/>
          </a:prstGeom>
          <a:ln w="12700">
            <a:solidFill>
              <a:srgbClr val="384848"/>
            </a:solidFill>
          </a:ln>
        </p:spPr>
      </p:cxnSp>
      <p:sp>
        <p:nvSpPr>
          <p:cNvPr id="46" name="Takeaway 46"/>
          <p:cNvSpPr txBox="1"/>
          <p:nvPr/>
        </p:nvSpPr>
        <p:spPr>
          <a:xfrm>
            <a:off x="12295388" y="5176716"/>
            <a:ext cx="4968484" cy="878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39"/>
              </a:spcAft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Найденные проблемы помечаются на слайде</a:t>
            </a:r>
            <a:endParaRPr lang="ru-RU" sz="2799"/>
          </a:p>
        </p:txBody>
      </p:sp>
      <p:sp>
        <p:nvSpPr>
          <p:cNvPr id="47" name="Conclusion strip 47"/>
          <p:cNvSpPr/>
          <p:nvPr/>
        </p:nvSpPr>
        <p:spPr>
          <a:xfrm>
            <a:off x="1024128" y="8109199"/>
            <a:ext cx="16239744" cy="892754"/>
          </a:xfrm>
          <a:prstGeom prst="roundRect">
            <a:avLst>
              <a:gd name="adj" fmla="val 1229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8" name="Conclusion bar 48"/>
          <p:cNvSpPr/>
          <p:nvPr/>
        </p:nvSpPr>
        <p:spPr>
          <a:xfrm>
            <a:off x="1379601" y="8372249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9" name="Conclusion 49"/>
          <p:cNvSpPr txBox="1"/>
          <p:nvPr/>
        </p:nvSpPr>
        <p:spPr>
          <a:xfrm>
            <a:off x="1725701" y="8329592"/>
            <a:ext cx="1518269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12 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проверок на целостность — самая большая группа</a:t>
            </a:r>
            <a:endParaRPr lang="ru-RU" sz="2799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0495470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9 демонстрационных презентаций без выдуманных чисел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" name="Card 61"/>
          <p:cNvSpPr/>
          <p:nvPr/>
        </p:nvSpPr>
        <p:spPr>
          <a:xfrm>
            <a:off x="1024128" y="4665827"/>
            <a:ext cx="5120640" cy="3818208"/>
          </a:xfrm>
          <a:prstGeom prst="roundRect">
            <a:avLst>
              <a:gd name="adj" fmla="val 287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2" name="Figure 62"/>
          <p:cNvSpPr txBox="1"/>
          <p:nvPr/>
        </p:nvSpPr>
        <p:spPr>
          <a:xfrm>
            <a:off x="1536192" y="5004954"/>
            <a:ext cx="4096512" cy="975208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63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9</a:t>
            </a:r>
            <a:endParaRPr lang="ru-RU" sz="6399"/>
          </a:p>
        </p:txBody>
      </p:sp>
      <p:sp>
        <p:nvSpPr>
          <p:cNvPr id="63" name="Label 63"/>
          <p:cNvSpPr txBox="1"/>
          <p:nvPr/>
        </p:nvSpPr>
        <p:spPr>
          <a:xfrm>
            <a:off x="1536192" y="6088175"/>
            <a:ext cx="4096512" cy="18837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Демо-⁠презентаций</a:t>
            </a:r>
            <a:endParaRPr lang="ru-RU" sz="2799"/>
          </a:p>
        </p:txBody>
      </p:sp>
      <p:sp>
        <p:nvSpPr>
          <p:cNvPr id="64" name="Card 64"/>
          <p:cNvSpPr/>
          <p:nvPr/>
        </p:nvSpPr>
        <p:spPr>
          <a:xfrm>
            <a:off x="6583680" y="4665827"/>
            <a:ext cx="5120640" cy="3818208"/>
          </a:xfrm>
          <a:prstGeom prst="roundRect">
            <a:avLst>
              <a:gd name="adj" fmla="val 287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5" name="Figure 65"/>
          <p:cNvSpPr txBox="1"/>
          <p:nvPr/>
        </p:nvSpPr>
        <p:spPr>
          <a:xfrm>
            <a:off x="7082239" y="5004954"/>
            <a:ext cx="4110017" cy="975208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63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116⁠–⁠123</a:t>
            </a:r>
            <a:endParaRPr lang="ru-RU" sz="6399"/>
          </a:p>
        </p:txBody>
      </p:sp>
      <p:sp>
        <p:nvSpPr>
          <p:cNvPr id="66" name="Label 66"/>
          <p:cNvSpPr txBox="1"/>
          <p:nvPr/>
        </p:nvSpPr>
        <p:spPr>
          <a:xfrm>
            <a:off x="7095744" y="6088175"/>
            <a:ext cx="4096512" cy="18837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Проверенных чисел</a:t>
            </a:r>
            <a:endParaRPr lang="ru-RU" sz="2799"/>
          </a:p>
        </p:txBody>
      </p:sp>
      <p:sp>
        <p:nvSpPr>
          <p:cNvPr id="67" name="Card 67"/>
          <p:cNvSpPr/>
          <p:nvPr/>
        </p:nvSpPr>
        <p:spPr>
          <a:xfrm>
            <a:off x="12143232" y="4665827"/>
            <a:ext cx="5120640" cy="3818208"/>
          </a:xfrm>
          <a:prstGeom prst="roundRect">
            <a:avLst>
              <a:gd name="adj" fmla="val 287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8" name="Figure 68"/>
          <p:cNvSpPr txBox="1"/>
          <p:nvPr/>
        </p:nvSpPr>
        <p:spPr>
          <a:xfrm>
            <a:off x="12655296" y="5004954"/>
            <a:ext cx="4096512" cy="975208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63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</a:t>
            </a:r>
            <a:endParaRPr lang="ru-RU" sz="6399"/>
          </a:p>
        </p:txBody>
      </p:sp>
      <p:sp>
        <p:nvSpPr>
          <p:cNvPr id="69" name="Label 69"/>
          <p:cNvSpPr txBox="1"/>
          <p:nvPr/>
        </p:nvSpPr>
        <p:spPr>
          <a:xfrm>
            <a:off x="12655296" y="6088175"/>
            <a:ext cx="4096512" cy="18837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Выдуманных чисел</a:t>
            </a:r>
            <a:endParaRPr lang="ru-RU" sz="279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87 шаблонов, 99 из 100 и 12 форматов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4137660"/>
            <a:ext cx="5120640" cy="3113971"/>
          </a:xfrm>
          <a:prstGeom prst="roundRect">
            <a:avLst>
              <a:gd name="adj" fmla="val 352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Figure 44"/>
          <p:cNvSpPr txBox="1"/>
          <p:nvPr/>
        </p:nvSpPr>
        <p:spPr>
          <a:xfrm>
            <a:off x="1536192" y="4411899"/>
            <a:ext cx="4096512" cy="13411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800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87</a:t>
            </a:r>
            <a:endParaRPr lang="ru-RU" sz="8800"/>
          </a:p>
        </p:txBody>
      </p:sp>
      <p:sp>
        <p:nvSpPr>
          <p:cNvPr id="45" name="Label 45"/>
          <p:cNvSpPr txBox="1"/>
          <p:nvPr/>
        </p:nvSpPr>
        <p:spPr>
          <a:xfrm>
            <a:off x="1536192" y="5861032"/>
            <a:ext cx="4096512" cy="878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Чужих шаблонов</a:t>
            </a:r>
            <a:endParaRPr lang="ru-RU" sz="2799"/>
          </a:p>
        </p:txBody>
      </p:sp>
      <p:sp>
        <p:nvSpPr>
          <p:cNvPr id="46" name="Card 46"/>
          <p:cNvSpPr/>
          <p:nvPr/>
        </p:nvSpPr>
        <p:spPr>
          <a:xfrm>
            <a:off x="6583680" y="4137660"/>
            <a:ext cx="5120640" cy="3113971"/>
          </a:xfrm>
          <a:prstGeom prst="roundRect">
            <a:avLst>
              <a:gd name="adj" fmla="val 352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Figure 47"/>
          <p:cNvSpPr txBox="1"/>
          <p:nvPr/>
        </p:nvSpPr>
        <p:spPr>
          <a:xfrm>
            <a:off x="7087565" y="4411899"/>
            <a:ext cx="4104691" cy="13411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800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99</a:t>
            </a:r>
            <a:r>
              <a:rPr lang="ru-RU" sz="4712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 из 100</a:t>
            </a:r>
            <a:endParaRPr lang="ru-RU" sz="8800"/>
          </a:p>
        </p:txBody>
      </p:sp>
      <p:sp>
        <p:nvSpPr>
          <p:cNvPr id="48" name="Label 48"/>
          <p:cNvSpPr txBox="1"/>
          <p:nvPr/>
        </p:nvSpPr>
        <p:spPr>
          <a:xfrm>
            <a:off x="7095744" y="5861032"/>
            <a:ext cx="4096512" cy="878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Средняя оценка качества</a:t>
            </a:r>
            <a:endParaRPr lang="ru-RU" sz="2799"/>
          </a:p>
        </p:txBody>
      </p:sp>
      <p:sp>
        <p:nvSpPr>
          <p:cNvPr id="49" name="Card 49"/>
          <p:cNvSpPr/>
          <p:nvPr/>
        </p:nvSpPr>
        <p:spPr>
          <a:xfrm>
            <a:off x="12143232" y="4137660"/>
            <a:ext cx="5120640" cy="3113971"/>
          </a:xfrm>
          <a:prstGeom prst="roundRect">
            <a:avLst>
              <a:gd name="adj" fmla="val 3523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Figure 50"/>
          <p:cNvSpPr txBox="1"/>
          <p:nvPr/>
        </p:nvSpPr>
        <p:spPr>
          <a:xfrm>
            <a:off x="12623648" y="4411899"/>
            <a:ext cx="4128160" cy="13411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800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12</a:t>
            </a:r>
            <a:endParaRPr lang="ru-RU" sz="8800"/>
          </a:p>
        </p:txBody>
      </p:sp>
      <p:sp>
        <p:nvSpPr>
          <p:cNvPr id="51" name="Label 51"/>
          <p:cNvSpPr txBox="1"/>
          <p:nvPr/>
        </p:nvSpPr>
        <p:spPr>
          <a:xfrm>
            <a:off x="12655296" y="5861032"/>
            <a:ext cx="4096512" cy="878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Форматов</a:t>
            </a:r>
            <a:endParaRPr lang="ru-RU" sz="2799"/>
          </a:p>
        </p:txBody>
      </p:sp>
      <p:sp>
        <p:nvSpPr>
          <p:cNvPr id="52" name="Conclusion strip 52"/>
          <p:cNvSpPr/>
          <p:nvPr/>
        </p:nvSpPr>
        <p:spPr>
          <a:xfrm>
            <a:off x="1024128" y="7683685"/>
            <a:ext cx="16239744" cy="892754"/>
          </a:xfrm>
          <a:prstGeom prst="roundRect">
            <a:avLst>
              <a:gd name="adj" fmla="val 1229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3" name="Conclusion bar 53"/>
          <p:cNvSpPr/>
          <p:nvPr/>
        </p:nvSpPr>
        <p:spPr>
          <a:xfrm>
            <a:off x="1379601" y="7946735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4" name="Conclusion 54"/>
          <p:cNvSpPr txBox="1"/>
          <p:nvPr/>
        </p:nvSpPr>
        <p:spPr>
          <a:xfrm>
            <a:off x="1725701" y="7904078"/>
            <a:ext cx="1518269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Сервис работает с любыми шаблонами и форматами</a:t>
            </a:r>
            <a:endParaRPr lang="ru-RU" sz="279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VK WorkSpace — самый долгий, но всё в лимите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Unit 43"/>
          <p:cNvSpPr txBox="1"/>
          <p:nvPr/>
        </p:nvSpPr>
        <p:spPr>
          <a:xfrm>
            <a:off x="1024128" y="3947718"/>
            <a:ext cx="16239744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Время генерации трёх вариантов на шаблонах датасета, секунд</a:t>
            </a:r>
            <a:endParaRPr lang="ru-RU" sz="1800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1024128" y="4340021"/>
          <a:ext cx="16239744" cy="2918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5" name="Conclusion strip 45"/>
          <p:cNvSpPr/>
          <p:nvPr/>
        </p:nvSpPr>
        <p:spPr>
          <a:xfrm>
            <a:off x="1024128" y="7690283"/>
            <a:ext cx="16239744" cy="892754"/>
          </a:xfrm>
          <a:prstGeom prst="roundRect">
            <a:avLst>
              <a:gd name="adj" fmla="val 1229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6" name="Conclusion bar 46"/>
          <p:cNvSpPr/>
          <p:nvPr/>
        </p:nvSpPr>
        <p:spPr>
          <a:xfrm>
            <a:off x="1379601" y="7953333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7" name="Conclusion 47"/>
          <p:cNvSpPr txBox="1"/>
          <p:nvPr/>
        </p:nvSpPr>
        <p:spPr>
          <a:xfrm>
            <a:off x="1725701" y="7910676"/>
            <a:ext cx="1518269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Все шаблоны укладываются в лимит 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5 минут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 с запасом</a:t>
            </a:r>
            <a:endParaRPr lang="ru-RU" sz="279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Три шага развития после финала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Marker 43"/>
          <p:cNvSpPr/>
          <p:nvPr/>
        </p:nvSpPr>
        <p:spPr>
          <a:xfrm>
            <a:off x="1024128" y="4383014"/>
            <a:ext cx="227401" cy="227401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4" name="Item 44"/>
          <p:cNvSpPr txBox="1"/>
          <p:nvPr/>
        </p:nvSpPr>
        <p:spPr>
          <a:xfrm>
            <a:off x="1981606" y="4137660"/>
            <a:ext cx="12034317" cy="14616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Переход на инференс VK и модель Qwen3.8-⁠27B</a:t>
            </a:r>
            <a:endParaRPr lang="ru-RU" sz="4712"/>
          </a:p>
        </p:txBody>
      </p:sp>
      <p:cxnSp>
        <p:nvCxnSpPr>
          <p:cNvPr id="45" name="Line 45"/>
          <p:cNvCxnSpPr/>
          <p:nvPr/>
        </p:nvCxnSpPr>
        <p:spPr>
          <a:xfrm>
            <a:off x="1981606" y="6048095"/>
            <a:ext cx="12034317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46" name="Marker 46"/>
          <p:cNvSpPr/>
          <p:nvPr/>
        </p:nvSpPr>
        <p:spPr>
          <a:xfrm>
            <a:off x="1024128" y="6742266"/>
            <a:ext cx="227401" cy="227401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7" name="Item 47"/>
          <p:cNvSpPr txBox="1"/>
          <p:nvPr/>
        </p:nvSpPr>
        <p:spPr>
          <a:xfrm>
            <a:off x="1981606" y="6496912"/>
            <a:ext cx="12034317" cy="7435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Генерация изображений внутри слайдов</a:t>
            </a:r>
            <a:endParaRPr lang="ru-RU" sz="4712"/>
          </a:p>
        </p:txBody>
      </p:sp>
      <p:cxnSp>
        <p:nvCxnSpPr>
          <p:cNvPr id="48" name="Line 48"/>
          <p:cNvCxnSpPr/>
          <p:nvPr/>
        </p:nvCxnSpPr>
        <p:spPr>
          <a:xfrm>
            <a:off x="1981606" y="7689238"/>
            <a:ext cx="12034317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49" name="Marker 49"/>
          <p:cNvSpPr/>
          <p:nvPr/>
        </p:nvSpPr>
        <p:spPr>
          <a:xfrm>
            <a:off x="1024128" y="8383409"/>
            <a:ext cx="227401" cy="227401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0" name="Item 50"/>
          <p:cNvSpPr txBox="1"/>
          <p:nvPr/>
        </p:nvSpPr>
        <p:spPr>
          <a:xfrm>
            <a:off x="1981606" y="8138055"/>
            <a:ext cx="12034317" cy="7435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Пилот на шаблонах и сценариях VK Tech</a:t>
            </a:r>
            <a:endParaRPr lang="ru-RU" sz="471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