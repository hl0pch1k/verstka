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4"/>
  </p:sldMasterIdLst>
  <p:notesMasterIdLst>
    <p:notesMasterId r:id="rId5"/>
  </p:notesMasterIdLst>
  <p:sldIdLst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</p:sldIdLst>
  <p:sldSz cy="10287000" cx="18288000"/>
  <p:notesSz cx="6858000" cy="9144000"/>
  <p:embeddedFontLst>
    <p:embeddedFont>
      <p:font typeface="Inter Light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7" Type="http://schemas.openxmlformats.org/officeDocument/2006/relationships/font" Target="fonts/InterLight-regular.fntdata"/><Relationship Id="rId28" Type="http://schemas.openxmlformats.org/officeDocument/2006/relationships/font" Target="fonts/InterLight-bold.fntdata"/><Relationship Id="rId29" Type="http://schemas.openxmlformats.org/officeDocument/2006/relationships/font" Target="fonts/InterLight-italic.fntdata"/><Relationship Id="rId30" Type="http://schemas.openxmlformats.org/officeDocument/2006/relationships/font" Target="fonts/InterLight-boldItalic.fntdata"/><Relationship Id="rId31" Type="http://schemas.openxmlformats.org/officeDocument/2006/relationships/font" Target="fonts/Inter-regular.fntdata"/><Relationship Id="rId32" Type="http://schemas.openxmlformats.org/officeDocument/2006/relationships/font" Target="fonts/Inter-bold.fntdata"/><Relationship Id="rId33" Type="http://schemas.openxmlformats.org/officeDocument/2006/relationships/font" Target="fonts/Inter-italic.fntdata"/><Relationship Id="rId34" Type="http://schemas.openxmlformats.org/officeDocument/2006/relationships/font" Target="fonts/Inter-boldItalic.fntdata"/><Relationship Id="rId35" Type="http://schemas.openxmlformats.org/officeDocument/2006/relationships/font" Target="fonts/InterMedium-regular.fntdata"/><Relationship Id="rId36" Type="http://schemas.openxmlformats.org/officeDocument/2006/relationships/font" Target="fonts/InterMedium-bold.fntdata"/><Relationship Id="rId37" Type="http://schemas.openxmlformats.org/officeDocument/2006/relationships/font" Target="fonts/InterMedium-italic.fntdata"/><Relationship Id="rId38" Type="http://schemas.openxmlformats.org/officeDocument/2006/relationships/font" Target="fonts/InterMedium-boldItalic.fntdata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962"/>
          <c:y val="0.0206"/>
          <c:w val="0.8713"/>
          <c:h val="0.958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проверок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08"/>
          <c:y val="0.1462"/>
          <c:w val="0.9984"/>
          <c:h val="0.711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&quot;;&quot;−&quot;#,##0&quot; с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9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84848"/>
            </a:solidFill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Три основные проблемы: ручная вёрстка, ИИ, который не воспроизводит стиль компании, и шаблоны, которые не являются инструкциями.</a:t>
            </a:r>
          </a:p>
          <a:p>
            <a:r>
              <a:t>[verstka:sl2]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использует шаблон как набор дизайнерских правил и на его основе генерирует три редактируемые презентации.</a:t>
            </a:r>
          </a:p>
          <a:p>
            <a:r>
              <a:t>[verstka:sl3]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[verstka:sl4]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Одинаковое содержание, разная подача.</a:t>
            </a:r>
          </a:p>
          <a:p>
            <a:r>
              <a:t>[verstka:sl5]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диаграмме показано распределение 41 проверки по категориям: 12 — целостность, 11 — вёрстка, 7 — шаблон, 6 — контент, 5 — плотность.</a:t>
            </a:r>
          </a:p>
          <a:p>
            <a:r>
              <a:t>[verstka:sl6]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плана сверяется с текстом до вёрстки и ещё раз в готовом PPTX.</a:t>
            </a:r>
          </a:p>
          <a:p>
            <a:r>
              <a:t>[verstka:sl7]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Регрессионный корпус включает 87 чужих шаблонов и 261 презентацию на них. Средняя оценка проверки качества по корпусу — 99 из 100. Сервис поддерживает 12 форматов: pptx, potx, ppt, odp, thmx и другие.</a:t>
            </a:r>
          </a:p>
          <a:p>
            <a:r>
              <a:t>[verstka:sl8]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всех шаблонов меньше 5 минут, что подтверждает высокую скорость работы системы. VK Tech генерируется за 113 секунд, VK Education — за 145 секунд, VK WorkSpace — за 175 секунд.</a:t>
            </a:r>
          </a:p>
          <a:p>
            <a:r>
              <a:t>[verstka:sl9]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Все три модели используют лицензию Apache 2.0 и предназначены для разных сценариев использования: основная модель и два запасных звена.</a:t>
            </a:r>
          </a:p>
          <a:p>
            <a:r>
              <a:t>[verstka:sl10]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2 028 автотестов, PPTX с редактируемыми объектами, PDF и HTML, чат с агентом для правок. Дальше — генерация изображений внутри слайдов и переход на инференс VK.</a:t>
            </a:r>
          </a:p>
          <a:p>
            <a:r>
              <a:t>[verstka:sl11]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>
            <p:ph idx="2" type="pic"/>
          </p:nvPr>
        </p:nvSpPr>
        <p:spPr>
          <a:xfrm>
            <a:off x="9136050" y="1007975"/>
            <a:ext cx="8131200" cy="82704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Tw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>
            <p:ph idx="2" type="pic"/>
          </p:nvPr>
        </p:nvSpPr>
        <p:spPr>
          <a:xfrm>
            <a:off x="1009200" y="10068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4"/>
          <p:cNvSpPr/>
          <p:nvPr>
            <p:ph idx="3" type="pic"/>
          </p:nvPr>
        </p:nvSpPr>
        <p:spPr>
          <a:xfrm>
            <a:off x="1009200" y="51654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C2D07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51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4400"/>
              <a:buFont typeface="Inter"/>
              <a:buNone/>
              <a:defRPr i="0" sz="4400" u="none" cap="none" strike="noStrike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Char char="•"/>
              <a:defRPr i="0" sz="3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–"/>
              <a:defRPr i="0" sz="28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•"/>
              <a:defRPr i="0" sz="24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–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»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9424071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Оформление отнимает больше времени, чем содержание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4273111"/>
          </a:xfrm>
          <a:prstGeom prst="roundRect">
            <a:avLst>
              <a:gd name="adj" fmla="val 25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459382" y="5101081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4712"/>
          </a:p>
        </p:txBody>
      </p:sp>
      <p:sp>
        <p:nvSpPr>
          <p:cNvPr id="45" name="Card text 45"/>
          <p:cNvSpPr txBox="1"/>
          <p:nvPr/>
        </p:nvSpPr>
        <p:spPr>
          <a:xfrm>
            <a:off x="1459382" y="5927203"/>
            <a:ext cx="4250132" cy="257648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733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Ручная вёрстка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Подобрать макет, подвинуть блоки, подогнать цвета под фирменный стиль</a:t>
            </a:r>
            <a:endParaRPr lang="ru-RU" sz="2499"/>
          </a:p>
        </p:txBody>
      </p:sp>
      <p:sp>
        <p:nvSpPr>
          <p:cNvPr id="46" name="Card 46"/>
          <p:cNvSpPr/>
          <p:nvPr/>
        </p:nvSpPr>
        <p:spPr>
          <a:xfrm>
            <a:off x="6583680" y="4665827"/>
            <a:ext cx="5120640" cy="4273111"/>
          </a:xfrm>
          <a:prstGeom prst="roundRect">
            <a:avLst>
              <a:gd name="adj" fmla="val 25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7018934" y="5101081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4712"/>
          </a:p>
        </p:txBody>
      </p:sp>
      <p:sp>
        <p:nvSpPr>
          <p:cNvPr id="48" name="Card text 48"/>
          <p:cNvSpPr txBox="1"/>
          <p:nvPr/>
        </p:nvSpPr>
        <p:spPr>
          <a:xfrm>
            <a:off x="7018934" y="5927203"/>
            <a:ext cx="4250132" cy="257648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733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ИИ ломает стиль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Нейросети неплохо пишут текст, но не воспроизводят дизайн-⁠систему компании</a:t>
            </a:r>
            <a:endParaRPr lang="ru-RU" sz="2499"/>
          </a:p>
        </p:txBody>
      </p:sp>
      <p:sp>
        <p:nvSpPr>
          <p:cNvPr id="49" name="Card 49"/>
          <p:cNvSpPr/>
          <p:nvPr/>
        </p:nvSpPr>
        <p:spPr>
          <a:xfrm>
            <a:off x="12143232" y="4665827"/>
            <a:ext cx="5120640" cy="4273111"/>
          </a:xfrm>
          <a:prstGeom prst="roundRect">
            <a:avLst>
              <a:gd name="adj" fmla="val 256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578486" y="5101081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4712"/>
          </a:p>
        </p:txBody>
      </p:sp>
      <p:sp>
        <p:nvSpPr>
          <p:cNvPr id="51" name="Card text 51"/>
          <p:cNvSpPr txBox="1"/>
          <p:nvPr/>
        </p:nvSpPr>
        <p:spPr>
          <a:xfrm>
            <a:off x="12578486" y="5927203"/>
            <a:ext cx="4250132" cy="257648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374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не инструкция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Плейсхолдеры не объясняют, как построить новый слайд</a:t>
            </a:r>
            <a:endParaRPr lang="ru-RU" sz="2499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Verstka создаёт три презентации за 2⁠–⁠3 минуты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9" name="Marker 59"/>
          <p:cNvSpPr/>
          <p:nvPr/>
        </p:nvSpPr>
        <p:spPr>
          <a:xfrm>
            <a:off x="1024128" y="4093462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60" name="Item 60"/>
          <p:cNvSpPr txBox="1"/>
          <p:nvPr/>
        </p:nvSpPr>
        <p:spPr>
          <a:xfrm>
            <a:off x="1592885" y="3947718"/>
            <a:ext cx="12423038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 входе — шаблон и текст — шаблон и текст для генерации презентаций</a:t>
            </a:r>
            <a:endParaRPr lang="ru-RU" sz="2799"/>
          </a:p>
        </p:txBody>
      </p:sp>
      <p:cxnSp>
        <p:nvCxnSpPr>
          <p:cNvPr id="61" name="Line 61"/>
          <p:cNvCxnSpPr/>
          <p:nvPr/>
        </p:nvCxnSpPr>
        <p:spPr>
          <a:xfrm>
            <a:off x="1592885" y="5306915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62" name="Marker 62"/>
          <p:cNvSpPr/>
          <p:nvPr/>
        </p:nvSpPr>
        <p:spPr>
          <a:xfrm>
            <a:off x="1024128" y="5933321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63" name="Item 63"/>
          <p:cNvSpPr txBox="1"/>
          <p:nvPr/>
        </p:nvSpPr>
        <p:spPr>
          <a:xfrm>
            <a:off x="1592885" y="5787577"/>
            <a:ext cx="12423038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Шаблон — набор правил — палитра, кегли, сетка, поля, логотипы и колонтитулы</a:t>
            </a:r>
            <a:endParaRPr lang="ru-RU" sz="2799"/>
          </a:p>
        </p:txBody>
      </p:sp>
      <p:cxnSp>
        <p:nvCxnSpPr>
          <p:cNvPr id="64" name="Line 64"/>
          <p:cNvCxnSpPr/>
          <p:nvPr/>
        </p:nvCxnSpPr>
        <p:spPr>
          <a:xfrm>
            <a:off x="1592885" y="7146774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65" name="Marker 65"/>
          <p:cNvSpPr/>
          <p:nvPr/>
        </p:nvSpPr>
        <p:spPr>
          <a:xfrm>
            <a:off x="1024128" y="7773180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66" name="Item 66"/>
          <p:cNvSpPr txBox="1"/>
          <p:nvPr/>
        </p:nvSpPr>
        <p:spPr>
          <a:xfrm>
            <a:off x="1592885" y="7627436"/>
            <a:ext cx="12423038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 выходе — три редактируемые презентации — готовые файлы в стиле шаблона</a:t>
            </a:r>
            <a:endParaRPr lang="ru-RU" sz="2799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Команда из пяти специалистов создаёт презентацию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cxnSp>
        <p:nvCxnSpPr>
          <p:cNvPr id="76" name="Axis 76"/>
          <p:cNvCxnSpPr/>
          <p:nvPr/>
        </p:nvCxnSpPr>
        <p:spPr>
          <a:xfrm>
            <a:off x="1409890" y="4333480"/>
            <a:ext cx="13202472" cy="0"/>
          </a:xfrm>
          <a:prstGeom prst="line">
            <a:avLst/>
          </a:prstGeom>
          <a:ln w="19050">
            <a:solidFill>
              <a:srgbClr val="C2D076"/>
            </a:solidFill>
          </a:ln>
        </p:spPr>
      </p:cxnSp>
      <p:sp>
        <p:nvSpPr>
          <p:cNvPr id="77" name="Badge 77"/>
          <p:cNvSpPr/>
          <p:nvPr/>
        </p:nvSpPr>
        <p:spPr>
          <a:xfrm>
            <a:off x="1024128" y="3947718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1</a:t>
            </a:r>
          </a:p>
        </p:txBody>
      </p:sp>
      <p:sp>
        <p:nvSpPr>
          <p:cNvPr id="78" name="Step 78"/>
          <p:cNvSpPr txBox="1"/>
          <p:nvPr/>
        </p:nvSpPr>
        <p:spPr>
          <a:xfrm>
            <a:off x="1024128" y="4996992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Аналитик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Находит слайды, ряды данных и просьбы</a:t>
            </a:r>
            <a:endParaRPr lang="ru-RU" sz="2199"/>
          </a:p>
        </p:txBody>
      </p:sp>
      <p:sp>
        <p:nvSpPr>
          <p:cNvPr id="79" name="Badge 79"/>
          <p:cNvSpPr/>
          <p:nvPr/>
        </p:nvSpPr>
        <p:spPr>
          <a:xfrm>
            <a:off x="4324746" y="3947718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2</a:t>
            </a:r>
          </a:p>
        </p:txBody>
      </p:sp>
      <p:sp>
        <p:nvSpPr>
          <p:cNvPr id="80" name="Step 80"/>
          <p:cNvSpPr txBox="1"/>
          <p:nvPr/>
        </p:nvSpPr>
        <p:spPr>
          <a:xfrm>
            <a:off x="4324746" y="4996992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Дизайнер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Продумывает каждый слайд отдельно</a:t>
            </a:r>
            <a:endParaRPr lang="ru-RU" sz="2199"/>
          </a:p>
        </p:txBody>
      </p:sp>
      <p:sp>
        <p:nvSpPr>
          <p:cNvPr id="81" name="Badge 81"/>
          <p:cNvSpPr/>
          <p:nvPr/>
        </p:nvSpPr>
        <p:spPr>
          <a:xfrm>
            <a:off x="7625364" y="3947718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3</a:t>
            </a:r>
          </a:p>
        </p:txBody>
      </p:sp>
      <p:sp>
        <p:nvSpPr>
          <p:cNvPr id="82" name="Step 82"/>
          <p:cNvSpPr txBox="1"/>
          <p:nvPr/>
        </p:nvSpPr>
        <p:spPr>
          <a:xfrm>
            <a:off x="7625364" y="4996992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Критик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Сверяет план с текстом и правилами</a:t>
            </a:r>
            <a:endParaRPr lang="ru-RU" sz="2199"/>
          </a:p>
        </p:txBody>
      </p:sp>
      <p:sp>
        <p:nvSpPr>
          <p:cNvPr id="83" name="Badge 83"/>
          <p:cNvSpPr/>
          <p:nvPr/>
        </p:nvSpPr>
        <p:spPr>
          <a:xfrm>
            <a:off x="10925982" y="3947718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4</a:t>
            </a:r>
          </a:p>
        </p:txBody>
      </p:sp>
      <p:sp>
        <p:nvSpPr>
          <p:cNvPr id="84" name="Step 84"/>
          <p:cNvSpPr txBox="1"/>
          <p:nvPr/>
        </p:nvSpPr>
        <p:spPr>
          <a:xfrm>
            <a:off x="10925982" y="4996992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Компилятор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Проверяет каждое число</a:t>
            </a:r>
            <a:endParaRPr lang="ru-RU" sz="2199"/>
          </a:p>
        </p:txBody>
      </p:sp>
      <p:sp>
        <p:nvSpPr>
          <p:cNvPr id="85" name="Badge 85"/>
          <p:cNvSpPr/>
          <p:nvPr/>
        </p:nvSpPr>
        <p:spPr>
          <a:xfrm>
            <a:off x="14226600" y="3947718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5</a:t>
            </a:r>
          </a:p>
        </p:txBody>
      </p:sp>
      <p:sp>
        <p:nvSpPr>
          <p:cNvPr id="86" name="Step 86"/>
          <p:cNvSpPr txBox="1"/>
          <p:nvPr/>
        </p:nvSpPr>
        <p:spPr>
          <a:xfrm>
            <a:off x="14226600" y="4996992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Вёрстка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Собирает слайды по дизайн-⁠системе</a:t>
            </a:r>
            <a:endParaRPr lang="ru-RU" sz="219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Одинаковое содержание, разная подача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137660"/>
            <a:ext cx="5120640" cy="4172451"/>
          </a:xfrm>
          <a:prstGeom prst="roundRect">
            <a:avLst>
              <a:gd name="adj" fmla="val 26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459382" y="4572914"/>
            <a:ext cx="4250132" cy="9752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6399"/>
          </a:p>
        </p:txBody>
      </p:sp>
      <p:sp>
        <p:nvSpPr>
          <p:cNvPr id="45" name="Card text 45"/>
          <p:cNvSpPr txBox="1"/>
          <p:nvPr/>
        </p:nvSpPr>
        <p:spPr>
          <a:xfrm>
            <a:off x="1459382" y="5656135"/>
            <a:ext cx="4250132" cy="221872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Структурный</a:t>
            </a:r>
            <a:endParaRPr lang="ru-RU" sz="4712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Одна мысль на слайде, строгая сетка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4137660"/>
            <a:ext cx="5120640" cy="4172451"/>
          </a:xfrm>
          <a:prstGeom prst="roundRect">
            <a:avLst>
              <a:gd name="adj" fmla="val 26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7018934" y="4572914"/>
            <a:ext cx="4250132" cy="9752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6399"/>
          </a:p>
        </p:txBody>
      </p:sp>
      <p:sp>
        <p:nvSpPr>
          <p:cNvPr id="48" name="Card text 48"/>
          <p:cNvSpPr txBox="1"/>
          <p:nvPr/>
        </p:nvSpPr>
        <p:spPr>
          <a:xfrm>
            <a:off x="7018934" y="5656135"/>
            <a:ext cx="4250132" cy="221872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Визуальный</a:t>
            </a:r>
            <a:endParaRPr lang="ru-RU" sz="4712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Крупные цифры и наглядные схемы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4137660"/>
            <a:ext cx="5120640" cy="4172451"/>
          </a:xfrm>
          <a:prstGeom prst="roundRect">
            <a:avLst>
              <a:gd name="adj" fmla="val 26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578486" y="4572914"/>
            <a:ext cx="4250132" cy="9752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6399"/>
          </a:p>
        </p:txBody>
      </p:sp>
      <p:sp>
        <p:nvSpPr>
          <p:cNvPr id="51" name="Card text 51"/>
          <p:cNvSpPr txBox="1"/>
          <p:nvPr/>
        </p:nvSpPr>
        <p:spPr>
          <a:xfrm>
            <a:off x="12578486" y="5656135"/>
            <a:ext cx="4250132" cy="221872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Компактный</a:t>
            </a:r>
            <a:endParaRPr lang="ru-RU" sz="4712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Вывод первой строкой, текст слева, данные справа</a:t>
            </a:r>
            <a:endParaRPr lang="ru-RU" sz="279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Целостность — основная категория проверок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3947718"/>
            <a:ext cx="16239744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Число проверок по категориям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4340021"/>
          <a:ext cx="16239744" cy="332192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Conclusion strip 45"/>
          <p:cNvSpPr/>
          <p:nvPr/>
        </p:nvSpPr>
        <p:spPr>
          <a:xfrm>
            <a:off x="1024128" y="8094004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6" name="Conclusion bar 46"/>
          <p:cNvSpPr/>
          <p:nvPr/>
        </p:nvSpPr>
        <p:spPr>
          <a:xfrm>
            <a:off x="1379601" y="8357054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Conclusion 47"/>
          <p:cNvSpPr txBox="1"/>
          <p:nvPr/>
        </p:nvSpPr>
        <p:spPr>
          <a:xfrm>
            <a:off x="1725701" y="8314397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Всего 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41 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проверка: 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12 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 целостность, 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11 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 вёрстку</a:t>
            </a:r>
            <a:endParaRPr lang="ru-RU" sz="2799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 демонстрационных презентаций без лишних чисел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61" name="Card 61"/>
          <p:cNvSpPr/>
          <p:nvPr/>
        </p:nvSpPr>
        <p:spPr>
          <a:xfrm>
            <a:off x="1024128" y="3947718"/>
            <a:ext cx="5120640" cy="4299846"/>
          </a:xfrm>
          <a:prstGeom prst="roundRect">
            <a:avLst>
              <a:gd name="adj" fmla="val 255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2" name="Figure 62"/>
          <p:cNvSpPr txBox="1"/>
          <p:nvPr/>
        </p:nvSpPr>
        <p:spPr>
          <a:xfrm>
            <a:off x="1528013" y="4221957"/>
            <a:ext cx="4104691" cy="13411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8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</a:t>
            </a:r>
            <a:endParaRPr lang="ru-RU" sz="8800"/>
          </a:p>
        </p:txBody>
      </p:sp>
      <p:sp>
        <p:nvSpPr>
          <p:cNvPr id="63" name="Label 63"/>
          <p:cNvSpPr txBox="1"/>
          <p:nvPr/>
        </p:nvSpPr>
        <p:spPr>
          <a:xfrm>
            <a:off x="1536192" y="5671090"/>
            <a:ext cx="4096512" cy="206441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Демо-⁠презентаций</a:t>
            </a:r>
            <a:endParaRPr lang="ru-RU" sz="2799"/>
          </a:p>
        </p:txBody>
      </p:sp>
      <p:sp>
        <p:nvSpPr>
          <p:cNvPr id="64" name="Card 64"/>
          <p:cNvSpPr/>
          <p:nvPr/>
        </p:nvSpPr>
        <p:spPr>
          <a:xfrm>
            <a:off x="6583680" y="3947718"/>
            <a:ext cx="5120640" cy="4299846"/>
          </a:xfrm>
          <a:prstGeom prst="roundRect">
            <a:avLst>
              <a:gd name="adj" fmla="val 255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5" name="Figure 65"/>
          <p:cNvSpPr txBox="1"/>
          <p:nvPr/>
        </p:nvSpPr>
        <p:spPr>
          <a:xfrm>
            <a:off x="7094987" y="4221957"/>
            <a:ext cx="4097269" cy="13411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1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116</a:t>
            </a: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 → </a:t>
            </a:r>
            <a:r>
              <a:rPr lang="ru-RU" sz="88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123</a:t>
            </a:r>
            <a:endParaRPr lang="ru-RU" sz="8800"/>
          </a:p>
        </p:txBody>
      </p:sp>
      <p:sp>
        <p:nvSpPr>
          <p:cNvPr id="66" name="Label 66"/>
          <p:cNvSpPr txBox="1"/>
          <p:nvPr/>
        </p:nvSpPr>
        <p:spPr>
          <a:xfrm>
            <a:off x="7095744" y="5671090"/>
            <a:ext cx="4096512" cy="206441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Сверенных чисел</a:t>
            </a:r>
            <a:endParaRPr lang="ru-RU" sz="2799"/>
          </a:p>
        </p:txBody>
      </p:sp>
      <p:sp>
        <p:nvSpPr>
          <p:cNvPr id="67" name="Card 67"/>
          <p:cNvSpPr/>
          <p:nvPr/>
        </p:nvSpPr>
        <p:spPr>
          <a:xfrm>
            <a:off x="12143232" y="3947718"/>
            <a:ext cx="5120640" cy="4299846"/>
          </a:xfrm>
          <a:prstGeom prst="roundRect">
            <a:avLst>
              <a:gd name="adj" fmla="val 255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8" name="Figure 68"/>
          <p:cNvSpPr txBox="1"/>
          <p:nvPr/>
        </p:nvSpPr>
        <p:spPr>
          <a:xfrm>
            <a:off x="12651029" y="4221957"/>
            <a:ext cx="4100779" cy="13411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8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</a:t>
            </a:r>
            <a:endParaRPr lang="ru-RU" sz="8800"/>
          </a:p>
        </p:txBody>
      </p:sp>
      <p:sp>
        <p:nvSpPr>
          <p:cNvPr id="69" name="Label 69"/>
          <p:cNvSpPr txBox="1"/>
          <p:nvPr/>
        </p:nvSpPr>
        <p:spPr>
          <a:xfrm>
            <a:off x="12655296" y="5671090"/>
            <a:ext cx="4096512" cy="206441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Лишних чисел</a:t>
            </a:r>
            <a:endParaRPr lang="ru-RU" sz="2799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87 шаблонов и 99/100 качества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1024128" y="4137660"/>
          <a:ext cx="11692615" cy="459931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5846308"/>
                <a:gridCol w="5846307"/>
              </a:tblGrid>
              <a:tr h="91986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Показатель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Значение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Чужих шаблонов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87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Средняя оценка качества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99/100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Форматов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12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Генерация шаблонов укладывается в 5 минут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3947718"/>
            <a:ext cx="16239744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Время генерации шаблонов (секунды)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4340021"/>
          <a:ext cx="16239744" cy="29182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Conclusion strip 45"/>
          <p:cNvSpPr/>
          <p:nvPr/>
        </p:nvSpPr>
        <p:spPr>
          <a:xfrm>
            <a:off x="1024128" y="7690283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6" name="Conclusion bar 46"/>
          <p:cNvSpPr/>
          <p:nvPr/>
        </p:nvSpPr>
        <p:spPr>
          <a:xfrm>
            <a:off x="1379601" y="7953333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Conclusion 47"/>
          <p:cNvSpPr txBox="1"/>
          <p:nvPr/>
        </p:nvSpPr>
        <p:spPr>
          <a:xfrm>
            <a:off x="1725701" y="7910676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шаблоны укладываются в лимит 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5 минут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 с запасом</a:t>
            </a:r>
            <a:endParaRPr lang="ru-RU" sz="2799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Три открытые модели с лицензией Apache 2.0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3947718"/>
            <a:ext cx="5120640" cy="3623811"/>
          </a:xfrm>
          <a:prstGeom prst="roundRect">
            <a:avLst>
              <a:gd name="adj" fmla="val 302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459382" y="4382972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4712"/>
          </a:p>
        </p:txBody>
      </p:sp>
      <p:sp>
        <p:nvSpPr>
          <p:cNvPr id="45" name="Card text 45"/>
          <p:cNvSpPr txBox="1"/>
          <p:nvPr/>
        </p:nvSpPr>
        <p:spPr>
          <a:xfrm>
            <a:off x="1459382" y="5209094"/>
            <a:ext cx="4250132" cy="192718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Qwen3.8-⁠27B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Основная модель, инференс VK, конфиг готов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3947718"/>
            <a:ext cx="5120640" cy="3623811"/>
          </a:xfrm>
          <a:prstGeom prst="roundRect">
            <a:avLst>
              <a:gd name="adj" fmla="val 302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7018934" y="4382972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4712"/>
          </a:p>
        </p:txBody>
      </p:sp>
      <p:sp>
        <p:nvSpPr>
          <p:cNvPr id="48" name="Card text 48"/>
          <p:cNvSpPr txBox="1"/>
          <p:nvPr/>
        </p:nvSpPr>
        <p:spPr>
          <a:xfrm>
            <a:off x="7018934" y="5209094"/>
            <a:ext cx="4250132" cy="192718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Qwen3-⁠32B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Запасное звено на Cloud.ru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3947718"/>
            <a:ext cx="5120640" cy="3623811"/>
          </a:xfrm>
          <a:prstGeom prst="roundRect">
            <a:avLst>
              <a:gd name="adj" fmla="val 3027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578486" y="4382972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4712"/>
          </a:p>
        </p:txBody>
      </p:sp>
      <p:sp>
        <p:nvSpPr>
          <p:cNvPr id="51" name="Card text 51"/>
          <p:cNvSpPr txBox="1"/>
          <p:nvPr/>
        </p:nvSpPr>
        <p:spPr>
          <a:xfrm>
            <a:off x="12578486" y="5209094"/>
            <a:ext cx="4250132" cy="192718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Gemma 4 и Qwen3-⁠VL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Два запасных звена цепочки</a:t>
            </a:r>
            <a:endParaRPr lang="ru-RU" sz="2799"/>
          </a:p>
        </p:txBody>
      </p:sp>
      <p:sp>
        <p:nvSpPr>
          <p:cNvPr id="52" name="Conclusion strip 52"/>
          <p:cNvSpPr/>
          <p:nvPr/>
        </p:nvSpPr>
        <p:spPr>
          <a:xfrm>
            <a:off x="1024128" y="8003583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266633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223976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модели поддерживают масштаб до 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35 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миллиардов параметров</a:t>
            </a:r>
            <a:endParaRPr lang="ru-RU" sz="2799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2 028 автотестов и форматы PPTX, PDF и HTML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3947718"/>
            <a:ext cx="5120640" cy="4172451"/>
          </a:xfrm>
          <a:prstGeom prst="roundRect">
            <a:avLst>
              <a:gd name="adj" fmla="val 26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459382" y="4382972"/>
            <a:ext cx="4250132" cy="9752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6399"/>
          </a:p>
        </p:txBody>
      </p:sp>
      <p:sp>
        <p:nvSpPr>
          <p:cNvPr id="45" name="Card text 45"/>
          <p:cNvSpPr txBox="1"/>
          <p:nvPr/>
        </p:nvSpPr>
        <p:spPr>
          <a:xfrm>
            <a:off x="1459382" y="5466193"/>
            <a:ext cx="4250132" cy="221872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Автотесты</a:t>
            </a:r>
            <a:endParaRPr lang="ru-RU" sz="4712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2 028 автотестов для проверки функциональности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3947718"/>
            <a:ext cx="5120640" cy="4172451"/>
          </a:xfrm>
          <a:prstGeom prst="roundRect">
            <a:avLst>
              <a:gd name="adj" fmla="val 26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7018934" y="4382972"/>
            <a:ext cx="4250132" cy="9752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6399"/>
          </a:p>
        </p:txBody>
      </p:sp>
      <p:sp>
        <p:nvSpPr>
          <p:cNvPr id="48" name="Card text 48"/>
          <p:cNvSpPr txBox="1"/>
          <p:nvPr/>
        </p:nvSpPr>
        <p:spPr>
          <a:xfrm>
            <a:off x="7018934" y="5466193"/>
            <a:ext cx="4250132" cy="221872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Форматы</a:t>
            </a:r>
            <a:endParaRPr lang="ru-RU" sz="4712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PPTX с редактируемыми объектами, PDF и HTML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3947718"/>
            <a:ext cx="5120640" cy="4172451"/>
          </a:xfrm>
          <a:prstGeom prst="roundRect">
            <a:avLst>
              <a:gd name="adj" fmla="val 262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578486" y="4382972"/>
            <a:ext cx="4250132" cy="9752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63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6399"/>
          </a:p>
        </p:txBody>
      </p:sp>
      <p:sp>
        <p:nvSpPr>
          <p:cNvPr id="51" name="Card text 51"/>
          <p:cNvSpPr txBox="1"/>
          <p:nvPr/>
        </p:nvSpPr>
        <p:spPr>
          <a:xfrm>
            <a:off x="12578486" y="5466193"/>
            <a:ext cx="4250132" cy="221872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Планы</a:t>
            </a:r>
            <a:endParaRPr lang="ru-RU" sz="4712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Генерация изображений и переход на инференс VK</a:t>
            </a:r>
            <a:endParaRPr lang="ru-RU" sz="2799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inimalis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