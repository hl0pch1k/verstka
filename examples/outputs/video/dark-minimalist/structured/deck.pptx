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2" r:id="rId4"/>
  </p:sldMasterIdLst>
  <p:notesMasterIdLst>
    <p:notesMasterId r:id="rId5"/>
  </p:notesMasterIdLst>
  <p:sldIdLst>
    <p:sldId id="277" r:id="rId39"/>
    <p:sldId id="278" r:id="rId40"/>
    <p:sldId id="279" r:id="rId41"/>
    <p:sldId id="280" r:id="rId42"/>
    <p:sldId id="281" r:id="rId43"/>
    <p:sldId id="282" r:id="rId44"/>
    <p:sldId id="283" r:id="rId45"/>
    <p:sldId id="284" r:id="rId46"/>
    <p:sldId id="285" r:id="rId47"/>
    <p:sldId id="286" r:id="rId48"/>
    <p:sldId id="287" r:id="rId49"/>
  </p:sldIdLst>
  <p:sldSz cy="10287000" cx="18288000"/>
  <p:notesSz cx="6858000" cy="9144000"/>
  <p:embeddedFontLst>
    <p:embeddedFont>
      <p:font typeface="Inter Light"/>
      <p:regular r:id="rId27"/>
      <p:bold r:id="rId28"/>
      <p:italic r:id="rId29"/>
      <p:boldItalic r:id="rId30"/>
    </p:embeddedFont>
    <p:embeddedFont>
      <p:font typeface="Inter"/>
      <p:regular r:id="rId31"/>
      <p:bold r:id="rId32"/>
      <p:italic r:id="rId33"/>
      <p:boldItalic r:id="rId34"/>
    </p:embeddedFont>
    <p:embeddedFont>
      <p:font typeface="Inter Medium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27" Type="http://schemas.openxmlformats.org/officeDocument/2006/relationships/font" Target="fonts/InterLight-regular.fntdata"/><Relationship Id="rId28" Type="http://schemas.openxmlformats.org/officeDocument/2006/relationships/font" Target="fonts/InterLight-bold.fntdata"/><Relationship Id="rId29" Type="http://schemas.openxmlformats.org/officeDocument/2006/relationships/font" Target="fonts/InterLight-italic.fntdata"/><Relationship Id="rId30" Type="http://schemas.openxmlformats.org/officeDocument/2006/relationships/font" Target="fonts/InterLight-boldItalic.fntdata"/><Relationship Id="rId31" Type="http://schemas.openxmlformats.org/officeDocument/2006/relationships/font" Target="fonts/Inter-regular.fntdata"/><Relationship Id="rId32" Type="http://schemas.openxmlformats.org/officeDocument/2006/relationships/font" Target="fonts/Inter-bold.fntdata"/><Relationship Id="rId33" Type="http://schemas.openxmlformats.org/officeDocument/2006/relationships/font" Target="fonts/Inter-italic.fntdata"/><Relationship Id="rId34" Type="http://schemas.openxmlformats.org/officeDocument/2006/relationships/font" Target="fonts/Inter-boldItalic.fntdata"/><Relationship Id="rId35" Type="http://schemas.openxmlformats.org/officeDocument/2006/relationships/font" Target="fonts/InterMedium-regular.fntdata"/><Relationship Id="rId36" Type="http://schemas.openxmlformats.org/officeDocument/2006/relationships/font" Target="fonts/InterMedium-bold.fntdata"/><Relationship Id="rId37" Type="http://schemas.openxmlformats.org/officeDocument/2006/relationships/font" Target="fonts/InterMedium-italic.fntdata"/><Relationship Id="rId38" Type="http://schemas.openxmlformats.org/officeDocument/2006/relationships/font" Target="fonts/InterMedium-boldItalic.fntdata"/><Relationship Id="rId39" Type="http://schemas.openxmlformats.org/officeDocument/2006/relationships/slide" Target="slides/slide1.xml"/><Relationship Id="rId40" Type="http://schemas.openxmlformats.org/officeDocument/2006/relationships/slide" Target="slides/slide2.xml"/><Relationship Id="rId41" Type="http://schemas.openxmlformats.org/officeDocument/2006/relationships/slide" Target="slides/slide3.xml"/><Relationship Id="rId42" Type="http://schemas.openxmlformats.org/officeDocument/2006/relationships/slide" Target="slides/slide4.xml"/><Relationship Id="rId43" Type="http://schemas.openxmlformats.org/officeDocument/2006/relationships/slide" Target="slides/slide5.xml"/><Relationship Id="rId44" Type="http://schemas.openxmlformats.org/officeDocument/2006/relationships/slide" Target="slides/slide6.xml"/><Relationship Id="rId45" Type="http://schemas.openxmlformats.org/officeDocument/2006/relationships/slide" Target="slides/slide7.xml"/><Relationship Id="rId46" Type="http://schemas.openxmlformats.org/officeDocument/2006/relationships/slide" Target="slides/slide8.xml"/><Relationship Id="rId47" Type="http://schemas.openxmlformats.org/officeDocument/2006/relationships/slide" Target="slides/slide9.xml"/><Relationship Id="rId48" Type="http://schemas.openxmlformats.org/officeDocument/2006/relationships/slide" Target="slides/slide10.xml"/><Relationship Id="rId49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293"/>
          <c:y val="0.0293"/>
          <c:w val="0.9415"/>
          <c:h val="0.9415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Доля фигур</c:v>
                </c:pt>
              </c:strCache>
            </c:strRef>
          </c:tx>
          <c:dPt>
            <c:idx val="0"/>
            <c:spPr>
              <a:solidFill>
                <a:srgbClr val="C2D076"/>
              </a:solidFill>
              <a:ln w="25400">
                <a:solidFill>
                  <a:srgbClr val="001514"/>
                </a:solidFill>
              </a:ln>
            </c:spPr>
          </c:dPt>
          <c:dPt>
            <c:idx val="1"/>
            <c:spPr>
              <a:solidFill>
                <a:srgbClr val="E8EDCB"/>
              </a:solidFill>
              <a:ln w="25400">
                <a:solidFill>
                  <a:srgbClr val="001514"/>
                </a:solidFill>
              </a:ln>
            </c:spPr>
          </c:dPt>
          <c:dLbls>
            <c:dLbl>
              <c:idx val="0"/>
              <c:numFmt formatCode="0&quot;%&quot;;&quot;−&quot;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800" b="0">
                      <a:solidFill>
                        <a:srgbClr val="001514"/>
                      </a:solidFill>
                      <a:latin typeface="Inter Light"/>
                      <a:ea typeface="Inter Light"/>
                      <a:cs typeface="Inter Light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;&quot;−&quot;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800" b="0">
                      <a:solidFill>
                        <a:srgbClr val="001514"/>
                      </a:solidFill>
                      <a:latin typeface="Inter Light"/>
                      <a:ea typeface="Inter Light"/>
                      <a:cs typeface="Inter Light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;&quot;−&quot;0&quot;%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800" b="0">
                    <a:solidFill>
                      <a:srgbClr val="FFFFFF"/>
                    </a:solidFill>
                    <a:latin typeface="Inter Light"/>
                    <a:ea typeface="Inter Light"/>
                    <a:cs typeface="Inter Ligh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Свободные фигуры</c:v>
                </c:pt>
                <c:pt idx="1">
                  <c:v>Плейсхолдеры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95.0</c:v>
                </c:pt>
                <c:pt idx="1">
                  <c:v>5.0</c:v>
                </c:pt>
              </c:numCache>
            </c:numRef>
          </c:val>
        </c:ser>
        <c:dLbls>
          <c:numFmt formatCode="0&quot;%&quot;;&quot;−&quot;0&quot;%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800" b="0">
                  <a:solidFill>
                    <a:srgbClr val="FFFFFF"/>
                  </a:solidFill>
                  <a:latin typeface="Inter Light"/>
                  <a:ea typeface="Inter Light"/>
                  <a:cs typeface="Inter Light"/>
                </a:defRPr>
              </a:pPr>
              <a:endParaRPr lang="ru-RU"/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firstSliceAng val="0"/>
        <c:holeSize val="56"/>
      </c:doughnutChart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>
          <a:solidFill>
            <a:srgbClr val="FFFFFF"/>
          </a:solidFill>
          <a:latin typeface="Inter Light"/>
          <a:ea typeface="Inter Light"/>
          <a:cs typeface="Inter Light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503"/>
          <c:y val="0.0258"/>
          <c:w val="0.7988"/>
          <c:h val="0.9485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Проверки</c:v>
                </c:pt>
              </c:strCache>
            </c:strRef>
          </c:tx>
          <c:spPr>
            <a:solidFill>
              <a:srgbClr val="C2D076"/>
            </a:solidFill>
            <a:ln>
              <a:noFill/>
            </a:ln>
          </c:spPr>
          <c:invertIfNegative val="0"/>
          <c:dLbls>
            <c:dLbl>
              <c:idx val="0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2200" b="0">
                      <a:solidFill>
                        <a:srgbClr val="FFFFFF"/>
                      </a:solidFill>
                      <a:latin typeface="Inter Light"/>
                      <a:ea typeface="Inter Light"/>
                      <a:cs typeface="Inter Light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2200" b="0">
                    <a:solidFill>
                      <a:srgbClr val="FFFFFF"/>
                    </a:solidFill>
                    <a:latin typeface="Inter Light"/>
                    <a:ea typeface="Inter Light"/>
                    <a:cs typeface="Inter Light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Целостность</c:v>
                </c:pt>
                <c:pt idx="1">
                  <c:v>Вёрстка</c:v>
                </c:pt>
                <c:pt idx="2">
                  <c:v>Шаблон</c:v>
                </c:pt>
                <c:pt idx="3">
                  <c:v>Контент</c:v>
                </c:pt>
                <c:pt idx="4">
                  <c:v>Плотность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12.0</c:v>
                </c:pt>
                <c:pt idx="1">
                  <c:v>11.0</c:v>
                </c:pt>
                <c:pt idx="2">
                  <c:v>7.0</c:v>
                </c:pt>
                <c:pt idx="3">
                  <c:v>6.0</c:v>
                </c:pt>
                <c:pt idx="4">
                  <c:v>5.0</c:v>
                </c:pt>
              </c:numCache>
            </c:numRef>
          </c:val>
        </c:ser>
        <c:dLbls>
          <c:numFmt formatCode="#,##0&quot; проверок&quot;;&quot;−&quot;#,##0&quot; проверок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2200" b="0">
                  <a:solidFill>
                    <a:srgbClr val="FFFFFF"/>
                  </a:solidFill>
                  <a:latin typeface="Inter Light"/>
                  <a:ea typeface="Inter Light"/>
                  <a:cs typeface="Inter Light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1800" b="0">
                <a:solidFill>
                  <a:srgbClr val="A8AFAF"/>
                </a:solidFill>
                <a:latin typeface="Inter Light"/>
                <a:ea typeface="Inter Light"/>
                <a:cs typeface="Inter Light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2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800">
          <a:solidFill>
            <a:srgbClr val="FFFFFF"/>
          </a:solidFill>
          <a:latin typeface="Inter Light"/>
          <a:ea typeface="Inter Light"/>
          <a:cs typeface="Inter Light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008"/>
          <c:y val="0.1462"/>
          <c:w val="0.9984"/>
          <c:h val="0.711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генерации</c:v>
                </c:pt>
              </c:strCache>
            </c:strRef>
          </c:tx>
          <c:spPr>
            <a:solidFill>
              <a:srgbClr val="C2D076"/>
            </a:solidFill>
            <a:ln>
              <a:noFill/>
            </a:ln>
          </c:spPr>
          <c:invertIfNegative val="0"/>
          <c:dLbls>
            <c:dLbl>
              <c:idx val="2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2200" b="0">
                      <a:solidFill>
                        <a:srgbClr val="FFFFFF"/>
                      </a:solidFill>
                      <a:latin typeface="Inter Light"/>
                      <a:ea typeface="Inter Light"/>
                      <a:cs typeface="Inter Light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2200" b="0">
                    <a:solidFill>
                      <a:srgbClr val="FFFFFF"/>
                    </a:solidFill>
                    <a:latin typeface="Inter Light"/>
                    <a:ea typeface="Inter Light"/>
                    <a:cs typeface="Inter Light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VK Tech</c:v>
                </c:pt>
                <c:pt idx="1">
                  <c:v>VK Education</c:v>
                </c:pt>
                <c:pt idx="2">
                  <c:v>VK WorkSpace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113.0</c:v>
                </c:pt>
                <c:pt idx="1">
                  <c:v>145.0</c:v>
                </c:pt>
                <c:pt idx="2">
                  <c:v>175.0</c:v>
                </c:pt>
              </c:numCache>
            </c:numRef>
          </c:val>
        </c:ser>
        <c:dLbls>
          <c:numFmt formatCode="#,##0&quot; секунд&quot;;&quot;−&quot;#,##0&quot; секунд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2200" b="0">
                  <a:solidFill>
                    <a:srgbClr val="FFFFFF"/>
                  </a:solidFill>
                  <a:latin typeface="Inter Light"/>
                  <a:ea typeface="Inter Light"/>
                  <a:cs typeface="Inter Light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69"/>
        <c:axId val="510000001"/>
        <c:axId val="510000002"/>
      </c:barChart>
      <c:catAx>
        <c:axId val="51000000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384848"/>
            </a:solidFill>
          </a:ln>
        </c:spPr>
        <c:txPr>
          <a:bodyPr rot="0" vert="horz"/>
          <a:lstStyle/>
          <a:p>
            <a:pPr>
              <a:defRPr sz="1800" b="0">
                <a:solidFill>
                  <a:srgbClr val="A8AFAF"/>
                </a:solidFill>
                <a:latin typeface="Inter Light"/>
                <a:ea typeface="Inter Light"/>
                <a:cs typeface="Inter Light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75.0"/>
          <c:min val="0.0"/>
        </c:scaling>
        <c:delete val="1"/>
        <c:axPos val="l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800">
          <a:solidFill>
            <a:srgbClr val="FFFFFF"/>
          </a:solidFill>
          <a:latin typeface="Inter Light"/>
          <a:ea typeface="Inter Light"/>
          <a:cs typeface="Inter Ligh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Verstka — цифровой дизайнер презентаций. Команда «Рекрут 2», задача № 4 VK Tech.</a:t>
            </a:r>
          </a:p>
          <a:p>
            <a:r>
              <a:t>[verstka:sl1]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ИИ может помочь с текстом, но не с дизайном.</a:t>
            </a:r>
          </a:p>
          <a:p>
            <a:r>
              <a:t>[verstka:sl2]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 реальных шаблонах 95% фигур — свободные, и только 5% — плейсхолдеры. Это означает, что правила оформления нельзя просто применить, их нужно выводить из самих слайдов-образцов, включая палитру, кегли, сетку, поля, логотипы и колонтитулы.</a:t>
            </a:r>
          </a:p>
          <a:p>
            <a:r>
              <a:t>[verstka:sl3]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Verstka автоматически создаёт три редактируемые презентации на основе шаблона и текста, сохраняя фирменный стиль без необходимости ручной вёрстки.</a:t>
            </a:r>
          </a:p>
          <a:p>
            <a:r>
              <a:t>[verstka:sl4]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Агент работает на открытых моделях до 35 миллиардов параметров с лицензией Apache 2.0. Пять шагов: аналитик находит в тексте слайды, ряды данных и просьбы; дизайнер продумывает каждый слайд отдельно; критик сверяет план с текстом и правилами шаблона; компилятор проверяет каждое число; вёрстка собирает слайды по дизайн-системе шаблона.</a:t>
            </a:r>
          </a:p>
          <a:p>
            <a:r>
              <a:t>[verstka:sl5]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Содержание одно, подача разная. | Вариант | Подача | Когда подходит |. |---|---|---|. | Структурный | одна мысль на слайд, строгая сетка | отчёт и защита проекта |. | Визуальный | крупные цифры и наглядные схемы | питч и выступление со сцены |. | Компактный | вывод первой строкой, данные справа | рассылка руководителю |.</a:t>
            </a:r>
          </a:p>
          <a:p>
            <a:r>
              <a:t>[verstka:sl6]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Каждый слайд проходит 41 проверку: 12 на целостность, 11 на вёрстку, 7 на шаблон, 6 на контент и 5 на плотность. Найденные проблемы исправляются автоматически.</a:t>
            </a:r>
          </a:p>
          <a:p>
            <a:r>
              <a:t>[verstka:sl7]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 итоге не было выдумано ни одного числа.</a:t>
            </a:r>
          </a:p>
          <a:p>
            <a:r>
              <a:t>[verstka:sl8]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Сервис поддерживает 12 форматов, включая pptx, potx, ppt, odp, thmx и другие.</a:t>
            </a:r>
          </a:p>
          <a:p>
            <a:r>
              <a:t>[verstka:sl9]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Время генерации всех шаблонов меньше 5 минут.</a:t>
            </a:r>
          </a:p>
          <a:p>
            <a:r>
              <a:t>[verstka:sl10]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[verstka:sl11]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On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>
            <p:ph idx="2" type="pic"/>
          </p:nvPr>
        </p:nvSpPr>
        <p:spPr>
          <a:xfrm>
            <a:off x="9136050" y="1007975"/>
            <a:ext cx="8131200" cy="8270400"/>
          </a:xfrm>
          <a:prstGeom prst="rect">
            <a:avLst/>
          </a:prstGeom>
          <a:noFill/>
          <a:ln cap="flat" cmpd="sng" w="19050">
            <a:solidFill>
              <a:srgbClr val="C2D076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Two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/>
          <p:nvPr>
            <p:ph idx="2" type="pic"/>
          </p:nvPr>
        </p:nvSpPr>
        <p:spPr>
          <a:xfrm>
            <a:off x="1009200" y="1006800"/>
            <a:ext cx="8154300" cy="4158600"/>
          </a:xfrm>
          <a:prstGeom prst="rect">
            <a:avLst/>
          </a:prstGeom>
          <a:noFill/>
          <a:ln cap="flat" cmpd="sng" w="19050">
            <a:solidFill>
              <a:srgbClr val="C2D076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" name="Google Shape;19;p4"/>
          <p:cNvSpPr/>
          <p:nvPr>
            <p:ph idx="3" type="pic"/>
          </p:nvPr>
        </p:nvSpPr>
        <p:spPr>
          <a:xfrm>
            <a:off x="1009200" y="5165400"/>
            <a:ext cx="8154300" cy="4158600"/>
          </a:xfrm>
          <a:prstGeom prst="rect">
            <a:avLst/>
          </a:prstGeom>
          <a:noFill/>
          <a:ln cap="flat" cmpd="sng" w="19050">
            <a:solidFill>
              <a:srgbClr val="C2D076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rgbClr val="C2D076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1514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4400"/>
              <a:buFont typeface="Inter"/>
              <a:buNone/>
              <a:defRPr i="0" sz="4400" u="none" cap="none" strike="noStrike">
                <a:solidFill>
                  <a:srgbClr val="C2D076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Char char="•"/>
              <a:defRPr i="0" sz="32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Inter"/>
              <a:buChar char="–"/>
              <a:defRPr i="0" sz="28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Char char="•"/>
              <a:defRPr i="0" sz="24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–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»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•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•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•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•"/>
              <a:defRPr i="0" sz="2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3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cxnSp>
        <p:nvCxnSpPr>
          <p:cNvPr id="25" name="Google Shape;25;p6"/>
          <p:cNvCxnSpPr/>
          <p:nvPr/>
        </p:nvCxnSpPr>
        <p:spPr>
          <a:xfrm>
            <a:off x="1028700" y="9258300"/>
            <a:ext cx="16230600" cy="0"/>
          </a:xfrm>
          <a:prstGeom prst="straightConnector1">
            <a:avLst/>
          </a:prstGeom>
          <a:noFill/>
          <a:ln cap="flat" cmpd="sng" w="38100">
            <a:solidFill>
              <a:srgbClr val="C2D07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" name="Google Shape;26;p6"/>
          <p:cNvSpPr txBox="1"/>
          <p:nvPr/>
        </p:nvSpPr>
        <p:spPr>
          <a:xfrm>
            <a:off x="1028700" y="4650572"/>
            <a:ext cx="10740300" cy="30015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7800" u="none" cap="none" strike="noStrike" b="0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Verstka —</a:t>
            </a:r>
            <a:br>
              <a:rPr i="0" lang="en-US" sz="7800" u="none" cap="none" strike="noStrike" b="0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r>
              <a:rPr i="0" lang="ru-RU" sz="7800" u="none" cap="none" strike="noStrike" b="0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цифровой дизайнер</a:t>
            </a:r>
            <a:br>
              <a:rPr i="0" lang="en-US" sz="7800" u="none" cap="none" strike="noStrike" b="0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r>
              <a:rPr i="0" lang="ru-RU" sz="7800" u="none" cap="none" strike="noStrike" b="0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презентаций</a:t>
            </a:r>
            <a:endParaRPr b="0"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30" name="Подзаголовок"/>
          <p:cNvSpPr txBox="1"/>
          <p:nvPr/>
        </p:nvSpPr>
        <p:spPr>
          <a:xfrm>
            <a:off x="1028700" y="8097859"/>
            <a:ext cx="10740300" cy="4049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0" lang="ru-RU" sz="2199" u="none" cap="none" strike="noStrike" b="0" spc="0">
                <a:solidFill>
                  <a:srgbClr val="C2D076"/>
                </a:solidFill>
                <a:latin typeface="Inter Medium"/>
                <a:ea typeface="Inter Medium"/>
                <a:sym typeface="Inter Medium"/>
              </a:rPr>
              <a:t>Команда «Рекрут 2» · задача № 4 VK Tech · ЛЦТ 2026</a:t>
            </a:r>
            <a:endParaRPr b="0" cap="none" spc="0">
              <a:solidFill>
                <a:srgbClr val="C2D076"/>
              </a:solidFill>
              <a:latin typeface="Inter Medium"/>
              <a:ea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9215842" cy="15276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2799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Вёрстка занимает больше времени, чем создание текста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Card 43"/>
          <p:cNvSpPr/>
          <p:nvPr/>
        </p:nvSpPr>
        <p:spPr>
          <a:xfrm>
            <a:off x="1024128" y="4665827"/>
            <a:ext cx="5120640" cy="4050378"/>
          </a:xfrm>
          <a:prstGeom prst="roundRect">
            <a:avLst>
              <a:gd name="adj" fmla="val 2709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4" name="Index 44"/>
          <p:cNvSpPr txBox="1"/>
          <p:nvPr/>
        </p:nvSpPr>
        <p:spPr>
          <a:xfrm>
            <a:off x="1459382" y="5101081"/>
            <a:ext cx="4250132" cy="71810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12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01</a:t>
            </a:r>
            <a:endParaRPr lang="ru-RU" sz="4712"/>
          </a:p>
        </p:txBody>
      </p:sp>
      <p:sp>
        <p:nvSpPr>
          <p:cNvPr id="45" name="Card text 45"/>
          <p:cNvSpPr txBox="1"/>
          <p:nvPr/>
        </p:nvSpPr>
        <p:spPr>
          <a:xfrm>
            <a:off x="1459382" y="5927203"/>
            <a:ext cx="4250132" cy="235374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898"/>
              </a:spcAft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Ручная вёрстка</a:t>
            </a:r>
            <a:endParaRPr lang="ru-RU" sz="27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Подбор макета, подгонка цветов и блоков</a:t>
            </a:r>
            <a:endParaRPr lang="ru-RU" sz="2799"/>
          </a:p>
        </p:txBody>
      </p:sp>
      <p:sp>
        <p:nvSpPr>
          <p:cNvPr id="46" name="Card 46"/>
          <p:cNvSpPr/>
          <p:nvPr/>
        </p:nvSpPr>
        <p:spPr>
          <a:xfrm>
            <a:off x="6583680" y="4665827"/>
            <a:ext cx="5120640" cy="4050378"/>
          </a:xfrm>
          <a:prstGeom prst="roundRect">
            <a:avLst>
              <a:gd name="adj" fmla="val 2709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7" name="Index 47"/>
          <p:cNvSpPr txBox="1"/>
          <p:nvPr/>
        </p:nvSpPr>
        <p:spPr>
          <a:xfrm>
            <a:off x="7018934" y="5101081"/>
            <a:ext cx="4250132" cy="71810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12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02</a:t>
            </a:r>
            <a:endParaRPr lang="ru-RU" sz="4712"/>
          </a:p>
        </p:txBody>
      </p:sp>
      <p:sp>
        <p:nvSpPr>
          <p:cNvPr id="48" name="Card text 48"/>
          <p:cNvSpPr txBox="1"/>
          <p:nvPr/>
        </p:nvSpPr>
        <p:spPr>
          <a:xfrm>
            <a:off x="7018934" y="5927203"/>
            <a:ext cx="4250132" cy="235374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898"/>
              </a:spcAft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ИИ ломает стиль</a:t>
            </a:r>
            <a:endParaRPr lang="ru-RU" sz="27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Нейросети пишут текст, но не воспроизводят дизайн</a:t>
            </a:r>
            <a:endParaRPr lang="ru-RU" sz="2799"/>
          </a:p>
        </p:txBody>
      </p:sp>
      <p:sp>
        <p:nvSpPr>
          <p:cNvPr id="49" name="Card 49"/>
          <p:cNvSpPr/>
          <p:nvPr/>
        </p:nvSpPr>
        <p:spPr>
          <a:xfrm>
            <a:off x="12143232" y="4665827"/>
            <a:ext cx="5120640" cy="4050378"/>
          </a:xfrm>
          <a:prstGeom prst="roundRect">
            <a:avLst>
              <a:gd name="adj" fmla="val 2709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0" name="Index 50"/>
          <p:cNvSpPr txBox="1"/>
          <p:nvPr/>
        </p:nvSpPr>
        <p:spPr>
          <a:xfrm>
            <a:off x="12578486" y="5101081"/>
            <a:ext cx="4250132" cy="71810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12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03</a:t>
            </a:r>
            <a:endParaRPr lang="ru-RU" sz="4712"/>
          </a:p>
        </p:txBody>
      </p:sp>
      <p:sp>
        <p:nvSpPr>
          <p:cNvPr id="51" name="Card text 51"/>
          <p:cNvSpPr txBox="1"/>
          <p:nvPr/>
        </p:nvSpPr>
        <p:spPr>
          <a:xfrm>
            <a:off x="12578486" y="5927203"/>
            <a:ext cx="4250132" cy="235374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539"/>
              </a:spcAft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Шаблон — не инструкция</a:t>
            </a:r>
            <a:endParaRPr lang="ru-RU" sz="27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Слайды-⁠образцы не показывают, как собрать новый слайд</a:t>
            </a:r>
            <a:endParaRPr lang="ru-RU" sz="2799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8095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95% фигур — свободные, 5% — плейсхолдеры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graphicFrame>
        <p:nvGraphicFramePr>
          <p:cNvPr id="43" name="Chart 42"/>
          <p:cNvGraphicFramePr>
            <a:graphicFrameLocks noGrp="1"/>
          </p:cNvGraphicFramePr>
          <p:nvPr/>
        </p:nvGraphicFramePr>
        <p:xfrm>
          <a:off x="1024128" y="3947718"/>
          <a:ext cx="4687877" cy="4687877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4" name="Legend title 44"/>
          <p:cNvSpPr txBox="1"/>
          <p:nvPr/>
        </p:nvSpPr>
        <p:spPr>
          <a:xfrm>
            <a:off x="6589829" y="5400421"/>
            <a:ext cx="4827735" cy="70079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Состав фигур в шаблонах</a:t>
            </a:r>
            <a:endParaRPr lang="ru-RU" sz="2799"/>
          </a:p>
        </p:txBody>
      </p:sp>
      <p:sp>
        <p:nvSpPr>
          <p:cNvPr id="45" name="Swatch 45"/>
          <p:cNvSpPr/>
          <p:nvPr/>
        </p:nvSpPr>
        <p:spPr>
          <a:xfrm>
            <a:off x="6589829" y="6186533"/>
            <a:ext cx="255941" cy="255941"/>
          </a:xfrm>
          <a:prstGeom prst="roundRect">
            <a:avLst>
              <a:gd name="adj" fmla="val 24999"/>
            </a:avLst>
          </a:prstGeom>
          <a:solidFill>
            <a:srgbClr val="C2D076"/>
          </a:solidFill>
          <a:ln>
            <a:noFill/>
          </a:ln>
        </p:spPr>
      </p:sp>
      <p:sp>
        <p:nvSpPr>
          <p:cNvPr id="46" name="Legend 46"/>
          <p:cNvSpPr txBox="1"/>
          <p:nvPr/>
        </p:nvSpPr>
        <p:spPr>
          <a:xfrm>
            <a:off x="7050522" y="6101220"/>
            <a:ext cx="3451310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Свободные фигуры</a:t>
            </a:r>
            <a:endParaRPr lang="ru-RU" sz="2799"/>
          </a:p>
        </p:txBody>
      </p:sp>
      <p:sp>
        <p:nvSpPr>
          <p:cNvPr id="47" name="Share 47"/>
          <p:cNvSpPr txBox="1"/>
          <p:nvPr/>
        </p:nvSpPr>
        <p:spPr>
          <a:xfrm>
            <a:off x="10501832" y="6101220"/>
            <a:ext cx="915732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95%</a:t>
            </a:r>
            <a:endParaRPr lang="ru-RU" sz="2799"/>
          </a:p>
        </p:txBody>
      </p:sp>
      <p:sp>
        <p:nvSpPr>
          <p:cNvPr id="48" name="Swatch 48"/>
          <p:cNvSpPr/>
          <p:nvPr/>
        </p:nvSpPr>
        <p:spPr>
          <a:xfrm>
            <a:off x="6589829" y="6816237"/>
            <a:ext cx="255941" cy="255941"/>
          </a:xfrm>
          <a:prstGeom prst="roundRect">
            <a:avLst>
              <a:gd name="adj" fmla="val 24999"/>
            </a:avLst>
          </a:prstGeom>
          <a:solidFill>
            <a:srgbClr val="E8EDCB"/>
          </a:solidFill>
          <a:ln>
            <a:noFill/>
          </a:ln>
        </p:spPr>
      </p:sp>
      <p:sp>
        <p:nvSpPr>
          <p:cNvPr id="49" name="Legend 49"/>
          <p:cNvSpPr txBox="1"/>
          <p:nvPr/>
        </p:nvSpPr>
        <p:spPr>
          <a:xfrm>
            <a:off x="7050522" y="6730924"/>
            <a:ext cx="3451310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Плейсхолдеры</a:t>
            </a:r>
            <a:endParaRPr lang="ru-RU" sz="2799"/>
          </a:p>
        </p:txBody>
      </p:sp>
      <p:sp>
        <p:nvSpPr>
          <p:cNvPr id="50" name="Share 50"/>
          <p:cNvSpPr txBox="1"/>
          <p:nvPr/>
        </p:nvSpPr>
        <p:spPr>
          <a:xfrm>
            <a:off x="10501832" y="6730924"/>
            <a:ext cx="915732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2799" b="1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5%</a:t>
            </a:r>
            <a:endParaRPr lang="ru-RU" sz="2799"/>
          </a:p>
        </p:txBody>
      </p:sp>
      <p:cxnSp>
        <p:nvCxnSpPr>
          <p:cNvPr id="51" name="Line 51"/>
          <p:cNvCxnSpPr/>
          <p:nvPr/>
        </p:nvCxnSpPr>
        <p:spPr>
          <a:xfrm>
            <a:off x="11856476" y="5346035"/>
            <a:ext cx="0" cy="1305103"/>
          </a:xfrm>
          <a:prstGeom prst="line">
            <a:avLst/>
          </a:prstGeom>
          <a:ln w="12700">
            <a:solidFill>
              <a:srgbClr val="384848"/>
            </a:solidFill>
          </a:ln>
        </p:spPr>
      </p:cxnSp>
      <p:sp>
        <p:nvSpPr>
          <p:cNvPr id="52" name="Takeaway 52"/>
          <p:cNvSpPr txBox="1"/>
          <p:nvPr/>
        </p:nvSpPr>
        <p:spPr>
          <a:xfrm>
            <a:off x="12295388" y="5346035"/>
            <a:ext cx="4968484" cy="1305103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539"/>
              </a:spcAft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Правила оформления нужно выводить из образцов</a:t>
            </a:r>
            <a:endParaRPr lang="ru-RU" sz="2799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944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Решение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Card 43"/>
          <p:cNvSpPr/>
          <p:nvPr/>
        </p:nvSpPr>
        <p:spPr>
          <a:xfrm>
            <a:off x="1024128" y="4137660"/>
            <a:ext cx="5120640" cy="3812512"/>
          </a:xfrm>
          <a:prstGeom prst="roundRect">
            <a:avLst>
              <a:gd name="adj" fmla="val 2878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4" name="Index 44"/>
          <p:cNvSpPr txBox="1"/>
          <p:nvPr/>
        </p:nvSpPr>
        <p:spPr>
          <a:xfrm>
            <a:off x="1285280" y="4398812"/>
            <a:ext cx="4598336" cy="71810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12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01</a:t>
            </a:r>
            <a:endParaRPr lang="ru-RU" sz="4712"/>
          </a:p>
        </p:txBody>
      </p:sp>
      <p:sp>
        <p:nvSpPr>
          <p:cNvPr id="45" name="Card text 45"/>
          <p:cNvSpPr txBox="1"/>
          <p:nvPr/>
        </p:nvSpPr>
        <p:spPr>
          <a:xfrm>
            <a:off x="1285280" y="5224934"/>
            <a:ext cx="4598336" cy="246408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568"/>
              </a:spcAft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На входе — шаблон и текст</a:t>
            </a:r>
            <a:endParaRPr lang="ru-RU" sz="27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1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Verstka использует любой шаблон PowerPoint и текст для создания презентации.</a:t>
            </a:r>
            <a:endParaRPr lang="ru-RU" sz="2199"/>
          </a:p>
        </p:txBody>
      </p:sp>
      <p:sp>
        <p:nvSpPr>
          <p:cNvPr id="46" name="Card 46"/>
          <p:cNvSpPr/>
          <p:nvPr/>
        </p:nvSpPr>
        <p:spPr>
          <a:xfrm>
            <a:off x="6583680" y="4137660"/>
            <a:ext cx="5120640" cy="3812512"/>
          </a:xfrm>
          <a:prstGeom prst="roundRect">
            <a:avLst>
              <a:gd name="adj" fmla="val 2878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7" name="Index 47"/>
          <p:cNvSpPr txBox="1"/>
          <p:nvPr/>
        </p:nvSpPr>
        <p:spPr>
          <a:xfrm>
            <a:off x="6844832" y="4398812"/>
            <a:ext cx="4598336" cy="71810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12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02</a:t>
            </a:r>
            <a:endParaRPr lang="ru-RU" sz="4712"/>
          </a:p>
        </p:txBody>
      </p:sp>
      <p:sp>
        <p:nvSpPr>
          <p:cNvPr id="48" name="Card text 48"/>
          <p:cNvSpPr txBox="1"/>
          <p:nvPr/>
        </p:nvSpPr>
        <p:spPr>
          <a:xfrm>
            <a:off x="6844832" y="5224934"/>
            <a:ext cx="4598336" cy="246408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7927"/>
              </a:spcAft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Шаблон — набор правил</a:t>
            </a:r>
            <a:endParaRPr lang="ru-RU" sz="27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1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Шаблон интерпретируется как набор правил, а не макетов.</a:t>
            </a:r>
            <a:endParaRPr lang="ru-RU" sz="2199"/>
          </a:p>
        </p:txBody>
      </p:sp>
      <p:sp>
        <p:nvSpPr>
          <p:cNvPr id="49" name="Card 49"/>
          <p:cNvSpPr/>
          <p:nvPr/>
        </p:nvSpPr>
        <p:spPr>
          <a:xfrm>
            <a:off x="12143232" y="4137660"/>
            <a:ext cx="5120640" cy="3812512"/>
          </a:xfrm>
          <a:prstGeom prst="roundRect">
            <a:avLst>
              <a:gd name="adj" fmla="val 2878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0" name="Index 50"/>
          <p:cNvSpPr txBox="1"/>
          <p:nvPr/>
        </p:nvSpPr>
        <p:spPr>
          <a:xfrm>
            <a:off x="12404384" y="4398812"/>
            <a:ext cx="4598336" cy="71810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12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03</a:t>
            </a:r>
            <a:endParaRPr lang="ru-RU" sz="4712"/>
          </a:p>
        </p:txBody>
      </p:sp>
      <p:sp>
        <p:nvSpPr>
          <p:cNvPr id="51" name="Card text 51"/>
          <p:cNvSpPr txBox="1"/>
          <p:nvPr/>
        </p:nvSpPr>
        <p:spPr>
          <a:xfrm>
            <a:off x="12404384" y="5224934"/>
            <a:ext cx="4598336" cy="246408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9"/>
              </a:spcAft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На выходе — три редактируемые презентации</a:t>
            </a:r>
            <a:endParaRPr lang="ru-RU" sz="27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1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Результат — три презентации в стиле шаблона, готовые к редактированию.</a:t>
            </a:r>
            <a:endParaRPr lang="ru-RU" sz="2199"/>
          </a:p>
        </p:txBody>
      </p:sp>
      <p:sp>
        <p:nvSpPr>
          <p:cNvPr id="52" name="Conclusion strip 52"/>
          <p:cNvSpPr/>
          <p:nvPr/>
        </p:nvSpPr>
        <p:spPr>
          <a:xfrm>
            <a:off x="1024128" y="8355259"/>
            <a:ext cx="16239744" cy="892754"/>
          </a:xfrm>
          <a:prstGeom prst="roundRect">
            <a:avLst>
              <a:gd name="adj" fmla="val 12290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3" name="Conclusion bar 53"/>
          <p:cNvSpPr/>
          <p:nvPr/>
        </p:nvSpPr>
        <p:spPr>
          <a:xfrm>
            <a:off x="1379601" y="8618309"/>
            <a:ext cx="61722" cy="366654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54" name="Conclusion 54"/>
          <p:cNvSpPr txBox="1"/>
          <p:nvPr/>
        </p:nvSpPr>
        <p:spPr>
          <a:xfrm>
            <a:off x="1725701" y="8575652"/>
            <a:ext cx="15182698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Презентация в фирменном стиле без ручной вёрстки</a:t>
            </a:r>
            <a:endParaRPr lang="ru-RU" sz="2799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2707676" cy="15276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2799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Открытые модели до 35 млрд параметров создают презентации по правилам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cxnSp>
        <p:nvCxnSpPr>
          <p:cNvPr id="43" name="Axis 43"/>
          <p:cNvCxnSpPr/>
          <p:nvPr/>
        </p:nvCxnSpPr>
        <p:spPr>
          <a:xfrm>
            <a:off x="1409890" y="5051589"/>
            <a:ext cx="13202472" cy="0"/>
          </a:xfrm>
          <a:prstGeom prst="line">
            <a:avLst/>
          </a:prstGeom>
          <a:ln w="19050">
            <a:solidFill>
              <a:srgbClr val="C2D076"/>
            </a:solidFill>
          </a:ln>
        </p:spPr>
      </p:cxnSp>
      <p:sp>
        <p:nvSpPr>
          <p:cNvPr id="44" name="Badge 44"/>
          <p:cNvSpPr/>
          <p:nvPr/>
        </p:nvSpPr>
        <p:spPr>
          <a:xfrm>
            <a:off x="1024128" y="4665827"/>
            <a:ext cx="771525" cy="771525"/>
          </a:xfrm>
          <a:prstGeom prst="ellipse">
            <a:avLst/>
          </a:prstGeom>
          <a:solidFill>
            <a:srgbClr val="C2D076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2799" b="0" cap="none" spc="0" baseline="0">
                <a:solidFill>
                  <a:srgbClr val="000000"/>
                </a:solidFill>
                <a:latin typeface="Inter Light"/>
                <a:cs typeface="Inter Light"/>
              </a:rPr>
              <a:t>1</a:t>
            </a:r>
          </a:p>
        </p:txBody>
      </p:sp>
      <p:sp>
        <p:nvSpPr>
          <p:cNvPr id="45" name="Step 45"/>
          <p:cNvSpPr txBox="1"/>
          <p:nvPr/>
        </p:nvSpPr>
        <p:spPr>
          <a:xfrm>
            <a:off x="1024128" y="5715101"/>
            <a:ext cx="3037271" cy="1610951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9"/>
              </a:spcAft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Аналитик</a:t>
            </a:r>
            <a:endParaRPr lang="ru-RU" sz="27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1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Находит в тексте слайды, ряды данных и просьбы</a:t>
            </a:r>
            <a:endParaRPr lang="ru-RU" sz="2199"/>
          </a:p>
        </p:txBody>
      </p:sp>
      <p:sp>
        <p:nvSpPr>
          <p:cNvPr id="46" name="Badge 46"/>
          <p:cNvSpPr/>
          <p:nvPr/>
        </p:nvSpPr>
        <p:spPr>
          <a:xfrm>
            <a:off x="4324746" y="4665827"/>
            <a:ext cx="771525" cy="771525"/>
          </a:xfrm>
          <a:prstGeom prst="ellipse">
            <a:avLst/>
          </a:prstGeom>
          <a:solidFill>
            <a:srgbClr val="C2D076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2799" b="0" cap="none" spc="0" baseline="0">
                <a:solidFill>
                  <a:srgbClr val="000000"/>
                </a:solidFill>
                <a:latin typeface="Inter Light"/>
                <a:cs typeface="Inter Light"/>
              </a:rPr>
              <a:t>2</a:t>
            </a:r>
          </a:p>
        </p:txBody>
      </p:sp>
      <p:sp>
        <p:nvSpPr>
          <p:cNvPr id="47" name="Step 47"/>
          <p:cNvSpPr txBox="1"/>
          <p:nvPr/>
        </p:nvSpPr>
        <p:spPr>
          <a:xfrm>
            <a:off x="4324746" y="5715101"/>
            <a:ext cx="3037271" cy="1610951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9"/>
              </a:spcAft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Дизайнер</a:t>
            </a:r>
            <a:endParaRPr lang="ru-RU" sz="27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1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Продумывает каждый слайд отдельно</a:t>
            </a:r>
            <a:endParaRPr lang="ru-RU" sz="2199"/>
          </a:p>
        </p:txBody>
      </p:sp>
      <p:sp>
        <p:nvSpPr>
          <p:cNvPr id="48" name="Badge 48"/>
          <p:cNvSpPr/>
          <p:nvPr/>
        </p:nvSpPr>
        <p:spPr>
          <a:xfrm>
            <a:off x="7625364" y="4665827"/>
            <a:ext cx="771525" cy="771525"/>
          </a:xfrm>
          <a:prstGeom prst="ellipse">
            <a:avLst/>
          </a:prstGeom>
          <a:solidFill>
            <a:srgbClr val="C2D076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2799" b="0" cap="none" spc="0" baseline="0">
                <a:solidFill>
                  <a:srgbClr val="000000"/>
                </a:solidFill>
                <a:latin typeface="Inter Light"/>
                <a:cs typeface="Inter Light"/>
              </a:rPr>
              <a:t>3</a:t>
            </a:r>
          </a:p>
        </p:txBody>
      </p:sp>
      <p:sp>
        <p:nvSpPr>
          <p:cNvPr id="49" name="Step 49"/>
          <p:cNvSpPr txBox="1"/>
          <p:nvPr/>
        </p:nvSpPr>
        <p:spPr>
          <a:xfrm>
            <a:off x="7625364" y="5715101"/>
            <a:ext cx="3037271" cy="1610951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9"/>
              </a:spcAft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Критик</a:t>
            </a:r>
            <a:endParaRPr lang="ru-RU" sz="27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1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Сверяет план с текстом и правилами шаблона</a:t>
            </a:r>
            <a:endParaRPr lang="ru-RU" sz="2199"/>
          </a:p>
        </p:txBody>
      </p:sp>
      <p:sp>
        <p:nvSpPr>
          <p:cNvPr id="50" name="Badge 50"/>
          <p:cNvSpPr/>
          <p:nvPr/>
        </p:nvSpPr>
        <p:spPr>
          <a:xfrm>
            <a:off x="10925982" y="4665827"/>
            <a:ext cx="771525" cy="771525"/>
          </a:xfrm>
          <a:prstGeom prst="ellipse">
            <a:avLst/>
          </a:prstGeom>
          <a:solidFill>
            <a:srgbClr val="C2D076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2799" b="0" cap="none" spc="0" baseline="0">
                <a:solidFill>
                  <a:srgbClr val="000000"/>
                </a:solidFill>
                <a:latin typeface="Inter Light"/>
                <a:cs typeface="Inter Light"/>
              </a:rPr>
              <a:t>4</a:t>
            </a:r>
          </a:p>
        </p:txBody>
      </p:sp>
      <p:sp>
        <p:nvSpPr>
          <p:cNvPr id="51" name="Step 51"/>
          <p:cNvSpPr txBox="1"/>
          <p:nvPr/>
        </p:nvSpPr>
        <p:spPr>
          <a:xfrm>
            <a:off x="10925982" y="5715101"/>
            <a:ext cx="3037271" cy="1610951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9"/>
              </a:spcAft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Компилятор</a:t>
            </a:r>
            <a:endParaRPr lang="ru-RU" sz="27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1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Проверяет каждое число</a:t>
            </a:r>
            <a:endParaRPr lang="ru-RU" sz="2199"/>
          </a:p>
        </p:txBody>
      </p:sp>
      <p:sp>
        <p:nvSpPr>
          <p:cNvPr id="52" name="Badge 52"/>
          <p:cNvSpPr/>
          <p:nvPr/>
        </p:nvSpPr>
        <p:spPr>
          <a:xfrm>
            <a:off x="14226600" y="4665827"/>
            <a:ext cx="771525" cy="771525"/>
          </a:xfrm>
          <a:prstGeom prst="ellipse">
            <a:avLst/>
          </a:prstGeom>
          <a:solidFill>
            <a:srgbClr val="C2D076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2799" b="0" cap="none" spc="0" baseline="0">
                <a:solidFill>
                  <a:srgbClr val="000000"/>
                </a:solidFill>
                <a:latin typeface="Inter Light"/>
                <a:cs typeface="Inter Light"/>
              </a:rPr>
              <a:t>5</a:t>
            </a:r>
          </a:p>
        </p:txBody>
      </p:sp>
      <p:sp>
        <p:nvSpPr>
          <p:cNvPr id="53" name="Step 53"/>
          <p:cNvSpPr txBox="1"/>
          <p:nvPr/>
        </p:nvSpPr>
        <p:spPr>
          <a:xfrm>
            <a:off x="14226600" y="5715101"/>
            <a:ext cx="3037271" cy="1610951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9"/>
              </a:spcAft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Вёрстка</a:t>
            </a:r>
            <a:endParaRPr lang="ru-RU" sz="2799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1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Собирает слайды по дизайн-⁠системе шаблона</a:t>
            </a:r>
            <a:endParaRPr lang="ru-RU" sz="2199"/>
          </a:p>
        </p:txBody>
      </p:sp>
      <p:sp>
        <p:nvSpPr>
          <p:cNvPr id="54" name="Conclusion strip 54"/>
          <p:cNvSpPr/>
          <p:nvPr/>
        </p:nvSpPr>
        <p:spPr>
          <a:xfrm>
            <a:off x="1024128" y="7758106"/>
            <a:ext cx="16239744" cy="892754"/>
          </a:xfrm>
          <a:prstGeom prst="roundRect">
            <a:avLst>
              <a:gd name="adj" fmla="val 12290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5" name="Conclusion bar 55"/>
          <p:cNvSpPr/>
          <p:nvPr/>
        </p:nvSpPr>
        <p:spPr>
          <a:xfrm>
            <a:off x="1379601" y="8021156"/>
            <a:ext cx="61722" cy="366654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56" name="Conclusion 56"/>
          <p:cNvSpPr txBox="1"/>
          <p:nvPr/>
        </p:nvSpPr>
        <p:spPr>
          <a:xfrm>
            <a:off x="1725701" y="7978499"/>
            <a:ext cx="15182698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Работа агента включает анализ, проектирование, проверку и сборку слайдов</a:t>
            </a:r>
            <a:endParaRPr lang="ru-RU" sz="2799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944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Содержание одно, подача разная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graphicFrame>
        <p:nvGraphicFramePr>
          <p:cNvPr id="43" name="Table"/>
          <p:cNvGraphicFramePr>
            <a:graphicFrameLocks noGrp="1"/>
          </p:cNvGraphicFramePr>
          <p:nvPr/>
        </p:nvGraphicFramePr>
        <p:xfrm>
          <a:off x="1024128" y="4137660"/>
          <a:ext cx="16239744" cy="459931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992235"/>
                <a:gridCol w="7485664"/>
                <a:gridCol w="5761845"/>
              </a:tblGrid>
              <a:tr h="919863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000000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Вариант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2D07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000000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Подача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2D07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000000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Когда подходит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2D076"/>
                    </a:solidFill>
                  </a:tcPr>
                </a:tc>
              </a:tr>
              <a:tr h="122648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Структурный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одна мысль на слайд, строгая сетка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отчёт и защита проекта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</a:tr>
              <a:tr h="122648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Визуальный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крупные цифры и наглядные схемы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питч и выступление со сцены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</a:tr>
              <a:tr h="122648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Компактный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вывод первой строкой, данные справа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799" b="0" i="0" cap="none" spc="0" baseline="0" lang="ru-RU">
                          <a:solidFill>
                            <a:srgbClr val="FFFFFF"/>
                          </a:solidFill>
                          <a:latin typeface="Inter Light"/>
                          <a:ea typeface="Inter Light"/>
                          <a:cs typeface="Inter Light"/>
                        </a:rPr>
                        <a:t>рассылка руководителю</a:t>
                      </a:r>
                    </a:p>
                  </a:txBody>
                  <a:tcPr marL="177800" marR="177800" marT="76200" marB="762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38484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8911509" cy="15276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2799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Все проблемы исправляются автоматически в пайплайне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Unit 43"/>
          <p:cNvSpPr txBox="1"/>
          <p:nvPr/>
        </p:nvSpPr>
        <p:spPr>
          <a:xfrm>
            <a:off x="1024128" y="4665827"/>
            <a:ext cx="10393436" cy="299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Проверки, проверок</a:t>
            </a:r>
            <a:endParaRPr lang="ru-RU" sz="1800"/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024128" y="5058130"/>
          <a:ext cx="10393436" cy="266126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45" name="Line 45"/>
          <p:cNvCxnSpPr/>
          <p:nvPr/>
        </p:nvCxnSpPr>
        <p:spPr>
          <a:xfrm>
            <a:off x="11856476" y="5003706"/>
            <a:ext cx="0" cy="2353729"/>
          </a:xfrm>
          <a:prstGeom prst="line">
            <a:avLst/>
          </a:prstGeom>
          <a:ln w="12700">
            <a:solidFill>
              <a:srgbClr val="384848"/>
            </a:solidFill>
          </a:ln>
        </p:spPr>
      </p:cxnSp>
      <p:sp>
        <p:nvSpPr>
          <p:cNvPr id="46" name="Takeaway 46"/>
          <p:cNvSpPr txBox="1"/>
          <p:nvPr/>
        </p:nvSpPr>
        <p:spPr>
          <a:xfrm>
            <a:off x="12295388" y="5003706"/>
            <a:ext cx="4968484" cy="235372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391020" indent="-391020">
              <a:lnSpc>
                <a:spcPct val="100000"/>
              </a:lnSpc>
              <a:spcAft>
                <a:spcPts val="1539"/>
              </a:spcAft>
              <a:buClr>
                <a:srgbClr val="C2D076"/>
              </a:buClr>
              <a:buFont typeface="Arial"/>
              <a:buChar char="•"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41 проверка на каждый слайд</a:t>
            </a:r>
            <a:endParaRPr lang="ru-RU" sz="2799"/>
          </a:p>
          <a:p>
            <a:pPr algn="l" marL="391020" indent="-391020">
              <a:lnSpc>
                <a:spcPct val="100000"/>
              </a:lnSpc>
              <a:spcAft>
                <a:spcPts val="1539"/>
              </a:spcAft>
              <a:buClr>
                <a:srgbClr val="C2D076"/>
              </a:buClr>
              <a:buFont typeface="Arial"/>
              <a:buChar char="•"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Найденные проблемы помечаются и исправляются</a:t>
            </a:r>
            <a:endParaRPr lang="ru-RU" sz="2799"/>
          </a:p>
        </p:txBody>
      </p:sp>
      <p:sp>
        <p:nvSpPr>
          <p:cNvPr id="47" name="Conclusion strip 47"/>
          <p:cNvSpPr/>
          <p:nvPr/>
        </p:nvSpPr>
        <p:spPr>
          <a:xfrm>
            <a:off x="1024128" y="8151453"/>
            <a:ext cx="16239744" cy="892754"/>
          </a:xfrm>
          <a:prstGeom prst="roundRect">
            <a:avLst>
              <a:gd name="adj" fmla="val 12290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8" name="Conclusion bar 48"/>
          <p:cNvSpPr/>
          <p:nvPr/>
        </p:nvSpPr>
        <p:spPr>
          <a:xfrm>
            <a:off x="1379601" y="8414503"/>
            <a:ext cx="61722" cy="366654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49" name="Conclusion 49"/>
          <p:cNvSpPr txBox="1"/>
          <p:nvPr/>
        </p:nvSpPr>
        <p:spPr>
          <a:xfrm>
            <a:off x="1725701" y="8371846"/>
            <a:ext cx="15182698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Наибольшее число проверок — на целостность (</a:t>
            </a: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12</a:t>
            </a: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)</a:t>
            </a:r>
            <a:endParaRPr lang="ru-RU" sz="2799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8095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9 готовых презентаций без выдуманных чисел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61" name="Card 61"/>
          <p:cNvSpPr/>
          <p:nvPr/>
        </p:nvSpPr>
        <p:spPr>
          <a:xfrm>
            <a:off x="1024128" y="3947718"/>
            <a:ext cx="5120640" cy="2949747"/>
          </a:xfrm>
          <a:prstGeom prst="roundRect">
            <a:avLst>
              <a:gd name="adj" fmla="val 3719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62" name="Figure 62"/>
          <p:cNvSpPr txBox="1"/>
          <p:nvPr/>
        </p:nvSpPr>
        <p:spPr>
          <a:xfrm>
            <a:off x="1536192" y="4384137"/>
            <a:ext cx="4096512" cy="426568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9</a:t>
            </a:r>
            <a:endParaRPr lang="ru-RU" sz="2799"/>
          </a:p>
        </p:txBody>
      </p:sp>
      <p:sp>
        <p:nvSpPr>
          <p:cNvPr id="63" name="Label 63"/>
          <p:cNvSpPr txBox="1"/>
          <p:nvPr/>
        </p:nvSpPr>
        <p:spPr>
          <a:xfrm>
            <a:off x="1536192" y="4918718"/>
            <a:ext cx="4096512" cy="1466683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1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Демо-⁠презентаций</a:t>
            </a:r>
            <a:endParaRPr lang="ru-RU" sz="2199"/>
          </a:p>
        </p:txBody>
      </p:sp>
      <p:sp>
        <p:nvSpPr>
          <p:cNvPr id="64" name="Card 64"/>
          <p:cNvSpPr/>
          <p:nvPr/>
        </p:nvSpPr>
        <p:spPr>
          <a:xfrm>
            <a:off x="6583680" y="3947718"/>
            <a:ext cx="5120640" cy="2949747"/>
          </a:xfrm>
          <a:prstGeom prst="roundRect">
            <a:avLst>
              <a:gd name="adj" fmla="val 3719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65" name="Figure 65"/>
          <p:cNvSpPr txBox="1"/>
          <p:nvPr/>
        </p:nvSpPr>
        <p:spPr>
          <a:xfrm>
            <a:off x="7095744" y="4384137"/>
            <a:ext cx="4096512" cy="426568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от 116 до 123</a:t>
            </a:r>
            <a:endParaRPr lang="ru-RU" sz="2799"/>
          </a:p>
        </p:txBody>
      </p:sp>
      <p:sp>
        <p:nvSpPr>
          <p:cNvPr id="66" name="Label 66"/>
          <p:cNvSpPr txBox="1"/>
          <p:nvPr/>
        </p:nvSpPr>
        <p:spPr>
          <a:xfrm>
            <a:off x="7095744" y="4918718"/>
            <a:ext cx="4096512" cy="1466683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1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Проверенных чисел</a:t>
            </a:r>
            <a:endParaRPr lang="ru-RU" sz="2199"/>
          </a:p>
        </p:txBody>
      </p:sp>
      <p:sp>
        <p:nvSpPr>
          <p:cNvPr id="67" name="Card 67"/>
          <p:cNvSpPr/>
          <p:nvPr/>
        </p:nvSpPr>
        <p:spPr>
          <a:xfrm>
            <a:off x="12143232" y="3947718"/>
            <a:ext cx="5120640" cy="2949747"/>
          </a:xfrm>
          <a:prstGeom prst="roundRect">
            <a:avLst>
              <a:gd name="adj" fmla="val 3719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68" name="Figure 68"/>
          <p:cNvSpPr txBox="1"/>
          <p:nvPr/>
        </p:nvSpPr>
        <p:spPr>
          <a:xfrm>
            <a:off x="12655296" y="4384137"/>
            <a:ext cx="4096512" cy="426568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0</a:t>
            </a:r>
            <a:endParaRPr lang="ru-RU" sz="2799"/>
          </a:p>
        </p:txBody>
      </p:sp>
      <p:sp>
        <p:nvSpPr>
          <p:cNvPr id="69" name="Label 69"/>
          <p:cNvSpPr txBox="1"/>
          <p:nvPr/>
        </p:nvSpPr>
        <p:spPr>
          <a:xfrm>
            <a:off x="12655296" y="4918718"/>
            <a:ext cx="4096512" cy="1466683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1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Выдуманных чисел</a:t>
            </a:r>
            <a:endParaRPr lang="ru-RU" sz="2199"/>
          </a:p>
        </p:txBody>
      </p:sp>
      <p:sp>
        <p:nvSpPr>
          <p:cNvPr id="70" name="Conclusion strip 70"/>
          <p:cNvSpPr/>
          <p:nvPr/>
        </p:nvSpPr>
        <p:spPr>
          <a:xfrm>
            <a:off x="1024128" y="7329519"/>
            <a:ext cx="16239744" cy="892754"/>
          </a:xfrm>
          <a:prstGeom prst="roundRect">
            <a:avLst>
              <a:gd name="adj" fmla="val 12290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71" name="Conclusion bar 71"/>
          <p:cNvSpPr/>
          <p:nvPr/>
        </p:nvSpPr>
        <p:spPr>
          <a:xfrm>
            <a:off x="1379601" y="7592569"/>
            <a:ext cx="61722" cy="366654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72" name="Conclusion 72"/>
          <p:cNvSpPr txBox="1"/>
          <p:nvPr/>
        </p:nvSpPr>
        <p:spPr>
          <a:xfrm>
            <a:off x="1725701" y="7549912"/>
            <a:ext cx="15182698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Все числа проверены дважды — до и после вёрстки</a:t>
            </a:r>
            <a:endParaRPr lang="ru-RU" sz="2799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2440716" cy="15276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2799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87 шаблонов, 99 из 100 и 12 форматов — универсальный инструмент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Card 43"/>
          <p:cNvSpPr/>
          <p:nvPr/>
        </p:nvSpPr>
        <p:spPr>
          <a:xfrm>
            <a:off x="1024128" y="4665827"/>
            <a:ext cx="5120640" cy="3139341"/>
          </a:xfrm>
          <a:prstGeom prst="roundRect">
            <a:avLst>
              <a:gd name="adj" fmla="val 3495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4" name="Figure 44"/>
          <p:cNvSpPr txBox="1"/>
          <p:nvPr/>
        </p:nvSpPr>
        <p:spPr>
          <a:xfrm>
            <a:off x="1536192" y="5026548"/>
            <a:ext cx="4096512" cy="1280008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5600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87</a:t>
            </a:r>
            <a:endParaRPr lang="ru-RU" sz="56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шаблонов</a:t>
            </a:r>
            <a:endParaRPr lang="ru-RU" sz="2799"/>
          </a:p>
        </p:txBody>
      </p:sp>
      <p:sp>
        <p:nvSpPr>
          <p:cNvPr id="45" name="Label 45"/>
          <p:cNvSpPr txBox="1"/>
          <p:nvPr/>
        </p:nvSpPr>
        <p:spPr>
          <a:xfrm>
            <a:off x="1536192" y="6414569"/>
            <a:ext cx="4096512" cy="87853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Чужих шаблонов</a:t>
            </a:r>
            <a:endParaRPr lang="ru-RU" sz="2799"/>
          </a:p>
        </p:txBody>
      </p:sp>
      <p:sp>
        <p:nvSpPr>
          <p:cNvPr id="46" name="Card 46"/>
          <p:cNvSpPr/>
          <p:nvPr/>
        </p:nvSpPr>
        <p:spPr>
          <a:xfrm>
            <a:off x="6583680" y="4665827"/>
            <a:ext cx="5120640" cy="3139341"/>
          </a:xfrm>
          <a:prstGeom prst="roundRect">
            <a:avLst>
              <a:gd name="adj" fmla="val 3495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7" name="Figure 47"/>
          <p:cNvSpPr txBox="1"/>
          <p:nvPr/>
        </p:nvSpPr>
        <p:spPr>
          <a:xfrm>
            <a:off x="7095744" y="5026548"/>
            <a:ext cx="4096512" cy="85344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5600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99 из 100</a:t>
            </a:r>
            <a:endParaRPr lang="ru-RU" sz="5600"/>
          </a:p>
        </p:txBody>
      </p:sp>
      <p:sp>
        <p:nvSpPr>
          <p:cNvPr id="48" name="Label 48"/>
          <p:cNvSpPr txBox="1"/>
          <p:nvPr/>
        </p:nvSpPr>
        <p:spPr>
          <a:xfrm>
            <a:off x="7095744" y="6414569"/>
            <a:ext cx="4096512" cy="87853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Средняя оценка качества</a:t>
            </a:r>
            <a:endParaRPr lang="ru-RU" sz="2799"/>
          </a:p>
        </p:txBody>
      </p:sp>
      <p:sp>
        <p:nvSpPr>
          <p:cNvPr id="49" name="Card 49"/>
          <p:cNvSpPr/>
          <p:nvPr/>
        </p:nvSpPr>
        <p:spPr>
          <a:xfrm>
            <a:off x="12143232" y="4665827"/>
            <a:ext cx="5120640" cy="3139341"/>
          </a:xfrm>
          <a:prstGeom prst="roundRect">
            <a:avLst>
              <a:gd name="adj" fmla="val 3495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0" name="Figure 50"/>
          <p:cNvSpPr txBox="1"/>
          <p:nvPr/>
        </p:nvSpPr>
        <p:spPr>
          <a:xfrm>
            <a:off x="12647828" y="5026548"/>
            <a:ext cx="4103980" cy="1280008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5600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12</a:t>
            </a:r>
            <a:endParaRPr lang="ru-RU" sz="56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2799" b="1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форматов</a:t>
            </a:r>
            <a:endParaRPr lang="ru-RU" sz="2799"/>
          </a:p>
        </p:txBody>
      </p:sp>
      <p:sp>
        <p:nvSpPr>
          <p:cNvPr id="51" name="Label 51"/>
          <p:cNvSpPr txBox="1"/>
          <p:nvPr/>
        </p:nvSpPr>
        <p:spPr>
          <a:xfrm>
            <a:off x="12655296" y="6414569"/>
            <a:ext cx="4096512" cy="87853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Форматов поддержки</a:t>
            </a:r>
            <a:endParaRPr lang="ru-RU" sz="2799"/>
          </a:p>
        </p:txBody>
      </p:sp>
      <p:sp>
        <p:nvSpPr>
          <p:cNvPr id="52" name="Conclusion strip 52"/>
          <p:cNvSpPr/>
          <p:nvPr/>
        </p:nvSpPr>
        <p:spPr>
          <a:xfrm>
            <a:off x="1024128" y="8237222"/>
            <a:ext cx="16239744" cy="892754"/>
          </a:xfrm>
          <a:prstGeom prst="roundRect">
            <a:avLst>
              <a:gd name="adj" fmla="val 12290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53" name="Conclusion bar 53"/>
          <p:cNvSpPr/>
          <p:nvPr/>
        </p:nvSpPr>
        <p:spPr>
          <a:xfrm>
            <a:off x="1379601" y="8500272"/>
            <a:ext cx="61722" cy="366654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54" name="Conclusion 54"/>
          <p:cNvSpPr txBox="1"/>
          <p:nvPr/>
        </p:nvSpPr>
        <p:spPr>
          <a:xfrm>
            <a:off x="1725701" y="8457615"/>
            <a:ext cx="15182698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Сервис работает с любыми шаблонами и форматами</a:t>
            </a:r>
            <a:endParaRPr lang="ru-RU" sz="2799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8095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VK WorkSpace — самый долгий, но всё в лимите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Unit 43"/>
          <p:cNvSpPr txBox="1"/>
          <p:nvPr/>
        </p:nvSpPr>
        <p:spPr>
          <a:xfrm>
            <a:off x="1024128" y="3947718"/>
            <a:ext cx="16239744" cy="299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Время генерации трёх вариантов на шаблонах датасета, секунд</a:t>
            </a:r>
            <a:endParaRPr lang="ru-RU" sz="1800"/>
          </a:p>
        </p:txBody>
      </p:sp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1024128" y="4340021"/>
          <a:ext cx="16239744" cy="291820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5" name="Conclusion strip 45"/>
          <p:cNvSpPr/>
          <p:nvPr/>
        </p:nvSpPr>
        <p:spPr>
          <a:xfrm>
            <a:off x="1024128" y="7690283"/>
            <a:ext cx="16239744" cy="892754"/>
          </a:xfrm>
          <a:prstGeom prst="roundRect">
            <a:avLst>
              <a:gd name="adj" fmla="val 12290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46" name="Conclusion bar 46"/>
          <p:cNvSpPr/>
          <p:nvPr/>
        </p:nvSpPr>
        <p:spPr>
          <a:xfrm>
            <a:off x="1379601" y="7953333"/>
            <a:ext cx="61722" cy="366654"/>
          </a:xfrm>
          <a:prstGeom prst="rect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47" name="Conclusion 47"/>
          <p:cNvSpPr txBox="1"/>
          <p:nvPr/>
        </p:nvSpPr>
        <p:spPr>
          <a:xfrm>
            <a:off x="1725701" y="7910676"/>
            <a:ext cx="15182698" cy="4519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Все шаблоны укладываются в лимит </a:t>
            </a: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5 минут</a:t>
            </a:r>
            <a:r>
              <a:rPr lang="ru-RU" sz="2799" b="0" cap="none" spc="0" baseline="0" dirty="0">
                <a:solidFill>
                  <a:srgbClr val="C2D076"/>
                </a:solidFill>
                <a:latin typeface="Inter Light"/>
                <a:cs typeface="Inter Light"/>
              </a:rPr>
              <a:t> с запасом</a:t>
            </a:r>
            <a:endParaRPr lang="ru-RU" sz="2799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514"/>
        </a:solidFill>
      </p:bgPr>
    </p:bg>
    <p:spTree>
      <p:nvGrpSpPr>
        <p:cNvPr id="1" name=""/>
        <p:cNvGrpSpPr/>
        <p:nvPr/>
      </p:nvGrpSpPr>
      <p:grpSpPr/>
      <p:sp>
        <p:nvSpPr>
          <p:cNvPr id="42" name="Google Shape;42;p8"/>
          <p:cNvSpPr txBox="1"/>
          <p:nvPr/>
        </p:nvSpPr>
        <p:spPr>
          <a:xfrm>
            <a:off x="619057" y="2623820"/>
            <a:ext cx="15727680" cy="944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1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2D076"/>
              </a:buClr>
              <a:buSzPts val="5600"/>
              <a:buFont typeface="Inter Medium"/>
              <a:buNone/>
            </a:pPr>
            <a:r>
              <a:rPr i="0" lang="ru-RU" sz="4712" u="none" cap="none" strike="noStrike">
                <a:solidFill>
                  <a:srgbClr val="C2D076"/>
                </a:solidFill>
                <a:latin typeface="Inter Medium"/>
                <a:ea typeface="Inter Medium"/>
                <a:cs typeface="Inter Medium"/>
                <a:sym typeface="Inter Medium"/>
              </a:rPr>
              <a:t>Три шага после финала</a:t>
            </a:r>
            <a:endParaRPr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43" name="Marker 43"/>
          <p:cNvSpPr/>
          <p:nvPr/>
        </p:nvSpPr>
        <p:spPr>
          <a:xfrm>
            <a:off x="1024128" y="4383014"/>
            <a:ext cx="227401" cy="227401"/>
          </a:xfrm>
          <a:prstGeom prst="ellipse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44" name="Item 44"/>
          <p:cNvSpPr txBox="1"/>
          <p:nvPr/>
        </p:nvSpPr>
        <p:spPr>
          <a:xfrm>
            <a:off x="1981606" y="4137660"/>
            <a:ext cx="12034317" cy="146161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12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Переход на инференс VK и модель Qwen3.8-⁠27B</a:t>
            </a:r>
            <a:endParaRPr lang="ru-RU" sz="4712"/>
          </a:p>
        </p:txBody>
      </p:sp>
      <p:cxnSp>
        <p:nvCxnSpPr>
          <p:cNvPr id="45" name="Line 45"/>
          <p:cNvCxnSpPr/>
          <p:nvPr/>
        </p:nvCxnSpPr>
        <p:spPr>
          <a:xfrm>
            <a:off x="1981606" y="6048095"/>
            <a:ext cx="12034317" cy="0"/>
          </a:xfrm>
          <a:prstGeom prst="line">
            <a:avLst/>
          </a:prstGeom>
          <a:ln w="9525">
            <a:solidFill>
              <a:srgbClr val="384848"/>
            </a:solidFill>
          </a:ln>
        </p:spPr>
      </p:cxnSp>
      <p:sp>
        <p:nvSpPr>
          <p:cNvPr id="46" name="Marker 46"/>
          <p:cNvSpPr/>
          <p:nvPr/>
        </p:nvSpPr>
        <p:spPr>
          <a:xfrm>
            <a:off x="1024128" y="6742266"/>
            <a:ext cx="227401" cy="227401"/>
          </a:xfrm>
          <a:prstGeom prst="ellipse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47" name="Item 47"/>
          <p:cNvSpPr txBox="1"/>
          <p:nvPr/>
        </p:nvSpPr>
        <p:spPr>
          <a:xfrm>
            <a:off x="1981606" y="6496912"/>
            <a:ext cx="12034317" cy="74350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12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Генерация изображений внутри слайдов</a:t>
            </a:r>
            <a:endParaRPr lang="ru-RU" sz="4712"/>
          </a:p>
        </p:txBody>
      </p:sp>
      <p:cxnSp>
        <p:nvCxnSpPr>
          <p:cNvPr id="48" name="Line 48"/>
          <p:cNvCxnSpPr/>
          <p:nvPr/>
        </p:nvCxnSpPr>
        <p:spPr>
          <a:xfrm>
            <a:off x="1981606" y="7689238"/>
            <a:ext cx="12034317" cy="0"/>
          </a:xfrm>
          <a:prstGeom prst="line">
            <a:avLst/>
          </a:prstGeom>
          <a:ln w="9525">
            <a:solidFill>
              <a:srgbClr val="384848"/>
            </a:solidFill>
          </a:ln>
        </p:spPr>
      </p:cxnSp>
      <p:sp>
        <p:nvSpPr>
          <p:cNvPr id="49" name="Marker 49"/>
          <p:cNvSpPr/>
          <p:nvPr/>
        </p:nvSpPr>
        <p:spPr>
          <a:xfrm>
            <a:off x="1024128" y="8383409"/>
            <a:ext cx="227401" cy="227401"/>
          </a:xfrm>
          <a:prstGeom prst="ellipse">
            <a:avLst/>
          </a:prstGeom>
          <a:solidFill>
            <a:srgbClr val="C2D076"/>
          </a:solidFill>
          <a:ln>
            <a:noFill/>
          </a:ln>
        </p:spPr>
      </p:sp>
      <p:sp>
        <p:nvSpPr>
          <p:cNvPr id="50" name="Item 50"/>
          <p:cNvSpPr txBox="1"/>
          <p:nvPr/>
        </p:nvSpPr>
        <p:spPr>
          <a:xfrm>
            <a:off x="1981606" y="8138055"/>
            <a:ext cx="12034317" cy="74350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12" b="0" cap="none" spc="0" baseline="0" dirty="0">
                <a:solidFill>
                  <a:srgbClr val="FFFFFF"/>
                </a:solidFill>
                <a:latin typeface="Inter Light"/>
                <a:cs typeface="Inter Light"/>
              </a:rPr>
              <a:t>Пилот на шаблонах и сценариях VK Tech</a:t>
            </a:r>
            <a:endParaRPr lang="ru-RU" sz="4712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ark Minimalist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