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4"/>
  </p:sldMasterIdLst>
  <p:notesMasterIdLst>
    <p:notesMasterId r:id="rId5"/>
  </p:notesMasterIdLst>
  <p:sldIdLst>
    <p:sldId id="277" r:id="rId39"/>
    <p:sldId id="278" r:id="rId40"/>
    <p:sldId id="279" r:id="rId41"/>
    <p:sldId id="280" r:id="rId42"/>
    <p:sldId id="281" r:id="rId43"/>
    <p:sldId id="282" r:id="rId44"/>
    <p:sldId id="283" r:id="rId45"/>
    <p:sldId id="284" r:id="rId46"/>
    <p:sldId id="285" r:id="rId47"/>
    <p:sldId id="286" r:id="rId48"/>
  </p:sldIdLst>
  <p:sldSz cy="10287000" cx="18288000"/>
  <p:notesSz cx="6858000" cy="9144000"/>
  <p:embeddedFontLst>
    <p:embeddedFont>
      <p:font typeface="Inter Light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Inter Medium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7" Type="http://schemas.openxmlformats.org/officeDocument/2006/relationships/font" Target="fonts/InterLight-regular.fntdata"/><Relationship Id="rId28" Type="http://schemas.openxmlformats.org/officeDocument/2006/relationships/font" Target="fonts/InterLight-bold.fntdata"/><Relationship Id="rId29" Type="http://schemas.openxmlformats.org/officeDocument/2006/relationships/font" Target="fonts/InterLight-italic.fntdata"/><Relationship Id="rId30" Type="http://schemas.openxmlformats.org/officeDocument/2006/relationships/font" Target="fonts/InterLight-boldItalic.fntdata"/><Relationship Id="rId31" Type="http://schemas.openxmlformats.org/officeDocument/2006/relationships/font" Target="fonts/Inter-regular.fntdata"/><Relationship Id="rId32" Type="http://schemas.openxmlformats.org/officeDocument/2006/relationships/font" Target="fonts/Inter-bold.fntdata"/><Relationship Id="rId33" Type="http://schemas.openxmlformats.org/officeDocument/2006/relationships/font" Target="fonts/Inter-italic.fntdata"/><Relationship Id="rId34" Type="http://schemas.openxmlformats.org/officeDocument/2006/relationships/font" Target="fonts/Inter-boldItalic.fntdata"/><Relationship Id="rId35" Type="http://schemas.openxmlformats.org/officeDocument/2006/relationships/font" Target="fonts/InterMedium-regular.fntdata"/><Relationship Id="rId36" Type="http://schemas.openxmlformats.org/officeDocument/2006/relationships/font" Target="fonts/InterMedium-bold.fntdata"/><Relationship Id="rId37" Type="http://schemas.openxmlformats.org/officeDocument/2006/relationships/font" Target="fonts/InterMedium-italic.fntdata"/><Relationship Id="rId38" Type="http://schemas.openxmlformats.org/officeDocument/2006/relationships/font" Target="fonts/InterMedium-boldItalic.fntdata"/><Relationship Id="rId39" Type="http://schemas.openxmlformats.org/officeDocument/2006/relationships/slide" Target="slides/slide1.xml"/><Relationship Id="rId40" Type="http://schemas.openxmlformats.org/officeDocument/2006/relationships/slide" Target="slides/slide2.xml"/><Relationship Id="rId41" Type="http://schemas.openxmlformats.org/officeDocument/2006/relationships/slide" Target="slides/slide3.xml"/><Relationship Id="rId42" Type="http://schemas.openxmlformats.org/officeDocument/2006/relationships/slide" Target="slides/slide4.xml"/><Relationship Id="rId43" Type="http://schemas.openxmlformats.org/officeDocument/2006/relationships/slide" Target="slides/slide5.xml"/><Relationship Id="rId44" Type="http://schemas.openxmlformats.org/officeDocument/2006/relationships/slide" Target="slides/slide6.xml"/><Relationship Id="rId45" Type="http://schemas.openxmlformats.org/officeDocument/2006/relationships/slide" Target="slides/slide7.xml"/><Relationship Id="rId46" Type="http://schemas.openxmlformats.org/officeDocument/2006/relationships/slide" Target="slides/slide8.xml"/><Relationship Id="rId47" Type="http://schemas.openxmlformats.org/officeDocument/2006/relationships/slide" Target="slides/slide9.xml"/><Relationship Id="rId48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329"/>
          <c:y val="0.0329"/>
          <c:w val="0.9343"/>
          <c:h val="0.9343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Состав</c:v>
                </c:pt>
              </c:strCache>
            </c:strRef>
          </c:tx>
          <c:dPt>
            <c:idx val="0"/>
            <c:spPr>
              <a:solidFill>
                <a:srgbClr val="C2D076"/>
              </a:solidFill>
              <a:ln w="25400">
                <a:solidFill>
                  <a:srgbClr val="001514"/>
                </a:solidFill>
              </a:ln>
            </c:spPr>
          </c:dPt>
          <c:dPt>
            <c:idx val="1"/>
            <c:spPr>
              <a:solidFill>
                <a:srgbClr val="E8EDCB"/>
              </a:solidFill>
              <a:ln w="25400">
                <a:solidFill>
                  <a:srgbClr val="001514"/>
                </a:solidFill>
              </a:ln>
            </c:spPr>
          </c:dPt>
          <c:dLbls>
            <c:dLbl>
              <c:idx val="0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2200" b="0">
                      <a:solidFill>
                        <a:srgbClr val="001514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delete val="1"/>
            </c:dLbl>
            <c:numFmt formatCode="0&quot;%&quot;;&quot;−&quot;0&quot;%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22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Свободные фигуры</c:v>
                </c:pt>
                <c:pt idx="1">
                  <c:v>Плейсхолдеры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95.0</c:v>
                </c:pt>
                <c:pt idx="1">
                  <c:v>5.0</c:v>
                </c:pt>
              </c:numCache>
            </c:numRef>
          </c:val>
        </c:ser>
        <c:dLbls>
          <c:numFmt formatCode="0&quot;%&quot;;&quot;−&quot;0&quot;%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22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6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445"/>
          <c:y val="0.0159"/>
          <c:w val="0.8067"/>
          <c:h val="0.968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Проверки</c:v>
                </c:pt>
              </c:strCache>
            </c:strRef>
          </c:tx>
          <c:spPr>
            <a:solidFill>
              <a:srgbClr val="C2D076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2200" b="0">
                      <a:solidFill>
                        <a:srgbClr val="FFFFFF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22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Целостность</c:v>
                </c:pt>
                <c:pt idx="1">
                  <c:v>Вёрстка</c:v>
                </c:pt>
                <c:pt idx="2">
                  <c:v>Шаблон</c:v>
                </c:pt>
                <c:pt idx="3">
                  <c:v>Контент</c:v>
                </c:pt>
                <c:pt idx="4">
                  <c:v>Плотность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7.0</c:v>
                </c:pt>
                <c:pt idx="3">
                  <c:v>6.0</c:v>
                </c:pt>
                <c:pt idx="4">
                  <c:v>5.0</c:v>
                </c:pt>
              </c:numCache>
            </c:numRef>
          </c:val>
        </c:ser>
        <c:dLbls>
          <c:numFmt formatCode="#,##0;&quot;−&quot;#,##0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22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1800" b="0">
                <a:solidFill>
                  <a:srgbClr val="A8AFAF"/>
                </a:solidFill>
                <a:latin typeface="Inter Light"/>
                <a:ea typeface="Inter Light"/>
                <a:cs typeface="Inter Light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12"/>
          <c:y val="0.0952"/>
          <c:w val="0.9977"/>
          <c:h val="0.8120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генерации</c:v>
                </c:pt>
              </c:strCache>
            </c:strRef>
          </c:tx>
          <c:spPr>
            <a:solidFill>
              <a:srgbClr val="C2D076"/>
            </a:solidFill>
            <a:ln>
              <a:noFill/>
            </a:ln>
          </c:spPr>
          <c:invertIfNegative val="0"/>
          <c:dLbls>
            <c:dLbl>
              <c:idx val="2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2200" b="0">
                      <a:solidFill>
                        <a:srgbClr val="FFFFFF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22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VK Tech</c:v>
                </c:pt>
                <c:pt idx="1">
                  <c:v>VK Education</c:v>
                </c:pt>
                <c:pt idx="2">
                  <c:v>VK WorkSpace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113.0</c:v>
                </c:pt>
                <c:pt idx="1">
                  <c:v>145.0</c:v>
                </c:pt>
                <c:pt idx="2">
                  <c:v>175.0</c:v>
                </c:pt>
              </c:numCache>
            </c:numRef>
          </c:val>
        </c:ser>
        <c:dLbls>
          <c:numFmt formatCode="#,##0&quot; секунд&quot;;&quot;−&quot;#,##0&quot; секунд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22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9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84848"/>
            </a:solidFill>
          </a:ln>
        </c:spPr>
        <c:txPr>
          <a:bodyPr rot="0" vert="horz"/>
          <a:lstStyle/>
          <a:p>
            <a:pPr>
              <a:defRPr sz="1800" b="0">
                <a:solidFill>
                  <a:srgbClr val="A8AFAF"/>
                </a:solidFill>
                <a:latin typeface="Inter Light"/>
                <a:ea typeface="Inter Light"/>
                <a:cs typeface="Inter Light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75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ИИ пока не способен воспроизводить фирменный стиль, а шаблоны не дают понятной инструкции для новых слайдов.</a:t>
            </a:r>
          </a:p>
          <a:p>
            <a:r>
              <a:t>[verstka:sl2]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реальных шаблонах 95% фигур — свободные, поэтому правила оформления приходится выводить из самих слайдов-образцов, включая палитру, кегли, сетку, поля, логотипы и колонтитулы.</a:t>
            </a:r>
          </a:p>
          <a:p>
            <a:r>
              <a:t>[verstka:sl3]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использует шаблон как набор правил, а не макетов, чтобы автоматически создать три редактируемые презентации на основе текста.</a:t>
            </a:r>
          </a:p>
          <a:p>
            <a:r>
              <a:t>[verstka:sl4]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Агент работает на открытых моделях до 35 миллиардов параметров с лицензией Apache 2.0. Процесс включает анализ текста, проектирование, проверку и вёрстку слайдов.</a:t>
            </a:r>
          </a:p>
          <a:p>
            <a:r>
              <a:t>[verstka:sl5]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Содержание одно, подача разная. | Вариант | Подача | Когда подходит |. |---|---|---|. | Структурный | одна мысль на слайд, строгая сетка | отчёт и защита проекта |. | Визуальный | крупные цифры и наглядные схемы | питч и выступление со сцены |. | Компактный | вывод первой строкой, данные справа | рассылка руководителю |.</a:t>
            </a:r>
          </a:p>
          <a:p>
            <a:r>
              <a:t>[verstka:sl6]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Каждый слайд проходит 41 проверку: 12 на целостность, 11 на вёрстку, 7 на шаблон, 6 на контент и 5 на плотность. Найденные проблемы помечаются на слайде и исправляются автоматически.</a:t>
            </a:r>
          </a:p>
          <a:p>
            <a:r>
              <a:t>[verstka:sl7]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Каждое число в презентации сверяется дважды: до вёрстки и после. Всего было подготовлено 9 демонстрационных презентаций без выдуманных чисел.</a:t>
            </a:r>
          </a:p>
          <a:p>
            <a:r>
              <a:t>[verstka:sl8]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Сервис поддерживает 12 форматов файлов, включая pptx, potx, ppt, odp, thmx и другие. Он проверяет качество презентаций по 87 чужим шаблонам, средняя оценка качества — 99 из 100.</a:t>
            </a:r>
          </a:p>
          <a:p>
            <a:r>
              <a:t>[verstka:sl9]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Время генерации трёх вариантов на шаблонах датасета: VK Tech — 113 секунд, VK Education — 145 секунд, VK WorkSpace — 175 секунд. Все значения значительно ниже установленного лимита в 5 минут.</a:t>
            </a:r>
          </a:p>
          <a:p>
            <a:r>
              <a:t>[verstka:sl10]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После финала компания планирует три ключевых шага: переход на более мощные технологии инференса, внедрение генерации изображений в слайдах и запуск пилота на шаблонах и сценариях VK Tech.</a:t>
            </a:r>
          </a:p>
          <a:p>
            <a:r>
              <a:t>[verstka:sl11]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On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>
            <p:ph idx="2" type="pic"/>
          </p:nvPr>
        </p:nvSpPr>
        <p:spPr>
          <a:xfrm>
            <a:off x="9136050" y="1007975"/>
            <a:ext cx="8131200" cy="82704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Two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>
            <p:ph idx="2" type="pic"/>
          </p:nvPr>
        </p:nvSpPr>
        <p:spPr>
          <a:xfrm>
            <a:off x="1009200" y="1006800"/>
            <a:ext cx="8154300" cy="41586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" name="Google Shape;19;p4"/>
          <p:cNvSpPr/>
          <p:nvPr>
            <p:ph idx="3" type="pic"/>
          </p:nvPr>
        </p:nvSpPr>
        <p:spPr>
          <a:xfrm>
            <a:off x="1009200" y="5165400"/>
            <a:ext cx="8154300" cy="41586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rgbClr val="C2D076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1514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4400"/>
              <a:buFont typeface="Inter"/>
              <a:buNone/>
              <a:defRPr i="0" sz="4400" u="none" cap="none" strike="noStrike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Char char="•"/>
              <a:defRPr i="0" sz="32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–"/>
              <a:defRPr i="0" sz="28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•"/>
              <a:defRPr i="0" sz="24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–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»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9651876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Вёрстка забирает больше времени, чем написание текста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4665827"/>
            <a:ext cx="5120640" cy="3252823"/>
          </a:xfrm>
          <a:prstGeom prst="roundRect">
            <a:avLst>
              <a:gd name="adj" fmla="val 3373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Index 44"/>
          <p:cNvSpPr txBox="1"/>
          <p:nvPr/>
        </p:nvSpPr>
        <p:spPr>
          <a:xfrm>
            <a:off x="1285280" y="4926979"/>
            <a:ext cx="4598336" cy="853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01</a:t>
            </a:r>
            <a:endParaRPr lang="ru-RU" sz="5600"/>
          </a:p>
        </p:txBody>
      </p:sp>
      <p:sp>
        <p:nvSpPr>
          <p:cNvPr id="45" name="Card text 45"/>
          <p:cNvSpPr txBox="1"/>
          <p:nvPr/>
        </p:nvSpPr>
        <p:spPr>
          <a:xfrm>
            <a:off x="1285280" y="5888432"/>
            <a:ext cx="4598336" cy="176906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374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Ручная вёрстка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4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Подобрать макет, подвинуть блоки, подогнать цвета под фирменный стиль</a:t>
            </a:r>
            <a:endParaRPr lang="ru-RU" sz="2499"/>
          </a:p>
        </p:txBody>
      </p:sp>
      <p:sp>
        <p:nvSpPr>
          <p:cNvPr id="46" name="Card 46"/>
          <p:cNvSpPr/>
          <p:nvPr/>
        </p:nvSpPr>
        <p:spPr>
          <a:xfrm>
            <a:off x="6583680" y="4665827"/>
            <a:ext cx="5120640" cy="3252823"/>
          </a:xfrm>
          <a:prstGeom prst="roundRect">
            <a:avLst>
              <a:gd name="adj" fmla="val 3373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7" name="Index 47"/>
          <p:cNvSpPr txBox="1"/>
          <p:nvPr/>
        </p:nvSpPr>
        <p:spPr>
          <a:xfrm>
            <a:off x="6844832" y="4926979"/>
            <a:ext cx="4598336" cy="853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02</a:t>
            </a:r>
            <a:endParaRPr lang="ru-RU" sz="5600"/>
          </a:p>
        </p:txBody>
      </p:sp>
      <p:sp>
        <p:nvSpPr>
          <p:cNvPr id="48" name="Card text 48"/>
          <p:cNvSpPr txBox="1"/>
          <p:nvPr/>
        </p:nvSpPr>
        <p:spPr>
          <a:xfrm>
            <a:off x="6844832" y="5888432"/>
            <a:ext cx="4598336" cy="176906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374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ИИ ломает стиль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4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Нейросети пишут текст, но не воспроизводят дизайн-⁠систему</a:t>
            </a:r>
            <a:endParaRPr lang="ru-RU" sz="2499"/>
          </a:p>
        </p:txBody>
      </p:sp>
      <p:sp>
        <p:nvSpPr>
          <p:cNvPr id="49" name="Card 49"/>
          <p:cNvSpPr/>
          <p:nvPr/>
        </p:nvSpPr>
        <p:spPr>
          <a:xfrm>
            <a:off x="12143232" y="4665827"/>
            <a:ext cx="5120640" cy="3252823"/>
          </a:xfrm>
          <a:prstGeom prst="roundRect">
            <a:avLst>
              <a:gd name="adj" fmla="val 3373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Index 50"/>
          <p:cNvSpPr txBox="1"/>
          <p:nvPr/>
        </p:nvSpPr>
        <p:spPr>
          <a:xfrm>
            <a:off x="12404384" y="4926979"/>
            <a:ext cx="4598336" cy="853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03</a:t>
            </a:r>
            <a:endParaRPr lang="ru-RU" sz="5600"/>
          </a:p>
        </p:txBody>
      </p:sp>
      <p:sp>
        <p:nvSpPr>
          <p:cNvPr id="51" name="Card text 51"/>
          <p:cNvSpPr txBox="1"/>
          <p:nvPr/>
        </p:nvSpPr>
        <p:spPr>
          <a:xfrm>
            <a:off x="12404384" y="5888432"/>
            <a:ext cx="4598336" cy="176906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374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Шаблон — не инструкция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4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по слайдам-⁠образцам не понять, как собрать новый слайд</a:t>
            </a:r>
            <a:endParaRPr lang="ru-RU" sz="2499"/>
          </a:p>
        </p:txBody>
      </p:sp>
      <p:sp>
        <p:nvSpPr>
          <p:cNvPr id="52" name="Conclusion strip 52"/>
          <p:cNvSpPr/>
          <p:nvPr/>
        </p:nvSpPr>
        <p:spPr>
          <a:xfrm>
            <a:off x="1024128" y="8350704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3" name="Conclusion bar 53"/>
          <p:cNvSpPr/>
          <p:nvPr/>
        </p:nvSpPr>
        <p:spPr>
          <a:xfrm>
            <a:off x="1379601" y="8613754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4" name="Conclusion 54"/>
          <p:cNvSpPr txBox="1"/>
          <p:nvPr/>
        </p:nvSpPr>
        <p:spPr>
          <a:xfrm>
            <a:off x="1725701" y="8571097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Ручная вёрстка, ИИ и шаблоны — три проблемы, которые тормозят</a:t>
            </a:r>
            <a:endParaRPr lang="ru-RU" sz="2799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95% фигур — свободные, 5% — плейсхолдеры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aphicFrame>
        <p:nvGraphicFramePr>
          <p:cNvPr id="43" name="Chart 42"/>
          <p:cNvGraphicFramePr>
            <a:graphicFrameLocks noGrp="1"/>
          </p:cNvGraphicFramePr>
          <p:nvPr/>
        </p:nvGraphicFramePr>
        <p:xfrm>
          <a:off x="4204927" y="3947718"/>
          <a:ext cx="4172586" cy="417258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4" name="Legend title 44"/>
          <p:cNvSpPr txBox="1"/>
          <p:nvPr/>
        </p:nvSpPr>
        <p:spPr>
          <a:xfrm>
            <a:off x="9255337" y="5142775"/>
            <a:ext cx="4827735" cy="70079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Состав фигур в шаблоне</a:t>
            </a:r>
            <a:endParaRPr lang="ru-RU" sz="2799"/>
          </a:p>
        </p:txBody>
      </p:sp>
      <p:sp>
        <p:nvSpPr>
          <p:cNvPr id="45" name="Swatch 45"/>
          <p:cNvSpPr/>
          <p:nvPr/>
        </p:nvSpPr>
        <p:spPr>
          <a:xfrm>
            <a:off x="9255337" y="5928887"/>
            <a:ext cx="255941" cy="255941"/>
          </a:xfrm>
          <a:prstGeom prst="roundRect">
            <a:avLst>
              <a:gd name="adj" fmla="val 24999"/>
            </a:avLst>
          </a:prstGeom>
          <a:solidFill>
            <a:srgbClr val="C2D076"/>
          </a:solidFill>
          <a:ln>
            <a:noFill/>
          </a:ln>
        </p:spPr>
      </p:sp>
      <p:sp>
        <p:nvSpPr>
          <p:cNvPr id="46" name="Legend 46"/>
          <p:cNvSpPr txBox="1"/>
          <p:nvPr/>
        </p:nvSpPr>
        <p:spPr>
          <a:xfrm>
            <a:off x="9716030" y="5843574"/>
            <a:ext cx="3451310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Свободные фигуры</a:t>
            </a:r>
            <a:endParaRPr lang="ru-RU" sz="2799"/>
          </a:p>
        </p:txBody>
      </p:sp>
      <p:sp>
        <p:nvSpPr>
          <p:cNvPr id="47" name="Share 47"/>
          <p:cNvSpPr txBox="1"/>
          <p:nvPr/>
        </p:nvSpPr>
        <p:spPr>
          <a:xfrm>
            <a:off x="13167340" y="5843574"/>
            <a:ext cx="915732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95%</a:t>
            </a:r>
            <a:endParaRPr lang="ru-RU" sz="2799"/>
          </a:p>
        </p:txBody>
      </p:sp>
      <p:sp>
        <p:nvSpPr>
          <p:cNvPr id="48" name="Swatch 48"/>
          <p:cNvSpPr/>
          <p:nvPr/>
        </p:nvSpPr>
        <p:spPr>
          <a:xfrm>
            <a:off x="9255337" y="6558591"/>
            <a:ext cx="255941" cy="255941"/>
          </a:xfrm>
          <a:prstGeom prst="roundRect">
            <a:avLst>
              <a:gd name="adj" fmla="val 24999"/>
            </a:avLst>
          </a:prstGeom>
          <a:solidFill>
            <a:srgbClr val="E8EDCB"/>
          </a:solidFill>
          <a:ln>
            <a:noFill/>
          </a:ln>
        </p:spPr>
      </p:sp>
      <p:sp>
        <p:nvSpPr>
          <p:cNvPr id="49" name="Legend 49"/>
          <p:cNvSpPr txBox="1"/>
          <p:nvPr/>
        </p:nvSpPr>
        <p:spPr>
          <a:xfrm>
            <a:off x="9716030" y="6473278"/>
            <a:ext cx="3451310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Плейсхолдеры</a:t>
            </a:r>
            <a:endParaRPr lang="ru-RU" sz="2799"/>
          </a:p>
        </p:txBody>
      </p:sp>
      <p:sp>
        <p:nvSpPr>
          <p:cNvPr id="50" name="Share 50"/>
          <p:cNvSpPr txBox="1"/>
          <p:nvPr/>
        </p:nvSpPr>
        <p:spPr>
          <a:xfrm>
            <a:off x="13167340" y="6473278"/>
            <a:ext cx="915732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5%</a:t>
            </a:r>
            <a:endParaRPr lang="ru-RU" sz="2799"/>
          </a:p>
        </p:txBody>
      </p:sp>
      <p:sp>
        <p:nvSpPr>
          <p:cNvPr id="51" name="Note 51"/>
          <p:cNvSpPr txBox="1"/>
          <p:nvPr/>
        </p:nvSpPr>
        <p:spPr>
          <a:xfrm>
            <a:off x="1024128" y="8552358"/>
            <a:ext cx="7680960" cy="69565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07200" indent="-307200">
              <a:lnSpc>
                <a:spcPct val="100000"/>
              </a:lnSpc>
              <a:spcAft>
                <a:spcPts val="1100"/>
              </a:spcAft>
              <a:buClr>
                <a:srgbClr val="C2D076"/>
              </a:buClr>
              <a:buFont typeface="Arial"/>
              <a:buChar char="•"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Правила оформления приходится выводить из образцов</a:t>
            </a:r>
            <a:endParaRPr lang="ru-RU" sz="2199"/>
          </a:p>
        </p:txBody>
      </p:sp>
      <p:sp>
        <p:nvSpPr>
          <p:cNvPr id="52" name="Note 52"/>
          <p:cNvSpPr txBox="1"/>
          <p:nvPr/>
        </p:nvSpPr>
        <p:spPr>
          <a:xfrm>
            <a:off x="9582912" y="8552358"/>
            <a:ext cx="7680960" cy="69565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07200" indent="-307200">
              <a:lnSpc>
                <a:spcPct val="100000"/>
              </a:lnSpc>
              <a:spcAft>
                <a:spcPts val="1100"/>
              </a:spcAft>
              <a:buClr>
                <a:srgbClr val="C2D076"/>
              </a:buClr>
              <a:buFont typeface="Arial"/>
              <a:buChar char="•"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Палитра, кегли, сетка, поля, логотипы и колонтитулы не автоматизированы</a:t>
            </a:r>
            <a:endParaRPr lang="ru-RU" sz="2199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Шаблон читается как набор правил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4137660"/>
            <a:ext cx="5120640" cy="3415943"/>
          </a:xfrm>
          <a:prstGeom prst="roundRect">
            <a:avLst>
              <a:gd name="adj" fmla="val 3212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Badge 44"/>
          <p:cNvSpPr/>
          <p:nvPr/>
        </p:nvSpPr>
        <p:spPr>
          <a:xfrm>
            <a:off x="1484985" y="4598517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1</a:t>
            </a:r>
          </a:p>
        </p:txBody>
      </p:sp>
      <p:sp>
        <p:nvSpPr>
          <p:cNvPr id="45" name="Step 45"/>
          <p:cNvSpPr txBox="1"/>
          <p:nvPr/>
        </p:nvSpPr>
        <p:spPr>
          <a:xfrm>
            <a:off x="1484985" y="5647791"/>
            <a:ext cx="4198926" cy="144495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100"/>
              </a:spcAft>
              <a:buNone/>
            </a:pPr>
            <a:r>
              <a:rPr lang="ru-RU" sz="21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 входе — шаблон и текст</a:t>
            </a:r>
            <a:endParaRPr lang="ru-RU" sz="21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0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Verstka берёт шаблон и текст</a:t>
            </a:r>
            <a:endParaRPr lang="ru-RU" sz="2000"/>
          </a:p>
        </p:txBody>
      </p:sp>
      <p:sp>
        <p:nvSpPr>
          <p:cNvPr id="46" name="Card 46"/>
          <p:cNvSpPr/>
          <p:nvPr/>
        </p:nvSpPr>
        <p:spPr>
          <a:xfrm>
            <a:off x="6583680" y="4137660"/>
            <a:ext cx="5120640" cy="3415943"/>
          </a:xfrm>
          <a:prstGeom prst="roundRect">
            <a:avLst>
              <a:gd name="adj" fmla="val 3212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7" name="Badge 47"/>
          <p:cNvSpPr/>
          <p:nvPr/>
        </p:nvSpPr>
        <p:spPr>
          <a:xfrm>
            <a:off x="7044537" y="4598517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2</a:t>
            </a:r>
          </a:p>
        </p:txBody>
      </p:sp>
      <p:sp>
        <p:nvSpPr>
          <p:cNvPr id="48" name="Step 48"/>
          <p:cNvSpPr txBox="1"/>
          <p:nvPr/>
        </p:nvSpPr>
        <p:spPr>
          <a:xfrm>
            <a:off x="7044537" y="5647791"/>
            <a:ext cx="4198926" cy="144495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100"/>
              </a:spcAft>
              <a:buNone/>
            </a:pPr>
            <a:r>
              <a:rPr lang="ru-RU" sz="21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Шаблон — набор правил</a:t>
            </a:r>
            <a:endParaRPr lang="ru-RU" sz="21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0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Шаблон читается как набор правил, а не как набор макетов</a:t>
            </a:r>
            <a:endParaRPr lang="ru-RU" sz="2000"/>
          </a:p>
        </p:txBody>
      </p:sp>
      <p:sp>
        <p:nvSpPr>
          <p:cNvPr id="49" name="Card 49"/>
          <p:cNvSpPr/>
          <p:nvPr/>
        </p:nvSpPr>
        <p:spPr>
          <a:xfrm>
            <a:off x="12143232" y="4137660"/>
            <a:ext cx="5120640" cy="3415943"/>
          </a:xfrm>
          <a:prstGeom prst="roundRect">
            <a:avLst>
              <a:gd name="adj" fmla="val 3212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Badge 50"/>
          <p:cNvSpPr/>
          <p:nvPr/>
        </p:nvSpPr>
        <p:spPr>
          <a:xfrm>
            <a:off x="12604089" y="4598517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3</a:t>
            </a:r>
          </a:p>
        </p:txBody>
      </p:sp>
      <p:sp>
        <p:nvSpPr>
          <p:cNvPr id="51" name="Step 51"/>
          <p:cNvSpPr txBox="1"/>
          <p:nvPr/>
        </p:nvSpPr>
        <p:spPr>
          <a:xfrm>
            <a:off x="12604089" y="5647791"/>
            <a:ext cx="4198926" cy="144495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100"/>
              </a:spcAft>
              <a:buNone/>
            </a:pPr>
            <a:r>
              <a:rPr lang="ru-RU" sz="21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 выходе — три редактируемые презентации</a:t>
            </a:r>
            <a:endParaRPr lang="ru-RU" sz="21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0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Создаются три редактируемые презентации в стиле шаблона</a:t>
            </a:r>
            <a:endParaRPr lang="ru-RU" sz="2000"/>
          </a:p>
        </p:txBody>
      </p:sp>
      <p:sp>
        <p:nvSpPr>
          <p:cNvPr id="52" name="Conclusion strip 52"/>
          <p:cNvSpPr/>
          <p:nvPr/>
        </p:nvSpPr>
        <p:spPr>
          <a:xfrm>
            <a:off x="1024128" y="7985657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3" name="Conclusion bar 53"/>
          <p:cNvSpPr/>
          <p:nvPr/>
        </p:nvSpPr>
        <p:spPr>
          <a:xfrm>
            <a:off x="1379601" y="8248707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4" name="Conclusion 54"/>
          <p:cNvSpPr txBox="1"/>
          <p:nvPr/>
        </p:nvSpPr>
        <p:spPr>
          <a:xfrm>
            <a:off x="1725701" y="8206050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Презентация в фирменном стиле без ручной вёрстки</a:t>
            </a:r>
            <a:endParaRPr lang="ru-RU" sz="2799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0417162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Открытые модели до 35 млрд параметров создают презентации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4665827"/>
            <a:ext cx="5120640" cy="1935922"/>
          </a:xfrm>
          <a:prstGeom prst="roundRect">
            <a:avLst>
              <a:gd name="adj" fmla="val 5667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Index 44"/>
          <p:cNvSpPr txBox="1"/>
          <p:nvPr/>
        </p:nvSpPr>
        <p:spPr>
          <a:xfrm>
            <a:off x="1285280" y="4926979"/>
            <a:ext cx="657797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01</a:t>
            </a:r>
            <a:endParaRPr lang="ru-RU" sz="2799"/>
          </a:p>
        </p:txBody>
      </p:sp>
      <p:sp>
        <p:nvSpPr>
          <p:cNvPr id="45" name="Card text 45"/>
          <p:cNvSpPr txBox="1"/>
          <p:nvPr/>
        </p:nvSpPr>
        <p:spPr>
          <a:xfrm>
            <a:off x="1943077" y="4926979"/>
            <a:ext cx="3940539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Аналитик</a:t>
            </a:r>
            <a:endParaRPr lang="ru-RU" sz="2799"/>
          </a:p>
        </p:txBody>
      </p:sp>
      <p:sp>
        <p:nvSpPr>
          <p:cNvPr id="46" name="Card text 46"/>
          <p:cNvSpPr txBox="1"/>
          <p:nvPr/>
        </p:nvSpPr>
        <p:spPr>
          <a:xfrm>
            <a:off x="1285280" y="5553502"/>
            <a:ext cx="4598336" cy="78709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4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Находит слайды, ряды данных и просьбы</a:t>
            </a:r>
            <a:endParaRPr lang="ru-RU" sz="2499"/>
          </a:p>
        </p:txBody>
      </p:sp>
      <p:sp>
        <p:nvSpPr>
          <p:cNvPr id="47" name="Card 47"/>
          <p:cNvSpPr/>
          <p:nvPr/>
        </p:nvSpPr>
        <p:spPr>
          <a:xfrm>
            <a:off x="6583680" y="4665827"/>
            <a:ext cx="5120640" cy="1935922"/>
          </a:xfrm>
          <a:prstGeom prst="roundRect">
            <a:avLst>
              <a:gd name="adj" fmla="val 5667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8" name="Index 48"/>
          <p:cNvSpPr txBox="1"/>
          <p:nvPr/>
        </p:nvSpPr>
        <p:spPr>
          <a:xfrm>
            <a:off x="6844832" y="4926979"/>
            <a:ext cx="657797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02</a:t>
            </a:r>
            <a:endParaRPr lang="ru-RU" sz="2799"/>
          </a:p>
        </p:txBody>
      </p:sp>
      <p:sp>
        <p:nvSpPr>
          <p:cNvPr id="49" name="Card text 49"/>
          <p:cNvSpPr txBox="1"/>
          <p:nvPr/>
        </p:nvSpPr>
        <p:spPr>
          <a:xfrm>
            <a:off x="7502629" y="4926979"/>
            <a:ext cx="3940539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Дизайнер</a:t>
            </a:r>
            <a:endParaRPr lang="ru-RU" sz="2799"/>
          </a:p>
        </p:txBody>
      </p:sp>
      <p:sp>
        <p:nvSpPr>
          <p:cNvPr id="50" name="Card text 50"/>
          <p:cNvSpPr txBox="1"/>
          <p:nvPr/>
        </p:nvSpPr>
        <p:spPr>
          <a:xfrm>
            <a:off x="6844832" y="5553502"/>
            <a:ext cx="4598336" cy="78709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4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Продумывает каждый слайд отдельно</a:t>
            </a:r>
            <a:endParaRPr lang="ru-RU" sz="2499"/>
          </a:p>
        </p:txBody>
      </p:sp>
      <p:sp>
        <p:nvSpPr>
          <p:cNvPr id="51" name="Card 51"/>
          <p:cNvSpPr/>
          <p:nvPr/>
        </p:nvSpPr>
        <p:spPr>
          <a:xfrm>
            <a:off x="12143232" y="4665827"/>
            <a:ext cx="5120640" cy="1935922"/>
          </a:xfrm>
          <a:prstGeom prst="roundRect">
            <a:avLst>
              <a:gd name="adj" fmla="val 5667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2" name="Index 52"/>
          <p:cNvSpPr txBox="1"/>
          <p:nvPr/>
        </p:nvSpPr>
        <p:spPr>
          <a:xfrm>
            <a:off x="12404384" y="4926979"/>
            <a:ext cx="657797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03</a:t>
            </a:r>
            <a:endParaRPr lang="ru-RU" sz="2799"/>
          </a:p>
        </p:txBody>
      </p:sp>
      <p:sp>
        <p:nvSpPr>
          <p:cNvPr id="53" name="Card text 53"/>
          <p:cNvSpPr txBox="1"/>
          <p:nvPr/>
        </p:nvSpPr>
        <p:spPr>
          <a:xfrm>
            <a:off x="13062181" y="4926979"/>
            <a:ext cx="3940539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Критик</a:t>
            </a:r>
            <a:endParaRPr lang="ru-RU" sz="2799"/>
          </a:p>
        </p:txBody>
      </p:sp>
      <p:sp>
        <p:nvSpPr>
          <p:cNvPr id="54" name="Card text 54"/>
          <p:cNvSpPr txBox="1"/>
          <p:nvPr/>
        </p:nvSpPr>
        <p:spPr>
          <a:xfrm>
            <a:off x="12404384" y="5553502"/>
            <a:ext cx="4598336" cy="78709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4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Сверяет план с текстом и правилами шаблона</a:t>
            </a:r>
            <a:endParaRPr lang="ru-RU" sz="2499"/>
          </a:p>
        </p:txBody>
      </p:sp>
      <p:sp>
        <p:nvSpPr>
          <p:cNvPr id="55" name="Card 55"/>
          <p:cNvSpPr/>
          <p:nvPr/>
        </p:nvSpPr>
        <p:spPr>
          <a:xfrm>
            <a:off x="3803904" y="6910359"/>
            <a:ext cx="5120640" cy="1935922"/>
          </a:xfrm>
          <a:prstGeom prst="roundRect">
            <a:avLst>
              <a:gd name="adj" fmla="val 5667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6" name="Index 56"/>
          <p:cNvSpPr txBox="1"/>
          <p:nvPr/>
        </p:nvSpPr>
        <p:spPr>
          <a:xfrm>
            <a:off x="4065056" y="7171511"/>
            <a:ext cx="657797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04</a:t>
            </a:r>
            <a:endParaRPr lang="ru-RU" sz="2799"/>
          </a:p>
        </p:txBody>
      </p:sp>
      <p:sp>
        <p:nvSpPr>
          <p:cNvPr id="57" name="Card text 57"/>
          <p:cNvSpPr txBox="1"/>
          <p:nvPr/>
        </p:nvSpPr>
        <p:spPr>
          <a:xfrm>
            <a:off x="4722853" y="7171511"/>
            <a:ext cx="3940539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Компилятор</a:t>
            </a:r>
            <a:endParaRPr lang="ru-RU" sz="2799"/>
          </a:p>
        </p:txBody>
      </p:sp>
      <p:sp>
        <p:nvSpPr>
          <p:cNvPr id="58" name="Card text 58"/>
          <p:cNvSpPr txBox="1"/>
          <p:nvPr/>
        </p:nvSpPr>
        <p:spPr>
          <a:xfrm>
            <a:off x="4065056" y="7798034"/>
            <a:ext cx="4598336" cy="78709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4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Проверяет каждое число</a:t>
            </a:r>
            <a:endParaRPr lang="ru-RU" sz="2499"/>
          </a:p>
        </p:txBody>
      </p:sp>
      <p:sp>
        <p:nvSpPr>
          <p:cNvPr id="59" name="Card 59"/>
          <p:cNvSpPr/>
          <p:nvPr/>
        </p:nvSpPr>
        <p:spPr>
          <a:xfrm>
            <a:off x="9363456" y="6910359"/>
            <a:ext cx="5120640" cy="1935922"/>
          </a:xfrm>
          <a:prstGeom prst="roundRect">
            <a:avLst>
              <a:gd name="adj" fmla="val 5667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0" name="Index 60"/>
          <p:cNvSpPr txBox="1"/>
          <p:nvPr/>
        </p:nvSpPr>
        <p:spPr>
          <a:xfrm>
            <a:off x="9624608" y="7171511"/>
            <a:ext cx="657797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05</a:t>
            </a:r>
            <a:endParaRPr lang="ru-RU" sz="2799"/>
          </a:p>
        </p:txBody>
      </p:sp>
      <p:sp>
        <p:nvSpPr>
          <p:cNvPr id="61" name="Card text 61"/>
          <p:cNvSpPr txBox="1"/>
          <p:nvPr/>
        </p:nvSpPr>
        <p:spPr>
          <a:xfrm>
            <a:off x="10282405" y="7171511"/>
            <a:ext cx="3940539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Вёрстка</a:t>
            </a:r>
            <a:endParaRPr lang="ru-RU" sz="2799"/>
          </a:p>
        </p:txBody>
      </p:sp>
      <p:sp>
        <p:nvSpPr>
          <p:cNvPr id="62" name="Card text 62"/>
          <p:cNvSpPr txBox="1"/>
          <p:nvPr/>
        </p:nvSpPr>
        <p:spPr>
          <a:xfrm>
            <a:off x="9624608" y="7798034"/>
            <a:ext cx="4598336" cy="78709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4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Собирает слайды по дизайн-⁠системе шаблона</a:t>
            </a:r>
            <a:endParaRPr lang="ru-RU" sz="2499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Одно содержание, три подхода к подаче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aphicFrame>
        <p:nvGraphicFramePr>
          <p:cNvPr id="43" name="Table"/>
          <p:cNvGraphicFramePr>
            <a:graphicFrameLocks noGrp="1"/>
          </p:cNvGraphicFramePr>
          <p:nvPr/>
        </p:nvGraphicFramePr>
        <p:xfrm>
          <a:off x="1024128" y="4137660"/>
          <a:ext cx="16239744" cy="459931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992235"/>
                <a:gridCol w="7485664"/>
                <a:gridCol w="5761845"/>
              </a:tblGrid>
              <a:tr h="919863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Вариант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Подача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Когда подходит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Структурный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одна мысль на слайд, строгая сетка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отчёт и защита проекта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Визуальный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крупные цифры и наглядные схемы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питч и выступление со сцены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Компактный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вывод первой строкой, данные справа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рассылка руководителю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41 проверка качества на слайд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Unit 43"/>
          <p:cNvSpPr txBox="1"/>
          <p:nvPr/>
        </p:nvSpPr>
        <p:spPr>
          <a:xfrm>
            <a:off x="1024128" y="4137660"/>
            <a:ext cx="10814792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Число проверок по категориям</a:t>
            </a:r>
            <a:endParaRPr lang="ru-RU" sz="1800"/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024128" y="4529963"/>
          <a:ext cx="10814792" cy="430922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ule 45"/>
          <p:cNvSpPr/>
          <p:nvPr/>
        </p:nvSpPr>
        <p:spPr>
          <a:xfrm>
            <a:off x="12716744" y="4137660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6" name="Label 46"/>
          <p:cNvSpPr txBox="1"/>
          <p:nvPr/>
        </p:nvSpPr>
        <p:spPr>
          <a:xfrm>
            <a:off x="12716744" y="4453509"/>
            <a:ext cx="4547128" cy="130510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12 </a:t>
            </a: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проверок на целостность — самая большая группа</a:t>
            </a:r>
            <a:endParaRPr lang="ru-RU" sz="2799"/>
          </a:p>
        </p:txBody>
      </p:sp>
      <p:sp>
        <p:nvSpPr>
          <p:cNvPr id="47" name="Chart note 47"/>
          <p:cNvSpPr txBox="1"/>
          <p:nvPr/>
        </p:nvSpPr>
        <p:spPr>
          <a:xfrm>
            <a:off x="12716744" y="6113513"/>
            <a:ext cx="4547128" cy="69565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9"/>
              </a:spcAft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Найденные проблемы помечаются на слайде</a:t>
            </a:r>
            <a:endParaRPr lang="ru-RU" sz="2199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0495470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9 демонстрационных презентаций без выдуманных чисел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61" name="Card 61"/>
          <p:cNvSpPr/>
          <p:nvPr/>
        </p:nvSpPr>
        <p:spPr>
          <a:xfrm>
            <a:off x="1024128" y="4665827"/>
            <a:ext cx="5120640" cy="3818208"/>
          </a:xfrm>
          <a:prstGeom prst="roundRect">
            <a:avLst>
              <a:gd name="adj" fmla="val 2873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2" name="Figure 62"/>
          <p:cNvSpPr txBox="1"/>
          <p:nvPr/>
        </p:nvSpPr>
        <p:spPr>
          <a:xfrm>
            <a:off x="1536192" y="5004954"/>
            <a:ext cx="4096512" cy="975208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63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9</a:t>
            </a:r>
            <a:endParaRPr lang="ru-RU" sz="6399"/>
          </a:p>
        </p:txBody>
      </p:sp>
      <p:sp>
        <p:nvSpPr>
          <p:cNvPr id="63" name="Label 63"/>
          <p:cNvSpPr txBox="1"/>
          <p:nvPr/>
        </p:nvSpPr>
        <p:spPr>
          <a:xfrm>
            <a:off x="1536192" y="6088175"/>
            <a:ext cx="4096512" cy="18837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Демо-⁠презентаций</a:t>
            </a:r>
            <a:endParaRPr lang="ru-RU" sz="2799"/>
          </a:p>
        </p:txBody>
      </p:sp>
      <p:sp>
        <p:nvSpPr>
          <p:cNvPr id="64" name="Card 64"/>
          <p:cNvSpPr/>
          <p:nvPr/>
        </p:nvSpPr>
        <p:spPr>
          <a:xfrm>
            <a:off x="6583680" y="4665827"/>
            <a:ext cx="5120640" cy="3818208"/>
          </a:xfrm>
          <a:prstGeom prst="roundRect">
            <a:avLst>
              <a:gd name="adj" fmla="val 2873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5" name="Figure 65"/>
          <p:cNvSpPr txBox="1"/>
          <p:nvPr/>
        </p:nvSpPr>
        <p:spPr>
          <a:xfrm>
            <a:off x="7082239" y="5004954"/>
            <a:ext cx="4110017" cy="975208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63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116⁠–⁠123</a:t>
            </a:r>
            <a:endParaRPr lang="ru-RU" sz="6399"/>
          </a:p>
        </p:txBody>
      </p:sp>
      <p:sp>
        <p:nvSpPr>
          <p:cNvPr id="66" name="Label 66"/>
          <p:cNvSpPr txBox="1"/>
          <p:nvPr/>
        </p:nvSpPr>
        <p:spPr>
          <a:xfrm>
            <a:off x="7095744" y="6088175"/>
            <a:ext cx="4096512" cy="18837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Проверенных чисел</a:t>
            </a:r>
            <a:endParaRPr lang="ru-RU" sz="2799"/>
          </a:p>
        </p:txBody>
      </p:sp>
      <p:sp>
        <p:nvSpPr>
          <p:cNvPr id="67" name="Card 67"/>
          <p:cNvSpPr/>
          <p:nvPr/>
        </p:nvSpPr>
        <p:spPr>
          <a:xfrm>
            <a:off x="12143232" y="4665827"/>
            <a:ext cx="5120640" cy="3818208"/>
          </a:xfrm>
          <a:prstGeom prst="roundRect">
            <a:avLst>
              <a:gd name="adj" fmla="val 2873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8" name="Figure 68"/>
          <p:cNvSpPr txBox="1"/>
          <p:nvPr/>
        </p:nvSpPr>
        <p:spPr>
          <a:xfrm>
            <a:off x="12655296" y="5004954"/>
            <a:ext cx="4096512" cy="975208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63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</a:t>
            </a:r>
            <a:endParaRPr lang="ru-RU" sz="6399"/>
          </a:p>
        </p:txBody>
      </p:sp>
      <p:sp>
        <p:nvSpPr>
          <p:cNvPr id="69" name="Label 69"/>
          <p:cNvSpPr txBox="1"/>
          <p:nvPr/>
        </p:nvSpPr>
        <p:spPr>
          <a:xfrm>
            <a:off x="12655296" y="6088175"/>
            <a:ext cx="4096512" cy="18837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Выдуманных чисел</a:t>
            </a:r>
            <a:endParaRPr lang="ru-RU" sz="2799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87 шаблонов, 99 из 100 и 12 форматов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4137660"/>
            <a:ext cx="5120640" cy="3214270"/>
          </a:xfrm>
          <a:prstGeom prst="roundRect">
            <a:avLst>
              <a:gd name="adj" fmla="val 3413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Figure 44"/>
          <p:cNvSpPr txBox="1"/>
          <p:nvPr/>
        </p:nvSpPr>
        <p:spPr>
          <a:xfrm>
            <a:off x="1536192" y="4390278"/>
            <a:ext cx="4096512" cy="14630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600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87</a:t>
            </a:r>
            <a:endParaRPr lang="ru-RU" sz="9600"/>
          </a:p>
        </p:txBody>
      </p:sp>
      <p:sp>
        <p:nvSpPr>
          <p:cNvPr id="45" name="Label 45"/>
          <p:cNvSpPr txBox="1"/>
          <p:nvPr/>
        </p:nvSpPr>
        <p:spPr>
          <a:xfrm>
            <a:off x="1536192" y="5961331"/>
            <a:ext cx="4096512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Чужих шаблонов</a:t>
            </a:r>
            <a:endParaRPr lang="ru-RU" sz="2799"/>
          </a:p>
        </p:txBody>
      </p:sp>
      <p:sp>
        <p:nvSpPr>
          <p:cNvPr id="46" name="Card 46"/>
          <p:cNvSpPr/>
          <p:nvPr/>
        </p:nvSpPr>
        <p:spPr>
          <a:xfrm>
            <a:off x="6583680" y="4137660"/>
            <a:ext cx="5120640" cy="3214270"/>
          </a:xfrm>
          <a:prstGeom prst="roundRect">
            <a:avLst>
              <a:gd name="adj" fmla="val 3413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7" name="Figure 47"/>
          <p:cNvSpPr txBox="1"/>
          <p:nvPr/>
        </p:nvSpPr>
        <p:spPr>
          <a:xfrm>
            <a:off x="7083654" y="4390278"/>
            <a:ext cx="4108602" cy="14630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600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99</a:t>
            </a:r>
            <a:r>
              <a:rPr lang="ru-RU" sz="4712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 из 100</a:t>
            </a:r>
            <a:endParaRPr lang="ru-RU" sz="9600"/>
          </a:p>
        </p:txBody>
      </p:sp>
      <p:sp>
        <p:nvSpPr>
          <p:cNvPr id="48" name="Label 48"/>
          <p:cNvSpPr txBox="1"/>
          <p:nvPr/>
        </p:nvSpPr>
        <p:spPr>
          <a:xfrm>
            <a:off x="7095744" y="5961331"/>
            <a:ext cx="4096512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Средняя оценка качества</a:t>
            </a:r>
            <a:endParaRPr lang="ru-RU" sz="2799"/>
          </a:p>
        </p:txBody>
      </p:sp>
      <p:sp>
        <p:nvSpPr>
          <p:cNvPr id="49" name="Card 49"/>
          <p:cNvSpPr/>
          <p:nvPr/>
        </p:nvSpPr>
        <p:spPr>
          <a:xfrm>
            <a:off x="12143232" y="4137660"/>
            <a:ext cx="5120640" cy="3214270"/>
          </a:xfrm>
          <a:prstGeom prst="roundRect">
            <a:avLst>
              <a:gd name="adj" fmla="val 3413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Figure 50"/>
          <p:cNvSpPr txBox="1"/>
          <p:nvPr/>
        </p:nvSpPr>
        <p:spPr>
          <a:xfrm>
            <a:off x="12617602" y="4390278"/>
            <a:ext cx="4134206" cy="14630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600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12</a:t>
            </a:r>
            <a:endParaRPr lang="ru-RU" sz="9600"/>
          </a:p>
        </p:txBody>
      </p:sp>
      <p:sp>
        <p:nvSpPr>
          <p:cNvPr id="51" name="Label 51"/>
          <p:cNvSpPr txBox="1"/>
          <p:nvPr/>
        </p:nvSpPr>
        <p:spPr>
          <a:xfrm>
            <a:off x="12655296" y="5961331"/>
            <a:ext cx="4096512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Форматов</a:t>
            </a:r>
            <a:endParaRPr lang="ru-RU" sz="2799"/>
          </a:p>
        </p:txBody>
      </p:sp>
      <p:sp>
        <p:nvSpPr>
          <p:cNvPr id="52" name="Conclusion strip 52"/>
          <p:cNvSpPr/>
          <p:nvPr/>
        </p:nvSpPr>
        <p:spPr>
          <a:xfrm>
            <a:off x="1024128" y="7783984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3" name="Conclusion bar 53"/>
          <p:cNvSpPr/>
          <p:nvPr/>
        </p:nvSpPr>
        <p:spPr>
          <a:xfrm>
            <a:off x="1379601" y="8047034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4" name="Conclusion 54"/>
          <p:cNvSpPr txBox="1"/>
          <p:nvPr/>
        </p:nvSpPr>
        <p:spPr>
          <a:xfrm>
            <a:off x="1725701" y="8004377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Сервис работает с любыми шаблонами и форматами</a:t>
            </a:r>
            <a:endParaRPr lang="ru-RU" sz="2799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VK WorkSpace — самый долгий, но всё в лимите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Unit 43"/>
          <p:cNvSpPr txBox="1"/>
          <p:nvPr/>
        </p:nvSpPr>
        <p:spPr>
          <a:xfrm>
            <a:off x="1024128" y="3947718"/>
            <a:ext cx="10814792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Время генерации трёх вариантов на шаблонах датасета, секунд</a:t>
            </a:r>
            <a:endParaRPr lang="ru-RU" sz="1800"/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024128" y="4340021"/>
          <a:ext cx="10814792" cy="44839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ule 45"/>
          <p:cNvSpPr/>
          <p:nvPr/>
        </p:nvSpPr>
        <p:spPr>
          <a:xfrm>
            <a:off x="12716744" y="3947718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6" name="Label 46"/>
          <p:cNvSpPr txBox="1"/>
          <p:nvPr/>
        </p:nvSpPr>
        <p:spPr>
          <a:xfrm>
            <a:off x="12716744" y="4263567"/>
            <a:ext cx="4547128" cy="130510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Все шаблоны укладываются в лимит 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5 минут</a:t>
            </a: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 с запасом</a:t>
            </a:r>
            <a:endParaRPr lang="ru-RU" sz="2799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Три шага развития после финала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52" name="Card 52"/>
          <p:cNvSpPr/>
          <p:nvPr/>
        </p:nvSpPr>
        <p:spPr>
          <a:xfrm>
            <a:off x="1024128" y="4137660"/>
            <a:ext cx="5120640" cy="4868823"/>
          </a:xfrm>
          <a:prstGeom prst="roundRect">
            <a:avLst>
              <a:gd name="adj" fmla="val 2253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3" name="Badge 53"/>
          <p:cNvSpPr/>
          <p:nvPr/>
        </p:nvSpPr>
        <p:spPr>
          <a:xfrm>
            <a:off x="1484985" y="4598517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1</a:t>
            </a:r>
          </a:p>
        </p:txBody>
      </p:sp>
      <p:sp>
        <p:nvSpPr>
          <p:cNvPr id="54" name="Step 54"/>
          <p:cNvSpPr txBox="1"/>
          <p:nvPr/>
        </p:nvSpPr>
        <p:spPr>
          <a:xfrm>
            <a:off x="1484985" y="5647791"/>
            <a:ext cx="4198926" cy="28978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Переход на инференс VK и модель Qwen3.8-⁠27B</a:t>
            </a:r>
            <a:endParaRPr lang="ru-RU" sz="4712"/>
          </a:p>
        </p:txBody>
      </p:sp>
      <p:sp>
        <p:nvSpPr>
          <p:cNvPr id="55" name="Card 55"/>
          <p:cNvSpPr/>
          <p:nvPr/>
        </p:nvSpPr>
        <p:spPr>
          <a:xfrm>
            <a:off x="6583680" y="4137660"/>
            <a:ext cx="5120640" cy="4868823"/>
          </a:xfrm>
          <a:prstGeom prst="roundRect">
            <a:avLst>
              <a:gd name="adj" fmla="val 2253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6" name="Badge 56"/>
          <p:cNvSpPr/>
          <p:nvPr/>
        </p:nvSpPr>
        <p:spPr>
          <a:xfrm>
            <a:off x="7044537" y="4598517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2</a:t>
            </a:r>
          </a:p>
        </p:txBody>
      </p:sp>
      <p:sp>
        <p:nvSpPr>
          <p:cNvPr id="57" name="Step 57"/>
          <p:cNvSpPr txBox="1"/>
          <p:nvPr/>
        </p:nvSpPr>
        <p:spPr>
          <a:xfrm>
            <a:off x="7044537" y="5647791"/>
            <a:ext cx="4198926" cy="28978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Генерация изображений внутри слайдов</a:t>
            </a:r>
            <a:endParaRPr lang="ru-RU" sz="4712"/>
          </a:p>
        </p:txBody>
      </p:sp>
      <p:sp>
        <p:nvSpPr>
          <p:cNvPr id="58" name="Card 58"/>
          <p:cNvSpPr/>
          <p:nvPr/>
        </p:nvSpPr>
        <p:spPr>
          <a:xfrm>
            <a:off x="12143232" y="4137660"/>
            <a:ext cx="5120640" cy="4868823"/>
          </a:xfrm>
          <a:prstGeom prst="roundRect">
            <a:avLst>
              <a:gd name="adj" fmla="val 2253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9" name="Badge 59"/>
          <p:cNvSpPr/>
          <p:nvPr/>
        </p:nvSpPr>
        <p:spPr>
          <a:xfrm>
            <a:off x="12604089" y="4598517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3</a:t>
            </a:r>
          </a:p>
        </p:txBody>
      </p:sp>
      <p:sp>
        <p:nvSpPr>
          <p:cNvPr id="60" name="Step 60"/>
          <p:cNvSpPr txBox="1"/>
          <p:nvPr/>
        </p:nvSpPr>
        <p:spPr>
          <a:xfrm>
            <a:off x="12604089" y="5647791"/>
            <a:ext cx="4198926" cy="28978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Пилот на шаблонах и сценариях VK Tech</a:t>
            </a:r>
            <a:endParaRPr lang="ru-RU" sz="4712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Minimalist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