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285" r:id="rId47"/>
    <p:sldId id="286" r:id="rId48"/>
  </p:sldIdLst>
  <p:sldSz cy="10287000" cx="18288000"/>
  <p:notesSz cx="6858000" cy="9144000"/>
  <p:embeddedFontLst>
    <p:embeddedFont>
      <p:font typeface="Inter Light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7" Type="http://schemas.openxmlformats.org/officeDocument/2006/relationships/font" Target="fonts/InterLight-regular.fntdata"/><Relationship Id="rId28" Type="http://schemas.openxmlformats.org/officeDocument/2006/relationships/font" Target="fonts/InterLight-bold.fntdata"/><Relationship Id="rId29" Type="http://schemas.openxmlformats.org/officeDocument/2006/relationships/font" Target="fonts/InterLight-italic.fntdata"/><Relationship Id="rId30" Type="http://schemas.openxmlformats.org/officeDocument/2006/relationships/font" Target="fonts/InterLight-boldItalic.fntdata"/><Relationship Id="rId31" Type="http://schemas.openxmlformats.org/officeDocument/2006/relationships/font" Target="fonts/Inter-regular.fntdata"/><Relationship Id="rId32" Type="http://schemas.openxmlformats.org/officeDocument/2006/relationships/font" Target="fonts/Inter-bold.fntdata"/><Relationship Id="rId33" Type="http://schemas.openxmlformats.org/officeDocument/2006/relationships/font" Target="fonts/Inter-italic.fntdata"/><Relationship Id="rId34" Type="http://schemas.openxmlformats.org/officeDocument/2006/relationships/font" Target="fonts/Inter-boldItalic.fntdata"/><Relationship Id="rId35" Type="http://schemas.openxmlformats.org/officeDocument/2006/relationships/font" Target="fonts/InterMedium-regular.fntdata"/><Relationship Id="rId36" Type="http://schemas.openxmlformats.org/officeDocument/2006/relationships/font" Target="fonts/InterMedium-bold.fntdata"/><Relationship Id="rId37" Type="http://schemas.openxmlformats.org/officeDocument/2006/relationships/font" Target="fonts/InterMedium-italic.fntdata"/><Relationship Id="rId38" Type="http://schemas.openxmlformats.org/officeDocument/2006/relationships/font" Target="fonts/InterMedium-boldItalic.fntdata"/><Relationship Id="rId39" Type="http://schemas.openxmlformats.org/officeDocument/2006/relationships/slide" Target="slides/slide1.xml"/><Relationship Id="rId40" Type="http://schemas.openxmlformats.org/officeDocument/2006/relationships/slide" Target="slides/slide2.xml"/><Relationship Id="rId41" Type="http://schemas.openxmlformats.org/officeDocument/2006/relationships/slide" Target="slides/slide3.xml"/><Relationship Id="rId42" Type="http://schemas.openxmlformats.org/officeDocument/2006/relationships/slide" Target="slides/slide4.xml"/><Relationship Id="rId43" Type="http://schemas.openxmlformats.org/officeDocument/2006/relationships/slide" Target="slides/slide5.xml"/><Relationship Id="rId44" Type="http://schemas.openxmlformats.org/officeDocument/2006/relationships/slide" Target="slides/slide6.xml"/><Relationship Id="rId45" Type="http://schemas.openxmlformats.org/officeDocument/2006/relationships/slide" Target="slides/slide7.xml"/><Relationship Id="rId46" Type="http://schemas.openxmlformats.org/officeDocument/2006/relationships/slide" Target="slides/slide8.xml"/><Relationship Id="rId47" Type="http://schemas.openxmlformats.org/officeDocument/2006/relationships/slide" Target="slides/slide9.xml"/><Relationship Id="rId48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445"/>
          <c:y val="0.0153"/>
          <c:w val="0.8067"/>
          <c:h val="0.969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проверок</c:v>
                </c:pt>
              </c:strCache>
            </c:strRef>
          </c:tx>
          <c:spPr>
            <a:solidFill>
              <a:srgbClr val="C2D076"/>
            </a:solidFill>
            <a:ln>
              <a:noFill/>
            </a:ln>
          </c:spPr>
          <c:invertIfNegative val="0"/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200" b="0">
                      <a:solidFill>
                        <a:srgbClr val="FFFFFF"/>
                      </a:solidFill>
                      <a:latin typeface="Inter Light"/>
                      <a:ea typeface="Inter Light"/>
                      <a:cs typeface="Inter Light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2200" b="0">
                    <a:solidFill>
                      <a:srgbClr val="FFFFFF"/>
                    </a:solidFill>
                    <a:latin typeface="Inter Light"/>
                    <a:ea typeface="Inter Light"/>
                    <a:cs typeface="Inter Light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Целостность</c:v>
                </c:pt>
                <c:pt idx="1">
                  <c:v>Вёрстка</c:v>
                </c:pt>
                <c:pt idx="2">
                  <c:v>Шаблон</c:v>
                </c:pt>
                <c:pt idx="3">
                  <c:v>Контент</c:v>
                </c:pt>
                <c:pt idx="4">
                  <c:v>Плотность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12.0</c:v>
                </c:pt>
                <c:pt idx="1">
                  <c:v>11.0</c:v>
                </c:pt>
                <c:pt idx="2">
                  <c:v>7.0</c:v>
                </c:pt>
                <c:pt idx="3">
                  <c:v>6.0</c:v>
                </c:pt>
                <c:pt idx="4">
                  <c:v>5.0</c:v>
                </c:pt>
              </c:numCache>
            </c:numRef>
          </c:val>
        </c:ser>
        <c:dLbls>
          <c:numFmt formatCode="#,##0&quot; проверок&quot;;&quot;−&quot;#,##0&quot; проверок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2200" b="0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800" b="0">
                <a:solidFill>
                  <a:srgbClr val="A8AFAF"/>
                </a:solidFill>
                <a:latin typeface="Inter Light"/>
                <a:ea typeface="Inter Light"/>
                <a:cs typeface="Inter Light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FFFFFF"/>
          </a:solidFill>
          <a:latin typeface="Inter Light"/>
          <a:ea typeface="Inter Light"/>
          <a:cs typeface="Inter Ligh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12"/>
          <c:y val="0.0952"/>
          <c:w val="0.9977"/>
          <c:h val="0.8120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генерации</c:v>
                </c:pt>
              </c:strCache>
            </c:strRef>
          </c:tx>
          <c:spPr>
            <a:solidFill>
              <a:srgbClr val="C2D076"/>
            </a:solidFill>
            <a:ln>
              <a:noFill/>
            </a:ln>
          </c:spPr>
          <c:invertIfNegative val="0"/>
          <c:dLbls>
            <c:dLbl>
              <c:idx val="2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200" b="0">
                      <a:solidFill>
                        <a:srgbClr val="FFFFFF"/>
                      </a:solidFill>
                      <a:latin typeface="Inter Light"/>
                      <a:ea typeface="Inter Light"/>
                      <a:cs typeface="Inter Light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2200" b="0">
                    <a:solidFill>
                      <a:srgbClr val="FFFFFF"/>
                    </a:solidFill>
                    <a:latin typeface="Inter Light"/>
                    <a:ea typeface="Inter Light"/>
                    <a:cs typeface="Inter Light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Education</c:v>
                </c:pt>
                <c:pt idx="2">
                  <c:v>VK WorkSpace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113.0</c:v>
                </c:pt>
                <c:pt idx="1">
                  <c:v>145.0</c:v>
                </c:pt>
                <c:pt idx="2">
                  <c:v>175.0</c:v>
                </c:pt>
              </c:numCache>
            </c:numRef>
          </c:val>
        </c:ser>
        <c:dLbls>
          <c:numFmt formatCode="#,##0&quot; сек&quot;;&quot;−&quot;#,##0&quot; сек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2200" b="0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9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384848"/>
            </a:solidFill>
          </a:ln>
        </c:spPr>
        <c:txPr>
          <a:bodyPr rot="0" vert="horz"/>
          <a:lstStyle/>
          <a:p>
            <a:pPr>
              <a:defRPr sz="1800" b="0">
                <a:solidFill>
                  <a:srgbClr val="A8AFAF"/>
                </a:solidFill>
                <a:latin typeface="Inter Light"/>
                <a:ea typeface="Inter Light"/>
                <a:cs typeface="Inter Light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75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solidFill>
            <a:srgbClr val="FFFFFF"/>
          </a:solidFill>
          <a:latin typeface="Inter Light"/>
          <a:ea typeface="Inter Light"/>
          <a:cs typeface="Inter Ligh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Три основные проблемы: ручная вёрстка, ИИ, который не воспроизводит стиль компании, и шаблоны, которые не являются инструкциями.</a:t>
            </a:r>
          </a:p>
          <a:p>
            <a:r>
              <a:t>[verstka:sl2]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Verstka использует шаблон как набор дизайнерских правил и на его основе генерирует три редактируемые презентации.</a:t>
            </a:r>
          </a:p>
          <a:p>
            <a:r>
              <a:t>[verstka:sl3]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[verstka:sl4]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Одинаковое содержание, разная подача.</a:t>
            </a:r>
          </a:p>
          <a:p>
            <a:r>
              <a:t>[verstka:sl5]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 диаграмме показано распределение 41 проверки по категориям: 12 — целостность, 11 — вёрстка, 7 — шаблон, 6 — контент, 5 — плотность.</a:t>
            </a:r>
          </a:p>
          <a:p>
            <a:r>
              <a:t>[verstka:sl6]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Каждое число плана сверяется с текстом до вёрстки и ещё раз в готовом PPTX.</a:t>
            </a:r>
          </a:p>
          <a:p>
            <a:r>
              <a:t>[verstka:sl7]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Регрессионный корпус включает 87 чужих шаблонов и 261 презентацию на них. Средняя оценка проверки качества по корпусу — 99 из 100. Сервис поддерживает 12 форматов: pptx, potx, ppt, odp, thmx и другие.</a:t>
            </a:r>
          </a:p>
          <a:p>
            <a:r>
              <a:t>[verstka:sl8]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Время генерации всех шаблонов меньше 5 минут, что подтверждает высокую скорость работы системы. VK Tech генерируется за 113 секунд, VK Education — за 145 секунд, VK WorkSpace — за 175 секунд.</a:t>
            </a:r>
          </a:p>
          <a:p>
            <a:r>
              <a:t>[verstka:sl9]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Все три модели используют лицензию Apache 2.0 и предназначены для разных сценариев использования: основная модель и два запасных звена.</a:t>
            </a:r>
          </a:p>
          <a:p>
            <a:r>
              <a:t>[verstka:sl10]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2 028 автотестов, PPTX с редактируемыми объектами, PDF и HTML, чат с агентом для правок. Дальше — генерация изображений внутри слайдов и переход на инференс VK.</a:t>
            </a:r>
          </a:p>
          <a:p>
            <a:r>
              <a:t>[verstka:sl11]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n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9136050" y="1007975"/>
            <a:ext cx="8131200" cy="8270400"/>
          </a:xfrm>
          <a:prstGeom prst="rect">
            <a:avLst/>
          </a:prstGeom>
          <a:noFill/>
          <a:ln cap="flat" cmpd="sng" w="1905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w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>
            <p:ph idx="2" type="pic"/>
          </p:nvPr>
        </p:nvSpPr>
        <p:spPr>
          <a:xfrm>
            <a:off x="1009200" y="1006800"/>
            <a:ext cx="8154300" cy="4158600"/>
          </a:xfrm>
          <a:prstGeom prst="rect">
            <a:avLst/>
          </a:prstGeom>
          <a:noFill/>
          <a:ln cap="flat" cmpd="sng" w="1905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4"/>
          <p:cNvSpPr/>
          <p:nvPr>
            <p:ph idx="3" type="pic"/>
          </p:nvPr>
        </p:nvSpPr>
        <p:spPr>
          <a:xfrm>
            <a:off x="1009200" y="5165400"/>
            <a:ext cx="8154300" cy="4158600"/>
          </a:xfrm>
          <a:prstGeom prst="rect">
            <a:avLst/>
          </a:prstGeom>
          <a:noFill/>
          <a:ln cap="flat" cmpd="sng" w="19050">
            <a:solidFill>
              <a:srgbClr val="C2D076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2D076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51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4400"/>
              <a:buFont typeface="Inter"/>
              <a:buNone/>
              <a:defRPr i="0" sz="4400" u="none" cap="none" strike="noStrike">
                <a:solidFill>
                  <a:srgbClr val="C2D07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 sz="1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Inter"/>
              <a:buChar char="•"/>
              <a:defRPr i="0" sz="32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Inter"/>
              <a:buChar char="–"/>
              <a:defRPr i="0" sz="2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Char char="•"/>
              <a:defRPr i="0" sz="2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–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»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Inter"/>
              <a:buChar char="•"/>
              <a:defRPr i="0" sz="2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9424071" cy="1527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2799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Оформление отнимает больше времени, чем содержание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Card 43"/>
          <p:cNvSpPr/>
          <p:nvPr/>
        </p:nvSpPr>
        <p:spPr>
          <a:xfrm>
            <a:off x="1024128" y="4665827"/>
            <a:ext cx="5120640" cy="4408442"/>
          </a:xfrm>
          <a:prstGeom prst="roundRect">
            <a:avLst>
              <a:gd name="adj" fmla="val 2489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4" name="Index 44"/>
          <p:cNvSpPr txBox="1"/>
          <p:nvPr/>
        </p:nvSpPr>
        <p:spPr>
          <a:xfrm>
            <a:off x="1459382" y="5101081"/>
            <a:ext cx="4250132" cy="8534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600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01</a:t>
            </a:r>
            <a:endParaRPr lang="ru-RU" sz="5600"/>
          </a:p>
        </p:txBody>
      </p:sp>
      <p:sp>
        <p:nvSpPr>
          <p:cNvPr id="45" name="Card text 45"/>
          <p:cNvSpPr txBox="1"/>
          <p:nvPr/>
        </p:nvSpPr>
        <p:spPr>
          <a:xfrm>
            <a:off x="1459382" y="6062534"/>
            <a:ext cx="4250132" cy="257648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4733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Ручная вёрстка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4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Подобрать макет, подвинуть блоки, подогнать цвета под фирменный стиль</a:t>
            </a:r>
            <a:endParaRPr lang="ru-RU" sz="2499"/>
          </a:p>
        </p:txBody>
      </p:sp>
      <p:sp>
        <p:nvSpPr>
          <p:cNvPr id="46" name="Card 46"/>
          <p:cNvSpPr/>
          <p:nvPr/>
        </p:nvSpPr>
        <p:spPr>
          <a:xfrm>
            <a:off x="6583680" y="4665827"/>
            <a:ext cx="5120640" cy="4408442"/>
          </a:xfrm>
          <a:prstGeom prst="roundRect">
            <a:avLst>
              <a:gd name="adj" fmla="val 2489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7" name="Index 47"/>
          <p:cNvSpPr txBox="1"/>
          <p:nvPr/>
        </p:nvSpPr>
        <p:spPr>
          <a:xfrm>
            <a:off x="7018934" y="5101081"/>
            <a:ext cx="4250132" cy="8534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600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02</a:t>
            </a:r>
            <a:endParaRPr lang="ru-RU" sz="5600"/>
          </a:p>
        </p:txBody>
      </p:sp>
      <p:sp>
        <p:nvSpPr>
          <p:cNvPr id="48" name="Card text 48"/>
          <p:cNvSpPr txBox="1"/>
          <p:nvPr/>
        </p:nvSpPr>
        <p:spPr>
          <a:xfrm>
            <a:off x="7018934" y="6062534"/>
            <a:ext cx="4250132" cy="257648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4733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ИИ ломает стиль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4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Нейросети неплохо пишут текст, но не воспроизводят дизайн-⁠систему компании</a:t>
            </a:r>
            <a:endParaRPr lang="ru-RU" sz="2499"/>
          </a:p>
        </p:txBody>
      </p:sp>
      <p:sp>
        <p:nvSpPr>
          <p:cNvPr id="49" name="Card 49"/>
          <p:cNvSpPr/>
          <p:nvPr/>
        </p:nvSpPr>
        <p:spPr>
          <a:xfrm>
            <a:off x="12143232" y="4665827"/>
            <a:ext cx="5120640" cy="4408442"/>
          </a:xfrm>
          <a:prstGeom prst="roundRect">
            <a:avLst>
              <a:gd name="adj" fmla="val 2489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0" name="Index 50"/>
          <p:cNvSpPr txBox="1"/>
          <p:nvPr/>
        </p:nvSpPr>
        <p:spPr>
          <a:xfrm>
            <a:off x="12578486" y="5101081"/>
            <a:ext cx="4250132" cy="8534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600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03</a:t>
            </a:r>
            <a:endParaRPr lang="ru-RU" sz="5600"/>
          </a:p>
        </p:txBody>
      </p:sp>
      <p:sp>
        <p:nvSpPr>
          <p:cNvPr id="51" name="Card text 51"/>
          <p:cNvSpPr txBox="1"/>
          <p:nvPr/>
        </p:nvSpPr>
        <p:spPr>
          <a:xfrm>
            <a:off x="12578486" y="6062534"/>
            <a:ext cx="4250132" cy="257648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374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Шаблон — не инструкция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4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Плейсхолдеры не объясняют, как построить новый слайд</a:t>
            </a:r>
            <a:endParaRPr lang="ru-RU" sz="2499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809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Verstka создаёт три презентации за 2⁠–⁠3 минуты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1" name="Card 61"/>
          <p:cNvSpPr/>
          <p:nvPr/>
        </p:nvSpPr>
        <p:spPr>
          <a:xfrm>
            <a:off x="1024128" y="3947718"/>
            <a:ext cx="5120640" cy="4558253"/>
          </a:xfrm>
          <a:prstGeom prst="roundRect">
            <a:avLst>
              <a:gd name="adj" fmla="val 2407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62" name="Badge 62"/>
          <p:cNvSpPr/>
          <p:nvPr/>
        </p:nvSpPr>
        <p:spPr>
          <a:xfrm>
            <a:off x="1484985" y="4408575"/>
            <a:ext cx="771525" cy="771525"/>
          </a:xfrm>
          <a:prstGeom prst="ellipse">
            <a:avLst/>
          </a:prstGeom>
          <a:solidFill>
            <a:srgbClr val="C2D076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799" b="0" cap="none" spc="0" baseline="0">
                <a:solidFill>
                  <a:srgbClr val="000000"/>
                </a:solidFill>
                <a:latin typeface="Inter Light"/>
                <a:cs typeface="Inter Light"/>
              </a:rPr>
              <a:t>1</a:t>
            </a:r>
          </a:p>
        </p:txBody>
      </p:sp>
      <p:sp>
        <p:nvSpPr>
          <p:cNvPr id="63" name="Step 63"/>
          <p:cNvSpPr txBox="1"/>
          <p:nvPr/>
        </p:nvSpPr>
        <p:spPr>
          <a:xfrm>
            <a:off x="1484985" y="5457849"/>
            <a:ext cx="4198926" cy="258726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100"/>
              </a:spcAft>
              <a:buNone/>
            </a:pPr>
            <a:r>
              <a:rPr lang="ru-RU" sz="21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На входе — шаблон и текст</a:t>
            </a:r>
            <a:endParaRPr lang="ru-RU" sz="21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Шаблон и текст для генерации презентаций</a:t>
            </a:r>
            <a:endParaRPr lang="ru-RU" sz="2000"/>
          </a:p>
        </p:txBody>
      </p:sp>
      <p:sp>
        <p:nvSpPr>
          <p:cNvPr id="64" name="Card 64"/>
          <p:cNvSpPr/>
          <p:nvPr/>
        </p:nvSpPr>
        <p:spPr>
          <a:xfrm>
            <a:off x="6583680" y="3947718"/>
            <a:ext cx="5120640" cy="4558253"/>
          </a:xfrm>
          <a:prstGeom prst="roundRect">
            <a:avLst>
              <a:gd name="adj" fmla="val 2407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65" name="Badge 65"/>
          <p:cNvSpPr/>
          <p:nvPr/>
        </p:nvSpPr>
        <p:spPr>
          <a:xfrm>
            <a:off x="7044537" y="4408575"/>
            <a:ext cx="771525" cy="771525"/>
          </a:xfrm>
          <a:prstGeom prst="ellipse">
            <a:avLst/>
          </a:prstGeom>
          <a:solidFill>
            <a:srgbClr val="C2D076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799" b="0" cap="none" spc="0" baseline="0">
                <a:solidFill>
                  <a:srgbClr val="000000"/>
                </a:solidFill>
                <a:latin typeface="Inter Light"/>
                <a:cs typeface="Inter Light"/>
              </a:rPr>
              <a:t>2</a:t>
            </a:r>
          </a:p>
        </p:txBody>
      </p:sp>
      <p:sp>
        <p:nvSpPr>
          <p:cNvPr id="66" name="Step 66"/>
          <p:cNvSpPr txBox="1"/>
          <p:nvPr/>
        </p:nvSpPr>
        <p:spPr>
          <a:xfrm>
            <a:off x="7044537" y="5457849"/>
            <a:ext cx="4198926" cy="258726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100"/>
              </a:spcAft>
              <a:buNone/>
            </a:pPr>
            <a:r>
              <a:rPr lang="ru-RU" sz="21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Шаблон — набор правил</a:t>
            </a:r>
            <a:endParaRPr lang="ru-RU" sz="21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Палитра, кегли, сетка, поля, логотипы и колонтитулы</a:t>
            </a:r>
            <a:endParaRPr lang="ru-RU" sz="2000"/>
          </a:p>
        </p:txBody>
      </p:sp>
      <p:sp>
        <p:nvSpPr>
          <p:cNvPr id="67" name="Card 67"/>
          <p:cNvSpPr/>
          <p:nvPr/>
        </p:nvSpPr>
        <p:spPr>
          <a:xfrm>
            <a:off x="12143232" y="3947718"/>
            <a:ext cx="5120640" cy="4558253"/>
          </a:xfrm>
          <a:prstGeom prst="roundRect">
            <a:avLst>
              <a:gd name="adj" fmla="val 2407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68" name="Badge 68"/>
          <p:cNvSpPr/>
          <p:nvPr/>
        </p:nvSpPr>
        <p:spPr>
          <a:xfrm>
            <a:off x="12604089" y="4408575"/>
            <a:ext cx="771525" cy="771525"/>
          </a:xfrm>
          <a:prstGeom prst="ellipse">
            <a:avLst/>
          </a:prstGeom>
          <a:solidFill>
            <a:srgbClr val="C2D076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799" b="0" cap="none" spc="0" baseline="0">
                <a:solidFill>
                  <a:srgbClr val="000000"/>
                </a:solidFill>
                <a:latin typeface="Inter Light"/>
                <a:cs typeface="Inter Light"/>
              </a:rPr>
              <a:t>3</a:t>
            </a:r>
          </a:p>
        </p:txBody>
      </p:sp>
      <p:sp>
        <p:nvSpPr>
          <p:cNvPr id="69" name="Step 69"/>
          <p:cNvSpPr txBox="1"/>
          <p:nvPr/>
        </p:nvSpPr>
        <p:spPr>
          <a:xfrm>
            <a:off x="12604089" y="5457849"/>
            <a:ext cx="4198926" cy="258726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100"/>
              </a:spcAft>
              <a:buNone/>
            </a:pPr>
            <a:r>
              <a:rPr lang="ru-RU" sz="21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На выходе — три редактируемые презентации</a:t>
            </a:r>
            <a:endParaRPr lang="ru-RU" sz="21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Готовые файлы в стиле шаблона</a:t>
            </a:r>
            <a:endParaRPr lang="ru-RU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809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Команда из пяти специалистов создаёт презентацию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Card 43"/>
          <p:cNvSpPr/>
          <p:nvPr/>
        </p:nvSpPr>
        <p:spPr>
          <a:xfrm>
            <a:off x="1024128" y="3947718"/>
            <a:ext cx="5120640" cy="2088037"/>
          </a:xfrm>
          <a:prstGeom prst="roundRect">
            <a:avLst>
              <a:gd name="adj" fmla="val 5255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4" name="Badge 44"/>
          <p:cNvSpPr/>
          <p:nvPr/>
        </p:nvSpPr>
        <p:spPr>
          <a:xfrm>
            <a:off x="1382572" y="4306162"/>
            <a:ext cx="617220" cy="617220"/>
          </a:xfrm>
          <a:prstGeom prst="ellipse">
            <a:avLst/>
          </a:prstGeom>
          <a:solidFill>
            <a:srgbClr val="C2D076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499" b="0" cap="none" spc="0" baseline="0">
                <a:solidFill>
                  <a:srgbClr val="000000"/>
                </a:solidFill>
                <a:latin typeface="Inter Light"/>
                <a:cs typeface="Inter Light"/>
              </a:rPr>
              <a:t>1</a:t>
            </a:r>
          </a:p>
        </p:txBody>
      </p:sp>
      <p:sp>
        <p:nvSpPr>
          <p:cNvPr id="45" name="Step 45"/>
          <p:cNvSpPr txBox="1"/>
          <p:nvPr/>
        </p:nvSpPr>
        <p:spPr>
          <a:xfrm>
            <a:off x="2263139" y="4401488"/>
            <a:ext cx="3523185" cy="127582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09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Аналитик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1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Находит слайды, ряды данных и просьбы</a:t>
            </a:r>
            <a:endParaRPr lang="ru-RU" sz="2199"/>
          </a:p>
        </p:txBody>
      </p:sp>
      <p:sp>
        <p:nvSpPr>
          <p:cNvPr id="46" name="Card 46"/>
          <p:cNvSpPr/>
          <p:nvPr/>
        </p:nvSpPr>
        <p:spPr>
          <a:xfrm>
            <a:off x="6583680" y="3947718"/>
            <a:ext cx="5120640" cy="2088037"/>
          </a:xfrm>
          <a:prstGeom prst="roundRect">
            <a:avLst>
              <a:gd name="adj" fmla="val 5255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7" name="Badge 47"/>
          <p:cNvSpPr/>
          <p:nvPr/>
        </p:nvSpPr>
        <p:spPr>
          <a:xfrm>
            <a:off x="6942124" y="4306162"/>
            <a:ext cx="617220" cy="617220"/>
          </a:xfrm>
          <a:prstGeom prst="ellipse">
            <a:avLst/>
          </a:prstGeom>
          <a:solidFill>
            <a:srgbClr val="C2D076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499" b="0" cap="none" spc="0" baseline="0">
                <a:solidFill>
                  <a:srgbClr val="000000"/>
                </a:solidFill>
                <a:latin typeface="Inter Light"/>
                <a:cs typeface="Inter Light"/>
              </a:rPr>
              <a:t>2</a:t>
            </a:r>
          </a:p>
        </p:txBody>
      </p:sp>
      <p:sp>
        <p:nvSpPr>
          <p:cNvPr id="48" name="Step 48"/>
          <p:cNvSpPr txBox="1"/>
          <p:nvPr/>
        </p:nvSpPr>
        <p:spPr>
          <a:xfrm>
            <a:off x="7822691" y="4401488"/>
            <a:ext cx="3523185" cy="127582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09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Дизайнер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1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Продумывает каждый слайд отдельно</a:t>
            </a:r>
            <a:endParaRPr lang="ru-RU" sz="2199"/>
          </a:p>
        </p:txBody>
      </p:sp>
      <p:sp>
        <p:nvSpPr>
          <p:cNvPr id="49" name="Card 49"/>
          <p:cNvSpPr/>
          <p:nvPr/>
        </p:nvSpPr>
        <p:spPr>
          <a:xfrm>
            <a:off x="12143232" y="3947718"/>
            <a:ext cx="5120640" cy="2088037"/>
          </a:xfrm>
          <a:prstGeom prst="roundRect">
            <a:avLst>
              <a:gd name="adj" fmla="val 5255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0" name="Badge 50"/>
          <p:cNvSpPr/>
          <p:nvPr/>
        </p:nvSpPr>
        <p:spPr>
          <a:xfrm>
            <a:off x="12501676" y="4306162"/>
            <a:ext cx="617220" cy="617220"/>
          </a:xfrm>
          <a:prstGeom prst="ellipse">
            <a:avLst/>
          </a:prstGeom>
          <a:solidFill>
            <a:srgbClr val="C2D076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499" b="0" cap="none" spc="0" baseline="0">
                <a:solidFill>
                  <a:srgbClr val="000000"/>
                </a:solidFill>
                <a:latin typeface="Inter Light"/>
                <a:cs typeface="Inter Light"/>
              </a:rPr>
              <a:t>3</a:t>
            </a:r>
          </a:p>
        </p:txBody>
      </p:sp>
      <p:sp>
        <p:nvSpPr>
          <p:cNvPr id="51" name="Step 51"/>
          <p:cNvSpPr txBox="1"/>
          <p:nvPr/>
        </p:nvSpPr>
        <p:spPr>
          <a:xfrm>
            <a:off x="13382243" y="4401488"/>
            <a:ext cx="3523185" cy="127582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09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Критик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1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Сверяет план с текстом и правилами</a:t>
            </a:r>
            <a:endParaRPr lang="ru-RU" sz="2199"/>
          </a:p>
        </p:txBody>
      </p:sp>
      <p:sp>
        <p:nvSpPr>
          <p:cNvPr id="52" name="Card 52"/>
          <p:cNvSpPr/>
          <p:nvPr/>
        </p:nvSpPr>
        <p:spPr>
          <a:xfrm>
            <a:off x="3803904" y="6344365"/>
            <a:ext cx="5120640" cy="2088037"/>
          </a:xfrm>
          <a:prstGeom prst="roundRect">
            <a:avLst>
              <a:gd name="adj" fmla="val 5255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3" name="Badge 53"/>
          <p:cNvSpPr/>
          <p:nvPr/>
        </p:nvSpPr>
        <p:spPr>
          <a:xfrm>
            <a:off x="4162348" y="6702809"/>
            <a:ext cx="617220" cy="617220"/>
          </a:xfrm>
          <a:prstGeom prst="ellipse">
            <a:avLst/>
          </a:prstGeom>
          <a:solidFill>
            <a:srgbClr val="C2D076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499" b="0" cap="none" spc="0" baseline="0">
                <a:solidFill>
                  <a:srgbClr val="000000"/>
                </a:solidFill>
                <a:latin typeface="Inter Light"/>
                <a:cs typeface="Inter Light"/>
              </a:rPr>
              <a:t>4</a:t>
            </a:r>
          </a:p>
        </p:txBody>
      </p:sp>
      <p:sp>
        <p:nvSpPr>
          <p:cNvPr id="54" name="Step 54"/>
          <p:cNvSpPr txBox="1"/>
          <p:nvPr/>
        </p:nvSpPr>
        <p:spPr>
          <a:xfrm>
            <a:off x="5042915" y="6798135"/>
            <a:ext cx="3523185" cy="127582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09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Компилятор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1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Проверяет каждое число</a:t>
            </a:r>
            <a:endParaRPr lang="ru-RU" sz="2199"/>
          </a:p>
        </p:txBody>
      </p:sp>
      <p:sp>
        <p:nvSpPr>
          <p:cNvPr id="55" name="Card 55"/>
          <p:cNvSpPr/>
          <p:nvPr/>
        </p:nvSpPr>
        <p:spPr>
          <a:xfrm>
            <a:off x="9363456" y="6344365"/>
            <a:ext cx="5120640" cy="2088037"/>
          </a:xfrm>
          <a:prstGeom prst="roundRect">
            <a:avLst>
              <a:gd name="adj" fmla="val 5255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6" name="Badge 56"/>
          <p:cNvSpPr/>
          <p:nvPr/>
        </p:nvSpPr>
        <p:spPr>
          <a:xfrm>
            <a:off x="9721900" y="6702809"/>
            <a:ext cx="617220" cy="617220"/>
          </a:xfrm>
          <a:prstGeom prst="ellipse">
            <a:avLst/>
          </a:prstGeom>
          <a:solidFill>
            <a:srgbClr val="C2D076"/>
          </a:solidFill>
          <a:ln>
            <a:noFill/>
          </a:ln>
        </p:spPr>
        <p:txBody>
          <a:bodyPr lIns="0" tIns="0" rIns="0" bIns="0" anchor="ctr" wrap="none"/>
          <a:lstStyle/>
          <a:p>
            <a:pPr algn="ctr"/>
            <a:r>
              <a:rPr lang="ru-RU" sz="2499" b="0" cap="none" spc="0" baseline="0">
                <a:solidFill>
                  <a:srgbClr val="000000"/>
                </a:solidFill>
                <a:latin typeface="Inter Light"/>
                <a:cs typeface="Inter Light"/>
              </a:rPr>
              <a:t>5</a:t>
            </a:r>
          </a:p>
        </p:txBody>
      </p:sp>
      <p:sp>
        <p:nvSpPr>
          <p:cNvPr id="57" name="Step 57"/>
          <p:cNvSpPr txBox="1"/>
          <p:nvPr/>
        </p:nvSpPr>
        <p:spPr>
          <a:xfrm>
            <a:off x="10602467" y="6798135"/>
            <a:ext cx="3523185" cy="127582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209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Вёрстка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1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Собирает слайды по дизайн-⁠системе</a:t>
            </a:r>
            <a:endParaRPr lang="ru-RU" sz="2199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Одинаковое содержание, разная подача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Card 43"/>
          <p:cNvSpPr/>
          <p:nvPr/>
        </p:nvSpPr>
        <p:spPr>
          <a:xfrm>
            <a:off x="1024128" y="4137660"/>
            <a:ext cx="5120640" cy="4538211"/>
          </a:xfrm>
          <a:prstGeom prst="roundRect">
            <a:avLst>
              <a:gd name="adj" fmla="val 2417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4" name="Index 44"/>
          <p:cNvSpPr txBox="1"/>
          <p:nvPr/>
        </p:nvSpPr>
        <p:spPr>
          <a:xfrm>
            <a:off x="1459382" y="4572914"/>
            <a:ext cx="4250132" cy="1340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01</a:t>
            </a:r>
            <a:endParaRPr lang="ru-RU" sz="8799"/>
          </a:p>
        </p:txBody>
      </p:sp>
      <p:sp>
        <p:nvSpPr>
          <p:cNvPr id="45" name="Card text 45"/>
          <p:cNvSpPr txBox="1"/>
          <p:nvPr/>
        </p:nvSpPr>
        <p:spPr>
          <a:xfrm>
            <a:off x="1459382" y="6021895"/>
            <a:ext cx="4250132" cy="221872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539"/>
              </a:spcAft>
              <a:buNone/>
            </a:pPr>
            <a:r>
              <a:rPr lang="ru-RU" sz="4712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Структурный</a:t>
            </a:r>
            <a:endParaRPr lang="ru-RU" sz="4712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Одна мысль на слайде, строгая сетка</a:t>
            </a:r>
            <a:endParaRPr lang="ru-RU" sz="2799"/>
          </a:p>
        </p:txBody>
      </p:sp>
      <p:sp>
        <p:nvSpPr>
          <p:cNvPr id="46" name="Card 46"/>
          <p:cNvSpPr/>
          <p:nvPr/>
        </p:nvSpPr>
        <p:spPr>
          <a:xfrm>
            <a:off x="6583680" y="4137660"/>
            <a:ext cx="5120640" cy="4538211"/>
          </a:xfrm>
          <a:prstGeom prst="roundRect">
            <a:avLst>
              <a:gd name="adj" fmla="val 2417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7" name="Index 47"/>
          <p:cNvSpPr txBox="1"/>
          <p:nvPr/>
        </p:nvSpPr>
        <p:spPr>
          <a:xfrm>
            <a:off x="7018934" y="4572914"/>
            <a:ext cx="4250132" cy="1340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02</a:t>
            </a:r>
            <a:endParaRPr lang="ru-RU" sz="8799"/>
          </a:p>
        </p:txBody>
      </p:sp>
      <p:sp>
        <p:nvSpPr>
          <p:cNvPr id="48" name="Card text 48"/>
          <p:cNvSpPr txBox="1"/>
          <p:nvPr/>
        </p:nvSpPr>
        <p:spPr>
          <a:xfrm>
            <a:off x="7018934" y="6021895"/>
            <a:ext cx="4250132" cy="221872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539"/>
              </a:spcAft>
              <a:buNone/>
            </a:pPr>
            <a:r>
              <a:rPr lang="ru-RU" sz="4712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Визуальный</a:t>
            </a:r>
            <a:endParaRPr lang="ru-RU" sz="4712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Крупные цифры и наглядные схемы</a:t>
            </a:r>
            <a:endParaRPr lang="ru-RU" sz="2799"/>
          </a:p>
        </p:txBody>
      </p:sp>
      <p:sp>
        <p:nvSpPr>
          <p:cNvPr id="49" name="Card 49"/>
          <p:cNvSpPr/>
          <p:nvPr/>
        </p:nvSpPr>
        <p:spPr>
          <a:xfrm>
            <a:off x="12143232" y="4137660"/>
            <a:ext cx="5120640" cy="4538211"/>
          </a:xfrm>
          <a:prstGeom prst="roundRect">
            <a:avLst>
              <a:gd name="adj" fmla="val 2417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0" name="Index 50"/>
          <p:cNvSpPr txBox="1"/>
          <p:nvPr/>
        </p:nvSpPr>
        <p:spPr>
          <a:xfrm>
            <a:off x="12578486" y="4572914"/>
            <a:ext cx="4250132" cy="1340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03</a:t>
            </a:r>
            <a:endParaRPr lang="ru-RU" sz="8799"/>
          </a:p>
        </p:txBody>
      </p:sp>
      <p:sp>
        <p:nvSpPr>
          <p:cNvPr id="51" name="Card text 51"/>
          <p:cNvSpPr txBox="1"/>
          <p:nvPr/>
        </p:nvSpPr>
        <p:spPr>
          <a:xfrm>
            <a:off x="12578486" y="6021895"/>
            <a:ext cx="4250132" cy="221872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539"/>
              </a:spcAft>
              <a:buNone/>
            </a:pPr>
            <a:r>
              <a:rPr lang="ru-RU" sz="4712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Компактный</a:t>
            </a:r>
            <a:endParaRPr lang="ru-RU" sz="4712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Вывод первой строкой, текст слева, данные справа</a:t>
            </a:r>
            <a:endParaRPr lang="ru-RU" sz="2799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809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Целостность — основная категория проверок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Unit 43"/>
          <p:cNvSpPr txBox="1"/>
          <p:nvPr/>
        </p:nvSpPr>
        <p:spPr>
          <a:xfrm>
            <a:off x="1024128" y="3947718"/>
            <a:ext cx="1081479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Число проверок по категориям</a:t>
            </a:r>
            <a:endParaRPr lang="ru-RU" sz="1800"/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1024128" y="4340021"/>
          <a:ext cx="10814792" cy="4483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5" name="Rule 45"/>
          <p:cNvSpPr/>
          <p:nvPr/>
        </p:nvSpPr>
        <p:spPr>
          <a:xfrm>
            <a:off x="12716744" y="3947718"/>
            <a:ext cx="720090" cy="38100"/>
          </a:xfrm>
          <a:prstGeom prst="rect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46" name="Label 46"/>
          <p:cNvSpPr txBox="1"/>
          <p:nvPr/>
        </p:nvSpPr>
        <p:spPr>
          <a:xfrm>
            <a:off x="12716744" y="4263567"/>
            <a:ext cx="4547128" cy="130510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Всего </a:t>
            </a: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41 </a:t>
            </a: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проверка: </a:t>
            </a: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12 </a:t>
            </a: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на целостность, </a:t>
            </a: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11 </a:t>
            </a: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на вёрстку</a:t>
            </a:r>
            <a:endParaRPr lang="ru-RU" sz="2799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809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9 демонстрационных презентаций без лишних чисел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1" name="Card 61"/>
          <p:cNvSpPr/>
          <p:nvPr/>
        </p:nvSpPr>
        <p:spPr>
          <a:xfrm>
            <a:off x="1024128" y="3947718"/>
            <a:ext cx="5120640" cy="4299846"/>
          </a:xfrm>
          <a:prstGeom prst="roundRect">
            <a:avLst>
              <a:gd name="adj" fmla="val 2551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62" name="Figure 62"/>
          <p:cNvSpPr txBox="1"/>
          <p:nvPr/>
        </p:nvSpPr>
        <p:spPr>
          <a:xfrm>
            <a:off x="1528013" y="4221957"/>
            <a:ext cx="4104691" cy="134112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800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9</a:t>
            </a:r>
            <a:endParaRPr lang="ru-RU" sz="8800"/>
          </a:p>
        </p:txBody>
      </p:sp>
      <p:sp>
        <p:nvSpPr>
          <p:cNvPr id="63" name="Label 63"/>
          <p:cNvSpPr txBox="1"/>
          <p:nvPr/>
        </p:nvSpPr>
        <p:spPr>
          <a:xfrm>
            <a:off x="1536192" y="5671090"/>
            <a:ext cx="4096512" cy="206441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Демо-⁠презентаций</a:t>
            </a:r>
            <a:endParaRPr lang="ru-RU" sz="2799"/>
          </a:p>
        </p:txBody>
      </p:sp>
      <p:sp>
        <p:nvSpPr>
          <p:cNvPr id="64" name="Card 64"/>
          <p:cNvSpPr/>
          <p:nvPr/>
        </p:nvSpPr>
        <p:spPr>
          <a:xfrm>
            <a:off x="6583680" y="3947718"/>
            <a:ext cx="5120640" cy="4299846"/>
          </a:xfrm>
          <a:prstGeom prst="roundRect">
            <a:avLst>
              <a:gd name="adj" fmla="val 2551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65" name="Figure 65"/>
          <p:cNvSpPr txBox="1"/>
          <p:nvPr/>
        </p:nvSpPr>
        <p:spPr>
          <a:xfrm>
            <a:off x="7094987" y="4221957"/>
            <a:ext cx="4097269" cy="134112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4712" b="1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116</a:t>
            </a:r>
            <a:r>
              <a:rPr lang="ru-RU" sz="4712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 → </a:t>
            </a:r>
            <a:r>
              <a:rPr lang="ru-RU" sz="8800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123</a:t>
            </a:r>
            <a:endParaRPr lang="ru-RU" sz="8800"/>
          </a:p>
        </p:txBody>
      </p:sp>
      <p:sp>
        <p:nvSpPr>
          <p:cNvPr id="66" name="Label 66"/>
          <p:cNvSpPr txBox="1"/>
          <p:nvPr/>
        </p:nvSpPr>
        <p:spPr>
          <a:xfrm>
            <a:off x="7095744" y="5671090"/>
            <a:ext cx="4096512" cy="206441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Сверенных чисел</a:t>
            </a:r>
            <a:endParaRPr lang="ru-RU" sz="2799"/>
          </a:p>
        </p:txBody>
      </p:sp>
      <p:sp>
        <p:nvSpPr>
          <p:cNvPr id="67" name="Card 67"/>
          <p:cNvSpPr/>
          <p:nvPr/>
        </p:nvSpPr>
        <p:spPr>
          <a:xfrm>
            <a:off x="12143232" y="3947718"/>
            <a:ext cx="5120640" cy="4299846"/>
          </a:xfrm>
          <a:prstGeom prst="roundRect">
            <a:avLst>
              <a:gd name="adj" fmla="val 2551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68" name="Figure 68"/>
          <p:cNvSpPr txBox="1"/>
          <p:nvPr/>
        </p:nvSpPr>
        <p:spPr>
          <a:xfrm>
            <a:off x="12651029" y="4221957"/>
            <a:ext cx="4100779" cy="134112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800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</a:t>
            </a:r>
            <a:endParaRPr lang="ru-RU" sz="8800"/>
          </a:p>
        </p:txBody>
      </p:sp>
      <p:sp>
        <p:nvSpPr>
          <p:cNvPr id="69" name="Label 69"/>
          <p:cNvSpPr txBox="1"/>
          <p:nvPr/>
        </p:nvSpPr>
        <p:spPr>
          <a:xfrm>
            <a:off x="12655296" y="5671090"/>
            <a:ext cx="4096512" cy="206441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Лишних чисел</a:t>
            </a:r>
            <a:endParaRPr lang="ru-RU" sz="2799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87 шаблонов и 99/100 качества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61" name="Card 61"/>
          <p:cNvSpPr/>
          <p:nvPr/>
        </p:nvSpPr>
        <p:spPr>
          <a:xfrm>
            <a:off x="1024128" y="4137660"/>
            <a:ext cx="5120640" cy="4394903"/>
          </a:xfrm>
          <a:prstGeom prst="roundRect">
            <a:avLst>
              <a:gd name="adj" fmla="val 2496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62" name="Figure 62"/>
          <p:cNvSpPr txBox="1"/>
          <p:nvPr/>
        </p:nvSpPr>
        <p:spPr>
          <a:xfrm>
            <a:off x="1536192" y="4476787"/>
            <a:ext cx="4096512" cy="975208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6399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87</a:t>
            </a:r>
            <a:endParaRPr lang="ru-RU" sz="6399"/>
          </a:p>
        </p:txBody>
      </p:sp>
      <p:sp>
        <p:nvSpPr>
          <p:cNvPr id="63" name="Label 63"/>
          <p:cNvSpPr txBox="1"/>
          <p:nvPr/>
        </p:nvSpPr>
        <p:spPr>
          <a:xfrm>
            <a:off x="1536192" y="5560008"/>
            <a:ext cx="4096512" cy="246049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Чужих шаблонов</a:t>
            </a:r>
            <a:endParaRPr lang="ru-RU" sz="2799"/>
          </a:p>
        </p:txBody>
      </p:sp>
      <p:sp>
        <p:nvSpPr>
          <p:cNvPr id="64" name="Card 64"/>
          <p:cNvSpPr/>
          <p:nvPr/>
        </p:nvSpPr>
        <p:spPr>
          <a:xfrm>
            <a:off x="6583680" y="4137660"/>
            <a:ext cx="5120640" cy="4394903"/>
          </a:xfrm>
          <a:prstGeom prst="roundRect">
            <a:avLst>
              <a:gd name="adj" fmla="val 2496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65" name="Figure 65"/>
          <p:cNvSpPr txBox="1"/>
          <p:nvPr/>
        </p:nvSpPr>
        <p:spPr>
          <a:xfrm>
            <a:off x="7095744" y="4476787"/>
            <a:ext cx="4096512" cy="975208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6399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99/100</a:t>
            </a:r>
            <a:endParaRPr lang="ru-RU" sz="6399"/>
          </a:p>
        </p:txBody>
      </p:sp>
      <p:sp>
        <p:nvSpPr>
          <p:cNvPr id="66" name="Label 66"/>
          <p:cNvSpPr txBox="1"/>
          <p:nvPr/>
        </p:nvSpPr>
        <p:spPr>
          <a:xfrm>
            <a:off x="7095744" y="5560008"/>
            <a:ext cx="4096512" cy="246049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Средняя оценка качества</a:t>
            </a:r>
            <a:endParaRPr lang="ru-RU" sz="2799"/>
          </a:p>
        </p:txBody>
      </p:sp>
      <p:sp>
        <p:nvSpPr>
          <p:cNvPr id="67" name="Card 67"/>
          <p:cNvSpPr/>
          <p:nvPr/>
        </p:nvSpPr>
        <p:spPr>
          <a:xfrm>
            <a:off x="12143232" y="4137660"/>
            <a:ext cx="5120640" cy="4394903"/>
          </a:xfrm>
          <a:prstGeom prst="roundRect">
            <a:avLst>
              <a:gd name="adj" fmla="val 2496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68" name="Figure 68"/>
          <p:cNvSpPr txBox="1"/>
          <p:nvPr/>
        </p:nvSpPr>
        <p:spPr>
          <a:xfrm>
            <a:off x="12641791" y="4476787"/>
            <a:ext cx="4110017" cy="975208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6399" b="1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12</a:t>
            </a:r>
            <a:endParaRPr lang="ru-RU" sz="6399"/>
          </a:p>
        </p:txBody>
      </p:sp>
      <p:sp>
        <p:nvSpPr>
          <p:cNvPr id="69" name="Label 69"/>
          <p:cNvSpPr txBox="1"/>
          <p:nvPr/>
        </p:nvSpPr>
        <p:spPr>
          <a:xfrm>
            <a:off x="12655296" y="5560008"/>
            <a:ext cx="4096512" cy="246049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Форматов</a:t>
            </a:r>
            <a:endParaRPr lang="ru-RU" sz="2799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809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Генерация шаблонов укладывается в 5 минут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Unit 43"/>
          <p:cNvSpPr txBox="1"/>
          <p:nvPr/>
        </p:nvSpPr>
        <p:spPr>
          <a:xfrm>
            <a:off x="1024128" y="3947718"/>
            <a:ext cx="1081479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800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Время генерации шаблонов (секунды)</a:t>
            </a:r>
            <a:endParaRPr lang="ru-RU" sz="1800"/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1024128" y="4340021"/>
          <a:ext cx="10814792" cy="44839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5" name="Rule 45"/>
          <p:cNvSpPr/>
          <p:nvPr/>
        </p:nvSpPr>
        <p:spPr>
          <a:xfrm>
            <a:off x="12716744" y="3947718"/>
            <a:ext cx="720090" cy="38100"/>
          </a:xfrm>
          <a:prstGeom prst="rect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46" name="Label 46"/>
          <p:cNvSpPr txBox="1"/>
          <p:nvPr/>
        </p:nvSpPr>
        <p:spPr>
          <a:xfrm>
            <a:off x="12716744" y="4263567"/>
            <a:ext cx="4547128" cy="130510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Все шаблоны укладываются в лимит </a:t>
            </a: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5 минут</a:t>
            </a: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 с запасом</a:t>
            </a:r>
            <a:endParaRPr lang="ru-RU" sz="2799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5727680" cy="809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4712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Три открытые модели с лицензией Apache 2.0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Card 43"/>
          <p:cNvSpPr/>
          <p:nvPr/>
        </p:nvSpPr>
        <p:spPr>
          <a:xfrm>
            <a:off x="1024128" y="3947718"/>
            <a:ext cx="5120640" cy="3759142"/>
          </a:xfrm>
          <a:prstGeom prst="roundRect">
            <a:avLst>
              <a:gd name="adj" fmla="val 2918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4" name="Index 44"/>
          <p:cNvSpPr txBox="1"/>
          <p:nvPr/>
        </p:nvSpPr>
        <p:spPr>
          <a:xfrm>
            <a:off x="1459382" y="4382972"/>
            <a:ext cx="4250132" cy="8534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600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01</a:t>
            </a:r>
            <a:endParaRPr lang="ru-RU" sz="5600"/>
          </a:p>
        </p:txBody>
      </p:sp>
      <p:sp>
        <p:nvSpPr>
          <p:cNvPr id="45" name="Card text 45"/>
          <p:cNvSpPr txBox="1"/>
          <p:nvPr/>
        </p:nvSpPr>
        <p:spPr>
          <a:xfrm>
            <a:off x="1459382" y="5344425"/>
            <a:ext cx="4250132" cy="192718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539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Qwen3.8-⁠27B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Основная модель, инференс VK, конфиг готов</a:t>
            </a:r>
            <a:endParaRPr lang="ru-RU" sz="2799"/>
          </a:p>
        </p:txBody>
      </p:sp>
      <p:sp>
        <p:nvSpPr>
          <p:cNvPr id="46" name="Card 46"/>
          <p:cNvSpPr/>
          <p:nvPr/>
        </p:nvSpPr>
        <p:spPr>
          <a:xfrm>
            <a:off x="6583680" y="3947718"/>
            <a:ext cx="5120640" cy="3759142"/>
          </a:xfrm>
          <a:prstGeom prst="roundRect">
            <a:avLst>
              <a:gd name="adj" fmla="val 2918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7" name="Index 47"/>
          <p:cNvSpPr txBox="1"/>
          <p:nvPr/>
        </p:nvSpPr>
        <p:spPr>
          <a:xfrm>
            <a:off x="7018934" y="4382972"/>
            <a:ext cx="4250132" cy="8534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600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02</a:t>
            </a:r>
            <a:endParaRPr lang="ru-RU" sz="5600"/>
          </a:p>
        </p:txBody>
      </p:sp>
      <p:sp>
        <p:nvSpPr>
          <p:cNvPr id="48" name="Card text 48"/>
          <p:cNvSpPr txBox="1"/>
          <p:nvPr/>
        </p:nvSpPr>
        <p:spPr>
          <a:xfrm>
            <a:off x="7018934" y="5344425"/>
            <a:ext cx="4250132" cy="192718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539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Qwen3-⁠32B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Запасное звено на Cloud.ru</a:t>
            </a:r>
            <a:endParaRPr lang="ru-RU" sz="2799"/>
          </a:p>
        </p:txBody>
      </p:sp>
      <p:sp>
        <p:nvSpPr>
          <p:cNvPr id="49" name="Card 49"/>
          <p:cNvSpPr/>
          <p:nvPr/>
        </p:nvSpPr>
        <p:spPr>
          <a:xfrm>
            <a:off x="12143232" y="3947718"/>
            <a:ext cx="5120640" cy="3759142"/>
          </a:xfrm>
          <a:prstGeom prst="roundRect">
            <a:avLst>
              <a:gd name="adj" fmla="val 2918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0" name="Index 50"/>
          <p:cNvSpPr txBox="1"/>
          <p:nvPr/>
        </p:nvSpPr>
        <p:spPr>
          <a:xfrm>
            <a:off x="12578486" y="4382972"/>
            <a:ext cx="4250132" cy="8534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5600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03</a:t>
            </a:r>
            <a:endParaRPr lang="ru-RU" sz="5600"/>
          </a:p>
        </p:txBody>
      </p:sp>
      <p:sp>
        <p:nvSpPr>
          <p:cNvPr id="51" name="Card text 51"/>
          <p:cNvSpPr txBox="1"/>
          <p:nvPr/>
        </p:nvSpPr>
        <p:spPr>
          <a:xfrm>
            <a:off x="12578486" y="5344425"/>
            <a:ext cx="4250132" cy="1927181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539"/>
              </a:spcAft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Gemma 4 и Qwen3-⁠VL</a:t>
            </a:r>
            <a:endParaRPr lang="ru-RU" sz="2799"/>
          </a:p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Два запасных звена цепочки</a:t>
            </a:r>
            <a:endParaRPr lang="ru-RU" sz="2799"/>
          </a:p>
        </p:txBody>
      </p:sp>
      <p:sp>
        <p:nvSpPr>
          <p:cNvPr id="52" name="Conclusion strip 52"/>
          <p:cNvSpPr/>
          <p:nvPr/>
        </p:nvSpPr>
        <p:spPr>
          <a:xfrm>
            <a:off x="1024128" y="8138914"/>
            <a:ext cx="16239744" cy="892754"/>
          </a:xfrm>
          <a:prstGeom prst="roundRect">
            <a:avLst>
              <a:gd name="adj" fmla="val 1229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3" name="Conclusion bar 53"/>
          <p:cNvSpPr/>
          <p:nvPr/>
        </p:nvSpPr>
        <p:spPr>
          <a:xfrm>
            <a:off x="1379601" y="8401964"/>
            <a:ext cx="61722" cy="366654"/>
          </a:xfrm>
          <a:prstGeom prst="rect">
            <a:avLst/>
          </a:prstGeom>
          <a:solidFill>
            <a:srgbClr val="C2D076"/>
          </a:solidFill>
          <a:ln>
            <a:noFill/>
          </a:ln>
        </p:spPr>
      </p:sp>
      <p:sp>
        <p:nvSpPr>
          <p:cNvPr id="54" name="Conclusion 54"/>
          <p:cNvSpPr txBox="1"/>
          <p:nvPr/>
        </p:nvSpPr>
        <p:spPr>
          <a:xfrm>
            <a:off x="1725701" y="8359307"/>
            <a:ext cx="15182698" cy="451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Все модели поддерживают масштаб до </a:t>
            </a: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35 </a:t>
            </a:r>
            <a:r>
              <a:rPr lang="ru-RU" sz="2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миллиардов параметров</a:t>
            </a:r>
            <a:endParaRPr lang="ru-RU" sz="2799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514"/>
        </a:solidFill>
      </p:bgPr>
    </p:bg>
    <p:spTree>
      <p:nvGrpSpPr>
        <p:cNvPr id="1" name=""/>
        <p:cNvGrpSpPr/>
        <p:nvPr/>
      </p:nvGrpSpPr>
      <p:grpSpPr/>
      <p:sp>
        <p:nvSpPr>
          <p:cNvPr id="42" name="Google Shape;42;p8"/>
          <p:cNvSpPr txBox="1"/>
          <p:nvPr/>
        </p:nvSpPr>
        <p:spPr>
          <a:xfrm>
            <a:off x="619057" y="2623820"/>
            <a:ext cx="11696789" cy="1527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2D076"/>
              </a:buClr>
              <a:buSzPts val="5600"/>
              <a:buFont typeface="Inter Medium"/>
              <a:buNone/>
            </a:pPr>
            <a:r>
              <a:rPr i="0" lang="ru-RU" sz="2799" u="none" cap="none" strike="noStrike">
                <a:solidFill>
                  <a:srgbClr val="C2D076"/>
                </a:solidFill>
                <a:latin typeface="Inter Medium"/>
                <a:ea typeface="Inter Medium"/>
                <a:cs typeface="Inter Medium"/>
                <a:sym typeface="Inter Medium"/>
              </a:rPr>
              <a:t>2 028 автотестов и редактируемые объекты в форматах PPTX, PDF и HTML</a:t>
            </a:r>
            <a:endParaRPr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3" name="Card 43"/>
          <p:cNvSpPr/>
          <p:nvPr/>
        </p:nvSpPr>
        <p:spPr>
          <a:xfrm>
            <a:off x="1024128" y="4665827"/>
            <a:ext cx="5120640" cy="3624592"/>
          </a:xfrm>
          <a:prstGeom prst="roundRect">
            <a:avLst>
              <a:gd name="adj" fmla="val 3027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4" name="Index 44"/>
          <p:cNvSpPr txBox="1"/>
          <p:nvPr/>
        </p:nvSpPr>
        <p:spPr>
          <a:xfrm>
            <a:off x="1459382" y="5101081"/>
            <a:ext cx="4250132" cy="1340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01</a:t>
            </a:r>
            <a:endParaRPr lang="ru-RU" sz="8799"/>
          </a:p>
        </p:txBody>
      </p:sp>
      <p:sp>
        <p:nvSpPr>
          <p:cNvPr id="45" name="Card text 45"/>
          <p:cNvSpPr txBox="1"/>
          <p:nvPr/>
        </p:nvSpPr>
        <p:spPr>
          <a:xfrm>
            <a:off x="1459382" y="6550062"/>
            <a:ext cx="4250132" cy="130510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Чат с агентом для правок</a:t>
            </a:r>
            <a:endParaRPr lang="ru-RU" sz="2799"/>
          </a:p>
        </p:txBody>
      </p:sp>
      <p:sp>
        <p:nvSpPr>
          <p:cNvPr id="46" name="Card 46"/>
          <p:cNvSpPr/>
          <p:nvPr/>
        </p:nvSpPr>
        <p:spPr>
          <a:xfrm>
            <a:off x="6583680" y="4665827"/>
            <a:ext cx="5120640" cy="3624592"/>
          </a:xfrm>
          <a:prstGeom prst="roundRect">
            <a:avLst>
              <a:gd name="adj" fmla="val 3027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47" name="Index 47"/>
          <p:cNvSpPr txBox="1"/>
          <p:nvPr/>
        </p:nvSpPr>
        <p:spPr>
          <a:xfrm>
            <a:off x="7018934" y="5101081"/>
            <a:ext cx="4250132" cy="1340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02</a:t>
            </a:r>
            <a:endParaRPr lang="ru-RU" sz="8799"/>
          </a:p>
        </p:txBody>
      </p:sp>
      <p:sp>
        <p:nvSpPr>
          <p:cNvPr id="48" name="Card text 48"/>
          <p:cNvSpPr txBox="1"/>
          <p:nvPr/>
        </p:nvSpPr>
        <p:spPr>
          <a:xfrm>
            <a:off x="7018934" y="6550062"/>
            <a:ext cx="4250132" cy="130510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Генерация изображений внутри слайдов — в планах</a:t>
            </a:r>
            <a:endParaRPr lang="ru-RU" sz="2799"/>
          </a:p>
        </p:txBody>
      </p:sp>
      <p:sp>
        <p:nvSpPr>
          <p:cNvPr id="49" name="Card 49"/>
          <p:cNvSpPr/>
          <p:nvPr/>
        </p:nvSpPr>
        <p:spPr>
          <a:xfrm>
            <a:off x="12143232" y="4665827"/>
            <a:ext cx="5120640" cy="3624592"/>
          </a:xfrm>
          <a:prstGeom prst="roundRect">
            <a:avLst>
              <a:gd name="adj" fmla="val 3027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50" name="Index 50"/>
          <p:cNvSpPr txBox="1"/>
          <p:nvPr/>
        </p:nvSpPr>
        <p:spPr>
          <a:xfrm>
            <a:off x="12578486" y="5101081"/>
            <a:ext cx="4250132" cy="134096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8799" b="0" cap="none" spc="0" baseline="0" dirty="0">
                <a:solidFill>
                  <a:srgbClr val="C2D076"/>
                </a:solidFill>
                <a:latin typeface="Inter Light"/>
                <a:cs typeface="Inter Light"/>
              </a:rPr>
              <a:t>03</a:t>
            </a:r>
            <a:endParaRPr lang="ru-RU" sz="8799"/>
          </a:p>
        </p:txBody>
      </p:sp>
      <p:sp>
        <p:nvSpPr>
          <p:cNvPr id="51" name="Card text 51"/>
          <p:cNvSpPr txBox="1"/>
          <p:nvPr/>
        </p:nvSpPr>
        <p:spPr>
          <a:xfrm>
            <a:off x="12578486" y="6550062"/>
            <a:ext cx="4250132" cy="130510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99" b="0" cap="none" spc="0" baseline="0" dirty="0">
                <a:solidFill>
                  <a:srgbClr val="FFFFFF"/>
                </a:solidFill>
                <a:latin typeface="Inter Light"/>
                <a:cs typeface="Inter Light"/>
              </a:rPr>
              <a:t>Переход на инференс VK — в планах</a:t>
            </a:r>
            <a:endParaRPr lang="ru-RU" sz="279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Minimalis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