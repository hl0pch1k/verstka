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4"/>
  </p:sldMasterIdLst>
  <p:notesMasterIdLst>
    <p:notesMasterId r:id="rId5"/>
  </p:notesMasterIdLst>
  <p:sldIdLst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</p:sldIdLst>
  <p:sldSz cy="10287000" cx="18288000"/>
  <p:notesSz cx="6858000" cy="9144000"/>
  <p:embeddedFontLst>
    <p:embeddedFont>
      <p:font typeface="Inter Light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7" Type="http://schemas.openxmlformats.org/officeDocument/2006/relationships/font" Target="fonts/InterLight-regular.fntdata"/><Relationship Id="rId28" Type="http://schemas.openxmlformats.org/officeDocument/2006/relationships/font" Target="fonts/InterLight-bold.fntdata"/><Relationship Id="rId29" Type="http://schemas.openxmlformats.org/officeDocument/2006/relationships/font" Target="fonts/InterLight-italic.fntdata"/><Relationship Id="rId30" Type="http://schemas.openxmlformats.org/officeDocument/2006/relationships/font" Target="fonts/InterLight-boldItalic.fntdata"/><Relationship Id="rId31" Type="http://schemas.openxmlformats.org/officeDocument/2006/relationships/font" Target="fonts/Inter-regular.fntdata"/><Relationship Id="rId32" Type="http://schemas.openxmlformats.org/officeDocument/2006/relationships/font" Target="fonts/Inter-bold.fntdata"/><Relationship Id="rId33" Type="http://schemas.openxmlformats.org/officeDocument/2006/relationships/font" Target="fonts/Inter-italic.fntdata"/><Relationship Id="rId34" Type="http://schemas.openxmlformats.org/officeDocument/2006/relationships/font" Target="fonts/Inter-boldItalic.fntdata"/><Relationship Id="rId35" Type="http://schemas.openxmlformats.org/officeDocument/2006/relationships/font" Target="fonts/InterMedium-regular.fntdata"/><Relationship Id="rId36" Type="http://schemas.openxmlformats.org/officeDocument/2006/relationships/font" Target="fonts/InterMedium-bold.fntdata"/><Relationship Id="rId37" Type="http://schemas.openxmlformats.org/officeDocument/2006/relationships/font" Target="fonts/InterMedium-italic.fntdata"/><Relationship Id="rId38" Type="http://schemas.openxmlformats.org/officeDocument/2006/relationships/font" Target="fonts/InterMedium-boldItalic.fntdata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Relationship Id="rId49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304"/>
          <c:y val="0.0304"/>
          <c:w val="0.9391"/>
          <c:h val="0.939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фигур</c:v>
                </c:pt>
              </c:strCache>
            </c:strRef>
          </c:tx>
          <c:dPt>
            <c:idx val="0"/>
            <c:spPr>
              <a:solidFill>
                <a:srgbClr val="C2D076"/>
              </a:solidFill>
              <a:ln w="25400">
                <a:solidFill>
                  <a:srgbClr val="001514"/>
                </a:solidFill>
              </a:ln>
            </c:spPr>
          </c:dPt>
          <c:dPt>
            <c:idx val="1"/>
            <c:spPr>
              <a:solidFill>
                <a:srgbClr val="E8EDCB"/>
              </a:solidFill>
              <a:ln w="25400">
                <a:solidFill>
                  <a:srgbClr val="001514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1514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1514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8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8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445"/>
          <c:y val="0.0179"/>
          <c:w val="0.8067"/>
          <c:h val="0.96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2"/>
          <c:y val="0.0952"/>
          <c:w val="0.9977"/>
          <c:h val="0.812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9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84848"/>
            </a:solidFill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— цифровой дизайнер презентаций. Команда «Рекрут 2», задача № 4 VK Tech.</a:t>
            </a:r>
          </a:p>
          <a:p>
            <a:r>
              <a:t>[verstka:sl1]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ИИ может помочь с текстом, но не с дизайном.</a:t>
            </a:r>
          </a:p>
          <a:p>
            <a:r>
              <a:t>[verstka:sl2]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свободные, и только 5% — плейсхолдеры. Это означает, что правила оформления нельзя просто применить, их нужно выводить из самих слайдов-образцов, включая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автоматически создаёт три редактируемые презентации на основе шаблона и текста, сохраняя фирменный стиль без необходимости ручной вёрстки.</a:t>
            </a:r>
          </a:p>
          <a:p>
            <a:r>
              <a:t>[verstka:sl4]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работает на открытых моделях до 35 миллиардов параметров с лицензией Apache 2.0. Пять шагов: аналитик находит в тексте слайды, ряды данных и просьбы; дизайнер продумывает каждый слайд отдельно; критик сверяет план с текстом и правилами шаблона; компилятор проверяет каждое число; вёрстка собирает слайды по дизайн-системе шаблона.</a:t>
            </a:r>
          </a:p>
          <a:p>
            <a:r>
              <a:t>[verstka:sl5]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одно, подача разная. | Вариант | Подача | Когда подходит |. |---|---|---|. | Структурный | одна мысль на слайд, строгая сетка | отчёт и защита проекта |. | Визуальный | крупные цифры и наглядные схемы | питч и выступление со сцены |. | Компактный | вывод первой строкой, данные справа | рассылка руководителю |.</a:t>
            </a:r>
          </a:p>
          <a:p>
            <a:r>
              <a:t>[verstka:sl6]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Каждый слайд проходит 41 проверку: 12 на целостность, 11 на вёрстку, 7 на шаблон, 6 на контент и 5 на плотность. Найденные проблемы исправляются автоматически.</a:t>
            </a:r>
          </a:p>
          <a:p>
            <a:r>
              <a:t>[verstka:sl7]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итоге не было выдумано ни одного числа.</a:t>
            </a:r>
          </a:p>
          <a:p>
            <a:r>
              <a:t>[verstka:sl8]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Сервис поддерживает 12 форматов, включая pptx, potx, ppt, odp, thmx и другие.</a:t>
            </a:r>
          </a:p>
          <a:p>
            <a:r>
              <a:t>[verstka:sl9]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всех шаблонов меньше 5 минут.</a:t>
            </a:r>
          </a:p>
          <a:p>
            <a:r>
              <a:t>[verstka:sl10]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[verstka:sl11]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>
            <p:ph idx="2" type="pic"/>
          </p:nvPr>
        </p:nvSpPr>
        <p:spPr>
          <a:xfrm>
            <a:off x="9136050" y="1007975"/>
            <a:ext cx="8131200" cy="82704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Tw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>
            <p:ph idx="2" type="pic"/>
          </p:nvPr>
        </p:nvSpPr>
        <p:spPr>
          <a:xfrm>
            <a:off x="1009200" y="10068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4"/>
          <p:cNvSpPr/>
          <p:nvPr>
            <p:ph idx="3" type="pic"/>
          </p:nvPr>
        </p:nvSpPr>
        <p:spPr>
          <a:xfrm>
            <a:off x="1009200" y="51654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C2D07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51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4400"/>
              <a:buFont typeface="Inter"/>
              <a:buNone/>
              <a:defRPr i="0" sz="4400" u="none" cap="none" strike="noStrike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Char char="•"/>
              <a:defRPr i="0" sz="3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–"/>
              <a:defRPr i="0" sz="28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•"/>
              <a:defRPr i="0" sz="24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–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»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cxnSp>
        <p:nvCxnSpPr>
          <p:cNvPr id="25" name="Google Shape;25;p6"/>
          <p:cNvCxnSpPr/>
          <p:nvPr/>
        </p:nvCxnSpPr>
        <p:spPr>
          <a:xfrm>
            <a:off x="1028700" y="9258300"/>
            <a:ext cx="16230600" cy="0"/>
          </a:xfrm>
          <a:prstGeom prst="straightConnector1">
            <a:avLst/>
          </a:prstGeom>
          <a:noFill/>
          <a:ln cap="flat" cmpd="sng" w="3810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" name="Google Shape;26;p6"/>
          <p:cNvSpPr txBox="1"/>
          <p:nvPr/>
        </p:nvSpPr>
        <p:spPr>
          <a:xfrm>
            <a:off x="1028700" y="4650572"/>
            <a:ext cx="10740300" cy="3001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Verstka —</a:t>
            </a:r>
            <a:b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i="0" lang="ru-RU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цифровой дизайнер</a:t>
            </a:r>
            <a:b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i="0" lang="ru-RU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презентаций</a:t>
            </a:r>
            <a:endParaRPr b="0"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30" name="Подзаголовок"/>
          <p:cNvSpPr txBox="1"/>
          <p:nvPr/>
        </p:nvSpPr>
        <p:spPr>
          <a:xfrm>
            <a:off x="1028700" y="8097859"/>
            <a:ext cx="10740300" cy="4049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-RU" sz="2199" u="none" cap="none" strike="noStrike" b="0" spc="0">
                <a:solidFill>
                  <a:srgbClr val="C2D076"/>
                </a:solidFill>
                <a:latin typeface="Inter Medium"/>
                <a:ea typeface="Inter Medium"/>
                <a:sym typeface="Inter Medium"/>
              </a:rPr>
              <a:t>Команда «Рекрут 2» · задача № 4 VK Tech · ЛЦТ 2026</a:t>
            </a:r>
            <a:endParaRPr b="0" cap="none" spc="0">
              <a:solidFill>
                <a:srgbClr val="C2D076"/>
              </a:solidFill>
              <a:latin typeface="Inter Medium"/>
              <a:ea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9215842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Вёрстка занимает больше времени, чем создание текста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4185709"/>
          </a:xfrm>
          <a:prstGeom prst="roundRect">
            <a:avLst>
              <a:gd name="adj" fmla="val 262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459382" y="5101081"/>
            <a:ext cx="4250132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5600"/>
          </a:p>
        </p:txBody>
      </p:sp>
      <p:sp>
        <p:nvSpPr>
          <p:cNvPr id="45" name="Card text 45"/>
          <p:cNvSpPr txBox="1"/>
          <p:nvPr/>
        </p:nvSpPr>
        <p:spPr>
          <a:xfrm>
            <a:off x="1459382" y="6062534"/>
            <a:ext cx="4250132" cy="23537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898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Ручная вёрстка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Подбор макета, подгонка цветов и блоков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4665827"/>
            <a:ext cx="5120640" cy="4185709"/>
          </a:xfrm>
          <a:prstGeom prst="roundRect">
            <a:avLst>
              <a:gd name="adj" fmla="val 262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7018934" y="5101081"/>
            <a:ext cx="4250132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5600"/>
          </a:p>
        </p:txBody>
      </p:sp>
      <p:sp>
        <p:nvSpPr>
          <p:cNvPr id="48" name="Card text 48"/>
          <p:cNvSpPr txBox="1"/>
          <p:nvPr/>
        </p:nvSpPr>
        <p:spPr>
          <a:xfrm>
            <a:off x="7018934" y="6062534"/>
            <a:ext cx="4250132" cy="23537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898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ИИ ломает стиль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Нейросети пишут текст, но не воспроизводят дизайн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4665827"/>
            <a:ext cx="5120640" cy="4185709"/>
          </a:xfrm>
          <a:prstGeom prst="roundRect">
            <a:avLst>
              <a:gd name="adj" fmla="val 2621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578486" y="5101081"/>
            <a:ext cx="4250132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5600"/>
          </a:p>
        </p:txBody>
      </p:sp>
      <p:sp>
        <p:nvSpPr>
          <p:cNvPr id="51" name="Card text 51"/>
          <p:cNvSpPr txBox="1"/>
          <p:nvPr/>
        </p:nvSpPr>
        <p:spPr>
          <a:xfrm>
            <a:off x="12578486" y="6062534"/>
            <a:ext cx="4250132" cy="23537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не инструкция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Слайды-⁠образцы не показывают, как собрать новый слайд</a:t>
            </a:r>
            <a:endParaRPr lang="ru-RU" sz="2799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95% фигур — свободные, 5% — плейсхолдеры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Chart 42"/>
          <p:cNvGraphicFramePr>
            <a:graphicFrameLocks noGrp="1"/>
          </p:cNvGraphicFramePr>
          <p:nvPr/>
        </p:nvGraphicFramePr>
        <p:xfrm>
          <a:off x="4037364" y="3947718"/>
          <a:ext cx="4507713" cy="450771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Legend title 44"/>
          <p:cNvSpPr txBox="1"/>
          <p:nvPr/>
        </p:nvSpPr>
        <p:spPr>
          <a:xfrm>
            <a:off x="9422901" y="5310339"/>
            <a:ext cx="4827735" cy="7007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Состав фигур в шаблонах</a:t>
            </a:r>
            <a:endParaRPr lang="ru-RU" sz="2799"/>
          </a:p>
        </p:txBody>
      </p:sp>
      <p:sp>
        <p:nvSpPr>
          <p:cNvPr id="45" name="Swatch 45"/>
          <p:cNvSpPr/>
          <p:nvPr/>
        </p:nvSpPr>
        <p:spPr>
          <a:xfrm>
            <a:off x="9422901" y="6096451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C2D076"/>
          </a:solidFill>
          <a:ln>
            <a:noFill/>
          </a:ln>
        </p:spPr>
      </p:sp>
      <p:sp>
        <p:nvSpPr>
          <p:cNvPr id="46" name="Legend 46"/>
          <p:cNvSpPr txBox="1"/>
          <p:nvPr/>
        </p:nvSpPr>
        <p:spPr>
          <a:xfrm>
            <a:off x="9883594" y="6011138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Свободные фигуры</a:t>
            </a:r>
            <a:endParaRPr lang="ru-RU" sz="2799"/>
          </a:p>
        </p:txBody>
      </p:sp>
      <p:sp>
        <p:nvSpPr>
          <p:cNvPr id="47" name="Share 47"/>
          <p:cNvSpPr txBox="1"/>
          <p:nvPr/>
        </p:nvSpPr>
        <p:spPr>
          <a:xfrm>
            <a:off x="13334904" y="6011138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95%</a:t>
            </a:r>
            <a:endParaRPr lang="ru-RU" sz="2799"/>
          </a:p>
        </p:txBody>
      </p:sp>
      <p:sp>
        <p:nvSpPr>
          <p:cNvPr id="48" name="Swatch 48"/>
          <p:cNvSpPr/>
          <p:nvPr/>
        </p:nvSpPr>
        <p:spPr>
          <a:xfrm>
            <a:off x="9422901" y="6726155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E8EDCB"/>
          </a:solidFill>
          <a:ln>
            <a:noFill/>
          </a:ln>
        </p:spPr>
      </p:sp>
      <p:sp>
        <p:nvSpPr>
          <p:cNvPr id="49" name="Legend 49"/>
          <p:cNvSpPr txBox="1"/>
          <p:nvPr/>
        </p:nvSpPr>
        <p:spPr>
          <a:xfrm>
            <a:off x="9883594" y="6640842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Плейсхолдеры</a:t>
            </a:r>
            <a:endParaRPr lang="ru-RU" sz="2799"/>
          </a:p>
        </p:txBody>
      </p:sp>
      <p:sp>
        <p:nvSpPr>
          <p:cNvPr id="50" name="Share 50"/>
          <p:cNvSpPr txBox="1"/>
          <p:nvPr/>
        </p:nvSpPr>
        <p:spPr>
          <a:xfrm>
            <a:off x="13334904" y="6640842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5%</a:t>
            </a:r>
            <a:endParaRPr lang="ru-RU" sz="2799"/>
          </a:p>
        </p:txBody>
      </p:sp>
      <p:sp>
        <p:nvSpPr>
          <p:cNvPr id="51" name="Note 51"/>
          <p:cNvSpPr txBox="1"/>
          <p:nvPr/>
        </p:nvSpPr>
        <p:spPr>
          <a:xfrm>
            <a:off x="1024128" y="8887485"/>
            <a:ext cx="12991795" cy="360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07200" indent="-307200">
              <a:lnSpc>
                <a:spcPct val="100000"/>
              </a:lnSpc>
              <a:spcAft>
                <a:spcPts val="1100"/>
              </a:spcAft>
              <a:buClr>
                <a:srgbClr val="C2D076"/>
              </a:buClr>
              <a:buFont typeface="Arial"/>
              <a:buChar char="•"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Правила оформления нужно выводить из образцов</a:t>
            </a:r>
            <a:endParaRPr lang="ru-RU" sz="219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Решение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137660"/>
            <a:ext cx="5120640" cy="3720743"/>
          </a:xfrm>
          <a:prstGeom prst="roundRect">
            <a:avLst>
              <a:gd name="adj" fmla="val 294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Badge 44"/>
          <p:cNvSpPr/>
          <p:nvPr/>
        </p:nvSpPr>
        <p:spPr>
          <a:xfrm>
            <a:off x="1484985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1</a:t>
            </a:r>
          </a:p>
        </p:txBody>
      </p:sp>
      <p:sp>
        <p:nvSpPr>
          <p:cNvPr id="45" name="Step 45"/>
          <p:cNvSpPr txBox="1"/>
          <p:nvPr/>
        </p:nvSpPr>
        <p:spPr>
          <a:xfrm>
            <a:off x="1484985" y="5647791"/>
            <a:ext cx="4198926" cy="17497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100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входе — шаблон и текст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Verstka использует любой шаблон PowerPoint и текст для создания презентации.</a:t>
            </a:r>
            <a:endParaRPr lang="ru-RU" sz="2000"/>
          </a:p>
        </p:txBody>
      </p:sp>
      <p:sp>
        <p:nvSpPr>
          <p:cNvPr id="46" name="Card 46"/>
          <p:cNvSpPr/>
          <p:nvPr/>
        </p:nvSpPr>
        <p:spPr>
          <a:xfrm>
            <a:off x="6583680" y="4137660"/>
            <a:ext cx="5120640" cy="3720743"/>
          </a:xfrm>
          <a:prstGeom prst="roundRect">
            <a:avLst>
              <a:gd name="adj" fmla="val 294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Badge 47"/>
          <p:cNvSpPr/>
          <p:nvPr/>
        </p:nvSpPr>
        <p:spPr>
          <a:xfrm>
            <a:off x="7044537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2</a:t>
            </a:r>
          </a:p>
        </p:txBody>
      </p:sp>
      <p:sp>
        <p:nvSpPr>
          <p:cNvPr id="48" name="Step 48"/>
          <p:cNvSpPr txBox="1"/>
          <p:nvPr/>
        </p:nvSpPr>
        <p:spPr>
          <a:xfrm>
            <a:off x="7044537" y="5647791"/>
            <a:ext cx="4198926" cy="17497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100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набор правил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Шаблон интерпретируется как набор правил, а не макетов.</a:t>
            </a:r>
            <a:endParaRPr lang="ru-RU" sz="2000"/>
          </a:p>
        </p:txBody>
      </p:sp>
      <p:sp>
        <p:nvSpPr>
          <p:cNvPr id="49" name="Card 49"/>
          <p:cNvSpPr/>
          <p:nvPr/>
        </p:nvSpPr>
        <p:spPr>
          <a:xfrm>
            <a:off x="12143232" y="4137660"/>
            <a:ext cx="5120640" cy="3720743"/>
          </a:xfrm>
          <a:prstGeom prst="roundRect">
            <a:avLst>
              <a:gd name="adj" fmla="val 294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Badge 50"/>
          <p:cNvSpPr/>
          <p:nvPr/>
        </p:nvSpPr>
        <p:spPr>
          <a:xfrm>
            <a:off x="12604089" y="459851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3</a:t>
            </a:r>
          </a:p>
        </p:txBody>
      </p:sp>
      <p:sp>
        <p:nvSpPr>
          <p:cNvPr id="51" name="Step 51"/>
          <p:cNvSpPr txBox="1"/>
          <p:nvPr/>
        </p:nvSpPr>
        <p:spPr>
          <a:xfrm>
            <a:off x="12604089" y="5647791"/>
            <a:ext cx="4198926" cy="17497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100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выходе — три редактируемые презентации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Результат — три презентации в стиле шаблона, готовые к редактированию.</a:t>
            </a:r>
            <a:endParaRPr lang="ru-RU" sz="2000"/>
          </a:p>
        </p:txBody>
      </p:sp>
      <p:sp>
        <p:nvSpPr>
          <p:cNvPr id="52" name="Conclusion strip 52"/>
          <p:cNvSpPr/>
          <p:nvPr/>
        </p:nvSpPr>
        <p:spPr>
          <a:xfrm>
            <a:off x="1024128" y="8290457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553507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510850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Презентация в фирменном стиле без ручной вёрстки</a:t>
            </a:r>
            <a:endParaRPr lang="ru-RU" sz="279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2707676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Открытые модели до 35 млрд параметров создают презентации по правилам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2896819" cy="2563602"/>
          </a:xfrm>
          <a:prstGeom prst="roundRect">
            <a:avLst>
              <a:gd name="adj" fmla="val 428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250442" y="4892141"/>
            <a:ext cx="2444191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5600"/>
          </a:p>
        </p:txBody>
      </p:sp>
      <p:sp>
        <p:nvSpPr>
          <p:cNvPr id="45" name="Card text 45"/>
          <p:cNvSpPr txBox="1"/>
          <p:nvPr/>
        </p:nvSpPr>
        <p:spPr>
          <a:xfrm>
            <a:off x="1250442" y="5853594"/>
            <a:ext cx="2444191" cy="114952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3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Аналитик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497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Находит в тексте слайды, ряды данных и просьбы</a:t>
            </a:r>
            <a:endParaRPr lang="ru-RU" sz="1497"/>
          </a:p>
        </p:txBody>
      </p:sp>
      <p:sp>
        <p:nvSpPr>
          <p:cNvPr id="46" name="Card 46"/>
          <p:cNvSpPr/>
          <p:nvPr/>
        </p:nvSpPr>
        <p:spPr>
          <a:xfrm>
            <a:off x="4359859" y="4665827"/>
            <a:ext cx="2896819" cy="2563602"/>
          </a:xfrm>
          <a:prstGeom prst="roundRect">
            <a:avLst>
              <a:gd name="adj" fmla="val 428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4586173" y="4892141"/>
            <a:ext cx="2444191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5600"/>
          </a:p>
        </p:txBody>
      </p:sp>
      <p:sp>
        <p:nvSpPr>
          <p:cNvPr id="48" name="Card text 48"/>
          <p:cNvSpPr txBox="1"/>
          <p:nvPr/>
        </p:nvSpPr>
        <p:spPr>
          <a:xfrm>
            <a:off x="4586173" y="5853594"/>
            <a:ext cx="2444191" cy="114952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3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Дизайнер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497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Продумывает каждый слайд отдельно</a:t>
            </a:r>
            <a:endParaRPr lang="ru-RU" sz="1497"/>
          </a:p>
        </p:txBody>
      </p:sp>
      <p:sp>
        <p:nvSpPr>
          <p:cNvPr id="49" name="Card 49"/>
          <p:cNvSpPr/>
          <p:nvPr/>
        </p:nvSpPr>
        <p:spPr>
          <a:xfrm>
            <a:off x="7695590" y="4665827"/>
            <a:ext cx="2896819" cy="2563602"/>
          </a:xfrm>
          <a:prstGeom prst="roundRect">
            <a:avLst>
              <a:gd name="adj" fmla="val 428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7921904" y="4892141"/>
            <a:ext cx="2444191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5600"/>
          </a:p>
        </p:txBody>
      </p:sp>
      <p:sp>
        <p:nvSpPr>
          <p:cNvPr id="51" name="Card text 51"/>
          <p:cNvSpPr txBox="1"/>
          <p:nvPr/>
        </p:nvSpPr>
        <p:spPr>
          <a:xfrm>
            <a:off x="7921904" y="5853594"/>
            <a:ext cx="2444191" cy="114952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3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Критик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497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Сверяет план с текстом и правилами шаблона</a:t>
            </a:r>
            <a:endParaRPr lang="ru-RU" sz="1497"/>
          </a:p>
        </p:txBody>
      </p:sp>
      <p:sp>
        <p:nvSpPr>
          <p:cNvPr id="52" name="Card 52"/>
          <p:cNvSpPr/>
          <p:nvPr/>
        </p:nvSpPr>
        <p:spPr>
          <a:xfrm>
            <a:off x="11031321" y="4665827"/>
            <a:ext cx="2896819" cy="2563602"/>
          </a:xfrm>
          <a:prstGeom prst="roundRect">
            <a:avLst>
              <a:gd name="adj" fmla="val 428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Index 53"/>
          <p:cNvSpPr txBox="1"/>
          <p:nvPr/>
        </p:nvSpPr>
        <p:spPr>
          <a:xfrm>
            <a:off x="11257635" y="4892141"/>
            <a:ext cx="2444191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04</a:t>
            </a:r>
            <a:endParaRPr lang="ru-RU" sz="5600"/>
          </a:p>
        </p:txBody>
      </p:sp>
      <p:sp>
        <p:nvSpPr>
          <p:cNvPr id="54" name="Card text 54"/>
          <p:cNvSpPr txBox="1"/>
          <p:nvPr/>
        </p:nvSpPr>
        <p:spPr>
          <a:xfrm>
            <a:off x="11257635" y="5853594"/>
            <a:ext cx="2444191" cy="114952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3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Компилятор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497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Проверяет каждое число</a:t>
            </a:r>
            <a:endParaRPr lang="ru-RU" sz="1497"/>
          </a:p>
        </p:txBody>
      </p:sp>
      <p:sp>
        <p:nvSpPr>
          <p:cNvPr id="55" name="Card 55"/>
          <p:cNvSpPr/>
          <p:nvPr/>
        </p:nvSpPr>
        <p:spPr>
          <a:xfrm>
            <a:off x="14367052" y="4665827"/>
            <a:ext cx="2896819" cy="2563602"/>
          </a:xfrm>
          <a:prstGeom prst="roundRect">
            <a:avLst>
              <a:gd name="adj" fmla="val 428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6" name="Index 56"/>
          <p:cNvSpPr txBox="1"/>
          <p:nvPr/>
        </p:nvSpPr>
        <p:spPr>
          <a:xfrm>
            <a:off x="14593366" y="4892141"/>
            <a:ext cx="2444191" cy="853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05</a:t>
            </a:r>
            <a:endParaRPr lang="ru-RU" sz="5600"/>
          </a:p>
        </p:txBody>
      </p:sp>
      <p:sp>
        <p:nvSpPr>
          <p:cNvPr id="57" name="Card text 57"/>
          <p:cNvSpPr txBox="1"/>
          <p:nvPr/>
        </p:nvSpPr>
        <p:spPr>
          <a:xfrm>
            <a:off x="14593366" y="5853594"/>
            <a:ext cx="2444191" cy="114952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3"/>
              </a:spcAft>
              <a:buNone/>
            </a:pPr>
            <a:r>
              <a:rPr lang="ru-RU" sz="21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Вёрстка</a:t>
            </a:r>
            <a:endParaRPr lang="ru-RU" sz="21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497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Собирает слайды по дизайн-⁠системе шаблона</a:t>
            </a:r>
            <a:endParaRPr lang="ru-RU" sz="1497"/>
          </a:p>
        </p:txBody>
      </p:sp>
      <p:sp>
        <p:nvSpPr>
          <p:cNvPr id="58" name="Conclusion strip 58"/>
          <p:cNvSpPr/>
          <p:nvPr/>
        </p:nvSpPr>
        <p:spPr>
          <a:xfrm>
            <a:off x="1024128" y="7661483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9" name="Conclusion bar 59"/>
          <p:cNvSpPr/>
          <p:nvPr/>
        </p:nvSpPr>
        <p:spPr>
          <a:xfrm>
            <a:off x="1379601" y="7924533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60" name="Conclusion 60"/>
          <p:cNvSpPr txBox="1"/>
          <p:nvPr/>
        </p:nvSpPr>
        <p:spPr>
          <a:xfrm>
            <a:off x="1725701" y="7881876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Работа агента включает анализ, проектирование, проверку и сборку слайдов</a:t>
            </a:r>
            <a:endParaRPr lang="ru-RU" sz="2799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Содержание одно, подача разная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1024128" y="4137660"/>
          <a:ext cx="16239744" cy="459931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992235"/>
                <a:gridCol w="7485664"/>
                <a:gridCol w="5761845"/>
              </a:tblGrid>
              <a:tr h="91986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Вариант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Подача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Когда подходит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Структурный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одна мысль на слайд, строгая сетка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отчёт и защита проекта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Визуальный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крупные цифры и наглядные схемы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питч и выступление со сцены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Компактный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вывод первой строкой, данные справа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рассылка руководителю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8911509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Все проблемы исправляются автоматически в пайплайне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4665827"/>
            <a:ext cx="10814792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Проверки, проверок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5058130"/>
          <a:ext cx="10814792" cy="38233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ule 45"/>
          <p:cNvSpPr/>
          <p:nvPr/>
        </p:nvSpPr>
        <p:spPr>
          <a:xfrm>
            <a:off x="12716744" y="4665827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6" name="Label 46"/>
          <p:cNvSpPr txBox="1"/>
          <p:nvPr/>
        </p:nvSpPr>
        <p:spPr>
          <a:xfrm>
            <a:off x="12716744" y="4981676"/>
            <a:ext cx="4547128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Наибольшее число проверок — на целостность (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</a:t>
            </a: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)</a:t>
            </a:r>
            <a:endParaRPr lang="ru-RU" sz="2799"/>
          </a:p>
        </p:txBody>
      </p:sp>
      <p:sp>
        <p:nvSpPr>
          <p:cNvPr id="47" name="Rule 47"/>
          <p:cNvSpPr/>
          <p:nvPr/>
        </p:nvSpPr>
        <p:spPr>
          <a:xfrm>
            <a:off x="12716744" y="6641680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8" name="Figure 48"/>
          <p:cNvSpPr txBox="1"/>
          <p:nvPr/>
        </p:nvSpPr>
        <p:spPr>
          <a:xfrm>
            <a:off x="12716744" y="6806186"/>
            <a:ext cx="4547128" cy="8534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41</a:t>
            </a:r>
            <a:endParaRPr lang="ru-RU" sz="5600"/>
          </a:p>
        </p:txBody>
      </p:sp>
      <p:sp>
        <p:nvSpPr>
          <p:cNvPr id="49" name="Label 49"/>
          <p:cNvSpPr txBox="1"/>
          <p:nvPr/>
        </p:nvSpPr>
        <p:spPr>
          <a:xfrm>
            <a:off x="12716744" y="7752209"/>
            <a:ext cx="4547128" cy="3605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Проверка на каждый слайд</a:t>
            </a:r>
            <a:endParaRPr lang="ru-RU" sz="2199"/>
          </a:p>
        </p:txBody>
      </p:sp>
      <p:sp>
        <p:nvSpPr>
          <p:cNvPr id="50" name="Chart note 50"/>
          <p:cNvSpPr txBox="1"/>
          <p:nvPr/>
        </p:nvSpPr>
        <p:spPr>
          <a:xfrm>
            <a:off x="12716744" y="8467638"/>
            <a:ext cx="4547128" cy="69565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Найденные проблемы помечаются и исправляются</a:t>
            </a:r>
            <a:endParaRPr lang="ru-RU" sz="2199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 готовых презентаций без выдуманных чисел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61" name="Card 61"/>
          <p:cNvSpPr/>
          <p:nvPr/>
        </p:nvSpPr>
        <p:spPr>
          <a:xfrm>
            <a:off x="1024128" y="3947718"/>
            <a:ext cx="5120640" cy="2949747"/>
          </a:xfrm>
          <a:prstGeom prst="roundRect">
            <a:avLst>
              <a:gd name="adj" fmla="val 371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2" name="Figure 62"/>
          <p:cNvSpPr txBox="1"/>
          <p:nvPr/>
        </p:nvSpPr>
        <p:spPr>
          <a:xfrm>
            <a:off x="1536192" y="4384137"/>
            <a:ext cx="4096512" cy="42656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</a:t>
            </a:r>
            <a:endParaRPr lang="ru-RU" sz="2799"/>
          </a:p>
        </p:txBody>
      </p:sp>
      <p:sp>
        <p:nvSpPr>
          <p:cNvPr id="63" name="Label 63"/>
          <p:cNvSpPr txBox="1"/>
          <p:nvPr/>
        </p:nvSpPr>
        <p:spPr>
          <a:xfrm>
            <a:off x="1536192" y="4918718"/>
            <a:ext cx="4096512" cy="146668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Демо-⁠презентаций</a:t>
            </a:r>
            <a:endParaRPr lang="ru-RU" sz="2199"/>
          </a:p>
        </p:txBody>
      </p:sp>
      <p:sp>
        <p:nvSpPr>
          <p:cNvPr id="64" name="Card 64"/>
          <p:cNvSpPr/>
          <p:nvPr/>
        </p:nvSpPr>
        <p:spPr>
          <a:xfrm>
            <a:off x="6583680" y="3947718"/>
            <a:ext cx="5120640" cy="2949747"/>
          </a:xfrm>
          <a:prstGeom prst="roundRect">
            <a:avLst>
              <a:gd name="adj" fmla="val 371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5" name="Figure 65"/>
          <p:cNvSpPr txBox="1"/>
          <p:nvPr/>
        </p:nvSpPr>
        <p:spPr>
          <a:xfrm>
            <a:off x="7095744" y="4384137"/>
            <a:ext cx="4096512" cy="42656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от 116 до 123</a:t>
            </a:r>
            <a:endParaRPr lang="ru-RU" sz="2799"/>
          </a:p>
        </p:txBody>
      </p:sp>
      <p:sp>
        <p:nvSpPr>
          <p:cNvPr id="66" name="Label 66"/>
          <p:cNvSpPr txBox="1"/>
          <p:nvPr/>
        </p:nvSpPr>
        <p:spPr>
          <a:xfrm>
            <a:off x="7095744" y="4918718"/>
            <a:ext cx="4096512" cy="146668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Проверенных чисел</a:t>
            </a:r>
            <a:endParaRPr lang="ru-RU" sz="2199"/>
          </a:p>
        </p:txBody>
      </p:sp>
      <p:sp>
        <p:nvSpPr>
          <p:cNvPr id="67" name="Card 67"/>
          <p:cNvSpPr/>
          <p:nvPr/>
        </p:nvSpPr>
        <p:spPr>
          <a:xfrm>
            <a:off x="12143232" y="3947718"/>
            <a:ext cx="5120640" cy="2949747"/>
          </a:xfrm>
          <a:prstGeom prst="roundRect">
            <a:avLst>
              <a:gd name="adj" fmla="val 371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8" name="Figure 68"/>
          <p:cNvSpPr txBox="1"/>
          <p:nvPr/>
        </p:nvSpPr>
        <p:spPr>
          <a:xfrm>
            <a:off x="12655296" y="4384137"/>
            <a:ext cx="4096512" cy="42656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</a:t>
            </a:r>
            <a:endParaRPr lang="ru-RU" sz="2799"/>
          </a:p>
        </p:txBody>
      </p:sp>
      <p:sp>
        <p:nvSpPr>
          <p:cNvPr id="69" name="Label 69"/>
          <p:cNvSpPr txBox="1"/>
          <p:nvPr/>
        </p:nvSpPr>
        <p:spPr>
          <a:xfrm>
            <a:off x="12655296" y="4918718"/>
            <a:ext cx="4096512" cy="146668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Выдуманных чисел</a:t>
            </a:r>
            <a:endParaRPr lang="ru-RU" sz="2199"/>
          </a:p>
        </p:txBody>
      </p:sp>
      <p:sp>
        <p:nvSpPr>
          <p:cNvPr id="70" name="Conclusion strip 70"/>
          <p:cNvSpPr/>
          <p:nvPr/>
        </p:nvSpPr>
        <p:spPr>
          <a:xfrm>
            <a:off x="1024128" y="7329519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71" name="Conclusion bar 71"/>
          <p:cNvSpPr/>
          <p:nvPr/>
        </p:nvSpPr>
        <p:spPr>
          <a:xfrm>
            <a:off x="1379601" y="7592569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72" name="Conclusion 72"/>
          <p:cNvSpPr txBox="1"/>
          <p:nvPr/>
        </p:nvSpPr>
        <p:spPr>
          <a:xfrm>
            <a:off x="1725701" y="7549912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числа проверены дважды — до и после вёрстки</a:t>
            </a:r>
            <a:endParaRPr lang="ru-RU" sz="2799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2440716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87 шаблонов, 99 из 100 и 12 форматов — универсальный инструмент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3214270"/>
          </a:xfrm>
          <a:prstGeom prst="roundRect">
            <a:avLst>
              <a:gd name="adj" fmla="val 341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Figure 44"/>
          <p:cNvSpPr txBox="1"/>
          <p:nvPr/>
        </p:nvSpPr>
        <p:spPr>
          <a:xfrm>
            <a:off x="1536192" y="4918445"/>
            <a:ext cx="4096512" cy="14630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87</a:t>
            </a:r>
            <a:endParaRPr lang="ru-RU" sz="9600"/>
          </a:p>
        </p:txBody>
      </p:sp>
      <p:sp>
        <p:nvSpPr>
          <p:cNvPr id="45" name="Label 45"/>
          <p:cNvSpPr txBox="1"/>
          <p:nvPr/>
        </p:nvSpPr>
        <p:spPr>
          <a:xfrm>
            <a:off x="1536192" y="6489498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Чужих шаблонов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4665827"/>
            <a:ext cx="5120640" cy="3214270"/>
          </a:xfrm>
          <a:prstGeom prst="roundRect">
            <a:avLst>
              <a:gd name="adj" fmla="val 341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Figure 47"/>
          <p:cNvSpPr txBox="1"/>
          <p:nvPr/>
        </p:nvSpPr>
        <p:spPr>
          <a:xfrm>
            <a:off x="7083654" y="4918445"/>
            <a:ext cx="4108602" cy="14630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99</a:t>
            </a:r>
            <a:r>
              <a:rPr lang="ru-RU" sz="4712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 из 100</a:t>
            </a:r>
            <a:endParaRPr lang="ru-RU" sz="9600"/>
          </a:p>
        </p:txBody>
      </p:sp>
      <p:sp>
        <p:nvSpPr>
          <p:cNvPr id="48" name="Label 48"/>
          <p:cNvSpPr txBox="1"/>
          <p:nvPr/>
        </p:nvSpPr>
        <p:spPr>
          <a:xfrm>
            <a:off x="7095744" y="6489498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Средняя оценка качества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4665827"/>
            <a:ext cx="5120640" cy="3214270"/>
          </a:xfrm>
          <a:prstGeom prst="roundRect">
            <a:avLst>
              <a:gd name="adj" fmla="val 3413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Figure 50"/>
          <p:cNvSpPr txBox="1"/>
          <p:nvPr/>
        </p:nvSpPr>
        <p:spPr>
          <a:xfrm>
            <a:off x="12617602" y="4918445"/>
            <a:ext cx="4134206" cy="14630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</a:t>
            </a:r>
            <a:endParaRPr lang="ru-RU" sz="9600"/>
          </a:p>
        </p:txBody>
      </p:sp>
      <p:sp>
        <p:nvSpPr>
          <p:cNvPr id="51" name="Label 51"/>
          <p:cNvSpPr txBox="1"/>
          <p:nvPr/>
        </p:nvSpPr>
        <p:spPr>
          <a:xfrm>
            <a:off x="12655296" y="6489498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Форматов поддержки</a:t>
            </a:r>
            <a:endParaRPr lang="ru-RU" sz="2799"/>
          </a:p>
        </p:txBody>
      </p:sp>
      <p:sp>
        <p:nvSpPr>
          <p:cNvPr id="52" name="Conclusion strip 52"/>
          <p:cNvSpPr/>
          <p:nvPr/>
        </p:nvSpPr>
        <p:spPr>
          <a:xfrm>
            <a:off x="1024128" y="8312151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575201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532544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Сервис работает с любыми шаблонами и форматами</a:t>
            </a:r>
            <a:endParaRPr lang="ru-RU" sz="2799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VK WorkSpace — самый долгий, но всё в лимите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3947718"/>
            <a:ext cx="10814792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Время генерации трёх вариантов на шаблонах датасета, секунд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4340021"/>
          <a:ext cx="10814792" cy="4483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ule 45"/>
          <p:cNvSpPr/>
          <p:nvPr/>
        </p:nvSpPr>
        <p:spPr>
          <a:xfrm>
            <a:off x="12716744" y="3947718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6" name="Label 46"/>
          <p:cNvSpPr txBox="1"/>
          <p:nvPr/>
        </p:nvSpPr>
        <p:spPr>
          <a:xfrm>
            <a:off x="12716744" y="4263567"/>
            <a:ext cx="4547128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Все шаблоны укладываются в лимит 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5 минут</a:t>
            </a: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 с запасом</a:t>
            </a:r>
            <a:endParaRPr lang="ru-RU" sz="2799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Три шага после финала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61" name="Card 61"/>
          <p:cNvSpPr/>
          <p:nvPr/>
        </p:nvSpPr>
        <p:spPr>
          <a:xfrm>
            <a:off x="1024128" y="4137660"/>
            <a:ext cx="5120640" cy="4394903"/>
          </a:xfrm>
          <a:prstGeom prst="roundRect">
            <a:avLst>
              <a:gd name="adj" fmla="val 2496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2" name="Index 62"/>
          <p:cNvSpPr txBox="1"/>
          <p:nvPr/>
        </p:nvSpPr>
        <p:spPr>
          <a:xfrm>
            <a:off x="1459382" y="4572914"/>
            <a:ext cx="4250132" cy="1340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8799"/>
          </a:p>
        </p:txBody>
      </p:sp>
      <p:sp>
        <p:nvSpPr>
          <p:cNvPr id="63" name="Card text 63"/>
          <p:cNvSpPr txBox="1"/>
          <p:nvPr/>
        </p:nvSpPr>
        <p:spPr>
          <a:xfrm>
            <a:off x="1459382" y="6021895"/>
            <a:ext cx="4250132" cy="207541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Переход на инференс VK и модель Qwen3.8-⁠27B</a:t>
            </a:r>
            <a:endParaRPr lang="ru-RU" sz="2799"/>
          </a:p>
        </p:txBody>
      </p:sp>
      <p:sp>
        <p:nvSpPr>
          <p:cNvPr id="64" name="Card 64"/>
          <p:cNvSpPr/>
          <p:nvPr/>
        </p:nvSpPr>
        <p:spPr>
          <a:xfrm>
            <a:off x="6583680" y="4137660"/>
            <a:ext cx="5120640" cy="4394903"/>
          </a:xfrm>
          <a:prstGeom prst="roundRect">
            <a:avLst>
              <a:gd name="adj" fmla="val 2496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5" name="Index 65"/>
          <p:cNvSpPr txBox="1"/>
          <p:nvPr/>
        </p:nvSpPr>
        <p:spPr>
          <a:xfrm>
            <a:off x="7018934" y="4572914"/>
            <a:ext cx="4250132" cy="1340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8799"/>
          </a:p>
        </p:txBody>
      </p:sp>
      <p:sp>
        <p:nvSpPr>
          <p:cNvPr id="66" name="Card text 66"/>
          <p:cNvSpPr txBox="1"/>
          <p:nvPr/>
        </p:nvSpPr>
        <p:spPr>
          <a:xfrm>
            <a:off x="7018934" y="6021895"/>
            <a:ext cx="4250132" cy="207541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Генерация изображений внутри слайдов</a:t>
            </a:r>
            <a:endParaRPr lang="ru-RU" sz="2799"/>
          </a:p>
        </p:txBody>
      </p:sp>
      <p:sp>
        <p:nvSpPr>
          <p:cNvPr id="67" name="Card 67"/>
          <p:cNvSpPr/>
          <p:nvPr/>
        </p:nvSpPr>
        <p:spPr>
          <a:xfrm>
            <a:off x="12143232" y="4137660"/>
            <a:ext cx="5120640" cy="4394903"/>
          </a:xfrm>
          <a:prstGeom prst="roundRect">
            <a:avLst>
              <a:gd name="adj" fmla="val 2496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8" name="Index 68"/>
          <p:cNvSpPr txBox="1"/>
          <p:nvPr/>
        </p:nvSpPr>
        <p:spPr>
          <a:xfrm>
            <a:off x="12578486" y="4572914"/>
            <a:ext cx="4250132" cy="1340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8799"/>
          </a:p>
        </p:txBody>
      </p:sp>
      <p:sp>
        <p:nvSpPr>
          <p:cNvPr id="69" name="Card text 69"/>
          <p:cNvSpPr txBox="1"/>
          <p:nvPr/>
        </p:nvSpPr>
        <p:spPr>
          <a:xfrm>
            <a:off x="12578486" y="6021895"/>
            <a:ext cx="4250132" cy="207541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Пилот на шаблонах и сценариях VK Tech</a:t>
            </a:r>
            <a:endParaRPr lang="ru-RU" sz="2799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inimalis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