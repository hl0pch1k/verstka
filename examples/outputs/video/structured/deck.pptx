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1" r:id="rId58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290" r:id="rId68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Lato" panose="020F0502020204030203" pitchFamily="34" charset="77"/>
      <p:regular r:id="rId31"/>
      <p:bold r:id="rId32"/>
      <p:italic r:id="rId33"/>
      <p:boldItalic r:id="rId34"/>
    </p:embeddedFont>
    <p:embeddedFont>
      <p:font typeface="Lato Bold" panose="020F0502020204030203" pitchFamily="34" charset="77"/>
      <p:regular r:id="rId35"/>
      <p:bold r:id="rId36"/>
      <p:italic r:id="rId37"/>
      <p:boldItalic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Noto Sans Bold" panose="020B0802040504020204" pitchFamily="34" charset="0"/>
      <p:regular r:id="rId43"/>
      <p:bold r:id="rId44"/>
    </p:embeddedFont>
    <p:embeddedFont>
      <p:font typeface="Open Sans Bold" panose="020B0606030504020204" pitchFamily="34" charset="0"/>
      <p:regular r:id="rId45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uce" pitchFamily="2" charset="77"/>
      <p:regular r:id="rId51"/>
    </p:embeddedFont>
    <p:embeddedFont>
      <p:font typeface="Open Sauce Bold" pitchFamily="2" charset="77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>
        <p:scale>
          <a:sx n="50" d="100"/>
          <a:sy n="50" d="100"/>
        </p:scale>
        <p:origin x="2504" y="1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38" Type="http://schemas.openxmlformats.org/officeDocument/2006/relationships/font" Target="fonts/font12.fntdata"/><Relationship Id="rId39" Type="http://schemas.openxmlformats.org/officeDocument/2006/relationships/font" Target="fonts/font13.fntdata"/><Relationship Id="rId40" Type="http://schemas.openxmlformats.org/officeDocument/2006/relationships/font" Target="fonts/font14.fntdata"/><Relationship Id="rId41" Type="http://schemas.openxmlformats.org/officeDocument/2006/relationships/font" Target="fonts/font15.fntdata"/><Relationship Id="rId42" Type="http://schemas.openxmlformats.org/officeDocument/2006/relationships/font" Target="fonts/font16.fntdata"/><Relationship Id="rId43" Type="http://schemas.openxmlformats.org/officeDocument/2006/relationships/font" Target="fonts/font17.fntdata"/><Relationship Id="rId44" Type="http://schemas.openxmlformats.org/officeDocument/2006/relationships/font" Target="fonts/font18.fntdata"/><Relationship Id="rId45" Type="http://schemas.openxmlformats.org/officeDocument/2006/relationships/font" Target="fonts/font19.fntdata"/><Relationship Id="rId46" Type="http://schemas.openxmlformats.org/officeDocument/2006/relationships/font" Target="fonts/font20.fntdata"/><Relationship Id="rId47" Type="http://schemas.openxmlformats.org/officeDocument/2006/relationships/font" Target="fonts/font21.fntdata"/><Relationship Id="rId48" Type="http://schemas.openxmlformats.org/officeDocument/2006/relationships/font" Target="fonts/font22.fntdata"/><Relationship Id="rId49" Type="http://schemas.openxmlformats.org/officeDocument/2006/relationships/font" Target="fonts/font23.fntdata"/><Relationship Id="rId50" Type="http://schemas.openxmlformats.org/officeDocument/2006/relationships/font" Target="fonts/font24.fntdata"/><Relationship Id="rId51" Type="http://schemas.openxmlformats.org/officeDocument/2006/relationships/font" Target="fonts/font25.fntdata"/><Relationship Id="rId52" Type="http://schemas.openxmlformats.org/officeDocument/2006/relationships/font" Target="fonts/font26.fntdata"/><Relationship Id="rId53" Type="http://schemas.openxmlformats.org/officeDocument/2006/relationships/font" Target="fonts/font27.fnt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openxmlformats.org/officeDocument/2006/relationships/slide" Target="slides/slide26.xml"/><Relationship Id="rId59" Type="http://schemas.openxmlformats.org/officeDocument/2006/relationships/notesMaster" Target="notesMasters/notesMaster1.xml"/><Relationship Id="rId60" Type="http://schemas.openxmlformats.org/officeDocument/2006/relationships/slide" Target="slides/slide27.xml"/><Relationship Id="rId61" Type="http://schemas.openxmlformats.org/officeDocument/2006/relationships/slide" Target="slides/slide28.xml"/><Relationship Id="rId62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963"/>
          <c:y val="0.0159"/>
          <c:w val="0.8714"/>
          <c:h val="0.968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проверок</c:v>
                </c:pt>
              </c:strCache>
            </c:strRef>
          </c:tx>
          <c:spPr>
            <a:solidFill>
              <a:srgbClr val="00C282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400" b="0">
                      <a:solidFill>
                        <a:srgbClr val="000000"/>
                      </a:solidFill>
                      <a:latin typeface="Arial"/>
                      <a:ea typeface="Noto Sans"/>
                      <a:cs typeface="Noto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0">
                    <a:solidFill>
                      <a:srgbClr val="000000"/>
                    </a:solidFill>
                    <a:latin typeface="Arial"/>
                    <a:ea typeface="Noto Sans"/>
                    <a:cs typeface="Noto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;&quot;−&quot;#,##0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0">
                  <a:solidFill>
                    <a:srgbClr val="000000"/>
                  </a:solidFill>
                  <a:latin typeface="Arial"/>
                  <a:ea typeface="Noto Sans"/>
                  <a:cs typeface="Noto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2000" b="0">
                <a:solidFill>
                  <a:srgbClr val="575757"/>
                </a:solidFill>
                <a:latin typeface="Arial"/>
                <a:ea typeface="Noto Sans"/>
                <a:cs typeface="Noto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000000"/>
          </a:solidFill>
          <a:latin typeface="Arial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07"/>
          <c:y val="0.1089"/>
          <c:w val="0.9986"/>
          <c:h val="0.78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C282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400" b="0">
                      <a:solidFill>
                        <a:srgbClr val="000000"/>
                      </a:solidFill>
                      <a:latin typeface="Arial"/>
                      <a:ea typeface="Noto Sans"/>
                      <a:cs typeface="Noto San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400" b="0">
                    <a:solidFill>
                      <a:srgbClr val="000000"/>
                    </a:solidFill>
                    <a:latin typeface="Arial"/>
                    <a:ea typeface="Noto Sans"/>
                    <a:cs typeface="Noto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400" b="0">
                  <a:solidFill>
                    <a:srgbClr val="000000"/>
                  </a:solidFill>
                  <a:latin typeface="Arial"/>
                  <a:ea typeface="Noto Sans"/>
                  <a:cs typeface="Noto San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9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86EAE9"/>
            </a:solidFill>
          </a:ln>
        </c:spPr>
        <c:txPr>
          <a:bodyPr rot="0" vert="horz"/>
          <a:lstStyle/>
          <a:p>
            <a:pPr>
              <a:defRPr sz="2000" b="0">
                <a:solidFill>
                  <a:srgbClr val="575757"/>
                </a:solidFill>
                <a:latin typeface="Arial"/>
                <a:ea typeface="Noto Sans"/>
                <a:cs typeface="Noto Sans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2000">
          <a:solidFill>
            <a:srgbClr val="000000"/>
          </a:solidFill>
          <a:latin typeface="Arial"/>
          <a:ea typeface="Noto Sans"/>
          <a:cs typeface="No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Подготовка презентации занимает часы, а иногда и дни. Большая часть времени уходит на оформление, а не на содержание. Три основные проблемы: ручная вёрстка, ИИ, который не воспроизводит стиль, и шаблоны, которые не помогают создать новый слайд.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Verstka интерпретирует шаблон как набор правил, таких как палитра, кегли, сетка, поля, логотипы и колонтитулы. На основе этих правил создаются три редактируемые презентации за 2–3 минуты.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Процесс включает 5 этапов, каждый из которых выполняется отдельным специалистом: аналитиком, дизайнером, критиком, компилятором и вёрсткой.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Одинаковое содержание, разная подача.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Наибольшее количество проверок (12) относится к категории «Целостность».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Каждое число плана сверяется с текстом до вёрстки и ещё раз в готовом PPTX.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Регрессионный корпус включает 87 чужих шаблонов и 261 презентацию на них. Средняя оценка проверки качества по корпусу — 99 из 100. Сервис принимает 12 форматов: pptx, potx, ppt, odp, thmx и другие.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 слайде представлены три модели с лицензией Apache 2.0: основная модель Qwen3.8-27B, запасное звено Qwen3-32B и два дополнительных запасных звена — Gemma 4 и Qwen3-VL.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ru-RU"/>
              <a:t>На данном этапе реализованы 2 028 автотестов и поддержка форматов PPTX, PDF и HTML. В будущем запланированы генерация изображений внутри слайдов и переход на инференс VK.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3" Type="http://schemas.openxmlformats.org/officeDocument/2006/relationships/notesSlide" Target="../notesSlides/notesSlide10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40795" y="1038225"/>
            <a:ext cx="9703489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Оформление отнимает больше времени, чем содержание</a:t>
            </a:r>
          </a:p>
        </p:txBody>
      </p:sp>
      <p:sp>
        <p:nvSpPr>
          <p:cNvPr id="5" name="Card 5"/>
          <p:cNvSpPr/>
          <p:nvPr/>
        </p:nvSpPr>
        <p:spPr>
          <a:xfrm>
            <a:off x="365760" y="3168015"/>
            <a:ext cx="5559552" cy="4785621"/>
          </a:xfrm>
          <a:prstGeom prst="roundRect">
            <a:avLst>
              <a:gd name="adj" fmla="val 22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6" name="Index 6"/>
          <p:cNvSpPr txBox="1"/>
          <p:nvPr/>
        </p:nvSpPr>
        <p:spPr>
          <a:xfrm>
            <a:off x="838321" y="3640576"/>
            <a:ext cx="4614430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5000"/>
          </a:p>
        </p:txBody>
      </p:sp>
      <p:sp>
        <p:nvSpPr>
          <p:cNvPr id="7" name="Card text 7"/>
          <p:cNvSpPr txBox="1"/>
          <p:nvPr/>
        </p:nvSpPr>
        <p:spPr>
          <a:xfrm>
            <a:off x="838321" y="4510589"/>
            <a:ext cx="4614430" cy="297048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34"/>
              </a:spcAft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Ручная вёрстка</a:t>
            </a:r>
            <a:endParaRPr lang="ru-RU" sz="3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Подобрать макет, подвинуть блоки, подогнать цвета под фирменный стиль</a:t>
            </a:r>
            <a:endParaRPr lang="ru-RU" sz="2899"/>
          </a:p>
        </p:txBody>
      </p:sp>
      <p:sp>
        <p:nvSpPr>
          <p:cNvPr id="8" name="Card 8"/>
          <p:cNvSpPr/>
          <p:nvPr/>
        </p:nvSpPr>
        <p:spPr>
          <a:xfrm>
            <a:off x="6364224" y="3168015"/>
            <a:ext cx="5559552" cy="4785621"/>
          </a:xfrm>
          <a:prstGeom prst="roundRect">
            <a:avLst>
              <a:gd name="adj" fmla="val 22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9" name="Index 9"/>
          <p:cNvSpPr txBox="1"/>
          <p:nvPr/>
        </p:nvSpPr>
        <p:spPr>
          <a:xfrm>
            <a:off x="6836785" y="3640576"/>
            <a:ext cx="4614430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5000"/>
          </a:p>
        </p:txBody>
      </p:sp>
      <p:sp>
        <p:nvSpPr>
          <p:cNvPr id="10" name="Card text 10"/>
          <p:cNvSpPr txBox="1"/>
          <p:nvPr/>
        </p:nvSpPr>
        <p:spPr>
          <a:xfrm>
            <a:off x="6836785" y="4510589"/>
            <a:ext cx="4614430" cy="297048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34"/>
              </a:spcAft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ИИ ломает стиль</a:t>
            </a:r>
            <a:endParaRPr lang="ru-RU" sz="3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Нейросети неплохо пишут текст, но не воспроизводят дизайн-⁠систему компании</a:t>
            </a:r>
            <a:endParaRPr lang="ru-RU" sz="2899"/>
          </a:p>
        </p:txBody>
      </p:sp>
      <p:sp>
        <p:nvSpPr>
          <p:cNvPr id="11" name="Card 11"/>
          <p:cNvSpPr/>
          <p:nvPr/>
        </p:nvSpPr>
        <p:spPr>
          <a:xfrm>
            <a:off x="12362688" y="3168015"/>
            <a:ext cx="5559552" cy="4785621"/>
          </a:xfrm>
          <a:prstGeom prst="roundRect">
            <a:avLst>
              <a:gd name="adj" fmla="val 22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2" name="Index 12"/>
          <p:cNvSpPr txBox="1"/>
          <p:nvPr/>
        </p:nvSpPr>
        <p:spPr>
          <a:xfrm>
            <a:off x="12835249" y="3640576"/>
            <a:ext cx="4614430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5000"/>
          </a:p>
        </p:txBody>
      </p:sp>
      <p:sp>
        <p:nvSpPr>
          <p:cNvPr id="13" name="Card text 13"/>
          <p:cNvSpPr txBox="1"/>
          <p:nvPr/>
        </p:nvSpPr>
        <p:spPr>
          <a:xfrm>
            <a:off x="12835249" y="4510589"/>
            <a:ext cx="4614430" cy="297048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94"/>
              </a:spcAft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Шаблон — не инструкция</a:t>
            </a:r>
            <a:endParaRPr lang="ru-RU" sz="32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Плейсхолдеры не объясняют, как построить новый слайд</a:t>
            </a:r>
            <a:endParaRPr lang="ru-RU" sz="2899"/>
          </a:p>
        </p:txBody>
      </p:sp>
      <p:sp>
        <p:nvSpPr>
          <p:cNvPr id="14" name="Conclusion strip 14"/>
          <p:cNvSpPr/>
          <p:nvPr/>
        </p:nvSpPr>
        <p:spPr>
          <a:xfrm>
            <a:off x="365760" y="8385690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5" name="Conclusion bar 15"/>
          <p:cNvSpPr/>
          <p:nvPr/>
        </p:nvSpPr>
        <p:spPr>
          <a:xfrm>
            <a:off x="733933" y="8658138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16" name="Conclusion 16"/>
          <p:cNvSpPr txBox="1"/>
          <p:nvPr/>
        </p:nvSpPr>
        <p:spPr>
          <a:xfrm>
            <a:off x="1090193" y="8613957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Время тратится на оформление, а не на суть</a:t>
            </a:r>
            <a:endParaRPr lang="ru-RU" sz="2899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3330682" y="1038225"/>
            <a:ext cx="1112371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Verstka создаёт три редактируемые презентации за 2⁠–⁠3 минуты</a:t>
            </a:r>
          </a:p>
        </p:txBody>
      </p:sp>
      <p:sp>
        <p:nvSpPr>
          <p:cNvPr id="21" name="Marker 21"/>
          <p:cNvSpPr/>
          <p:nvPr/>
        </p:nvSpPr>
        <p:spPr>
          <a:xfrm>
            <a:off x="365760" y="333463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22" name="Item 22"/>
          <p:cNvSpPr txBox="1"/>
          <p:nvPr/>
        </p:nvSpPr>
        <p:spPr>
          <a:xfrm>
            <a:off x="1016000" y="316801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На входе — шаблон и текст</a:t>
            </a:r>
            <a:endParaRPr lang="ru-RU" sz="3200"/>
          </a:p>
        </p:txBody>
      </p:sp>
      <p:cxnSp>
        <p:nvCxnSpPr>
          <p:cNvPr id="23" name="Line 23"/>
          <p:cNvCxnSpPr/>
          <p:nvPr/>
        </p:nvCxnSpPr>
        <p:spPr>
          <a:xfrm>
            <a:off x="1016000" y="4290695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24" name="Marker 24"/>
          <p:cNvSpPr/>
          <p:nvPr/>
        </p:nvSpPr>
        <p:spPr>
          <a:xfrm>
            <a:off x="365760" y="506691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25" name="Item 25"/>
          <p:cNvSpPr txBox="1"/>
          <p:nvPr/>
        </p:nvSpPr>
        <p:spPr>
          <a:xfrm>
            <a:off x="1016000" y="490029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Шаблон — набор правил: палитра, кегли, сетка, поля, логотипы</a:t>
            </a:r>
            <a:endParaRPr lang="ru-RU" sz="3200"/>
          </a:p>
        </p:txBody>
      </p:sp>
      <p:cxnSp>
        <p:nvCxnSpPr>
          <p:cNvPr id="26" name="Line 26"/>
          <p:cNvCxnSpPr/>
          <p:nvPr/>
        </p:nvCxnSpPr>
        <p:spPr>
          <a:xfrm>
            <a:off x="1016000" y="6022975"/>
            <a:ext cx="13394944" cy="0"/>
          </a:xfrm>
          <a:prstGeom prst="line">
            <a:avLst/>
          </a:prstGeom>
          <a:ln w="9525">
            <a:solidFill>
              <a:srgbClr val="86EAE9"/>
            </a:solidFill>
          </a:ln>
        </p:spPr>
      </p:cxnSp>
      <p:sp>
        <p:nvSpPr>
          <p:cNvPr id="27" name="Marker 27"/>
          <p:cNvSpPr/>
          <p:nvPr/>
        </p:nvSpPr>
        <p:spPr>
          <a:xfrm>
            <a:off x="365760" y="6799199"/>
            <a:ext cx="154432" cy="154432"/>
          </a:xfrm>
          <a:prstGeom prst="ellipse">
            <a:avLst/>
          </a:prstGeom>
          <a:solidFill>
            <a:srgbClr val="1885F1"/>
          </a:solidFill>
          <a:ln>
            <a:noFill/>
          </a:ln>
        </p:spPr>
      </p:sp>
      <p:sp>
        <p:nvSpPr>
          <p:cNvPr id="28" name="Item 28"/>
          <p:cNvSpPr txBox="1"/>
          <p:nvPr/>
        </p:nvSpPr>
        <p:spPr>
          <a:xfrm>
            <a:off x="1016000" y="6632575"/>
            <a:ext cx="13394944" cy="513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000000"/>
                </a:solidFill>
                <a:latin typeface="Arial"/>
                <a:cs typeface="Noto Sans"/>
              </a:rPr>
              <a:t>На выходе — три редактируемые презентации</a:t>
            </a:r>
            <a:endParaRPr lang="ru-RU" sz="3200"/>
          </a:p>
        </p:txBody>
      </p:sp>
      <p:sp>
        <p:nvSpPr>
          <p:cNvPr id="29" name="Conclusion strip 29"/>
          <p:cNvSpPr/>
          <p:nvPr/>
        </p:nvSpPr>
        <p:spPr>
          <a:xfrm>
            <a:off x="365760" y="7577709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Conclusion bar 30"/>
          <p:cNvSpPr/>
          <p:nvPr/>
        </p:nvSpPr>
        <p:spPr>
          <a:xfrm>
            <a:off x="733933" y="7850157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31" name="Conclusion 31"/>
          <p:cNvSpPr txBox="1"/>
          <p:nvPr/>
        </p:nvSpPr>
        <p:spPr>
          <a:xfrm>
            <a:off x="1090193" y="7805976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Презентации создаются автоматически по правилам шаблона</a:t>
            </a:r>
            <a:endParaRPr lang="ru-RU" sz="2899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Команда из 5 ролей создаёт презентацию из текста</a:t>
            </a:r>
          </a:p>
        </p:txBody>
      </p:sp>
      <p:cxnSp>
        <p:nvCxnSpPr>
          <p:cNvPr id="38" name="Axis 38"/>
          <p:cNvCxnSpPr/>
          <p:nvPr/>
        </p:nvCxnSpPr>
        <p:spPr>
          <a:xfrm>
            <a:off x="751522" y="2791777"/>
            <a:ext cx="14255860" cy="0"/>
          </a:xfrm>
          <a:prstGeom prst="line">
            <a:avLst/>
          </a:prstGeom>
          <a:ln w="19050">
            <a:solidFill>
              <a:srgbClr val="1885F1"/>
            </a:solidFill>
          </a:ln>
        </p:spPr>
      </p:cxnSp>
      <p:sp>
        <p:nvSpPr>
          <p:cNvPr id="39" name="Badge 39"/>
          <p:cNvSpPr/>
          <p:nvPr/>
        </p:nvSpPr>
        <p:spPr>
          <a:xfrm>
            <a:off x="365760" y="2406015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1</a:t>
            </a:r>
          </a:p>
        </p:txBody>
      </p:sp>
      <p:sp>
        <p:nvSpPr>
          <p:cNvPr id="40" name="Step 40"/>
          <p:cNvSpPr txBox="1"/>
          <p:nvPr/>
        </p:nvSpPr>
        <p:spPr>
          <a:xfrm>
            <a:off x="365760" y="3455289"/>
            <a:ext cx="3300618" cy="17321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20"/>
              </a:spcAft>
              <a:buNone/>
            </a:pPr>
            <a:r>
              <a:rPr lang="ru-RU" sz="2899" b="0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1. Анализ текста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Аналитик находит слайды, ряды данных и просьбы</a:t>
            </a:r>
            <a:endParaRPr lang="ru-RU" sz="2400"/>
          </a:p>
        </p:txBody>
      </p:sp>
      <p:sp>
        <p:nvSpPr>
          <p:cNvPr id="41" name="Badge 41"/>
          <p:cNvSpPr/>
          <p:nvPr/>
        </p:nvSpPr>
        <p:spPr>
          <a:xfrm>
            <a:off x="3929725" y="2406015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2</a:t>
            </a:r>
          </a:p>
        </p:txBody>
      </p:sp>
      <p:sp>
        <p:nvSpPr>
          <p:cNvPr id="42" name="Step 42"/>
          <p:cNvSpPr txBox="1"/>
          <p:nvPr/>
        </p:nvSpPr>
        <p:spPr>
          <a:xfrm>
            <a:off x="3929725" y="3455289"/>
            <a:ext cx="3300618" cy="17321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20"/>
              </a:spcAft>
              <a:buNone/>
            </a:pPr>
            <a:r>
              <a:rPr lang="ru-RU" sz="2899" b="0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2. Дизайн слайдов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Дизайнер продумывает каждый слайд отдельно</a:t>
            </a:r>
            <a:endParaRPr lang="ru-RU" sz="2400"/>
          </a:p>
        </p:txBody>
      </p:sp>
      <p:sp>
        <p:nvSpPr>
          <p:cNvPr id="43" name="Badge 43"/>
          <p:cNvSpPr/>
          <p:nvPr/>
        </p:nvSpPr>
        <p:spPr>
          <a:xfrm>
            <a:off x="7493690" y="2406015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3</a:t>
            </a:r>
          </a:p>
        </p:txBody>
      </p:sp>
      <p:sp>
        <p:nvSpPr>
          <p:cNvPr id="44" name="Step 44"/>
          <p:cNvSpPr txBox="1"/>
          <p:nvPr/>
        </p:nvSpPr>
        <p:spPr>
          <a:xfrm>
            <a:off x="7493690" y="3455289"/>
            <a:ext cx="3300618" cy="17321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20"/>
              </a:spcAft>
              <a:buNone/>
            </a:pPr>
            <a:r>
              <a:rPr lang="ru-RU" sz="2899" b="0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3. Проверка плана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Критик сверяет план с текстом и правилами</a:t>
            </a:r>
            <a:endParaRPr lang="ru-RU" sz="2400"/>
          </a:p>
        </p:txBody>
      </p:sp>
      <p:sp>
        <p:nvSpPr>
          <p:cNvPr id="45" name="Badge 45"/>
          <p:cNvSpPr/>
          <p:nvPr/>
        </p:nvSpPr>
        <p:spPr>
          <a:xfrm>
            <a:off x="11057655" y="2406015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4</a:t>
            </a:r>
          </a:p>
        </p:txBody>
      </p:sp>
      <p:sp>
        <p:nvSpPr>
          <p:cNvPr id="46" name="Step 46"/>
          <p:cNvSpPr txBox="1"/>
          <p:nvPr/>
        </p:nvSpPr>
        <p:spPr>
          <a:xfrm>
            <a:off x="11057655" y="3455289"/>
            <a:ext cx="3300618" cy="17321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20"/>
              </a:spcAft>
              <a:buNone/>
            </a:pPr>
            <a:r>
              <a:rPr lang="ru-RU" sz="2899" b="0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4. Проверка чисел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Компилятор проверяет каждое число</a:t>
            </a:r>
            <a:endParaRPr lang="ru-RU" sz="2400"/>
          </a:p>
        </p:txBody>
      </p:sp>
      <p:sp>
        <p:nvSpPr>
          <p:cNvPr id="47" name="Badge 47"/>
          <p:cNvSpPr/>
          <p:nvPr/>
        </p:nvSpPr>
        <p:spPr>
          <a:xfrm>
            <a:off x="14621620" y="2406015"/>
            <a:ext cx="771525" cy="771525"/>
          </a:xfrm>
          <a:prstGeom prst="ellipse">
            <a:avLst/>
          </a:prstGeom>
          <a:solidFill>
            <a:srgbClr val="1885F1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899" b="0" cap="none" spc="0" baseline="0">
                <a:solidFill>
                  <a:srgbClr val="FFFFFF"/>
                </a:solidFill>
                <a:latin typeface="Arial"/>
                <a:cs typeface="Noto Sans"/>
              </a:rPr>
              <a:t>5</a:t>
            </a:r>
          </a:p>
        </p:txBody>
      </p:sp>
      <p:sp>
        <p:nvSpPr>
          <p:cNvPr id="48" name="Step 48"/>
          <p:cNvSpPr txBox="1"/>
          <p:nvPr/>
        </p:nvSpPr>
        <p:spPr>
          <a:xfrm>
            <a:off x="14621620" y="3455289"/>
            <a:ext cx="3300618" cy="17321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20"/>
              </a:spcAft>
              <a:buNone/>
            </a:pPr>
            <a:r>
              <a:rPr lang="ru-RU" sz="2899" b="0" cap="none" spc="0" baseline="0" dirty="0">
                <a:solidFill>
                  <a:srgbClr val="12222B"/>
                </a:solidFill>
                <a:latin typeface="Arial"/>
                <a:cs typeface="Noto Sans"/>
              </a:rPr>
              <a:t>5. Вёрстка</a:t>
            </a:r>
            <a:endParaRPr lang="ru-RU" sz="28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Слайды собираются по дизайн-⁠системе шаблона</a:t>
            </a:r>
            <a:endParaRPr lang="ru-RU"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Одинаковое содержание, разная подача</a:t>
            </a:r>
          </a:p>
        </p:txBody>
      </p:sp>
      <p:sp>
        <p:nvSpPr>
          <p:cNvPr id="23" name="Card 23"/>
          <p:cNvSpPr/>
          <p:nvPr/>
        </p:nvSpPr>
        <p:spPr>
          <a:xfrm>
            <a:off x="365760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Index 24"/>
          <p:cNvSpPr txBox="1"/>
          <p:nvPr/>
        </p:nvSpPr>
        <p:spPr>
          <a:xfrm>
            <a:off x="838321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7988"/>
          </a:p>
        </p:txBody>
      </p:sp>
      <p:sp>
        <p:nvSpPr>
          <p:cNvPr id="25" name="Card text 25"/>
          <p:cNvSpPr txBox="1"/>
          <p:nvPr/>
        </p:nvSpPr>
        <p:spPr>
          <a:xfrm>
            <a:off x="838321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Структурный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Одна мысль на слайде, строгая сетка</a:t>
            </a:r>
            <a:endParaRPr lang="ru-RU" sz="3200"/>
          </a:p>
        </p:txBody>
      </p:sp>
      <p:sp>
        <p:nvSpPr>
          <p:cNvPr id="26" name="Card 26"/>
          <p:cNvSpPr/>
          <p:nvPr/>
        </p:nvSpPr>
        <p:spPr>
          <a:xfrm>
            <a:off x="6364224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7" name="Index 27"/>
          <p:cNvSpPr txBox="1"/>
          <p:nvPr/>
        </p:nvSpPr>
        <p:spPr>
          <a:xfrm>
            <a:off x="6836785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7988"/>
          </a:p>
        </p:txBody>
      </p:sp>
      <p:sp>
        <p:nvSpPr>
          <p:cNvPr id="28" name="Card text 28"/>
          <p:cNvSpPr txBox="1"/>
          <p:nvPr/>
        </p:nvSpPr>
        <p:spPr>
          <a:xfrm>
            <a:off x="6836785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Визуальный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Крупные цифры и наглядные схемы</a:t>
            </a:r>
            <a:endParaRPr lang="ru-RU" sz="3200"/>
          </a:p>
        </p:txBody>
      </p:sp>
      <p:sp>
        <p:nvSpPr>
          <p:cNvPr id="29" name="Card 29"/>
          <p:cNvSpPr/>
          <p:nvPr/>
        </p:nvSpPr>
        <p:spPr>
          <a:xfrm>
            <a:off x="12362688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Index 30"/>
          <p:cNvSpPr txBox="1"/>
          <p:nvPr/>
        </p:nvSpPr>
        <p:spPr>
          <a:xfrm>
            <a:off x="12835249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7988"/>
          </a:p>
        </p:txBody>
      </p:sp>
      <p:sp>
        <p:nvSpPr>
          <p:cNvPr id="31" name="Card text 31"/>
          <p:cNvSpPr txBox="1"/>
          <p:nvPr/>
        </p:nvSpPr>
        <p:spPr>
          <a:xfrm>
            <a:off x="12835249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Компактный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Вывод первой строкой, текст слева, данные справа</a:t>
            </a:r>
            <a:endParaRPr lang="ru-RU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3069952" y="1038225"/>
            <a:ext cx="11645176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Целостность — самая многочисленная категория проверок</a:t>
            </a:r>
          </a:p>
        </p:txBody>
      </p:sp>
      <p:sp>
        <p:nvSpPr>
          <p:cNvPr id="5" name="Unit 5"/>
          <p:cNvSpPr txBox="1"/>
          <p:nvPr/>
        </p:nvSpPr>
        <p:spPr>
          <a:xfrm>
            <a:off x="365760" y="3168015"/>
            <a:ext cx="17556480" cy="294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68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Число проверок</a:t>
            </a:r>
            <a:endParaRPr lang="ru-RU" sz="1768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3555441"/>
          <a:ext cx="17556480" cy="478221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onclusion strip 7"/>
          <p:cNvSpPr/>
          <p:nvPr/>
        </p:nvSpPr>
        <p:spPr>
          <a:xfrm>
            <a:off x="365760" y="8769706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8" name="Conclusion bar 8"/>
          <p:cNvSpPr/>
          <p:nvPr/>
        </p:nvSpPr>
        <p:spPr>
          <a:xfrm>
            <a:off x="733933" y="9042154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9" name="Conclusion 9"/>
          <p:cNvSpPr txBox="1"/>
          <p:nvPr/>
        </p:nvSpPr>
        <p:spPr>
          <a:xfrm>
            <a:off x="1090193" y="8997973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 проверках больше всего нацелены на целостность — </a:t>
            </a:r>
            <a:r>
              <a:rPr lang="ru-RU" sz="2899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12 </a:t>
            </a: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проверок</a:t>
            </a:r>
            <a:endParaRPr lang="ru-RU" sz="2899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9 демок с 116⁠–⁠123 числами и 0 лишними</a:t>
            </a:r>
          </a:p>
        </p:txBody>
      </p:sp>
      <p:sp>
        <p:nvSpPr>
          <p:cNvPr id="23" name="Card 23"/>
          <p:cNvSpPr/>
          <p:nvPr/>
        </p:nvSpPr>
        <p:spPr>
          <a:xfrm>
            <a:off x="365760" y="2406015"/>
            <a:ext cx="5559552" cy="4272782"/>
          </a:xfrm>
          <a:prstGeom prst="roundRect">
            <a:avLst>
              <a:gd name="adj" fmla="val 256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Figure 24"/>
          <p:cNvSpPr txBox="1"/>
          <p:nvPr/>
        </p:nvSpPr>
        <p:spPr>
          <a:xfrm>
            <a:off x="880110" y="2783126"/>
            <a:ext cx="4530852" cy="762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9</a:t>
            </a:r>
            <a:endParaRPr lang="ru-RU" sz="5000"/>
          </a:p>
        </p:txBody>
      </p:sp>
      <p:sp>
        <p:nvSpPr>
          <p:cNvPr id="25" name="Label 25"/>
          <p:cNvSpPr txBox="1"/>
          <p:nvPr/>
        </p:nvSpPr>
        <p:spPr>
          <a:xfrm>
            <a:off x="880110" y="3653139"/>
            <a:ext cx="4530852" cy="25113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Демо-⁠презентаций</a:t>
            </a:r>
            <a:endParaRPr lang="ru-RU" sz="2899"/>
          </a:p>
        </p:txBody>
      </p:sp>
      <p:sp>
        <p:nvSpPr>
          <p:cNvPr id="26" name="Card 26"/>
          <p:cNvSpPr/>
          <p:nvPr/>
        </p:nvSpPr>
        <p:spPr>
          <a:xfrm>
            <a:off x="6364224" y="2406015"/>
            <a:ext cx="5559552" cy="4272782"/>
          </a:xfrm>
          <a:prstGeom prst="roundRect">
            <a:avLst>
              <a:gd name="adj" fmla="val 256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7" name="Figure 27"/>
          <p:cNvSpPr txBox="1"/>
          <p:nvPr/>
        </p:nvSpPr>
        <p:spPr>
          <a:xfrm>
            <a:off x="6856349" y="2783126"/>
            <a:ext cx="4553077" cy="762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116⁠–⁠123</a:t>
            </a:r>
            <a:endParaRPr lang="ru-RU" sz="5000"/>
          </a:p>
        </p:txBody>
      </p:sp>
      <p:sp>
        <p:nvSpPr>
          <p:cNvPr id="28" name="Label 28"/>
          <p:cNvSpPr txBox="1"/>
          <p:nvPr/>
        </p:nvSpPr>
        <p:spPr>
          <a:xfrm>
            <a:off x="6878574" y="3653139"/>
            <a:ext cx="4530852" cy="25113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Сверенных чисел в каждой</a:t>
            </a:r>
            <a:endParaRPr lang="ru-RU" sz="2899"/>
          </a:p>
        </p:txBody>
      </p:sp>
      <p:sp>
        <p:nvSpPr>
          <p:cNvPr id="29" name="Card 29"/>
          <p:cNvSpPr/>
          <p:nvPr/>
        </p:nvSpPr>
        <p:spPr>
          <a:xfrm>
            <a:off x="12362688" y="2406015"/>
            <a:ext cx="5559552" cy="4272782"/>
          </a:xfrm>
          <a:prstGeom prst="roundRect">
            <a:avLst>
              <a:gd name="adj" fmla="val 256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Figure 30"/>
          <p:cNvSpPr txBox="1"/>
          <p:nvPr/>
        </p:nvSpPr>
        <p:spPr>
          <a:xfrm>
            <a:off x="12877038" y="2783126"/>
            <a:ext cx="4530852" cy="762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000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</a:t>
            </a:r>
            <a:endParaRPr lang="ru-RU" sz="5000"/>
          </a:p>
        </p:txBody>
      </p:sp>
      <p:sp>
        <p:nvSpPr>
          <p:cNvPr id="31" name="Label 31"/>
          <p:cNvSpPr txBox="1"/>
          <p:nvPr/>
        </p:nvSpPr>
        <p:spPr>
          <a:xfrm>
            <a:off x="12877038" y="3653139"/>
            <a:ext cx="4530852" cy="25113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Лишних чисел</a:t>
            </a:r>
            <a:endParaRPr lang="ru-RU" sz="2899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87 шаблонов и 99 из 100 качества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365760" y="2406015"/>
          <a:ext cx="12640665" cy="50149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9391225"/>
                <a:gridCol w="3249440"/>
              </a:tblGrid>
              <a:tr h="100298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Показатель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C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Значение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6C5FF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Чужих шаблонов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87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Средняя оценка качества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99 из 100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  <a:tr h="133731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 lang="ru-RU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Форматов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899" b="0" i="0" cap="none" spc="0" baseline="0">
                          <a:solidFill>
                            <a:srgbClr val="000000"/>
                          </a:solidFill>
                          <a:latin typeface="Arial"/>
                          <a:ea typeface="Noto Sans"/>
                          <a:cs typeface="Noto Sans"/>
                        </a:rPr>
                        <a:t>12</a:t>
                      </a:r>
                    </a:p>
                  </a:txBody>
                  <a:tcPr marL="177800" marR="177800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EDECED"/>
                    </a:solidFill>
                  </a:tcPr>
                </a:tc>
              </a:tr>
            </a:tbl>
          </a:graphicData>
        </a:graphic>
      </p:graphicFrame>
      <p:sp>
        <p:nvSpPr>
          <p:cNvPr id="6" name="Conclusion strip 6"/>
          <p:cNvSpPr/>
          <p:nvPr/>
        </p:nvSpPr>
        <p:spPr>
          <a:xfrm>
            <a:off x="365760" y="7852981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7" name="Conclusion bar 7"/>
          <p:cNvSpPr/>
          <p:nvPr/>
        </p:nvSpPr>
        <p:spPr>
          <a:xfrm>
            <a:off x="733933" y="8125429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8" name="Conclusion 8"/>
          <p:cNvSpPr txBox="1"/>
          <p:nvPr/>
        </p:nvSpPr>
        <p:spPr>
          <a:xfrm>
            <a:off x="1090193" y="8081248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Сервис поддерживает </a:t>
            </a:r>
            <a:r>
              <a:rPr lang="ru-RU" sz="2899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12 </a:t>
            </a: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форматов</a:t>
            </a:r>
            <a:endParaRPr lang="ru-RU" sz="2899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4061262" y="1038225"/>
            <a:ext cx="966255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Время генерации презентаций укладывается в лимит 5 минут</a:t>
            </a:r>
          </a:p>
        </p:txBody>
      </p:sp>
      <p:sp>
        <p:nvSpPr>
          <p:cNvPr id="5" name="Unit 5"/>
          <p:cNvSpPr txBox="1"/>
          <p:nvPr/>
        </p:nvSpPr>
        <p:spPr>
          <a:xfrm>
            <a:off x="365760" y="3168015"/>
            <a:ext cx="17556480" cy="294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768" b="0" cap="none" spc="0" baseline="0" dirty="0">
                <a:solidFill>
                  <a:srgbClr val="494F56"/>
                </a:solidFill>
                <a:latin typeface="Arial"/>
                <a:cs typeface="Noto Sans"/>
              </a:rPr>
              <a:t>секунд</a:t>
            </a:r>
            <a:endParaRPr lang="ru-RU" sz="1768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3555441"/>
          <a:ext cx="17556480" cy="422029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onclusion strip 7"/>
          <p:cNvSpPr/>
          <p:nvPr/>
        </p:nvSpPr>
        <p:spPr>
          <a:xfrm>
            <a:off x="365760" y="8207789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8" name="Conclusion bar 8"/>
          <p:cNvSpPr/>
          <p:nvPr/>
        </p:nvSpPr>
        <p:spPr>
          <a:xfrm>
            <a:off x="733933" y="8480237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9" name="Conclusion 9"/>
          <p:cNvSpPr txBox="1"/>
          <p:nvPr/>
        </p:nvSpPr>
        <p:spPr>
          <a:xfrm>
            <a:off x="1090193" y="8436056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Все шаблоны укладываются в лимит </a:t>
            </a:r>
            <a:r>
              <a:rPr lang="ru-RU" sz="2899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5 минут</a:t>
            </a: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 с запасом</a:t>
            </a:r>
            <a:endParaRPr lang="ru-RU" sz="2899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Три модели с лицензией Apache 2.0</a:t>
            </a:r>
          </a:p>
        </p:txBody>
      </p:sp>
      <p:sp>
        <p:nvSpPr>
          <p:cNvPr id="5" name="Card 5"/>
          <p:cNvSpPr/>
          <p:nvPr/>
        </p:nvSpPr>
        <p:spPr>
          <a:xfrm>
            <a:off x="365760" y="2406015"/>
            <a:ext cx="5559552" cy="5506466"/>
          </a:xfrm>
          <a:prstGeom prst="roundRect">
            <a:avLst>
              <a:gd name="adj" fmla="val 19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6" name="Index 6"/>
          <p:cNvSpPr txBox="1"/>
          <p:nvPr/>
        </p:nvSpPr>
        <p:spPr>
          <a:xfrm>
            <a:off x="838321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7988"/>
          </a:p>
        </p:txBody>
      </p:sp>
      <p:sp>
        <p:nvSpPr>
          <p:cNvPr id="7" name="Card text 7"/>
          <p:cNvSpPr txBox="1"/>
          <p:nvPr/>
        </p:nvSpPr>
        <p:spPr>
          <a:xfrm>
            <a:off x="838321" y="4203960"/>
            <a:ext cx="4614430" cy="323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Qwen3.8-⁠27B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Основная модель, инференс от VK, конфиг готов</a:t>
            </a:r>
            <a:endParaRPr lang="ru-RU" sz="3200"/>
          </a:p>
        </p:txBody>
      </p:sp>
      <p:sp>
        <p:nvSpPr>
          <p:cNvPr id="8" name="Card 8"/>
          <p:cNvSpPr/>
          <p:nvPr/>
        </p:nvSpPr>
        <p:spPr>
          <a:xfrm>
            <a:off x="6364224" y="2406015"/>
            <a:ext cx="5559552" cy="5506466"/>
          </a:xfrm>
          <a:prstGeom prst="roundRect">
            <a:avLst>
              <a:gd name="adj" fmla="val 19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9" name="Index 9"/>
          <p:cNvSpPr txBox="1"/>
          <p:nvPr/>
        </p:nvSpPr>
        <p:spPr>
          <a:xfrm>
            <a:off x="6836785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7988"/>
          </a:p>
        </p:txBody>
      </p:sp>
      <p:sp>
        <p:nvSpPr>
          <p:cNvPr id="10" name="Card text 10"/>
          <p:cNvSpPr txBox="1"/>
          <p:nvPr/>
        </p:nvSpPr>
        <p:spPr>
          <a:xfrm>
            <a:off x="6836785" y="4203960"/>
            <a:ext cx="4614430" cy="323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7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Qwen3-⁠32B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Запасное звено на Cloud.ru</a:t>
            </a:r>
            <a:endParaRPr lang="ru-RU" sz="3200"/>
          </a:p>
        </p:txBody>
      </p:sp>
      <p:sp>
        <p:nvSpPr>
          <p:cNvPr id="11" name="Card 11"/>
          <p:cNvSpPr/>
          <p:nvPr/>
        </p:nvSpPr>
        <p:spPr>
          <a:xfrm>
            <a:off x="12362688" y="2406015"/>
            <a:ext cx="5559552" cy="5506466"/>
          </a:xfrm>
          <a:prstGeom prst="roundRect">
            <a:avLst>
              <a:gd name="adj" fmla="val 1992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2" name="Index 12"/>
          <p:cNvSpPr txBox="1"/>
          <p:nvPr/>
        </p:nvSpPr>
        <p:spPr>
          <a:xfrm>
            <a:off x="12835249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7988"/>
          </a:p>
        </p:txBody>
      </p:sp>
      <p:sp>
        <p:nvSpPr>
          <p:cNvPr id="13" name="Card text 13"/>
          <p:cNvSpPr txBox="1"/>
          <p:nvPr/>
        </p:nvSpPr>
        <p:spPr>
          <a:xfrm>
            <a:off x="12835249" y="4203960"/>
            <a:ext cx="4614430" cy="3235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Gemma 4 и Qwen3-⁠VL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Два запасных звена цепочки</a:t>
            </a:r>
            <a:endParaRPr lang="ru-RU" sz="3200"/>
          </a:p>
        </p:txBody>
      </p:sp>
      <p:sp>
        <p:nvSpPr>
          <p:cNvPr id="14" name="Conclusion strip 14"/>
          <p:cNvSpPr/>
          <p:nvPr/>
        </p:nvSpPr>
        <p:spPr>
          <a:xfrm>
            <a:off x="365760" y="8344535"/>
            <a:ext cx="17556480" cy="923742"/>
          </a:xfrm>
          <a:prstGeom prst="roundRect">
            <a:avLst>
              <a:gd name="adj" fmla="val 11878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15" name="Conclusion bar 15"/>
          <p:cNvSpPr/>
          <p:nvPr/>
        </p:nvSpPr>
        <p:spPr>
          <a:xfrm>
            <a:off x="733933" y="8616983"/>
            <a:ext cx="61722" cy="378846"/>
          </a:xfrm>
          <a:prstGeom prst="rect">
            <a:avLst/>
          </a:prstGeom>
          <a:solidFill>
            <a:srgbClr val="00C282"/>
          </a:solidFill>
          <a:ln>
            <a:noFill/>
          </a:ln>
        </p:spPr>
      </p:sp>
      <p:sp>
        <p:nvSpPr>
          <p:cNvPr id="16" name="Conclusion 16"/>
          <p:cNvSpPr txBox="1"/>
          <p:nvPr/>
        </p:nvSpPr>
        <p:spPr>
          <a:xfrm>
            <a:off x="1090193" y="8572802"/>
            <a:ext cx="16463874" cy="4672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899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Все модели открыты и готовы к использованию</a:t>
            </a:r>
            <a:endParaRPr lang="ru-RU" sz="2899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4"/>
          <p:cNvSpPr txBox="1"/>
          <p:nvPr/>
        </p:nvSpPr>
        <p:spPr>
          <a:xfrm>
            <a:off x="1028700" y="1038225"/>
            <a:ext cx="15727680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800"/>
              </a:lnSpc>
              <a:spcBef>
                <a:spcPct val="0"/>
              </a:spcBef>
            </a:pPr>
            <a:r>
              <a:rPr lang="ru-RU" sz="5000">
                <a:solidFill>
                  <a:srgbClr val="12222B"/>
                </a:solidFill>
                <a:latin typeface="Arial"/>
              </a:rPr>
              <a:t>2 028 автотестов и форматы PPTX, PDF и HTML</a:t>
            </a:r>
          </a:p>
        </p:txBody>
      </p:sp>
      <p:sp>
        <p:nvSpPr>
          <p:cNvPr id="23" name="Card 23"/>
          <p:cNvSpPr/>
          <p:nvPr/>
        </p:nvSpPr>
        <p:spPr>
          <a:xfrm>
            <a:off x="365760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4" name="Index 24"/>
          <p:cNvSpPr txBox="1"/>
          <p:nvPr/>
        </p:nvSpPr>
        <p:spPr>
          <a:xfrm>
            <a:off x="838321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01</a:t>
            </a:r>
            <a:endParaRPr lang="ru-RU" sz="7988"/>
          </a:p>
        </p:txBody>
      </p:sp>
      <p:sp>
        <p:nvSpPr>
          <p:cNvPr id="25" name="Card text 25"/>
          <p:cNvSpPr txBox="1"/>
          <p:nvPr/>
        </p:nvSpPr>
        <p:spPr>
          <a:xfrm>
            <a:off x="838321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Готовые возможности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PPTX с редактируемыми объектами, PDF и HTML</a:t>
            </a:r>
            <a:endParaRPr lang="ru-RU" sz="3200"/>
          </a:p>
        </p:txBody>
      </p:sp>
      <p:sp>
        <p:nvSpPr>
          <p:cNvPr id="26" name="Card 26"/>
          <p:cNvSpPr/>
          <p:nvPr/>
        </p:nvSpPr>
        <p:spPr>
          <a:xfrm>
            <a:off x="6364224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27" name="Index 27"/>
          <p:cNvSpPr txBox="1"/>
          <p:nvPr/>
        </p:nvSpPr>
        <p:spPr>
          <a:xfrm>
            <a:off x="6836785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02</a:t>
            </a:r>
            <a:endParaRPr lang="ru-RU" sz="7988"/>
          </a:p>
        </p:txBody>
      </p:sp>
      <p:sp>
        <p:nvSpPr>
          <p:cNvPr id="28" name="Card text 28"/>
          <p:cNvSpPr txBox="1"/>
          <p:nvPr/>
        </p:nvSpPr>
        <p:spPr>
          <a:xfrm>
            <a:off x="6836785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Правки через чат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Чат с агентом для правок</a:t>
            </a:r>
            <a:endParaRPr lang="ru-RU" sz="3200"/>
          </a:p>
        </p:txBody>
      </p:sp>
      <p:sp>
        <p:nvSpPr>
          <p:cNvPr id="29" name="Card 29"/>
          <p:cNvSpPr/>
          <p:nvPr/>
        </p:nvSpPr>
        <p:spPr>
          <a:xfrm>
            <a:off x="12362688" y="2406015"/>
            <a:ext cx="5559552" cy="6600710"/>
          </a:xfrm>
          <a:prstGeom prst="roundRect">
            <a:avLst>
              <a:gd name="adj" fmla="val 1973"/>
            </a:avLst>
          </a:prstGeom>
          <a:solidFill>
            <a:srgbClr val="494F56"/>
          </a:solidFill>
          <a:ln>
            <a:noFill/>
          </a:ln>
        </p:spPr>
      </p:sp>
      <p:sp>
        <p:nvSpPr>
          <p:cNvPr id="30" name="Index 30"/>
          <p:cNvSpPr txBox="1"/>
          <p:nvPr/>
        </p:nvSpPr>
        <p:spPr>
          <a:xfrm>
            <a:off x="12835249" y="2878576"/>
            <a:ext cx="4614430" cy="121737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7988" b="0" cap="none" spc="0" baseline="0" dirty="0">
                <a:solidFill>
                  <a:srgbClr val="00C282"/>
                </a:solidFill>
                <a:latin typeface="Arial"/>
                <a:cs typeface="Noto Sans"/>
              </a:rPr>
              <a:t>03</a:t>
            </a:r>
            <a:endParaRPr lang="ru-RU" sz="7988"/>
          </a:p>
        </p:txBody>
      </p:sp>
      <p:sp>
        <p:nvSpPr>
          <p:cNvPr id="31" name="Card text 31"/>
          <p:cNvSpPr txBox="1"/>
          <p:nvPr/>
        </p:nvSpPr>
        <p:spPr>
          <a:xfrm>
            <a:off x="12835249" y="4203960"/>
            <a:ext cx="4614430" cy="43302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760"/>
              </a:spcAft>
              <a:buNone/>
            </a:pPr>
            <a:r>
              <a:rPr lang="ru-RU" sz="5000" b="0" cap="none" spc="0" baseline="0" dirty="0">
                <a:solidFill>
                  <a:srgbClr val="FFFFFF"/>
                </a:solidFill>
                <a:latin typeface="Arial"/>
                <a:cs typeface="Noto Sans"/>
              </a:rPr>
              <a:t>Дальнейшие шаги</a:t>
            </a:r>
            <a:endParaRPr lang="ru-RU" sz="50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3200" b="0" cap="none" spc="0" baseline="0" dirty="0">
                <a:solidFill>
                  <a:srgbClr val="86EAE9"/>
                </a:solidFill>
                <a:latin typeface="Arial"/>
                <a:cs typeface="Noto Sans"/>
              </a:rPr>
              <a:t>Генерация изображений и переход на инференс VK</a:t>
            </a:r>
            <a:endParaRPr lang="ru-RU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1316</Words>
  <Application>Microsoft Macintosh PowerPoint</Application>
  <PresentationFormat>Custom</PresentationFormat>
  <Paragraphs>263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Open Sans Bold</vt:lpstr>
      <vt:lpstr>Open Sauce Bold</vt:lpstr>
      <vt:lpstr>Calibri</vt:lpstr>
      <vt:lpstr>Noto Sans</vt:lpstr>
      <vt:lpstr>Noto Sans Bold</vt:lpstr>
      <vt:lpstr>Arial</vt:lpstr>
      <vt:lpstr>Lato</vt:lpstr>
      <vt:lpstr>Open Sauce</vt:lpstr>
      <vt:lpstr>Open Sans Light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Green Business infographic</dc:title>
  <dc:creator>Korisnik</dc:creator>
  <cp:lastModifiedBy>Maja Maksimovic</cp:lastModifiedBy>
  <cp:revision>4</cp:revision>
  <dcterms:created xsi:type="dcterms:W3CDTF">2006-08-16T00:00:00Z</dcterms:created>
  <dcterms:modified xsi:type="dcterms:W3CDTF">2022-08-29T06:55:29Z</dcterms:modified>
  <dc:identifier>DAFHJBCCLSI</dc:identifier>
</cp:coreProperties>
</file>