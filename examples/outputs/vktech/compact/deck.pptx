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1.xml"/><Relationship Id="rId63" Type="http://schemas.openxmlformats.org/officeDocument/2006/relationships/slide" Target="slides/slide2.xml"/><Relationship Id="rId64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Relationship Id="rId67" Type="http://schemas.openxmlformats.org/officeDocument/2006/relationships/slide" Target="slides/slide6.xml"/><Relationship Id="rId68" Type="http://schemas.openxmlformats.org/officeDocument/2006/relationships/slide" Target="slides/slide7.xml"/><Relationship Id="rId69" Type="http://schemas.openxmlformats.org/officeDocument/2006/relationships/slide" Target="slides/slide8.xml"/><Relationship Id="rId70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4.png"/><Relationship Id="rId3" Type="http://schemas.openxmlformats.org/officeDocument/2006/relationships/image" Target="../media/image144.png"/><Relationship Id="rId4" Type="http://schemas.openxmlformats.org/officeDocument/2006/relationships/image" Target="../media/image140.png"/><Relationship Id="rId5" Type="http://schemas.openxmlformats.org/officeDocument/2006/relationships/image" Target="../media/image152.png"/><Relationship Id="rId6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7" name="Google Shape;417;p44"/>
          <p:cNvSpPr txBox="1"/>
          <p:nvPr>
            <p:ph type="title"/>
          </p:nvPr>
        </p:nvSpPr>
        <p:spPr>
          <a:xfrm>
            <a:off x="210243" y="878488"/>
            <a:ext cx="3524297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</a:pPr>
            <a:r>
              <a:rPr lang="en-US" sz="2400"/>
              <a:t>Инициатива: перенос аналитического контура в VK Cloud</a:t>
            </a:r>
            <a:endParaRPr/>
          </a:p>
        </p:txBody>
      </p:sp>
      <p:sp>
        <p:nvSpPr>
          <p:cNvPr id="418" name="Google Shape;418;p44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</a:pPr>
            <a:r>
              <a:rPr lang="en-US" sz="1200"/>
              <a:t>техническое руководство и финансовый директор</a:t>
            </a:r>
            <a:endParaRPr/>
          </a:p>
        </p:txBody>
      </p:sp>
      <p:grpSp>
        <p:nvGrpSpPr>
          <p:cNvPr id="419" name="Google Shape;419;p44"/>
          <p:cNvGrpSpPr/>
          <p:nvPr/>
        </p:nvGrpSpPr>
        <p:grpSpPr>
          <a:xfrm>
            <a:off x="282380" y="3403462"/>
            <a:ext cx="1195387" cy="99124"/>
            <a:chOff x="658813" y="5548708"/>
            <a:chExt cx="2283170" cy="189326"/>
          </a:xfrm>
        </p:grpSpPr>
        <p:sp>
          <p:nvSpPr>
            <p:cNvPr id="420" name="Google Shape;420;p44"/>
            <p:cNvSpPr/>
            <p:nvPr/>
          </p:nvSpPr>
          <p:spPr>
            <a:xfrm>
              <a:off x="658813" y="5548708"/>
              <a:ext cx="189326" cy="18932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1" name="Google Shape;421;p44"/>
            <p:cNvSpPr/>
            <p:nvPr/>
          </p:nvSpPr>
          <p:spPr>
            <a:xfrm>
              <a:off x="1182274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2" name="Google Shape;422;p44"/>
            <p:cNvSpPr/>
            <p:nvPr/>
          </p:nvSpPr>
          <p:spPr>
            <a:xfrm>
              <a:off x="1705735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3" name="Google Shape;423;p44"/>
            <p:cNvSpPr/>
            <p:nvPr/>
          </p:nvSpPr>
          <p:spPr>
            <a:xfrm>
              <a:off x="2229196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4" name="Google Shape;424;p44"/>
            <p:cNvSpPr/>
            <p:nvPr/>
          </p:nvSpPr>
          <p:spPr>
            <a:xfrm>
              <a:off x="2752657" y="5548708"/>
              <a:ext cx="189326" cy="189326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68571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Google Shape;1059;p66"/>
          <p:cNvSpPr/>
          <p:nvPr/>
        </p:nvSpPr>
        <p:spPr>
          <a:xfrm>
            <a:off x="4048160" y="486418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23%</a:t>
            </a:r>
            <a:endParaRPr b="0" i="0" sz="13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66"/>
          <p:cNvSpPr/>
          <p:nvPr/>
        </p:nvSpPr>
        <p:spPr>
          <a:xfrm>
            <a:off x="4048160" y="740925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загрузка в среднем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66"/>
          <p:cNvSpPr/>
          <p:nvPr/>
        </p:nvSpPr>
        <p:spPr>
          <a:xfrm>
            <a:off x="3838239" y="1462423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2" name="Google Shape;1062;p66"/>
          <p:cNvSpPr/>
          <p:nvPr/>
        </p:nvSpPr>
        <p:spPr>
          <a:xfrm>
            <a:off x="4048160" y="16723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3" name="Google Shape;1063;p66"/>
          <p:cNvSpPr/>
          <p:nvPr/>
        </p:nvSpPr>
        <p:spPr>
          <a:xfrm>
            <a:off x="4048160" y="1672317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97%</a:t>
            </a:r>
            <a:endParaRPr b="0" i="0" sz="13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66"/>
          <p:cNvSpPr/>
          <p:nvPr/>
        </p:nvSpPr>
        <p:spPr>
          <a:xfrm>
            <a:off x="4048160" y="19268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в пиковые дни отчётности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66"/>
          <p:cNvSpPr/>
          <p:nvPr/>
        </p:nvSpPr>
        <p:spPr>
          <a:xfrm>
            <a:off x="3838239" y="2648322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6" name="Google Shape;1066;p66"/>
          <p:cNvSpPr/>
          <p:nvPr/>
        </p:nvSpPr>
        <p:spPr>
          <a:xfrm>
            <a:off x="4048160" y="2858216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7" name="Google Shape;1067;p66"/>
          <p:cNvSpPr/>
          <p:nvPr/>
        </p:nvSpPr>
        <p:spPr>
          <a:xfrm>
            <a:off x="4048160" y="2858216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 из 30</a:t>
            </a:r>
            <a:endParaRPr b="0" i="0" sz="13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p66"/>
          <p:cNvSpPr/>
          <p:nvPr/>
        </p:nvSpPr>
        <p:spPr>
          <a:xfrm>
            <a:off x="4048160" y="3112723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ночные расчёты не успевают к утру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" name="Google Shape;1069;p66"/>
          <p:cNvSpPr/>
          <p:nvPr/>
        </p:nvSpPr>
        <p:spPr>
          <a:xfrm>
            <a:off x="3838239" y="3834221"/>
            <a:ext cx="4948861" cy="1025866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0" name="Google Shape;1070;p66"/>
          <p:cNvSpPr/>
          <p:nvPr/>
        </p:nvSpPr>
        <p:spPr>
          <a:xfrm>
            <a:off x="4048160" y="4044115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1" name="Google Shape;1071;p66"/>
          <p:cNvSpPr/>
          <p:nvPr/>
        </p:nvSpPr>
        <p:spPr>
          <a:xfrm>
            <a:off x="4048160" y="4044115"/>
            <a:ext cx="4585000" cy="18454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38 млн ₽</a:t>
            </a:r>
            <a:endParaRPr b="0" i="0" sz="132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2" name="Google Shape;1072;p66"/>
          <p:cNvSpPr/>
          <p:nvPr/>
        </p:nvSpPr>
        <p:spPr>
          <a:xfrm>
            <a:off x="4048160" y="4298621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продление поддержки железа на следующий год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" name="Google Shape;1073;p66"/>
          <p:cNvSpPr txBox="1"/>
          <p:nvPr>
            <p:ph type="title"/>
          </p:nvPr>
        </p:nvSpPr>
        <p:spPr>
          <a:xfrm>
            <a:off x="177971" y="282949"/>
            <a:ext cx="3412254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992"/>
              <a:t>Аналитический кластер работает на 48 собственных серверах возрастом от четырёх лет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6" name="Google Shape;1036;p65"/>
          <p:cNvSpPr/>
          <p:nvPr/>
        </p:nvSpPr>
        <p:spPr>
          <a:xfrm>
            <a:off x="476248" y="1628898"/>
            <a:ext cx="2463787" cy="1876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Управляемые Kubernetes и ClickHouse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2" name="Google Shape;1042;p65"/>
          <p:cNvSpPr/>
          <p:nvPr/>
        </p:nvSpPr>
        <p:spPr>
          <a:xfrm>
            <a:off x="3365479" y="1628898"/>
            <a:ext cx="2463787" cy="1876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Автоматическое масштабирование под пиковую нагрузку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7" name="Google Shape;1047;p65"/>
          <p:cNvSpPr/>
          <p:nvPr/>
        </p:nvSpPr>
        <p:spPr>
          <a:xfrm>
            <a:off x="6254721" y="1628898"/>
            <a:ext cx="2463787" cy="18763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1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Оплата по потреблению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Google Shape;1050;p65"/>
          <p:cNvSpPr txBox="1"/>
          <p:nvPr>
            <p:ph type="title"/>
          </p:nvPr>
        </p:nvSpPr>
        <p:spPr>
          <a:xfrm>
            <a:off x="177970" y="282949"/>
            <a:ext cx="3556570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040"/>
              <a:t>Перенести хранилище и расчёты в VK Cloud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37" name="Google Shape;2337;p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38499" y="2048344"/>
            <a:ext cx="2309410" cy="230913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38" name="Google Shape;2338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81562" y="2048725"/>
            <a:ext cx="1165937" cy="14048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39" name="Google Shape;2339;p8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333728" y="2045867"/>
            <a:ext cx="2308938" cy="230864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40" name="Google Shape;2340;p8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92291" y="1685070"/>
            <a:ext cx="3030631" cy="3030252"/>
          </a:xfrm>
          <a:prstGeom prst="rect">
            <a:avLst/>
          </a:prstGeom>
          <a:noFill/>
          <a:ln>
            <a:noFill/>
          </a:ln>
        </p:spPr>
      </p:pic>
      <p:sp>
        <p:nvSpPr>
          <p:cNvPr id="2341" name="Google Shape;2341;p86"/>
          <p:cNvSpPr txBox="1"/>
          <p:nvPr>
            <p:ph type="title"/>
          </p:nvPr>
        </p:nvSpPr>
        <p:spPr>
          <a:xfrm>
            <a:off x="177970" y="282949"/>
            <a:ext cx="3556570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1400"/>
              <a:t>Экономия 26 млн рублей в год, окупаемость миграции за 7 месяцев</a:t>
            </a:r>
            <a:endParaRPr/>
          </a:p>
        </p:txBody>
      </p:sp>
      <p:sp>
        <p:nvSpPr>
          <p:cNvPr id="2343" name="Google Shape;2343;p86"/>
          <p:cNvSpPr/>
          <p:nvPr/>
        </p:nvSpPr>
        <p:spPr>
          <a:xfrm>
            <a:off x="285749" y="1543838"/>
            <a:ext cx="1614880" cy="2024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экономия в год</a:t>
            </a:r>
            <a:endParaRPr b="0" i="0" sz="6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5" name="Google Shape;2345;p86"/>
          <p:cNvSpPr/>
          <p:nvPr/>
        </p:nvSpPr>
        <p:spPr>
          <a:xfrm>
            <a:off x="3333728" y="1543838"/>
            <a:ext cx="1614880" cy="2024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окупаемость миграции</a:t>
            </a:r>
            <a:endParaRPr b="0" i="0" sz="6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7" name="Google Shape;2347;p86"/>
          <p:cNvSpPr/>
          <p:nvPr/>
        </p:nvSpPr>
        <p:spPr>
          <a:xfrm>
            <a:off x="6381707" y="1543056"/>
            <a:ext cx="1614880" cy="2024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65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расчёты в пик за счёт масштабирования</a:t>
            </a:r>
            <a:endParaRPr b="0" i="0" sz="105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8" name="Google Shape;2348;p86"/>
          <p:cNvSpPr txBox="1"/>
          <p:nvPr/>
        </p:nvSpPr>
        <p:spPr>
          <a:xfrm>
            <a:off x="854932" y="2991623"/>
            <a:ext cx="1423651" cy="4171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26 млн ₽</a:t>
            </a:r>
            <a:endParaRPr b="0" i="0" sz="3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349" name="Google Shape;2349;p86"/>
          <p:cNvSpPr txBox="1"/>
          <p:nvPr/>
        </p:nvSpPr>
        <p:spPr>
          <a:xfrm>
            <a:off x="3776371" y="2991622"/>
            <a:ext cx="1423651" cy="4171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7 мес</a:t>
            </a:r>
            <a:endParaRPr b="0" i="0" sz="3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350" name="Google Shape;2350;p86"/>
          <p:cNvSpPr txBox="1"/>
          <p:nvPr/>
        </p:nvSpPr>
        <p:spPr>
          <a:xfrm>
            <a:off x="6795780" y="2980839"/>
            <a:ext cx="1423651" cy="41713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×3,4</a:t>
            </a:r>
            <a:endParaRPr b="0" i="0" sz="3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Google Shape;503;p50"/>
          <p:cNvSpPr txBox="1"/>
          <p:nvPr>
            <p:ph type="title"/>
          </p:nvPr>
        </p:nvSpPr>
        <p:spPr>
          <a:xfrm>
            <a:off x="430360" y="338829"/>
            <a:ext cx="330418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040"/>
              <a:t>Экономика: 61 → 35 млн ₽ в год</a:t>
            </a:r>
            <a:endParaRPr/>
          </a:p>
        </p:txBody>
      </p:sp>
      <p:graphicFrame>
        <p:nvGraphicFramePr>
          <p:cNvPr id="508" name="Table 507"/>
          <p:cNvGraphicFramePr>
            <a:graphicFrameLocks noGrp="1"/>
          </p:cNvGraphicFramePr>
          <p:nvPr/>
        </p:nvGraphicFramePr>
        <p:xfrm>
          <a:off x="4637088" y="676278"/>
          <a:ext cx="3862387" cy="1783080"/>
        </p:xfrm>
        <a:graphic>
          <a:graphicData uri="http://schemas.openxmlformats.org/drawingml/2006/table">
            <a:tbl>
              <a:tblPr firstRow="1" bandRow="0"/>
              <a:tblGrid>
                <a:gridCol w="2175992"/>
                <a:gridCol w="779730"/>
                <a:gridCol w="906665"/>
              </a:tblGrid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Play"/>
                        </a:rPr>
                        <a:t>Статья, млн ₽ в год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Play"/>
                        </a:rPr>
                        <a:t>Сейчас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Play"/>
                        </a:rPr>
                        <a:t>В VK Cloud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77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Поддержка и амортизация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38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0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noFill/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Электричество и площадка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solidFill>
                      <a:srgbClr val="FE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9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solidFill>
                      <a:srgbClr val="FE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0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solidFill>
                      <a:srgbClr val="FE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Облачные ресурсы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0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27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noFill/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Команда эксплуатации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solidFill>
                      <a:srgbClr val="FE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14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solidFill>
                      <a:srgbClr val="FE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8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solidFill>
                      <a:srgbClr val="FE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Итого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61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000000"/>
                          </a:solidFill>
                          <a:latin typeface="Play"/>
                        </a:rPr>
                        <a:t>35</a:t>
                      </a:r>
                    </a:p>
                  </a:txBody>
                  <a:tcPr marL="72000" marR="72000" marT="36000" marB="36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C4C4C4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56" name="Google Shape;1056;p66"/>
          <p:cNvSpPr/>
          <p:nvPr/>
        </p:nvSpPr>
        <p:spPr>
          <a:xfrm>
            <a:off x="285748" y="276524"/>
            <a:ext cx="8572456" cy="949937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7" name="Google Shape;1057;p66"/>
          <p:cNvSpPr/>
          <p:nvPr/>
        </p:nvSpPr>
        <p:spPr>
          <a:xfrm>
            <a:off x="3838239" y="276524"/>
            <a:ext cx="4948861" cy="1421165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66"/>
          <p:cNvSpPr/>
          <p:nvPr/>
        </p:nvSpPr>
        <p:spPr>
          <a:xfrm>
            <a:off x="4048160" y="486417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" name="Google Shape;1059;p66"/>
          <p:cNvSpPr/>
          <p:nvPr/>
        </p:nvSpPr>
        <p:spPr>
          <a:xfrm>
            <a:off x="4048160" y="486418"/>
            <a:ext cx="4585000" cy="5880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22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Совместимость</a:t>
            </a:r>
            <a:endParaRPr b="0" i="0" sz="132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0" name="Google Shape;1060;p66"/>
          <p:cNvSpPr/>
          <p:nvPr/>
        </p:nvSpPr>
        <p:spPr>
          <a:xfrm>
            <a:off x="4048160" y="1136224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2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2 из 140 отчётов используют нестандартные расширения — переписываем</a:t>
            </a:r>
            <a:endParaRPr b="0" i="0" sz="99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" name="Google Shape;1061;p66"/>
          <p:cNvSpPr/>
          <p:nvPr/>
        </p:nvSpPr>
        <p:spPr>
          <a:xfrm>
            <a:off x="3838239" y="1857722"/>
            <a:ext cx="4948861" cy="1421165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2" name="Google Shape;1062;p66"/>
          <p:cNvSpPr/>
          <p:nvPr/>
        </p:nvSpPr>
        <p:spPr>
          <a:xfrm>
            <a:off x="4048160" y="2067615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3" name="Google Shape;1063;p66"/>
          <p:cNvSpPr/>
          <p:nvPr/>
        </p:nvSpPr>
        <p:spPr>
          <a:xfrm>
            <a:off x="4048160" y="2067616"/>
            <a:ext cx="4585000" cy="5880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22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Безопасность</a:t>
            </a:r>
            <a:endParaRPr b="0" i="0" sz="132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" name="Google Shape;1064;p66"/>
          <p:cNvSpPr/>
          <p:nvPr/>
        </p:nvSpPr>
        <p:spPr>
          <a:xfrm>
            <a:off x="4048160" y="2717421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2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Данные остаются в контуре РФ, шифрование на диске и в канале, доступ по ролям</a:t>
            </a:r>
            <a:endParaRPr b="0" i="0" sz="99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66"/>
          <p:cNvSpPr/>
          <p:nvPr/>
        </p:nvSpPr>
        <p:spPr>
          <a:xfrm>
            <a:off x="3838239" y="3438921"/>
            <a:ext cx="4948861" cy="1421165"/>
          </a:xfrm>
          <a:prstGeom prst="roundRect">
            <a:avLst>
              <a:gd fmla="val 10361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6" name="Google Shape;1066;p66"/>
          <p:cNvSpPr/>
          <p:nvPr/>
        </p:nvSpPr>
        <p:spPr>
          <a:xfrm>
            <a:off x="4048160" y="3648815"/>
            <a:ext cx="4529021" cy="128571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7" name="Google Shape;1067;p66"/>
          <p:cNvSpPr/>
          <p:nvPr/>
        </p:nvSpPr>
        <p:spPr>
          <a:xfrm>
            <a:off x="4048160" y="3648815"/>
            <a:ext cx="4585000" cy="5880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22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Зависимость от провайдера</a:t>
            </a:r>
            <a:endParaRPr b="0" i="0" sz="1322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" name="Google Shape;1068;p66"/>
          <p:cNvSpPr/>
          <p:nvPr/>
        </p:nvSpPr>
        <p:spPr>
          <a:xfrm>
            <a:off x="4048160" y="4298621"/>
            <a:ext cx="4571005" cy="39355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92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Экспорт данных в открытых форматах закреплён в договоре</a:t>
            </a:r>
            <a:endParaRPr b="0" i="0" sz="992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3" name="Google Shape;1073;p66"/>
          <p:cNvSpPr txBox="1"/>
          <p:nvPr>
            <p:ph type="title"/>
          </p:nvPr>
        </p:nvSpPr>
        <p:spPr>
          <a:xfrm>
            <a:off x="177971" y="282949"/>
            <a:ext cx="3412254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210"/>
              <a:t>Риски и как их снимаем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63" name="Google Shape;663;p5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5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5" name="Google Shape;665;p5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55"/>
          <p:cNvSpPr/>
          <p:nvPr/>
        </p:nvSpPr>
        <p:spPr>
          <a:xfrm>
            <a:off x="491283" y="1362233"/>
            <a:ext cx="2382915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55"/>
          <p:cNvSpPr/>
          <p:nvPr/>
        </p:nvSpPr>
        <p:spPr>
          <a:xfrm>
            <a:off x="43814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8" name="Google Shape;668;p55"/>
          <p:cNvSpPr/>
          <p:nvPr/>
        </p:nvSpPr>
        <p:spPr>
          <a:xfrm>
            <a:off x="491283" y="1590803"/>
            <a:ext cx="2451427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Этап 1, месяц 1–2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55"/>
          <p:cNvSpPr/>
          <p:nvPr/>
        </p:nvSpPr>
        <p:spPr>
          <a:xfrm>
            <a:off x="491283" y="1819373"/>
            <a:ext cx="2434299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Пилот на копии хранилища и 20 отчётах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55"/>
          <p:cNvSpPr/>
          <p:nvPr/>
        </p:nvSpPr>
        <p:spPr>
          <a:xfrm>
            <a:off x="3174983" y="1209852"/>
            <a:ext cx="2793985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1" name="Google Shape;671;p55"/>
          <p:cNvSpPr/>
          <p:nvPr/>
        </p:nvSpPr>
        <p:spPr>
          <a:xfrm>
            <a:off x="3380517" y="1362233"/>
            <a:ext cx="2382915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55"/>
          <p:cNvSpPr/>
          <p:nvPr/>
        </p:nvSpPr>
        <p:spPr>
          <a:xfrm>
            <a:off x="3327382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55"/>
          <p:cNvSpPr/>
          <p:nvPr/>
        </p:nvSpPr>
        <p:spPr>
          <a:xfrm>
            <a:off x="3380517" y="1590803"/>
            <a:ext cx="2451427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Этап 2, месяц 3–4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55"/>
          <p:cNvSpPr/>
          <p:nvPr/>
        </p:nvSpPr>
        <p:spPr>
          <a:xfrm>
            <a:off x="3380517" y="1819373"/>
            <a:ext cx="2434299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Перенос расчётов, параллельная работа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55"/>
          <p:cNvSpPr/>
          <p:nvPr/>
        </p:nvSpPr>
        <p:spPr>
          <a:xfrm>
            <a:off x="6064218" y="1209852"/>
            <a:ext cx="2793985" cy="3014270"/>
          </a:xfrm>
          <a:prstGeom prst="roundRect">
            <a:avLst>
              <a:gd fmla="val 4634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55"/>
          <p:cNvSpPr/>
          <p:nvPr/>
        </p:nvSpPr>
        <p:spPr>
          <a:xfrm>
            <a:off x="6269753" y="1362233"/>
            <a:ext cx="2382915" cy="34285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7" name="Google Shape;677;p55"/>
          <p:cNvSpPr/>
          <p:nvPr/>
        </p:nvSpPr>
        <p:spPr>
          <a:xfrm>
            <a:off x="6216618" y="1362233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55"/>
          <p:cNvSpPr/>
          <p:nvPr/>
        </p:nvSpPr>
        <p:spPr>
          <a:xfrm>
            <a:off x="6269753" y="1590803"/>
            <a:ext cx="2451427" cy="1650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Этап 3, месяц 5–6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55"/>
          <p:cNvSpPr/>
          <p:nvPr/>
        </p:nvSpPr>
        <p:spPr>
          <a:xfrm>
            <a:off x="6269753" y="1819373"/>
            <a:ext cx="2434299" cy="229046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Отключение старого кластера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55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/>
              <a:t>План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03" name="Google Shape;503;p50"/>
          <p:cNvSpPr txBox="1"/>
          <p:nvPr>
            <p:ph type="title"/>
          </p:nvPr>
        </p:nvSpPr>
        <p:spPr>
          <a:xfrm>
            <a:off x="430360" y="338829"/>
            <a:ext cx="3304180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en-US" sz="2040"/>
              <a:t>Решение, которое просим</a:t>
            </a:r>
            <a:endParaRPr/>
          </a:p>
        </p:txBody>
      </p:sp>
      <p:sp>
        <p:nvSpPr>
          <p:cNvPr id="504" name="Google Shape;504;p5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None/>
            </a:pPr>
            <a:r>
              <a:rPr lang="en-US" sz="840"/>
              <a:t>Утвердить бюджет миграции 12 млн рублей и старт пилота с 1 ноября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7" name="Google Shape;447;p47"/>
          <p:cNvSpPr txBox="1"/>
          <p:nvPr>
            <p:ph type="title"/>
          </p:nvPr>
        </p:nvSpPr>
        <p:spPr>
          <a:xfrm>
            <a:off x="572960" y="1682878"/>
            <a:ext cx="3161580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</a:pPr>
            <a:r>
              <a:rPr lang="en-US" sz="3060"/>
              <a:t>Спасибо за внимание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