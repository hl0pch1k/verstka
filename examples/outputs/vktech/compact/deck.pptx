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3637"/>
          <c:y val="0.0128"/>
          <c:w val="0.5251"/>
          <c:h val="0.974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Количество</c:v>
                </c:pt>
              </c:strCache>
            </c:strRef>
          </c:tx>
          <c:spPr>
            <a:solidFill>
              <a:srgbClr val="91C4FF"/>
            </a:solidFill>
            <a:ln>
              <a:noFill/>
            </a:ln>
          </c:spPr>
          <c:invertIfNegative val="0"/>
          <c:dPt>
            <c:idx val="3"/>
            <c:spPr>
              <a:solidFill>
                <a:srgbClr val="0077FF"/>
              </a:solidFill>
              <a:ln>
                <a:noFill/>
              </a:ln>
            </c:spPr>
          </c:dPt>
          <c:dLbls>
            <c:dLbl>
              <c:idx val="3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b="0">
                      <a:solidFill>
                        <a:srgbClr val="0077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Жители района</c:v>
                </c:pt>
                <c:pt idx="1">
                  <c:v>Выбранная возрастная аудитория</c:v>
                </c:pt>
                <c:pt idx="2">
                  <c:v>Потенциально заинтересованные</c:v>
                </c:pt>
                <c:pt idx="3">
                  <c:v>Целевое количество клиентов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18000.0</c:v>
                </c:pt>
                <c:pt idx="1">
                  <c:v>8000.0</c:v>
                </c:pt>
                <c:pt idx="2">
                  <c:v>1200.0</c:v>
                </c:pt>
                <c:pt idx="3">
                  <c:v>250.0</c:v>
                </c:pt>
              </c:numCache>
            </c:numRef>
          </c:val>
        </c:ser>
        <c:dLbls>
          <c:numFmt formatCode="#,##0&quot; человек&quot;;&quot;−&quot;#,##0&quot; человек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900" b="0">
                <a:solidFill>
                  <a:srgbClr val="555657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8000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238"/>
          <c:y val="0.0238"/>
          <c:w val="0.9524"/>
          <c:h val="0.9524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Важность критериев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  <a:ln w="19050">
                <a:solidFill>
                  <a:srgbClr val="FAFCFF"/>
                </a:solidFill>
              </a:ln>
            </c:spPr>
          </c:dPt>
          <c:dPt>
            <c:idx val="1"/>
            <c:spPr>
              <a:solidFill>
                <a:srgbClr val="2D8FFF"/>
              </a:solidFill>
              <a:ln w="19050">
                <a:solidFill>
                  <a:srgbClr val="FAFCFF"/>
                </a:solidFill>
              </a:ln>
            </c:spPr>
          </c:dPt>
          <c:dPt>
            <c:idx val="2"/>
            <c:spPr>
              <a:solidFill>
                <a:srgbClr val="5AA7FF"/>
              </a:solidFill>
              <a:ln w="19050">
                <a:solidFill>
                  <a:srgbClr val="FAFCFF"/>
                </a:solidFill>
              </a:ln>
            </c:spPr>
          </c:dPt>
          <c:dPt>
            <c:idx val="3"/>
            <c:spPr>
              <a:solidFill>
                <a:srgbClr val="8CC1FF"/>
              </a:solidFill>
              <a:ln w="19050">
                <a:solidFill>
                  <a:srgbClr val="FAFCFF"/>
                </a:solidFill>
              </a:ln>
            </c:spPr>
          </c:dPt>
          <c:dPt>
            <c:idx val="4"/>
            <c:spPr>
              <a:solidFill>
                <a:srgbClr val="B9D9FF"/>
              </a:solidFill>
              <a:ln w="19050">
                <a:solidFill>
                  <a:srgbClr val="FAFCFF"/>
                </a:solidFill>
              </a:ln>
            </c:spPr>
          </c:dPt>
          <c:dLbls>
            <c:dLbl>
              <c:idx val="0"/>
              <c:numFmt formatCode="0&quot;%&quot;;&quot;−&quot;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;&quot;−&quot;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;&quot;−&quot;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.0&quot;%&quot;;&quot;−&quot;0.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.0&quot;%&quot;;&quot;−&quot;0.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;&quot;−&quot;0&quot;%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9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Близость к дому</c:v>
                </c:pt>
                <c:pt idx="1">
                  <c:v>Расписание</c:v>
                </c:pt>
                <c:pt idx="2">
                  <c:v>Стоимость</c:v>
                </c:pt>
                <c:pt idx="3">
                  <c:v>Тренеры</c:v>
                </c:pt>
                <c:pt idx="4">
                  <c:v>Атмосфера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35.0</c:v>
                </c:pt>
                <c:pt idx="1">
                  <c:v>25.0</c:v>
                </c:pt>
                <c:pt idx="2">
                  <c:v>20.0</c:v>
                </c:pt>
                <c:pt idx="3">
                  <c:v>12.5</c:v>
                </c:pt>
                <c:pt idx="4">
                  <c:v>7.5</c:v>
                </c:pt>
              </c:numCache>
            </c:numRef>
          </c:val>
        </c:ser>
        <c:dLbls>
          <c:numFmt formatCode="0&quot;%&quot;;&quot;−&quot;0&quot;%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9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3797"/>
          <c:y val="0.0128"/>
          <c:w val="0.5259"/>
          <c:h val="0.974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Посещений</c:v>
                </c:pt>
              </c:strCache>
            </c:strRef>
          </c:tx>
          <c:spPr>
            <a:solidFill>
              <a:srgbClr val="0077FF"/>
            </a:solidFill>
            <a:ln>
              <a:noFill/>
            </a:ln>
          </c:spPr>
          <c:invertIfNegative val="0"/>
          <c:dLbls>
            <c:dLbl>
              <c:idx val="0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Месячная вместимость</c:v>
                </c:pt>
                <c:pt idx="1">
                  <c:v>Ожидаемое количество посещений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2700.0</c:v>
                </c:pt>
                <c:pt idx="1">
                  <c:v>2000.0</c:v>
                </c:pt>
              </c:numCache>
            </c:numRef>
          </c:val>
        </c:ser>
        <c:dLbls>
          <c:numFmt formatCode="#,##0&quot; посещений&quot;;&quot;−&quot;#,##0&quot; посещений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28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900" b="0">
                <a:solidFill>
                  <a:srgbClr val="555657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2700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236"/>
          <c:y val="0.0236"/>
          <c:w val="0.9528"/>
          <c:h val="0.9528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Бюджет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  <a:ln w="19050">
                <a:solidFill>
                  <a:srgbClr val="FAFCFF"/>
                </a:solidFill>
              </a:ln>
            </c:spPr>
          </c:dPt>
          <c:dPt>
            <c:idx val="1"/>
            <c:spPr>
              <a:solidFill>
                <a:srgbClr val="3C97FF"/>
              </a:solidFill>
              <a:ln w="19050">
                <a:solidFill>
                  <a:srgbClr val="FAFCFF"/>
                </a:solidFill>
              </a:ln>
            </c:spPr>
          </c:dPt>
          <c:dPt>
            <c:idx val="2"/>
            <c:spPr>
              <a:solidFill>
                <a:srgbClr val="7DBAFF"/>
              </a:solidFill>
              <a:ln w="19050">
                <a:solidFill>
                  <a:srgbClr val="FAFCFF"/>
                </a:solidFill>
              </a:ln>
            </c:spPr>
          </c:dPt>
          <c:dPt>
            <c:idx val="3"/>
            <c:spPr>
              <a:solidFill>
                <a:srgbClr val="B9D9FF"/>
              </a:solidFill>
              <a:ln w="19050">
                <a:solidFill>
                  <a:srgbClr val="FAFCFF"/>
                </a:solidFill>
              </a:ln>
            </c:spPr>
          </c:dPt>
          <c:dLbls>
            <c:dLbl>
              <c:idx val="0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Оплата работы тренеров</c:v>
                </c:pt>
                <c:pt idx="1">
                  <c:v>Администраторов</c:v>
                </c:pt>
                <c:pt idx="2">
                  <c:v>Уборки</c:v>
                </c:pt>
                <c:pt idx="3">
                  <c:v>Резерв на замены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260000.0</c:v>
                </c:pt>
                <c:pt idx="1">
                  <c:v>110000.0</c:v>
                </c:pt>
                <c:pt idx="2">
                  <c:v>30000.0</c:v>
                </c:pt>
                <c:pt idx="3">
                  <c:v>20000.0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4335"/>
          <c:y val="0.0114"/>
          <c:w val="0.4322"/>
          <c:h val="0.977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Бюджет</c:v>
                </c:pt>
              </c:strCache>
            </c:strRef>
          </c:tx>
          <c:spPr>
            <a:solidFill>
              <a:srgbClr val="0077FF"/>
            </a:solidFill>
            <a:ln>
              <a:noFill/>
            </a:ln>
          </c:spPr>
          <c:invertIfNegative val="0"/>
          <c:dLbls>
            <c:dLbl>
              <c:idx val="0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Реклама в соцсетях</c:v>
                </c:pt>
                <c:pt idx="1">
                  <c:v>Районные сообщества и местные каналы</c:v>
                </c:pt>
                <c:pt idx="2">
                  <c:v>Партнерства с ЖК и организациями</c:v>
                </c:pt>
                <c:pt idx="3">
                  <c:v>Мероприятия открытия</c:v>
                </c:pt>
                <c:pt idx="4">
                  <c:v>Печатные материалы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90000.0</c:v>
                </c:pt>
                <c:pt idx="1">
                  <c:v>60000.0</c:v>
                </c:pt>
                <c:pt idx="2">
                  <c:v>40000.0</c:v>
                </c:pt>
                <c:pt idx="3">
                  <c:v>30000.0</c:v>
                </c:pt>
                <c:pt idx="4">
                  <c:v>20000.0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900" b="0">
                <a:solidFill>
                  <a:srgbClr val="555657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90000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374"/>
          <c:y val="0.0374"/>
          <c:w val="0.9251"/>
          <c:h val="0.9251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Вложения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  <a:ln w="19050">
                <a:solidFill>
                  <a:srgbClr val="FAFCFF"/>
                </a:solidFill>
              </a:ln>
            </c:spPr>
          </c:dPt>
          <c:dPt>
            <c:idx val="1"/>
            <c:spPr>
              <a:solidFill>
                <a:srgbClr val="238AFF"/>
              </a:solidFill>
              <a:ln w="19050">
                <a:solidFill>
                  <a:srgbClr val="FAFCFF"/>
                </a:solidFill>
              </a:ln>
            </c:spPr>
          </c:dPt>
          <c:dPt>
            <c:idx val="2"/>
            <c:spPr>
              <a:solidFill>
                <a:srgbClr val="4B9FFF"/>
              </a:solidFill>
              <a:ln w="19050">
                <a:solidFill>
                  <a:srgbClr val="FAFCFF"/>
                </a:solidFill>
              </a:ln>
            </c:spPr>
          </c:dPt>
          <c:dPt>
            <c:idx val="3"/>
            <c:spPr>
              <a:solidFill>
                <a:srgbClr val="6EB2FF"/>
              </a:solidFill>
              <a:ln w="19050">
                <a:solidFill>
                  <a:srgbClr val="FAFCFF"/>
                </a:solidFill>
              </a:ln>
            </c:spPr>
          </c:dPt>
          <c:dPt>
            <c:idx val="4"/>
            <c:spPr>
              <a:solidFill>
                <a:srgbClr val="96C7FF"/>
              </a:solidFill>
              <a:ln w="19050">
                <a:solidFill>
                  <a:srgbClr val="FAFCFF"/>
                </a:solidFill>
              </a:ln>
            </c:spPr>
          </c:dPt>
          <c:dPt>
            <c:idx val="5"/>
            <c:spPr>
              <a:solidFill>
                <a:srgbClr val="B9D9FF"/>
              </a:solidFill>
              <a:ln w="19050">
                <a:solidFill>
                  <a:srgbClr val="FAFCFF"/>
                </a:solidFill>
              </a:ln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Ремонт и подготовка помещения</c:v>
                </c:pt>
                <c:pt idx="1">
                  <c:v>Оборотный резерв</c:v>
                </c:pt>
                <c:pt idx="2">
                  <c:v>Оборудование и инвентарь</c:v>
                </c:pt>
                <c:pt idx="3">
                  <c:v>Мебель и обустройство раздевалок</c:v>
                </c:pt>
                <c:pt idx="4">
                  <c:v>Обеспечительный платеж по аренде</c:v>
                </c:pt>
                <c:pt idx="5">
                  <c:v>Сайт и система записи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900000.0</c:v>
                </c:pt>
                <c:pt idx="1">
                  <c:v>850000.0</c:v>
                </c:pt>
                <c:pt idx="2">
                  <c:v>650000.0</c:v>
                </c:pt>
                <c:pt idx="3">
                  <c:v>300000.0</c:v>
                </c:pt>
                <c:pt idx="4">
                  <c:v>180000.0</c:v>
                </c:pt>
                <c:pt idx="5">
                  <c:v>120000.0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2602"/>
          <c:y val="0.0127"/>
          <c:w val="0.5651"/>
          <c:h val="0.974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₽</c:v>
                </c:pt>
              </c:strCache>
            </c:strRef>
          </c:tx>
          <c:spPr>
            <a:solidFill>
              <a:srgbClr val="0077FF"/>
            </a:solidFill>
            <a:ln>
              <a:noFill/>
            </a:ln>
          </c:spPr>
          <c:invertIfNegative val="0"/>
          <c:dLbls>
            <c:dLbl>
              <c:idx val="0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Выручка</c:v>
                </c:pt>
                <c:pt idx="1">
                  <c:v>Расходы</c:v>
                </c:pt>
                <c:pt idx="2">
                  <c:v>Операционная прибыль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1262500.0</c:v>
                </c:pt>
                <c:pt idx="1">
                  <c:v>1038125.0</c:v>
                </c:pt>
                <c:pt idx="2">
                  <c:v>224375.0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1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900" b="0">
                <a:solidFill>
                  <a:srgbClr val="555657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262500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032"/>
          <c:y val="0.1255"/>
          <c:w val="0.9937"/>
          <c:h val="0.798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Активные клиенты</c:v>
                </c:pt>
              </c:strCache>
            </c:strRef>
          </c:tx>
          <c:spPr>
            <a:ln w="28575">
              <a:solidFill>
                <a:srgbClr val="0077FF"/>
              </a:solidFill>
            </a:ln>
          </c:spPr>
          <c:marker>
            <c:symbol val="circle"/>
            <c:size val="8"/>
            <c:spPr>
              <a:solidFill>
                <a:srgbClr val="0077FF"/>
              </a:solidFill>
              <a:ln w="19050">
                <a:solidFill>
                  <a:srgbClr val="FAFCFF"/>
                </a:solidFill>
              </a:ln>
            </c:spPr>
          </c:marker>
          <c:dPt>
            <c:idx val="5"/>
            <c:marker>
              <c:symbol val="circle"/>
              <c:size val="11"/>
              <c:spPr>
                <a:solidFill>
                  <a:srgbClr val="0077FF"/>
                </a:solidFill>
                <a:ln w="25400">
                  <a:solidFill>
                    <a:srgbClr val="FAFCFF"/>
                  </a:solidFill>
                </a:ln>
              </c:spPr>
            </c:marker>
          </c:dPt>
          <c:dLbls>
            <c:dLbl>
              <c:idx val="0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-0.0518"/>
                  <c:y val="0.0000"/>
                </c:manualLayout>
              </c:layout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0.0518"/>
                  <c:y val="0.0000"/>
                </c:manualLayout>
              </c:layout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b="0">
                      <a:solidFill>
                        <a:srgbClr val="0077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1-й месяц</c:v>
                </c:pt>
                <c:pt idx="1">
                  <c:v>2-й месяц</c:v>
                </c:pt>
                <c:pt idx="2">
                  <c:v>3-й месяц</c:v>
                </c:pt>
                <c:pt idx="3">
                  <c:v>4-й месяц</c:v>
                </c:pt>
                <c:pt idx="4">
                  <c:v>5-й месяц</c:v>
                </c:pt>
                <c:pt idx="5">
                  <c:v>6-й месяц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80.0</c:v>
                </c:pt>
                <c:pt idx="1">
                  <c:v>120.0</c:v>
                </c:pt>
                <c:pt idx="2">
                  <c:v>160.0</c:v>
                </c:pt>
                <c:pt idx="3">
                  <c:v>195.0</c:v>
                </c:pt>
                <c:pt idx="4">
                  <c:v>225.0</c:v>
                </c:pt>
                <c:pt idx="5">
                  <c:v>250.0</c:v>
                </c:pt>
              </c:numCache>
            </c:numRef>
          </c:val>
          <c:smooth val="0"/>
        </c:ser>
        <c:dLbls>
          <c:numFmt formatCode="#,##0&quot; чел.&quot;;&quot;−&quot;#,##0&quot; чел.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smooth val="0"/>
        <c:axId val="510000001"/>
        <c:axId val="510000002"/>
      </c:line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DDE3EA"/>
            </a:solidFill>
          </a:ln>
        </c:spPr>
        <c:txPr>
          <a:bodyPr rot="0" vert="horz"/>
          <a:lstStyle/>
          <a:p>
            <a:pPr>
              <a:defRPr sz="900" b="0">
                <a:solidFill>
                  <a:srgbClr val="555657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250.0"/>
          <c:min val="0.0"/>
        </c:scaling>
        <c:delete val="1"/>
        <c:axPos val="l"/>
        <c:majorTickMark val="out"/>
        <c:minorTickMark val="none"/>
        <c:tickLblPos val="nextTo"/>
        <c:crossAx val="51000000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037"/>
          <c:y val="0.1055"/>
          <c:w val="0.9926"/>
          <c:h val="0.818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Операционный результат</c:v>
                </c:pt>
              </c:strCache>
            </c:strRef>
          </c:tx>
          <c:spPr>
            <a:ln w="28575">
              <a:solidFill>
                <a:srgbClr val="0077FF"/>
              </a:solidFill>
            </a:ln>
          </c:spPr>
          <c:marker>
            <c:symbol val="circle"/>
            <c:size val="8"/>
            <c:spPr>
              <a:solidFill>
                <a:srgbClr val="0077FF"/>
              </a:solidFill>
              <a:ln w="19050">
                <a:solidFill>
                  <a:srgbClr val="FAFCFF"/>
                </a:solidFill>
              </a:ln>
            </c:spPr>
          </c:marker>
          <c:dPt>
            <c:idx val="5"/>
            <c:marker>
              <c:symbol val="circle"/>
              <c:size val="11"/>
              <c:spPr>
                <a:solidFill>
                  <a:srgbClr val="0077FF"/>
                </a:solidFill>
                <a:ln w="25400">
                  <a:solidFill>
                    <a:srgbClr val="FAFCFF"/>
                  </a:solidFill>
                </a:ln>
              </c:spPr>
            </c:marker>
          </c:dPt>
          <c:dLbls>
            <c:dLbl>
              <c:idx val="0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-0.0929"/>
                  <c:y val="0.0000"/>
                </c:manualLayout>
              </c:layout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0.0929"/>
                  <c:y val="0.0000"/>
                </c:manualLayout>
              </c:layout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0.0841"/>
                  <c:y val="0.0000"/>
                </c:manualLayout>
              </c:layout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-0.0853"/>
                  <c:y val="0.0000"/>
                </c:manualLayout>
              </c:layout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50" b="0">
                      <a:solidFill>
                        <a:srgbClr val="0077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9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1-й месяц</c:v>
                </c:pt>
                <c:pt idx="1">
                  <c:v>2-й месяц</c:v>
                </c:pt>
                <c:pt idx="2">
                  <c:v>3-й месяц</c:v>
                </c:pt>
                <c:pt idx="3">
                  <c:v>4-й месяц</c:v>
                </c:pt>
                <c:pt idx="4">
                  <c:v>5-й месяц</c:v>
                </c:pt>
                <c:pt idx="5">
                  <c:v>6-й месяц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-591200.0</c:v>
                </c:pt>
                <c:pt idx="1">
                  <c:v>-399300.0</c:v>
                </c:pt>
                <c:pt idx="2">
                  <c:v>-207400.0</c:v>
                </c:pt>
                <c:pt idx="3">
                  <c:v>-39487.5</c:v>
                </c:pt>
                <c:pt idx="4">
                  <c:v>104437.5</c:v>
                </c:pt>
                <c:pt idx="5">
                  <c:v>224375.0</c:v>
                </c:pt>
              </c:numCache>
            </c:numRef>
          </c:val>
          <c:smooth val="0"/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9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smooth val="0"/>
        <c:axId val="510000001"/>
        <c:axId val="510000002"/>
      </c:line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DDE3EA"/>
            </a:solidFill>
          </a:ln>
        </c:spPr>
        <c:txPr>
          <a:bodyPr rot="0" vert="horz"/>
          <a:lstStyle/>
          <a:p>
            <a:pPr>
              <a:defRPr sz="900" b="0">
                <a:solidFill>
                  <a:srgbClr val="555657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224375.0"/>
          <c:min val="-795093.75"/>
        </c:scaling>
        <c:delete val="1"/>
        <c:axPos val="l"/>
        <c:majorTickMark val="out"/>
        <c:minorTickMark val="none"/>
        <c:tickLblPos val="nextTo"/>
        <c:crossAx val="51000000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3438"/>
          <c:y val="0.0114"/>
          <c:w val="0.4693"/>
          <c:h val="0.977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Сумма</c:v>
                </c:pt>
              </c:strCache>
            </c:strRef>
          </c:tx>
          <c:spPr>
            <a:solidFill>
              <a:srgbClr val="0077FF"/>
            </a:solidFill>
            <a:ln>
              <a:noFill/>
            </a:ln>
          </c:spPr>
          <c:invertIfNegative val="0"/>
          <c:dLbls>
            <c:dLbl>
              <c:idx val="0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Имеющийся резерв</c:v>
                </c:pt>
                <c:pt idx="1">
                  <c:v>Прогнозируемая потребность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850000.0</c:v>
                </c:pt>
                <c:pt idx="1">
                  <c:v>1237388.0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71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900" b="0">
                <a:solidFill>
                  <a:srgbClr val="555657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237388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Фитнес-студия «Движение» предназначена для проведения групповых тренировок. Основные направления включают силовые занятия, растяжку, йогу и функциональные тренировки. Цель проекта — привлечь 250 постоянных клиентов и достичь ежемесячной операционной прибыли в размере 225 000 рублей к шестому месяцу работы.</a:t>
            </a:r>
          </a:p>
          <a:p>
            <a:r>
              <a:t>[verstka:sl2]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 районе проживает 18 000 человек, из них 8 000 относится к возрастной группе 23–45 лет. По предварительной оценке, 15% этой группы могут заинтересоваться занятиями — это 1 200 человек. Для достижения целевого показателя студии необходимо привлечь 21% этой аудитории, что составляет 250 человек.</a:t>
            </a:r>
          </a:p>
          <a:p>
            <a:r>
              <a:t>[verstka:sl3]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Опрос проводился среди 200 жителей района. Каждый участник выбирал один основной критерий.</a:t>
            </a:r>
          </a:p>
          <a:p>
            <a:r>
              <a:t>[verstka:sl4]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Средняя выручка на клиента рассчитана на основе этого распределения.</a:t>
            </a:r>
          </a:p>
          <a:p>
            <a:r>
              <a:t>[verstka:sl5]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Студия будет работать ежедневно с 07:00 до 22:00. В будние дни запланировано по восемь групповых занятий, в выходные — по шесть. Это 52 занятия в неделю, или около 225 в месяц. При вместимости 12 человек студия сможет обеспечить примерно 2 700 посещений в месяц. При 250 клиентах и среднем абонементе на восемь занятий ожидается до 2 000 посещений в месяц. Средняя загрузка составит около 74%.</a:t>
            </a:r>
          </a:p>
          <a:p>
            <a:r>
              <a:t>[verstka:sl6]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Площадь студии составляет 180 м².</a:t>
            </a:r>
          </a:p>
          <a:p>
            <a:r>
              <a:t>[verstka:sl7]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Бюджет команды составляет 420 000 рублей в месяц. На оплату работы тренеров выделяется 260 000 рублей, администраторов — 110 000 рублей, уборки — 30 000 рублей, резерв на замены — 20 000 рублей.</a:t>
            </a:r>
          </a:p>
          <a:p>
            <a:r>
              <a:t>[verstka:sl8]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Бюджет на первые три месяца продвижения составляет 240 000 ₽. Наибольшая часть — 90 000 ₽ — направлена на рекламу в социальных сетях. План привлечения клиентов рассчитан на получение 1 000 обращений, 500 записей на пробное занятие, 350 фактических посещений и 175 проданных абонементов. Средняя стоимость привлечения одного покупателя по этому плану — около 1 371 ₽.</a:t>
            </a:r>
          </a:p>
          <a:p>
            <a:r>
              <a:t>[verstka:sl9]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Стартовый бюджет проекта — 3 000 000 рублей.</a:t>
            </a:r>
          </a:p>
          <a:p>
            <a:r>
              <a:t>[verstka:sl10]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При 250 активных клиентах и средней месячной выручке на клиента 5 050 рублей студия получит 1 262 500 рублей выручки. Постоянные ежемесячные расходы составят 975 000 рублей, а переменные — 5% от выручки (63 125 рублей). Общие расходы — 1 038 125 рублей, операционная прибыль — 224 375 рублей, рентабельность — 17,8%. Налоги, амортизация и проценты по кредитам не учтены.</a:t>
            </a:r>
          </a:p>
          <a:p>
            <a:r>
              <a:t>[verstka:sl11]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Операционный результат рассчитывается как выручка минус постоянные и переменные расходы. Переменные расходы составляют 5% от выручки.</a:t>
            </a:r>
          </a:p>
          <a:p>
            <a:r>
              <a:t>[verstka:sl12]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Суммарный операционный убыток за первые четыре месяца составит около 1 237 388 рублей. Имеющийся оборотный резерв — 850 000 рублей, недостаток — 387 388 рублей.</a:t>
            </a:r>
          </a:p>
          <a:p>
            <a:r>
              <a:t>[verstka:sl13]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chart" Target="../charts/chart5.xml"/><Relationship Id="rId4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chart" Target="../charts/chart6.xml"/><Relationship Id="rId4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chart" Target="../charts/chart7.xml"/><Relationship Id="rId4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chart" Target="../charts/chart8.xml"/><Relationship Id="rId4" Type="http://schemas.openxmlformats.org/officeDocument/2006/relationships/chart" Target="../charts/chart9.xml"/><Relationship Id="rId5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66.xml"/></Relationships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5040395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Цель — 250 клиентов и 225 000 ₽ прибыли к шестому месяцу</a:t>
            </a:r>
            <a:endParaRPr/>
          </a:p>
        </p:txBody>
      </p:sp>
      <p:sp>
        <p:nvSpPr>
          <p:cNvPr id="1218" name="Marker 1218"/>
          <p:cNvSpPr/>
          <p:nvPr/>
        </p:nvSpPr>
        <p:spPr>
          <a:xfrm>
            <a:off x="248929" y="1459908"/>
            <a:ext cx="86868" cy="86868"/>
          </a:xfrm>
          <a:prstGeom prst="ellipse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19" name="Item 1219"/>
          <p:cNvSpPr txBox="1"/>
          <p:nvPr/>
        </p:nvSpPr>
        <p:spPr>
          <a:xfrm>
            <a:off x="614689" y="1366182"/>
            <a:ext cx="6523525" cy="574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Фитнес-⁠студия «Движение» предлагает групповые тренировки рядом с домом</a:t>
            </a:r>
            <a:endParaRPr lang="ru-RU" sz="1800"/>
          </a:p>
        </p:txBody>
      </p:sp>
      <p:cxnSp>
        <p:nvCxnSpPr>
          <p:cNvPr id="1220" name="Line 1220"/>
          <p:cNvCxnSpPr/>
          <p:nvPr/>
        </p:nvCxnSpPr>
        <p:spPr>
          <a:xfrm>
            <a:off x="614689" y="2283122"/>
            <a:ext cx="6523525" cy="0"/>
          </a:xfrm>
          <a:prstGeom prst="line">
            <a:avLst/>
          </a:prstGeom>
          <a:ln w="9525">
            <a:solidFill>
              <a:srgbClr val="DDE3EA"/>
            </a:solidFill>
          </a:ln>
        </p:spPr>
      </p:cxnSp>
      <p:sp>
        <p:nvSpPr>
          <p:cNvPr id="1221" name="Marker 1221"/>
          <p:cNvSpPr/>
          <p:nvPr/>
        </p:nvSpPr>
        <p:spPr>
          <a:xfrm>
            <a:off x="248929" y="2719748"/>
            <a:ext cx="86868" cy="86868"/>
          </a:xfrm>
          <a:prstGeom prst="ellipse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22" name="Item 1222"/>
          <p:cNvSpPr txBox="1"/>
          <p:nvPr/>
        </p:nvSpPr>
        <p:spPr>
          <a:xfrm>
            <a:off x="614689" y="2626022"/>
            <a:ext cx="6523525" cy="574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Основные направления: силовые занятия, растяжка, йога и функциональные тренировки</a:t>
            </a:r>
            <a:endParaRPr lang="ru-RU" sz="1800"/>
          </a:p>
        </p:txBody>
      </p:sp>
      <p:sp>
        <p:nvSpPr>
          <p:cNvPr id="1223" name="Footnote 1223"/>
          <p:cNvSpPr txBox="1"/>
          <p:nvPr/>
        </p:nvSpPr>
        <p:spPr>
          <a:xfrm>
            <a:off x="248929" y="4346269"/>
            <a:ext cx="8611607" cy="14914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812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Все цифры условные и используются для учебного бизнес-⁠плана</a:t>
            </a:r>
            <a:endParaRPr lang="ru-RU" sz="812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5442614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Целевая аудитория — 250 клиентов из 1 200 потенциальных</a:t>
            </a:r>
            <a:endParaRPr/>
          </a:p>
        </p:txBody>
      </p:sp>
      <p:sp>
        <p:nvSpPr>
          <p:cNvPr id="1208" name="Chart note 1208"/>
          <p:cNvSpPr txBox="1"/>
          <p:nvPr/>
        </p:nvSpPr>
        <p:spPr>
          <a:xfrm>
            <a:off x="248929" y="1366182"/>
            <a:ext cx="2927946" cy="1244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09550" indent="-209550">
              <a:lnSpc>
                <a:spcPct val="100000"/>
              </a:lnSpc>
              <a:spcAft>
                <a:spcPts val="600"/>
              </a:spcAft>
              <a:buClr>
                <a:srgbClr val="0077FF"/>
              </a:buClr>
              <a:buFont typeface="Arial"/>
              <a:buChar char="•"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15% возрастной аудитории заинтересованы в занятиях рядом с домом</a:t>
            </a:r>
            <a:endParaRPr lang="ru-RU" sz="1500"/>
          </a:p>
          <a:p>
            <a:pPr algn="l" marL="209550" indent="-209550">
              <a:lnSpc>
                <a:spcPct val="100000"/>
              </a:lnSpc>
              <a:buClr>
                <a:srgbClr val="0077FF"/>
              </a:buClr>
              <a:buFont typeface="Arial"/>
              <a:buChar char="•"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Для достижения цели нужно привлечь 21% этой группы</a:t>
            </a:r>
            <a:endParaRPr lang="ru-RU" sz="1500"/>
          </a:p>
        </p:txBody>
      </p:sp>
      <p:cxnSp>
        <p:nvCxnSpPr>
          <p:cNvPr id="1209" name="Line 1209"/>
          <p:cNvCxnSpPr/>
          <p:nvPr/>
        </p:nvCxnSpPr>
        <p:spPr>
          <a:xfrm>
            <a:off x="3396331" y="1366182"/>
            <a:ext cx="0" cy="124460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1210" name="Unit 1210"/>
          <p:cNvSpPr txBox="1"/>
          <p:nvPr/>
        </p:nvSpPr>
        <p:spPr>
          <a:xfrm>
            <a:off x="3615787" y="1366182"/>
            <a:ext cx="5244749" cy="162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Потенциальные клиенты, человек</a:t>
            </a:r>
            <a:endParaRPr lang="ru-RU" sz="900"/>
          </a:p>
        </p:txBody>
      </p:sp>
      <p:graphicFrame>
        <p:nvGraphicFramePr>
          <p:cNvPr id="1211" name="Chart 1210"/>
          <p:cNvGraphicFramePr>
            <a:graphicFrameLocks noGrp="1"/>
          </p:cNvGraphicFramePr>
          <p:nvPr/>
        </p:nvGraphicFramePr>
        <p:xfrm>
          <a:off x="3615787" y="1575033"/>
          <a:ext cx="5244749" cy="267004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4628387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Близость к дому важна для 35% потенциальных клиентов</a:t>
            </a:r>
            <a:endParaRPr/>
          </a:p>
        </p:txBody>
      </p:sp>
      <p:graphicFrame>
        <p:nvGraphicFramePr>
          <p:cNvPr id="1208" name="Chart 1207"/>
          <p:cNvGraphicFramePr>
            <a:graphicFrameLocks noGrp="1"/>
          </p:cNvGraphicFramePr>
          <p:nvPr/>
        </p:nvGraphicFramePr>
        <p:xfrm>
          <a:off x="4545224" y="1366182"/>
          <a:ext cx="2878897" cy="287889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09" name="Legend title 1209"/>
          <p:cNvSpPr txBox="1"/>
          <p:nvPr/>
        </p:nvSpPr>
        <p:spPr>
          <a:xfrm>
            <a:off x="1685343" y="1786455"/>
            <a:ext cx="2420969" cy="38735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Что важно посетителям</a:t>
            </a:r>
            <a:endParaRPr lang="ru-RU" sz="1500"/>
          </a:p>
        </p:txBody>
      </p:sp>
      <p:sp>
        <p:nvSpPr>
          <p:cNvPr id="1210" name="Swatch 1210"/>
          <p:cNvSpPr/>
          <p:nvPr/>
        </p:nvSpPr>
        <p:spPr>
          <a:xfrm>
            <a:off x="1685343" y="2219525"/>
            <a:ext cx="137160" cy="137160"/>
          </a:xfrm>
          <a:prstGeom prst="roundRect">
            <a:avLst>
              <a:gd name="adj" fmla="val 25000"/>
            </a:avLst>
          </a:prstGeom>
          <a:solidFill>
            <a:srgbClr val="0077FF"/>
          </a:solidFill>
          <a:ln>
            <a:noFill/>
          </a:ln>
        </p:spPr>
      </p:sp>
      <p:sp>
        <p:nvSpPr>
          <p:cNvPr id="1211" name="Legend 1211"/>
          <p:cNvSpPr txBox="1"/>
          <p:nvPr/>
        </p:nvSpPr>
        <p:spPr>
          <a:xfrm>
            <a:off x="1932231" y="2173805"/>
            <a:ext cx="153709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Близость к дому</a:t>
            </a:r>
            <a:endParaRPr lang="ru-RU" sz="1500"/>
          </a:p>
        </p:txBody>
      </p:sp>
      <p:sp>
        <p:nvSpPr>
          <p:cNvPr id="1212" name="Share 1212"/>
          <p:cNvSpPr txBox="1"/>
          <p:nvPr/>
        </p:nvSpPr>
        <p:spPr>
          <a:xfrm>
            <a:off x="3469328" y="2173805"/>
            <a:ext cx="636984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5EFF"/>
                </a:solidFill>
                <a:latin typeface="Play"/>
                <a:cs typeface="Play"/>
              </a:rPr>
              <a:t>35%</a:t>
            </a:r>
            <a:endParaRPr lang="ru-RU" sz="1500"/>
          </a:p>
        </p:txBody>
      </p:sp>
      <p:sp>
        <p:nvSpPr>
          <p:cNvPr id="1213" name="Swatch 1213"/>
          <p:cNvSpPr/>
          <p:nvPr/>
        </p:nvSpPr>
        <p:spPr>
          <a:xfrm>
            <a:off x="1685343" y="2568775"/>
            <a:ext cx="137160" cy="137160"/>
          </a:xfrm>
          <a:prstGeom prst="roundRect">
            <a:avLst>
              <a:gd name="adj" fmla="val 25000"/>
            </a:avLst>
          </a:prstGeom>
          <a:solidFill>
            <a:srgbClr val="0077FF">
              <a:alpha val="82000"/>
            </a:srgbClr>
          </a:solidFill>
          <a:ln>
            <a:noFill/>
          </a:ln>
        </p:spPr>
      </p:sp>
      <p:sp>
        <p:nvSpPr>
          <p:cNvPr id="1214" name="Legend 1214"/>
          <p:cNvSpPr txBox="1"/>
          <p:nvPr/>
        </p:nvSpPr>
        <p:spPr>
          <a:xfrm>
            <a:off x="1932231" y="2523055"/>
            <a:ext cx="153709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Расписание</a:t>
            </a:r>
            <a:endParaRPr lang="ru-RU" sz="1500"/>
          </a:p>
        </p:txBody>
      </p:sp>
      <p:sp>
        <p:nvSpPr>
          <p:cNvPr id="1215" name="Share 1215"/>
          <p:cNvSpPr txBox="1"/>
          <p:nvPr/>
        </p:nvSpPr>
        <p:spPr>
          <a:xfrm>
            <a:off x="3469328" y="2523055"/>
            <a:ext cx="636984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25%</a:t>
            </a:r>
            <a:endParaRPr lang="ru-RU" sz="1500"/>
          </a:p>
        </p:txBody>
      </p:sp>
      <p:sp>
        <p:nvSpPr>
          <p:cNvPr id="1216" name="Swatch 1216"/>
          <p:cNvSpPr/>
          <p:nvPr/>
        </p:nvSpPr>
        <p:spPr>
          <a:xfrm>
            <a:off x="1685343" y="2918025"/>
            <a:ext cx="137160" cy="137160"/>
          </a:xfrm>
          <a:prstGeom prst="roundRect">
            <a:avLst>
              <a:gd name="adj" fmla="val 25000"/>
            </a:avLst>
          </a:prstGeom>
          <a:solidFill>
            <a:srgbClr val="0077FF">
              <a:alpha val="64000"/>
            </a:srgbClr>
          </a:solidFill>
          <a:ln>
            <a:noFill/>
          </a:ln>
        </p:spPr>
      </p:sp>
      <p:sp>
        <p:nvSpPr>
          <p:cNvPr id="1217" name="Legend 1217"/>
          <p:cNvSpPr txBox="1"/>
          <p:nvPr/>
        </p:nvSpPr>
        <p:spPr>
          <a:xfrm>
            <a:off x="1932231" y="2872305"/>
            <a:ext cx="153709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Стоимость</a:t>
            </a:r>
            <a:endParaRPr lang="ru-RU" sz="1500"/>
          </a:p>
        </p:txBody>
      </p:sp>
      <p:sp>
        <p:nvSpPr>
          <p:cNvPr id="1218" name="Share 1218"/>
          <p:cNvSpPr txBox="1"/>
          <p:nvPr/>
        </p:nvSpPr>
        <p:spPr>
          <a:xfrm>
            <a:off x="3469328" y="2872305"/>
            <a:ext cx="636984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20%</a:t>
            </a:r>
            <a:endParaRPr lang="ru-RU" sz="1500"/>
          </a:p>
        </p:txBody>
      </p:sp>
      <p:sp>
        <p:nvSpPr>
          <p:cNvPr id="1219" name="Swatch 1219"/>
          <p:cNvSpPr/>
          <p:nvPr/>
        </p:nvSpPr>
        <p:spPr>
          <a:xfrm>
            <a:off x="1685343" y="3267275"/>
            <a:ext cx="137160" cy="137160"/>
          </a:xfrm>
          <a:prstGeom prst="roundRect">
            <a:avLst>
              <a:gd name="adj" fmla="val 25000"/>
            </a:avLst>
          </a:prstGeom>
          <a:solidFill>
            <a:srgbClr val="0077FF">
              <a:alpha val="44000"/>
            </a:srgbClr>
          </a:solidFill>
          <a:ln>
            <a:noFill/>
          </a:ln>
        </p:spPr>
      </p:sp>
      <p:sp>
        <p:nvSpPr>
          <p:cNvPr id="1220" name="Legend 1220"/>
          <p:cNvSpPr txBox="1"/>
          <p:nvPr/>
        </p:nvSpPr>
        <p:spPr>
          <a:xfrm>
            <a:off x="1932231" y="3221555"/>
            <a:ext cx="153709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Тренеры</a:t>
            </a:r>
            <a:endParaRPr lang="ru-RU" sz="1500"/>
          </a:p>
        </p:txBody>
      </p:sp>
      <p:sp>
        <p:nvSpPr>
          <p:cNvPr id="1221" name="Share 1221"/>
          <p:cNvSpPr txBox="1"/>
          <p:nvPr/>
        </p:nvSpPr>
        <p:spPr>
          <a:xfrm>
            <a:off x="3469328" y="3221555"/>
            <a:ext cx="636984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12,5%</a:t>
            </a:r>
            <a:endParaRPr lang="ru-RU" sz="1500"/>
          </a:p>
        </p:txBody>
      </p:sp>
      <p:sp>
        <p:nvSpPr>
          <p:cNvPr id="1222" name="Swatch 1222"/>
          <p:cNvSpPr/>
          <p:nvPr/>
        </p:nvSpPr>
        <p:spPr>
          <a:xfrm>
            <a:off x="1685343" y="3616525"/>
            <a:ext cx="137160" cy="137160"/>
          </a:xfrm>
          <a:prstGeom prst="roundRect">
            <a:avLst>
              <a:gd name="adj" fmla="val 25000"/>
            </a:avLst>
          </a:prstGeom>
          <a:solidFill>
            <a:srgbClr val="0077FF">
              <a:alpha val="26000"/>
            </a:srgbClr>
          </a:solidFill>
          <a:ln>
            <a:noFill/>
          </a:ln>
        </p:spPr>
      </p:sp>
      <p:sp>
        <p:nvSpPr>
          <p:cNvPr id="1223" name="Legend 1223"/>
          <p:cNvSpPr txBox="1"/>
          <p:nvPr/>
        </p:nvSpPr>
        <p:spPr>
          <a:xfrm>
            <a:off x="1932231" y="3570805"/>
            <a:ext cx="153709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Атмосфера</a:t>
            </a:r>
            <a:endParaRPr lang="ru-RU" sz="1500"/>
          </a:p>
        </p:txBody>
      </p:sp>
      <p:sp>
        <p:nvSpPr>
          <p:cNvPr id="1224" name="Share 1224"/>
          <p:cNvSpPr txBox="1"/>
          <p:nvPr/>
        </p:nvSpPr>
        <p:spPr>
          <a:xfrm>
            <a:off x="3469328" y="3570805"/>
            <a:ext cx="636984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7,5%</a:t>
            </a:r>
            <a:endParaRPr lang="ru-RU" sz="15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5717583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Средняя месячная выручка на одного клиента составит 5 050 рублей</a:t>
            </a:r>
            <a:endParaRPr/>
          </a:p>
        </p:txBody>
      </p:sp>
      <p:sp>
        <p:nvSpPr>
          <p:cNvPr id="1210" name="Conclusion bar 1210"/>
          <p:cNvSpPr/>
          <p:nvPr/>
        </p:nvSpPr>
        <p:spPr>
          <a:xfrm>
            <a:off x="248929" y="1389042"/>
            <a:ext cx="38100" cy="43688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11" name="Conclusion 1211"/>
          <p:cNvSpPr txBox="1"/>
          <p:nvPr/>
        </p:nvSpPr>
        <p:spPr>
          <a:xfrm>
            <a:off x="439429" y="1366182"/>
            <a:ext cx="7559946" cy="482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1" cap="none" spc="0" baseline="0" dirty="0">
                <a:solidFill>
                  <a:srgbClr val="000000"/>
                </a:solidFill>
                <a:latin typeface="Play"/>
                <a:cs typeface="Play"/>
              </a:rPr>
              <a:t>Разовое посещение обойдется в </a:t>
            </a:r>
            <a:r>
              <a:rPr lang="ru-RU" sz="1500" b="1" cap="none" spc="0" baseline="0" dirty="0">
                <a:solidFill>
                  <a:srgbClr val="005EFF"/>
                </a:solidFill>
                <a:latin typeface="Play"/>
                <a:cs typeface="Play"/>
              </a:rPr>
              <a:t>900 рублей</a:t>
            </a:r>
            <a:r>
              <a:rPr lang="ru-RU" sz="1500" b="1" cap="none" spc="0" baseline="0" dirty="0">
                <a:solidFill>
                  <a:srgbClr val="000000"/>
                </a:solidFill>
                <a:latin typeface="Play"/>
                <a:cs typeface="Play"/>
              </a:rPr>
              <a:t>, пробная тренировка — в </a:t>
            </a:r>
            <a:r>
              <a:rPr lang="ru-RU" sz="1500" b="1" cap="none" spc="0" baseline="0" dirty="0">
                <a:solidFill>
                  <a:srgbClr val="005EFF"/>
                </a:solidFill>
                <a:latin typeface="Play"/>
                <a:cs typeface="Play"/>
              </a:rPr>
              <a:t>500 рублей</a:t>
            </a:r>
            <a:endParaRPr lang="ru-RU" sz="1500"/>
          </a:p>
        </p:txBody>
      </p:sp>
      <p:graphicFrame>
        <p:nvGraphicFramePr>
          <p:cNvPr id="1212" name="Table"/>
          <p:cNvGraphicFramePr>
            <a:graphicFrameLocks noGrp="1"/>
          </p:cNvGraphicFramePr>
          <p:nvPr/>
        </p:nvGraphicFramePr>
        <p:xfrm>
          <a:off x="248929" y="2033948"/>
          <a:ext cx="8611607" cy="1536381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085150"/>
                <a:gridCol w="2175486"/>
                <a:gridCol w="2175486"/>
                <a:gridCol w="2175485"/>
              </a:tblGrid>
              <a:tr h="5334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Абонемент</a:t>
                      </a:r>
                    </a:p>
                  </a:txBody>
                  <a:tcPr marL="124459" marR="124459" marT="53340" marB="533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7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Количество занятий</a:t>
                      </a:r>
                    </a:p>
                  </a:txBody>
                  <a:tcPr marL="124459" marR="124459" marT="53340" marB="533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7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Стоимость, ₽</a:t>
                      </a:r>
                    </a:p>
                  </a:txBody>
                  <a:tcPr marL="124459" marR="124459" marT="53340" marB="533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7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Стоимость одного занятия, ₽</a:t>
                      </a:r>
                    </a:p>
                  </a:txBody>
                  <a:tcPr marL="124459" marR="124459" marT="53340" marB="533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70F0"/>
                    </a:solidFill>
                  </a:tcPr>
                </a:tc>
              </a:tr>
              <a:tr h="334327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Четыре занятия</a:t>
                      </a:r>
                    </a:p>
                  </a:txBody>
                  <a:tcPr marL="124459" marR="124459" marT="53340" marB="533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cap="none" spc="0" baseline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4</a:t>
                      </a:r>
                    </a:p>
                  </a:txBody>
                  <a:tcPr marL="124459" marR="124459" marT="53340" marB="533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cap="none" spc="0" baseline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3 200</a:t>
                      </a:r>
                    </a:p>
                  </a:txBody>
                  <a:tcPr marL="124459" marR="124459" marT="53340" marB="533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cap="none" spc="0" baseline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800</a:t>
                      </a:r>
                    </a:p>
                  </a:txBody>
                  <a:tcPr marL="124459" marR="124459" marT="53340" marB="533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</a:tr>
              <a:tr h="334327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Восемь занятий</a:t>
                      </a:r>
                    </a:p>
                  </a:txBody>
                  <a:tcPr marL="124459" marR="124459" marT="53340" marB="533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cap="none" spc="0" baseline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8</a:t>
                      </a:r>
                    </a:p>
                  </a:txBody>
                  <a:tcPr marL="124459" marR="124459" marT="53340" marB="533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cap="none" spc="0" baseline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5 200</a:t>
                      </a:r>
                    </a:p>
                  </a:txBody>
                  <a:tcPr marL="124459" marR="124459" marT="53340" marB="533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cap="none" spc="0" baseline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650</a:t>
                      </a:r>
                    </a:p>
                  </a:txBody>
                  <a:tcPr marL="124459" marR="124459" marT="53340" marB="533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</a:tr>
              <a:tr h="334327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Двенадцать занятий</a:t>
                      </a:r>
                    </a:p>
                  </a:txBody>
                  <a:tcPr marL="124459" marR="124459" marT="53340" marB="533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cap="none" spc="0" baseline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12</a:t>
                      </a:r>
                    </a:p>
                  </a:txBody>
                  <a:tcPr marL="124459" marR="124459" marT="53340" marB="533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cap="none" spc="0" baseline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6 600</a:t>
                      </a:r>
                    </a:p>
                  </a:txBody>
                  <a:tcPr marL="124459" marR="124459" marT="53340" marB="533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cap="none" spc="0" baseline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550</a:t>
                      </a:r>
                    </a:p>
                  </a:txBody>
                  <a:tcPr marL="124459" marR="124459" marT="53340" marB="533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13" name="Footnote 1213"/>
          <p:cNvSpPr txBox="1"/>
          <p:nvPr/>
        </p:nvSpPr>
        <p:spPr>
          <a:xfrm>
            <a:off x="248929" y="4346269"/>
            <a:ext cx="8611607" cy="14914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812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Доход от разовых и пробных посещений в основной финансовый прогноз не включен</a:t>
            </a:r>
            <a:endParaRPr lang="ru-RU" sz="812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6413458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Месячная вместимость превышает ожидаемое количество посещений на 700</a:t>
            </a:r>
            <a:endParaRPr/>
          </a:p>
        </p:txBody>
      </p:sp>
      <p:sp>
        <p:nvSpPr>
          <p:cNvPr id="1208" name="Chart note 1208"/>
          <p:cNvSpPr txBox="1"/>
          <p:nvPr/>
        </p:nvSpPr>
        <p:spPr>
          <a:xfrm>
            <a:off x="248929" y="1366182"/>
            <a:ext cx="2927946" cy="482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1" cap="none" spc="0" baseline="0" dirty="0">
                <a:solidFill>
                  <a:srgbClr val="000000"/>
                </a:solidFill>
                <a:latin typeface="Play"/>
                <a:cs typeface="Play"/>
              </a:rPr>
              <a:t>Месячная загрузка составит около </a:t>
            </a:r>
            <a:r>
              <a:rPr lang="ru-RU" sz="1500" b="1" cap="none" spc="0" baseline="0" dirty="0">
                <a:solidFill>
                  <a:srgbClr val="005EFF"/>
                </a:solidFill>
                <a:latin typeface="Play"/>
                <a:cs typeface="Play"/>
              </a:rPr>
              <a:t>74%</a:t>
            </a:r>
            <a:endParaRPr lang="ru-RU" sz="1500"/>
          </a:p>
        </p:txBody>
      </p:sp>
      <p:cxnSp>
        <p:nvCxnSpPr>
          <p:cNvPr id="1209" name="Line 1209"/>
          <p:cNvCxnSpPr/>
          <p:nvPr/>
        </p:nvCxnSpPr>
        <p:spPr>
          <a:xfrm>
            <a:off x="3396331" y="1366182"/>
            <a:ext cx="0" cy="48260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1210" name="Unit 1210"/>
          <p:cNvSpPr txBox="1"/>
          <p:nvPr/>
        </p:nvSpPr>
        <p:spPr>
          <a:xfrm>
            <a:off x="3615787" y="1366182"/>
            <a:ext cx="5244749" cy="162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посещений</a:t>
            </a:r>
            <a:endParaRPr lang="ru-RU" sz="900"/>
          </a:p>
        </p:txBody>
      </p:sp>
      <p:graphicFrame>
        <p:nvGraphicFramePr>
          <p:cNvPr id="1211" name="Chart 1210"/>
          <p:cNvGraphicFramePr>
            <a:graphicFrameLocks noGrp="1"/>
          </p:cNvGraphicFramePr>
          <p:nvPr/>
        </p:nvGraphicFramePr>
        <p:xfrm>
          <a:off x="3615787" y="1575033"/>
          <a:ext cx="5244749" cy="267004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100 м² — основное пространство для тренировок</a:t>
            </a:r>
            <a:endParaRPr/>
          </a:p>
        </p:txBody>
      </p:sp>
      <p:sp>
        <p:nvSpPr>
          <p:cNvPr id="1208" name="Место для фото" descr="Фото помещения: место оставлено свободным — вставьте фото в плейсхолдер или через «Формат фигуры → Заливка → Рисунок»"/>
          <p:cNvSpPr/>
          <p:nvPr/>
        </p:nvSpPr>
        <p:spPr>
          <a:xfrm>
            <a:off x="5415894" y="1000422"/>
            <a:ext cx="3444642" cy="2711321"/>
          </a:xfrm>
          <a:prstGeom prst="roundRect">
            <a:avLst>
              <a:gd name="adj" fmla="val 3185"/>
            </a:avLst>
          </a:prstGeom>
          <a:solidFill>
            <a:srgbClr val="D6ECFF"/>
          </a:solidFill>
          <a:ln>
            <a:noFill/>
          </a:ln>
        </p:spPr>
      </p:sp>
      <p:sp>
        <p:nvSpPr>
          <p:cNvPr id="1209" name="Rule 1209"/>
          <p:cNvSpPr/>
          <p:nvPr/>
        </p:nvSpPr>
        <p:spPr>
          <a:xfrm>
            <a:off x="248929" y="1000422"/>
            <a:ext cx="462915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10" name="Figure 1210"/>
          <p:cNvSpPr txBox="1"/>
          <p:nvPr/>
        </p:nvSpPr>
        <p:spPr>
          <a:xfrm>
            <a:off x="187969" y="919364"/>
            <a:ext cx="2374694" cy="82296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4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100</a:t>
            </a:r>
            <a:r>
              <a:rPr lang="ru-RU" sz="2705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 м²</a:t>
            </a:r>
            <a:endParaRPr lang="ru-RU" sz="5400"/>
          </a:p>
        </p:txBody>
      </p:sp>
      <p:sp>
        <p:nvSpPr>
          <p:cNvPr id="1211" name="Label 1211"/>
          <p:cNvSpPr txBox="1"/>
          <p:nvPr/>
        </p:nvSpPr>
        <p:spPr>
          <a:xfrm>
            <a:off x="248929" y="1796330"/>
            <a:ext cx="2313734" cy="482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Тренировочный зал</a:t>
            </a:r>
            <a:endParaRPr lang="ru-RU" sz="1500"/>
          </a:p>
        </p:txBody>
      </p:sp>
      <p:sp>
        <p:nvSpPr>
          <p:cNvPr id="1212" name="Rule 1212"/>
          <p:cNvSpPr/>
          <p:nvPr/>
        </p:nvSpPr>
        <p:spPr>
          <a:xfrm>
            <a:off x="2782119" y="1000422"/>
            <a:ext cx="462915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13" name="Figure 1213"/>
          <p:cNvSpPr txBox="1"/>
          <p:nvPr/>
        </p:nvSpPr>
        <p:spPr>
          <a:xfrm>
            <a:off x="2752020" y="919364"/>
            <a:ext cx="2343833" cy="82296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4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35</a:t>
            </a:r>
            <a:r>
              <a:rPr lang="ru-RU" sz="2705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 м²</a:t>
            </a:r>
            <a:endParaRPr lang="ru-RU" sz="5400"/>
          </a:p>
        </p:txBody>
      </p:sp>
      <p:sp>
        <p:nvSpPr>
          <p:cNvPr id="1214" name="Label 1214"/>
          <p:cNvSpPr txBox="1"/>
          <p:nvPr/>
        </p:nvSpPr>
        <p:spPr>
          <a:xfrm>
            <a:off x="2782119" y="1796330"/>
            <a:ext cx="2313734" cy="482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Раздевалки и душевые</a:t>
            </a:r>
            <a:endParaRPr lang="ru-RU" sz="1500"/>
          </a:p>
        </p:txBody>
      </p:sp>
      <p:sp>
        <p:nvSpPr>
          <p:cNvPr id="1215" name="Rule 1215"/>
          <p:cNvSpPr/>
          <p:nvPr/>
        </p:nvSpPr>
        <p:spPr>
          <a:xfrm>
            <a:off x="248929" y="2433235"/>
            <a:ext cx="462915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16" name="Figure 1216"/>
          <p:cNvSpPr txBox="1"/>
          <p:nvPr/>
        </p:nvSpPr>
        <p:spPr>
          <a:xfrm>
            <a:off x="222259" y="2352177"/>
            <a:ext cx="2340404" cy="82296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4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25</a:t>
            </a:r>
            <a:r>
              <a:rPr lang="ru-RU" sz="2705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 м²</a:t>
            </a:r>
            <a:endParaRPr lang="ru-RU" sz="5400"/>
          </a:p>
        </p:txBody>
      </p:sp>
      <p:sp>
        <p:nvSpPr>
          <p:cNvPr id="1217" name="Label 1217"/>
          <p:cNvSpPr txBox="1"/>
          <p:nvPr/>
        </p:nvSpPr>
        <p:spPr>
          <a:xfrm>
            <a:off x="248929" y="3229143"/>
            <a:ext cx="2313734" cy="482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Зона ресепшена и ожидания</a:t>
            </a:r>
            <a:endParaRPr lang="ru-RU" sz="1500"/>
          </a:p>
        </p:txBody>
      </p:sp>
      <p:sp>
        <p:nvSpPr>
          <p:cNvPr id="1218" name="Rule 1218"/>
          <p:cNvSpPr/>
          <p:nvPr/>
        </p:nvSpPr>
        <p:spPr>
          <a:xfrm>
            <a:off x="2782119" y="2433235"/>
            <a:ext cx="462915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19" name="Figure 1219"/>
          <p:cNvSpPr txBox="1"/>
          <p:nvPr/>
        </p:nvSpPr>
        <p:spPr>
          <a:xfrm>
            <a:off x="2755449" y="2352177"/>
            <a:ext cx="2340404" cy="82296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4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20</a:t>
            </a:r>
            <a:r>
              <a:rPr lang="ru-RU" sz="2705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 м²</a:t>
            </a:r>
            <a:endParaRPr lang="ru-RU" sz="5400"/>
          </a:p>
        </p:txBody>
      </p:sp>
      <p:sp>
        <p:nvSpPr>
          <p:cNvPr id="1220" name="Label 1220"/>
          <p:cNvSpPr txBox="1"/>
          <p:nvPr/>
        </p:nvSpPr>
        <p:spPr>
          <a:xfrm>
            <a:off x="2782119" y="3229143"/>
            <a:ext cx="2313734" cy="482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Подсобные помещения</a:t>
            </a:r>
            <a:endParaRPr lang="ru-RU" sz="15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Бюджет команды — 420 000 ₽ в месяц</a:t>
            </a:r>
            <a:endParaRPr/>
          </a:p>
        </p:txBody>
      </p:sp>
      <p:graphicFrame>
        <p:nvGraphicFramePr>
          <p:cNvPr id="1208" name="Chart 1207"/>
          <p:cNvGraphicFramePr>
            <a:graphicFrameLocks noGrp="1"/>
          </p:cNvGraphicFramePr>
          <p:nvPr/>
        </p:nvGraphicFramePr>
        <p:xfrm>
          <a:off x="5390986" y="1000422"/>
          <a:ext cx="2907826" cy="290782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09" name="Legend title 1209"/>
          <p:cNvSpPr txBox="1"/>
          <p:nvPr/>
        </p:nvSpPr>
        <p:spPr>
          <a:xfrm>
            <a:off x="810652" y="1609785"/>
            <a:ext cx="4141422" cy="38735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Сумма · доля от общей суммы</a:t>
            </a:r>
            <a:endParaRPr lang="ru-RU" sz="1500"/>
          </a:p>
        </p:txBody>
      </p:sp>
      <p:sp>
        <p:nvSpPr>
          <p:cNvPr id="1210" name="Swatch 1210"/>
          <p:cNvSpPr/>
          <p:nvPr/>
        </p:nvSpPr>
        <p:spPr>
          <a:xfrm>
            <a:off x="810652" y="2042855"/>
            <a:ext cx="137160" cy="137160"/>
          </a:xfrm>
          <a:prstGeom prst="roundRect">
            <a:avLst>
              <a:gd name="adj" fmla="val 25000"/>
            </a:avLst>
          </a:prstGeom>
          <a:solidFill>
            <a:srgbClr val="0077FF"/>
          </a:solidFill>
          <a:ln>
            <a:noFill/>
          </a:ln>
        </p:spPr>
      </p:sp>
      <p:sp>
        <p:nvSpPr>
          <p:cNvPr id="1211" name="Legend 1211"/>
          <p:cNvSpPr txBox="1"/>
          <p:nvPr/>
        </p:nvSpPr>
        <p:spPr>
          <a:xfrm>
            <a:off x="1057540" y="1997135"/>
            <a:ext cx="2331839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Оплата работы тренеров</a:t>
            </a:r>
            <a:endParaRPr lang="ru-RU" sz="1500"/>
          </a:p>
        </p:txBody>
      </p:sp>
      <p:sp>
        <p:nvSpPr>
          <p:cNvPr id="1212" name="Share 1212"/>
          <p:cNvSpPr txBox="1"/>
          <p:nvPr/>
        </p:nvSpPr>
        <p:spPr>
          <a:xfrm>
            <a:off x="3389379" y="1997135"/>
            <a:ext cx="1562695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5EFF"/>
                </a:solidFill>
                <a:latin typeface="Play"/>
                <a:cs typeface="Play"/>
              </a:rPr>
              <a:t>260 000 ₽  ·  62%</a:t>
            </a:r>
            <a:endParaRPr lang="ru-RU" sz="1500"/>
          </a:p>
        </p:txBody>
      </p:sp>
      <p:sp>
        <p:nvSpPr>
          <p:cNvPr id="1213" name="Swatch 1213"/>
          <p:cNvSpPr/>
          <p:nvPr/>
        </p:nvSpPr>
        <p:spPr>
          <a:xfrm>
            <a:off x="810652" y="2392105"/>
            <a:ext cx="137160" cy="137160"/>
          </a:xfrm>
          <a:prstGeom prst="roundRect">
            <a:avLst>
              <a:gd name="adj" fmla="val 25000"/>
            </a:avLst>
          </a:prstGeom>
          <a:solidFill>
            <a:srgbClr val="0077FF">
              <a:alpha val="76000"/>
            </a:srgbClr>
          </a:solidFill>
          <a:ln>
            <a:noFill/>
          </a:ln>
        </p:spPr>
      </p:sp>
      <p:sp>
        <p:nvSpPr>
          <p:cNvPr id="1214" name="Legend 1214"/>
          <p:cNvSpPr txBox="1"/>
          <p:nvPr/>
        </p:nvSpPr>
        <p:spPr>
          <a:xfrm>
            <a:off x="1057540" y="2346385"/>
            <a:ext cx="2331839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Администраторов</a:t>
            </a:r>
            <a:endParaRPr lang="ru-RU" sz="1500"/>
          </a:p>
        </p:txBody>
      </p:sp>
      <p:sp>
        <p:nvSpPr>
          <p:cNvPr id="1215" name="Share 1215"/>
          <p:cNvSpPr txBox="1"/>
          <p:nvPr/>
        </p:nvSpPr>
        <p:spPr>
          <a:xfrm>
            <a:off x="3389379" y="2346385"/>
            <a:ext cx="1562695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110 000 ₽  ·  26%</a:t>
            </a:r>
            <a:endParaRPr lang="ru-RU" sz="1500"/>
          </a:p>
        </p:txBody>
      </p:sp>
      <p:sp>
        <p:nvSpPr>
          <p:cNvPr id="1216" name="Swatch 1216"/>
          <p:cNvSpPr/>
          <p:nvPr/>
        </p:nvSpPr>
        <p:spPr>
          <a:xfrm>
            <a:off x="810652" y="2741355"/>
            <a:ext cx="137160" cy="137160"/>
          </a:xfrm>
          <a:prstGeom prst="roundRect">
            <a:avLst>
              <a:gd name="adj" fmla="val 25000"/>
            </a:avLst>
          </a:prstGeom>
          <a:solidFill>
            <a:srgbClr val="0077FF">
              <a:alpha val="50000"/>
            </a:srgbClr>
          </a:solidFill>
          <a:ln>
            <a:noFill/>
          </a:ln>
        </p:spPr>
      </p:sp>
      <p:sp>
        <p:nvSpPr>
          <p:cNvPr id="1217" name="Legend 1217"/>
          <p:cNvSpPr txBox="1"/>
          <p:nvPr/>
        </p:nvSpPr>
        <p:spPr>
          <a:xfrm>
            <a:off x="1057540" y="2695635"/>
            <a:ext cx="2331839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Уборки</a:t>
            </a:r>
            <a:endParaRPr lang="ru-RU" sz="1500"/>
          </a:p>
        </p:txBody>
      </p:sp>
      <p:sp>
        <p:nvSpPr>
          <p:cNvPr id="1218" name="Share 1218"/>
          <p:cNvSpPr txBox="1"/>
          <p:nvPr/>
        </p:nvSpPr>
        <p:spPr>
          <a:xfrm>
            <a:off x="3389379" y="2695635"/>
            <a:ext cx="1562695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30 000 ₽  ·  7%</a:t>
            </a:r>
            <a:endParaRPr lang="ru-RU" sz="1500"/>
          </a:p>
        </p:txBody>
      </p:sp>
      <p:sp>
        <p:nvSpPr>
          <p:cNvPr id="1219" name="Swatch 1219"/>
          <p:cNvSpPr/>
          <p:nvPr/>
        </p:nvSpPr>
        <p:spPr>
          <a:xfrm>
            <a:off x="810652" y="3090605"/>
            <a:ext cx="137160" cy="137160"/>
          </a:xfrm>
          <a:prstGeom prst="roundRect">
            <a:avLst>
              <a:gd name="adj" fmla="val 25000"/>
            </a:avLst>
          </a:prstGeom>
          <a:solidFill>
            <a:srgbClr val="0077FF">
              <a:alpha val="26000"/>
            </a:srgbClr>
          </a:solidFill>
          <a:ln>
            <a:noFill/>
          </a:ln>
        </p:spPr>
      </p:sp>
      <p:sp>
        <p:nvSpPr>
          <p:cNvPr id="1220" name="Legend 1220"/>
          <p:cNvSpPr txBox="1"/>
          <p:nvPr/>
        </p:nvSpPr>
        <p:spPr>
          <a:xfrm>
            <a:off x="1057540" y="3044885"/>
            <a:ext cx="2331839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Резерв на замены</a:t>
            </a:r>
            <a:endParaRPr lang="ru-RU" sz="1500"/>
          </a:p>
        </p:txBody>
      </p:sp>
      <p:sp>
        <p:nvSpPr>
          <p:cNvPr id="1221" name="Share 1221"/>
          <p:cNvSpPr txBox="1"/>
          <p:nvPr/>
        </p:nvSpPr>
        <p:spPr>
          <a:xfrm>
            <a:off x="3389379" y="3044885"/>
            <a:ext cx="1562695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20 000 ₽  ·  5%</a:t>
            </a:r>
            <a:endParaRPr lang="ru-RU" sz="1500"/>
          </a:p>
        </p:txBody>
      </p:sp>
      <p:sp>
        <p:nvSpPr>
          <p:cNvPr id="1222" name="Footnote 1222"/>
          <p:cNvSpPr txBox="1"/>
          <p:nvPr/>
        </p:nvSpPr>
        <p:spPr>
          <a:xfrm>
            <a:off x="248929" y="4346269"/>
            <a:ext cx="8611607" cy="14914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812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Отдельная зарплата владельца в модель не включена</a:t>
            </a:r>
            <a:endParaRPr lang="ru-RU" sz="812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90 000 ₽ уйдут на рекламу в соцсетях</a:t>
            </a:r>
            <a:endParaRPr/>
          </a:p>
        </p:txBody>
      </p:sp>
      <p:sp>
        <p:nvSpPr>
          <p:cNvPr id="1208" name="Chart note 1208"/>
          <p:cNvSpPr txBox="1"/>
          <p:nvPr/>
        </p:nvSpPr>
        <p:spPr>
          <a:xfrm>
            <a:off x="248929" y="1000422"/>
            <a:ext cx="2927946" cy="1473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09550" indent="-209550">
              <a:lnSpc>
                <a:spcPct val="100000"/>
              </a:lnSpc>
              <a:spcAft>
                <a:spcPts val="600"/>
              </a:spcAft>
              <a:buClr>
                <a:srgbClr val="0077FF"/>
              </a:buClr>
              <a:buFont typeface="Arial"/>
              <a:buChar char="•"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План: 1 000 обращений → 500 записей → 350 посещений → 175 покупателей</a:t>
            </a:r>
            <a:endParaRPr lang="ru-RU" sz="1500"/>
          </a:p>
          <a:p>
            <a:pPr algn="l" marL="209550" indent="-209550">
              <a:lnSpc>
                <a:spcPct val="100000"/>
              </a:lnSpc>
              <a:buClr>
                <a:srgbClr val="0077FF"/>
              </a:buClr>
              <a:buFont typeface="Arial"/>
              <a:buChar char="•"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Средняя стоимость привлечения покупателя — 1 371 ₽</a:t>
            </a:r>
            <a:endParaRPr lang="ru-RU" sz="1500"/>
          </a:p>
        </p:txBody>
      </p:sp>
      <p:cxnSp>
        <p:nvCxnSpPr>
          <p:cNvPr id="1209" name="Line 1209"/>
          <p:cNvCxnSpPr/>
          <p:nvPr/>
        </p:nvCxnSpPr>
        <p:spPr>
          <a:xfrm>
            <a:off x="3396331" y="1000422"/>
            <a:ext cx="0" cy="147320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1210" name="Unit 1210"/>
          <p:cNvSpPr txBox="1"/>
          <p:nvPr/>
        </p:nvSpPr>
        <p:spPr>
          <a:xfrm>
            <a:off x="3615787" y="1000422"/>
            <a:ext cx="5244749" cy="162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Распределение бюджета на привлечение клиентов</a:t>
            </a:r>
            <a:endParaRPr lang="ru-RU" sz="900"/>
          </a:p>
        </p:txBody>
      </p:sp>
      <p:graphicFrame>
        <p:nvGraphicFramePr>
          <p:cNvPr id="1211" name="Chart 1210"/>
          <p:cNvGraphicFramePr>
            <a:graphicFrameLocks noGrp="1"/>
          </p:cNvGraphicFramePr>
          <p:nvPr/>
        </p:nvGraphicFramePr>
        <p:xfrm>
          <a:off x="3615787" y="1209273"/>
          <a:ext cx="5244749" cy="300654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Ремонт и подготовка — больше трети бюджета</a:t>
            </a:r>
            <a:endParaRPr/>
          </a:p>
        </p:txBody>
      </p:sp>
      <p:sp>
        <p:nvSpPr>
          <p:cNvPr id="1208" name="Chart note 1208"/>
          <p:cNvSpPr txBox="1"/>
          <p:nvPr/>
        </p:nvSpPr>
        <p:spPr>
          <a:xfrm>
            <a:off x="248929" y="1000422"/>
            <a:ext cx="2927946" cy="164465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350"/>
              </a:spcAft>
              <a:buNone/>
            </a:pPr>
            <a:r>
              <a:rPr lang="ru-RU" sz="1500" b="1" cap="none" spc="0" baseline="0" dirty="0">
                <a:solidFill>
                  <a:srgbClr val="000000"/>
                </a:solidFill>
                <a:latin typeface="Play"/>
                <a:cs typeface="Play"/>
              </a:rPr>
              <a:t>Еще </a:t>
            </a:r>
            <a:r>
              <a:rPr lang="ru-RU" sz="1500" b="1" cap="none" spc="0" baseline="0" dirty="0">
                <a:solidFill>
                  <a:srgbClr val="005EFF"/>
                </a:solidFill>
                <a:latin typeface="Play"/>
                <a:cs typeface="Play"/>
              </a:rPr>
              <a:t>850 000 рублей</a:t>
            </a:r>
            <a:r>
              <a:rPr lang="ru-RU" sz="1500" b="1" cap="none" spc="0" baseline="0" dirty="0">
                <a:solidFill>
                  <a:srgbClr val="000000"/>
                </a:solidFill>
                <a:latin typeface="Play"/>
                <a:cs typeface="Play"/>
              </a:rPr>
              <a:t> составят оборотный резерв</a:t>
            </a:r>
            <a:endParaRPr lang="ru-RU" sz="1500"/>
          </a:p>
          <a:p>
            <a:pPr algn="l" marL="209550" indent="-209550">
              <a:lnSpc>
                <a:spcPct val="100000"/>
              </a:lnSpc>
              <a:spcAft>
                <a:spcPts val="600"/>
              </a:spcAft>
              <a:buClr>
                <a:srgbClr val="0077FF"/>
              </a:buClr>
              <a:buFont typeface="Arial"/>
              <a:buChar char="•"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Сайт и система записи — минимальные вложения</a:t>
            </a:r>
            <a:endParaRPr lang="ru-RU" sz="1500"/>
          </a:p>
          <a:p>
            <a:pPr algn="l" marL="209550" indent="-209550">
              <a:lnSpc>
                <a:spcPct val="100000"/>
              </a:lnSpc>
              <a:buClr>
                <a:srgbClr val="0077FF"/>
              </a:buClr>
              <a:buFont typeface="Arial"/>
              <a:buChar char="•"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Начальный бюджет проекта — 3 000 000 рублей</a:t>
            </a:r>
            <a:endParaRPr lang="ru-RU" sz="1500"/>
          </a:p>
        </p:txBody>
      </p:sp>
      <p:cxnSp>
        <p:nvCxnSpPr>
          <p:cNvPr id="1209" name="Line 1209"/>
          <p:cNvCxnSpPr/>
          <p:nvPr/>
        </p:nvCxnSpPr>
        <p:spPr>
          <a:xfrm>
            <a:off x="3396331" y="1000422"/>
            <a:ext cx="0" cy="164465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graphicFrame>
        <p:nvGraphicFramePr>
          <p:cNvPr id="1210" name="Chart 1209"/>
          <p:cNvGraphicFramePr>
            <a:graphicFrameLocks noGrp="1"/>
          </p:cNvGraphicFramePr>
          <p:nvPr/>
        </p:nvGraphicFramePr>
        <p:xfrm>
          <a:off x="3615787" y="1000422"/>
          <a:ext cx="1831979" cy="183197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11" name="Legend title 1211"/>
          <p:cNvSpPr txBox="1"/>
          <p:nvPr/>
        </p:nvSpPr>
        <p:spPr>
          <a:xfrm>
            <a:off x="5886678" y="1000422"/>
            <a:ext cx="2973858" cy="37973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Распределение стартового бюджета</a:t>
            </a:r>
            <a:endParaRPr lang="ru-RU" sz="9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сумма · доля от общей суммы</a:t>
            </a:r>
            <a:endParaRPr lang="ru-RU" sz="900"/>
          </a:p>
        </p:txBody>
      </p:sp>
      <p:sp>
        <p:nvSpPr>
          <p:cNvPr id="1212" name="Swatch 1212"/>
          <p:cNvSpPr/>
          <p:nvPr/>
        </p:nvSpPr>
        <p:spPr>
          <a:xfrm>
            <a:off x="5886678" y="1407584"/>
            <a:ext cx="82296" cy="82296"/>
          </a:xfrm>
          <a:prstGeom prst="roundRect">
            <a:avLst>
              <a:gd name="adj" fmla="val 25000"/>
            </a:avLst>
          </a:prstGeom>
          <a:solidFill>
            <a:srgbClr val="0077FF"/>
          </a:solidFill>
          <a:ln>
            <a:noFill/>
          </a:ln>
        </p:spPr>
      </p:sp>
      <p:sp>
        <p:nvSpPr>
          <p:cNvPr id="1213" name="Legend 1213"/>
          <p:cNvSpPr txBox="1"/>
          <p:nvPr/>
        </p:nvSpPr>
        <p:spPr>
          <a:xfrm>
            <a:off x="6034810" y="1380152"/>
            <a:ext cx="1888109" cy="162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Ремонт и подготовка помещения</a:t>
            </a:r>
            <a:endParaRPr lang="ru-RU" sz="900"/>
          </a:p>
        </p:txBody>
      </p:sp>
      <p:sp>
        <p:nvSpPr>
          <p:cNvPr id="1214" name="Share 1214"/>
          <p:cNvSpPr txBox="1"/>
          <p:nvPr/>
        </p:nvSpPr>
        <p:spPr>
          <a:xfrm>
            <a:off x="7922919" y="1380152"/>
            <a:ext cx="937617" cy="162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05EFF"/>
                </a:solidFill>
                <a:latin typeface="Play"/>
                <a:cs typeface="Play"/>
              </a:rPr>
              <a:t>900 000 ₽  ·  30%</a:t>
            </a:r>
            <a:endParaRPr lang="ru-RU" sz="900"/>
          </a:p>
        </p:txBody>
      </p:sp>
      <p:sp>
        <p:nvSpPr>
          <p:cNvPr id="1215" name="Swatch 1215"/>
          <p:cNvSpPr/>
          <p:nvPr/>
        </p:nvSpPr>
        <p:spPr>
          <a:xfrm>
            <a:off x="5886678" y="1627294"/>
            <a:ext cx="82296" cy="82296"/>
          </a:xfrm>
          <a:prstGeom prst="roundRect">
            <a:avLst>
              <a:gd name="adj" fmla="val 25000"/>
            </a:avLst>
          </a:prstGeom>
          <a:solidFill>
            <a:srgbClr val="0077FF">
              <a:alpha val="86000"/>
            </a:srgbClr>
          </a:solidFill>
          <a:ln>
            <a:noFill/>
          </a:ln>
        </p:spPr>
      </p:sp>
      <p:sp>
        <p:nvSpPr>
          <p:cNvPr id="1216" name="Legend 1216"/>
          <p:cNvSpPr txBox="1"/>
          <p:nvPr/>
        </p:nvSpPr>
        <p:spPr>
          <a:xfrm>
            <a:off x="6034810" y="1599862"/>
            <a:ext cx="1888109" cy="162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Оборотный резерв</a:t>
            </a:r>
            <a:endParaRPr lang="ru-RU" sz="900"/>
          </a:p>
        </p:txBody>
      </p:sp>
      <p:sp>
        <p:nvSpPr>
          <p:cNvPr id="1217" name="Share 1217"/>
          <p:cNvSpPr txBox="1"/>
          <p:nvPr/>
        </p:nvSpPr>
        <p:spPr>
          <a:xfrm>
            <a:off x="7922919" y="1599862"/>
            <a:ext cx="937617" cy="162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850 000 ₽  ·  28%</a:t>
            </a:r>
            <a:endParaRPr lang="ru-RU" sz="900"/>
          </a:p>
        </p:txBody>
      </p:sp>
      <p:sp>
        <p:nvSpPr>
          <p:cNvPr id="1218" name="Swatch 1218"/>
          <p:cNvSpPr/>
          <p:nvPr/>
        </p:nvSpPr>
        <p:spPr>
          <a:xfrm>
            <a:off x="5886678" y="1847004"/>
            <a:ext cx="82296" cy="82296"/>
          </a:xfrm>
          <a:prstGeom prst="roundRect">
            <a:avLst>
              <a:gd name="adj" fmla="val 25000"/>
            </a:avLst>
          </a:prstGeom>
          <a:solidFill>
            <a:srgbClr val="0077FF">
              <a:alpha val="70000"/>
            </a:srgbClr>
          </a:solidFill>
          <a:ln>
            <a:noFill/>
          </a:ln>
        </p:spPr>
      </p:sp>
      <p:sp>
        <p:nvSpPr>
          <p:cNvPr id="1219" name="Legend 1219"/>
          <p:cNvSpPr txBox="1"/>
          <p:nvPr/>
        </p:nvSpPr>
        <p:spPr>
          <a:xfrm>
            <a:off x="6034810" y="1819572"/>
            <a:ext cx="1888109" cy="162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Оборудование и инвентарь</a:t>
            </a:r>
            <a:endParaRPr lang="ru-RU" sz="900"/>
          </a:p>
        </p:txBody>
      </p:sp>
      <p:sp>
        <p:nvSpPr>
          <p:cNvPr id="1220" name="Share 1220"/>
          <p:cNvSpPr txBox="1"/>
          <p:nvPr/>
        </p:nvSpPr>
        <p:spPr>
          <a:xfrm>
            <a:off x="7922919" y="1819572"/>
            <a:ext cx="937617" cy="162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650 000 ₽  ·  22%</a:t>
            </a:r>
            <a:endParaRPr lang="ru-RU" sz="900"/>
          </a:p>
        </p:txBody>
      </p:sp>
      <p:sp>
        <p:nvSpPr>
          <p:cNvPr id="1221" name="Swatch 1221"/>
          <p:cNvSpPr/>
          <p:nvPr/>
        </p:nvSpPr>
        <p:spPr>
          <a:xfrm>
            <a:off x="5886678" y="2066714"/>
            <a:ext cx="82296" cy="82296"/>
          </a:xfrm>
          <a:prstGeom prst="roundRect">
            <a:avLst>
              <a:gd name="adj" fmla="val 25000"/>
            </a:avLst>
          </a:prstGeom>
          <a:solidFill>
            <a:srgbClr val="0077FF">
              <a:alpha val="56000"/>
            </a:srgbClr>
          </a:solidFill>
          <a:ln>
            <a:noFill/>
          </a:ln>
        </p:spPr>
      </p:sp>
      <p:sp>
        <p:nvSpPr>
          <p:cNvPr id="1222" name="Legend 1222"/>
          <p:cNvSpPr txBox="1"/>
          <p:nvPr/>
        </p:nvSpPr>
        <p:spPr>
          <a:xfrm>
            <a:off x="6034810" y="2039282"/>
            <a:ext cx="1888109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Мебель и обустройство</a:t>
            </a:r>
            <a:endParaRPr lang="ru-RU" sz="9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раздевалок</a:t>
            </a:r>
            <a:endParaRPr lang="ru-RU" sz="900"/>
          </a:p>
        </p:txBody>
      </p:sp>
      <p:sp>
        <p:nvSpPr>
          <p:cNvPr id="1223" name="Share 1223"/>
          <p:cNvSpPr txBox="1"/>
          <p:nvPr/>
        </p:nvSpPr>
        <p:spPr>
          <a:xfrm>
            <a:off x="7922919" y="2039282"/>
            <a:ext cx="937617" cy="162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300 000 ₽  ·  10%</a:t>
            </a:r>
            <a:endParaRPr lang="ru-RU" sz="900"/>
          </a:p>
        </p:txBody>
      </p:sp>
      <p:sp>
        <p:nvSpPr>
          <p:cNvPr id="1224" name="Swatch 1224"/>
          <p:cNvSpPr/>
          <p:nvPr/>
        </p:nvSpPr>
        <p:spPr>
          <a:xfrm>
            <a:off x="5886678" y="2423584"/>
            <a:ext cx="82296" cy="82296"/>
          </a:xfrm>
          <a:prstGeom prst="roundRect">
            <a:avLst>
              <a:gd name="adj" fmla="val 25000"/>
            </a:avLst>
          </a:prstGeom>
          <a:solidFill>
            <a:srgbClr val="0077FF">
              <a:alpha val="40000"/>
            </a:srgbClr>
          </a:solidFill>
          <a:ln>
            <a:noFill/>
          </a:ln>
        </p:spPr>
      </p:sp>
      <p:sp>
        <p:nvSpPr>
          <p:cNvPr id="1225" name="Legend 1225"/>
          <p:cNvSpPr txBox="1"/>
          <p:nvPr/>
        </p:nvSpPr>
        <p:spPr>
          <a:xfrm>
            <a:off x="6034810" y="2396152"/>
            <a:ext cx="1888109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Обеспечительный платеж</a:t>
            </a:r>
            <a:endParaRPr lang="ru-RU" sz="9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по аренде</a:t>
            </a:r>
            <a:endParaRPr lang="ru-RU" sz="900"/>
          </a:p>
        </p:txBody>
      </p:sp>
      <p:sp>
        <p:nvSpPr>
          <p:cNvPr id="1226" name="Share 1226"/>
          <p:cNvSpPr txBox="1"/>
          <p:nvPr/>
        </p:nvSpPr>
        <p:spPr>
          <a:xfrm>
            <a:off x="7922919" y="2396152"/>
            <a:ext cx="937617" cy="162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180 000 ₽  ·  6%</a:t>
            </a:r>
            <a:endParaRPr lang="ru-RU" sz="900"/>
          </a:p>
        </p:txBody>
      </p:sp>
      <p:sp>
        <p:nvSpPr>
          <p:cNvPr id="1227" name="Swatch 1227"/>
          <p:cNvSpPr/>
          <p:nvPr/>
        </p:nvSpPr>
        <p:spPr>
          <a:xfrm>
            <a:off x="5886678" y="2780454"/>
            <a:ext cx="82296" cy="82296"/>
          </a:xfrm>
          <a:prstGeom prst="roundRect">
            <a:avLst>
              <a:gd name="adj" fmla="val 25000"/>
            </a:avLst>
          </a:prstGeom>
          <a:solidFill>
            <a:srgbClr val="0077FF">
              <a:alpha val="26000"/>
            </a:srgbClr>
          </a:solidFill>
          <a:ln>
            <a:noFill/>
          </a:ln>
        </p:spPr>
      </p:sp>
      <p:sp>
        <p:nvSpPr>
          <p:cNvPr id="1228" name="Legend 1228"/>
          <p:cNvSpPr txBox="1"/>
          <p:nvPr/>
        </p:nvSpPr>
        <p:spPr>
          <a:xfrm>
            <a:off x="6034810" y="2753022"/>
            <a:ext cx="1888109" cy="162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Сайт и система записи</a:t>
            </a:r>
            <a:endParaRPr lang="ru-RU" sz="900"/>
          </a:p>
        </p:txBody>
      </p:sp>
      <p:sp>
        <p:nvSpPr>
          <p:cNvPr id="1229" name="Share 1229"/>
          <p:cNvSpPr txBox="1"/>
          <p:nvPr/>
        </p:nvSpPr>
        <p:spPr>
          <a:xfrm>
            <a:off x="7922919" y="2753022"/>
            <a:ext cx="937617" cy="162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120 000 ₽  ·  4%</a:t>
            </a:r>
            <a:endParaRPr lang="ru-RU" sz="9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Рентабельность — 17,8% при 250 клиентах</a:t>
            </a:r>
            <a:endParaRPr/>
          </a:p>
        </p:txBody>
      </p:sp>
      <p:sp>
        <p:nvSpPr>
          <p:cNvPr id="1208" name="Chart note 1208"/>
          <p:cNvSpPr txBox="1"/>
          <p:nvPr/>
        </p:nvSpPr>
        <p:spPr>
          <a:xfrm>
            <a:off x="248929" y="1000422"/>
            <a:ext cx="2927946" cy="164465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350"/>
              </a:spcAft>
              <a:buNone/>
            </a:pPr>
            <a:r>
              <a:rPr lang="ru-RU" sz="1500" b="1" cap="none" spc="0" baseline="0" dirty="0">
                <a:solidFill>
                  <a:srgbClr val="000000"/>
                </a:solidFill>
                <a:latin typeface="Play"/>
                <a:cs typeface="Play"/>
              </a:rPr>
              <a:t>Переменные расходы — </a:t>
            </a:r>
            <a:r>
              <a:rPr lang="ru-RU" sz="1500" b="1" cap="none" spc="0" baseline="0" dirty="0">
                <a:solidFill>
                  <a:srgbClr val="005EFF"/>
                </a:solidFill>
                <a:latin typeface="Play"/>
                <a:cs typeface="Play"/>
              </a:rPr>
              <a:t>5%</a:t>
            </a:r>
            <a:r>
              <a:rPr lang="ru-RU" sz="1500" b="1" cap="none" spc="0" baseline="0" dirty="0">
                <a:solidFill>
                  <a:srgbClr val="000000"/>
                </a:solidFill>
                <a:latin typeface="Play"/>
                <a:cs typeface="Play"/>
              </a:rPr>
              <a:t> от выручки (</a:t>
            </a:r>
            <a:r>
              <a:rPr lang="ru-RU" sz="1500" b="1" cap="none" spc="0" baseline="0" dirty="0">
                <a:solidFill>
                  <a:srgbClr val="005EFF"/>
                </a:solidFill>
                <a:latin typeface="Play"/>
                <a:cs typeface="Play"/>
              </a:rPr>
              <a:t>63 125 рублей</a:t>
            </a:r>
            <a:r>
              <a:rPr lang="ru-RU" sz="1500" b="1" cap="none" spc="0" baseline="0" dirty="0">
                <a:solidFill>
                  <a:srgbClr val="000000"/>
                </a:solidFill>
                <a:latin typeface="Play"/>
                <a:cs typeface="Play"/>
              </a:rPr>
              <a:t>)</a:t>
            </a:r>
            <a:endParaRPr lang="ru-RU" sz="1500"/>
          </a:p>
          <a:p>
            <a:pPr algn="l" marL="209550" indent="-209550">
              <a:lnSpc>
                <a:spcPct val="100000"/>
              </a:lnSpc>
              <a:spcAft>
                <a:spcPts val="600"/>
              </a:spcAft>
              <a:buClr>
                <a:srgbClr val="0077FF"/>
              </a:buClr>
              <a:buFont typeface="Arial"/>
              <a:buChar char="•"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Выручка — 1 262 500 рублей при 250 клиентах</a:t>
            </a:r>
            <a:endParaRPr lang="ru-RU" sz="1500"/>
          </a:p>
          <a:p>
            <a:pPr algn="l" marL="209550" indent="-209550">
              <a:lnSpc>
                <a:spcPct val="100000"/>
              </a:lnSpc>
              <a:buClr>
                <a:srgbClr val="0077FF"/>
              </a:buClr>
              <a:buFont typeface="Arial"/>
              <a:buChar char="•"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Расходы — 1 038 125 рублей, включая 5% переменных</a:t>
            </a:r>
            <a:endParaRPr lang="ru-RU" sz="1500"/>
          </a:p>
        </p:txBody>
      </p:sp>
      <p:cxnSp>
        <p:nvCxnSpPr>
          <p:cNvPr id="1209" name="Line 1209"/>
          <p:cNvCxnSpPr/>
          <p:nvPr/>
        </p:nvCxnSpPr>
        <p:spPr>
          <a:xfrm>
            <a:off x="3396331" y="1000422"/>
            <a:ext cx="0" cy="164465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1210" name="Unit 1210"/>
          <p:cNvSpPr txBox="1"/>
          <p:nvPr/>
        </p:nvSpPr>
        <p:spPr>
          <a:xfrm>
            <a:off x="3615787" y="1000422"/>
            <a:ext cx="5244749" cy="162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₽</a:t>
            </a:r>
            <a:endParaRPr lang="ru-RU" sz="900"/>
          </a:p>
        </p:txBody>
      </p:sp>
      <p:graphicFrame>
        <p:nvGraphicFramePr>
          <p:cNvPr id="1211" name="Chart 1210"/>
          <p:cNvGraphicFramePr>
            <a:graphicFrameLocks noGrp="1"/>
          </p:cNvGraphicFramePr>
          <p:nvPr/>
        </p:nvGraphicFramePr>
        <p:xfrm>
          <a:off x="3615787" y="1209273"/>
          <a:ext cx="5244749" cy="26989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12" name="Footnote 1212"/>
          <p:cNvSpPr txBox="1"/>
          <p:nvPr/>
        </p:nvSpPr>
        <p:spPr>
          <a:xfrm>
            <a:off x="248929" y="4346269"/>
            <a:ext cx="8611607" cy="14914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812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Налоги, амортизация и проценты по кредитам не учтены</a:t>
            </a:r>
            <a:endParaRPr lang="ru-RU" sz="812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5064422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Операционная прибыль станет положительной на пятом месяце</a:t>
            </a:r>
            <a:endParaRPr/>
          </a:p>
        </p:txBody>
      </p:sp>
      <p:sp>
        <p:nvSpPr>
          <p:cNvPr id="1208" name="Chart title 1208"/>
          <p:cNvSpPr txBox="1"/>
          <p:nvPr/>
        </p:nvSpPr>
        <p:spPr>
          <a:xfrm>
            <a:off x="248929" y="1366182"/>
            <a:ext cx="4031483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Рост активных клиентов, чел.</a:t>
            </a:r>
            <a:endParaRPr lang="ru-RU" sz="1500"/>
          </a:p>
        </p:txBody>
      </p:sp>
      <p:graphicFrame>
        <p:nvGraphicFramePr>
          <p:cNvPr id="1209" name="Chart 1208"/>
          <p:cNvGraphicFramePr>
            <a:graphicFrameLocks noGrp="1"/>
          </p:cNvGraphicFramePr>
          <p:nvPr/>
        </p:nvGraphicFramePr>
        <p:xfrm>
          <a:off x="248929" y="1712765"/>
          <a:ext cx="4031483" cy="2782653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10" name="Chart title 1210"/>
          <p:cNvSpPr txBox="1"/>
          <p:nvPr/>
        </p:nvSpPr>
        <p:spPr>
          <a:xfrm>
            <a:off x="4829052" y="1366182"/>
            <a:ext cx="4031484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Операционный результат</a:t>
            </a:r>
            <a:endParaRPr lang="ru-RU" sz="1500"/>
          </a:p>
        </p:txBody>
      </p:sp>
      <p:graphicFrame>
        <p:nvGraphicFramePr>
          <p:cNvPr id="1211" name="Chart 1210"/>
          <p:cNvGraphicFramePr>
            <a:graphicFrameLocks noGrp="1"/>
          </p:cNvGraphicFramePr>
          <p:nvPr/>
        </p:nvGraphicFramePr>
        <p:xfrm>
          <a:off x="4829052" y="1712765"/>
          <a:ext cx="4031484" cy="2782653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Недостаток оборотных средств — 387 388 ₽</a:t>
            </a:r>
            <a:endParaRPr/>
          </a:p>
        </p:txBody>
      </p:sp>
      <p:sp>
        <p:nvSpPr>
          <p:cNvPr id="1208" name="Chart note 1208"/>
          <p:cNvSpPr txBox="1"/>
          <p:nvPr/>
        </p:nvSpPr>
        <p:spPr>
          <a:xfrm>
            <a:off x="248929" y="1000422"/>
            <a:ext cx="3272410" cy="286385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350"/>
              </a:spcAft>
              <a:buNone/>
            </a:pPr>
            <a:r>
              <a:rPr lang="ru-RU" sz="1500" b="1" cap="none" spc="0" baseline="0" dirty="0">
                <a:solidFill>
                  <a:srgbClr val="000000"/>
                </a:solidFill>
                <a:latin typeface="Play"/>
                <a:cs typeface="Play"/>
              </a:rPr>
              <a:t>Проект может выйти на операционную прибыль к пятому месяцу, но для запуска необходимо заранее закрыть недостаток оборотных средств</a:t>
            </a:r>
            <a:endParaRPr lang="ru-RU" sz="1500"/>
          </a:p>
          <a:p>
            <a:pPr algn="l" marL="209550" indent="-209550">
              <a:lnSpc>
                <a:spcPct val="100000"/>
              </a:lnSpc>
              <a:spcAft>
                <a:spcPts val="600"/>
              </a:spcAft>
              <a:buClr>
                <a:srgbClr val="0077FF"/>
              </a:buClr>
              <a:buFont typeface="Arial"/>
              <a:buChar char="•"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Общий бюджет проекта следует увеличить до 3 387 388 ₽</a:t>
            </a:r>
            <a:endParaRPr lang="ru-RU" sz="1500"/>
          </a:p>
          <a:p>
            <a:pPr algn="l" marL="209550" indent="-209550">
              <a:lnSpc>
                <a:spcPct val="100000"/>
              </a:lnSpc>
              <a:spcAft>
                <a:spcPts val="600"/>
              </a:spcAft>
              <a:buClr>
                <a:srgbClr val="0077FF"/>
              </a:buClr>
              <a:buFont typeface="Arial"/>
              <a:buChar char="•"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Или сократить затраты до запуска</a:t>
            </a:r>
            <a:endParaRPr lang="ru-RU" sz="1500"/>
          </a:p>
          <a:p>
            <a:pPr algn="l" marL="209550" indent="-209550">
              <a:lnSpc>
                <a:spcPct val="100000"/>
              </a:lnSpc>
              <a:buClr>
                <a:srgbClr val="0077FF"/>
              </a:buClr>
              <a:buFont typeface="Arial"/>
              <a:buChar char="•"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Суммарный операционный убыток за первые четыре месяца составит около 1 237 388 рублей</a:t>
            </a:r>
            <a:endParaRPr lang="ru-RU" sz="1500"/>
          </a:p>
        </p:txBody>
      </p:sp>
      <p:cxnSp>
        <p:nvCxnSpPr>
          <p:cNvPr id="1209" name="Line 1209"/>
          <p:cNvCxnSpPr/>
          <p:nvPr/>
        </p:nvCxnSpPr>
        <p:spPr>
          <a:xfrm>
            <a:off x="3740795" y="1000422"/>
            <a:ext cx="0" cy="286385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1210" name="Unit 1210"/>
          <p:cNvSpPr txBox="1"/>
          <p:nvPr/>
        </p:nvSpPr>
        <p:spPr>
          <a:xfrm>
            <a:off x="3960251" y="1000422"/>
            <a:ext cx="4900285" cy="162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Сумма</a:t>
            </a:r>
            <a:endParaRPr lang="ru-RU" sz="900"/>
          </a:p>
        </p:txBody>
      </p:sp>
      <p:graphicFrame>
        <p:nvGraphicFramePr>
          <p:cNvPr id="1211" name="Chart 1210"/>
          <p:cNvGraphicFramePr>
            <a:graphicFrameLocks noGrp="1"/>
          </p:cNvGraphicFramePr>
          <p:nvPr/>
        </p:nvGraphicFramePr>
        <p:xfrm>
          <a:off x="3960251" y="1209273"/>
          <a:ext cx="4900285" cy="300654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