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3524297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00"/>
              <a:t>Инициатива: перенос аналитического контура в VK Cloud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200"/>
              <a:t>техническое руководство и финансовый директор</a:t>
            </a:r>
            <a:endParaRPr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4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8"/>
          <p:cNvSpPr/>
          <p:nvPr/>
        </p:nvSpPr>
        <p:spPr>
          <a:xfrm>
            <a:off x="438148" y="1590803"/>
            <a:ext cx="2539987" cy="1045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Проблема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8"/>
          <p:cNvSpPr/>
          <p:nvPr/>
        </p:nvSpPr>
        <p:spPr>
          <a:xfrm>
            <a:off x="3174981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3327380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3327380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327380" y="1590803"/>
            <a:ext cx="2539986" cy="1045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Предложение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8"/>
          <p:cNvSpPr/>
          <p:nvPr/>
        </p:nvSpPr>
        <p:spPr>
          <a:xfrm>
            <a:off x="6216621" y="1590803"/>
            <a:ext cx="2539986" cy="1045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Экономика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8"/>
          <p:cNvSpPr/>
          <p:nvPr/>
        </p:nvSpPr>
        <p:spPr>
          <a:xfrm>
            <a:off x="285749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8"/>
          <p:cNvSpPr/>
          <p:nvPr/>
        </p:nvSpPr>
        <p:spPr>
          <a:xfrm>
            <a:off x="438148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58"/>
          <p:cNvSpPr/>
          <p:nvPr/>
        </p:nvSpPr>
        <p:spPr>
          <a:xfrm>
            <a:off x="438148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8"/>
          <p:cNvSpPr/>
          <p:nvPr/>
        </p:nvSpPr>
        <p:spPr>
          <a:xfrm>
            <a:off x="438148" y="3264604"/>
            <a:ext cx="2539987" cy="1045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Риски и как их снимаем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8"/>
          <p:cNvSpPr/>
          <p:nvPr/>
        </p:nvSpPr>
        <p:spPr>
          <a:xfrm>
            <a:off x="3174981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58"/>
          <p:cNvSpPr/>
          <p:nvPr/>
        </p:nvSpPr>
        <p:spPr>
          <a:xfrm>
            <a:off x="3327380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8"/>
          <p:cNvSpPr/>
          <p:nvPr/>
        </p:nvSpPr>
        <p:spPr>
          <a:xfrm>
            <a:off x="3327380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8"/>
          <p:cNvSpPr/>
          <p:nvPr/>
        </p:nvSpPr>
        <p:spPr>
          <a:xfrm>
            <a:off x="3327380" y="3264604"/>
            <a:ext cx="2539986" cy="1045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План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58"/>
          <p:cNvSpPr/>
          <p:nvPr/>
        </p:nvSpPr>
        <p:spPr>
          <a:xfrm>
            <a:off x="6064222" y="2883653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8"/>
          <p:cNvSpPr/>
          <p:nvPr/>
        </p:nvSpPr>
        <p:spPr>
          <a:xfrm>
            <a:off x="6216621" y="30360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58"/>
          <p:cNvSpPr/>
          <p:nvPr/>
        </p:nvSpPr>
        <p:spPr>
          <a:xfrm>
            <a:off x="6216621" y="30360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58"/>
          <p:cNvSpPr/>
          <p:nvPr/>
        </p:nvSpPr>
        <p:spPr>
          <a:xfrm>
            <a:off x="6216621" y="3264604"/>
            <a:ext cx="2539986" cy="1045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Решение, которое просим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О чём поговорим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23%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загрузка в среднем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97%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в пиковые дни отчётности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 из 30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ночные расчёты не успевают к утру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6"/>
          <p:cNvSpPr/>
          <p:nvPr/>
        </p:nvSpPr>
        <p:spPr>
          <a:xfrm>
            <a:off x="4048160" y="40441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6"/>
          <p:cNvSpPr/>
          <p:nvPr/>
        </p:nvSpPr>
        <p:spPr>
          <a:xfrm>
            <a:off x="4048160" y="4044115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38 млн ₽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продление поддержки железа на следующий год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992"/>
              <a:t>Аналитический кластер работает на 48 собственных серверах возрастом от четырёх лет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7" name="Google Shape;1027;p65"/>
          <p:cNvSpPr/>
          <p:nvPr/>
        </p:nvSpPr>
        <p:spPr>
          <a:xfrm>
            <a:off x="6064222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28" name="Google Shape;102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03313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p65"/>
          <p:cNvSpPr/>
          <p:nvPr/>
        </p:nvSpPr>
        <p:spPr>
          <a:xfrm>
            <a:off x="3174981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0" name="Google Shape;1030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10249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6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343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5"/>
          <p:cNvSpPr/>
          <p:nvPr/>
        </p:nvSpPr>
        <p:spPr>
          <a:xfrm>
            <a:off x="476248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65"/>
          <p:cNvSpPr/>
          <p:nvPr/>
        </p:nvSpPr>
        <p:spPr>
          <a:xfrm>
            <a:off x="476248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5"/>
          <p:cNvSpPr/>
          <p:nvPr/>
        </p:nvSpPr>
        <p:spPr>
          <a:xfrm>
            <a:off x="476248" y="1628898"/>
            <a:ext cx="2463787" cy="187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Управляемые Kubernetes и ClickHouse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65"/>
          <p:cNvSpPr/>
          <p:nvPr/>
        </p:nvSpPr>
        <p:spPr>
          <a:xfrm>
            <a:off x="2422509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38" name="Google Shape;1038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22506" y="3566983"/>
            <a:ext cx="466723" cy="4666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039" name="Google Shape;103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859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65"/>
          <p:cNvSpPr/>
          <p:nvPr/>
        </p:nvSpPr>
        <p:spPr>
          <a:xfrm>
            <a:off x="3365480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5"/>
          <p:cNvSpPr/>
          <p:nvPr/>
        </p:nvSpPr>
        <p:spPr>
          <a:xfrm>
            <a:off x="3365480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5"/>
          <p:cNvSpPr/>
          <p:nvPr/>
        </p:nvSpPr>
        <p:spPr>
          <a:xfrm>
            <a:off x="3365479" y="1628898"/>
            <a:ext cx="2463787" cy="187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Автоматическое масштабирование под пиковую нагрузку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65"/>
          <p:cNvSpPr/>
          <p:nvPr/>
        </p:nvSpPr>
        <p:spPr>
          <a:xfrm>
            <a:off x="5311741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4" name="Google Shape;10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5091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65"/>
          <p:cNvSpPr/>
          <p:nvPr/>
        </p:nvSpPr>
        <p:spPr>
          <a:xfrm>
            <a:off x="6254721" y="1400327"/>
            <a:ext cx="2412987" cy="1009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5"/>
          <p:cNvSpPr/>
          <p:nvPr/>
        </p:nvSpPr>
        <p:spPr>
          <a:xfrm>
            <a:off x="6254721" y="1400328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5"/>
          <p:cNvSpPr/>
          <p:nvPr/>
        </p:nvSpPr>
        <p:spPr>
          <a:xfrm>
            <a:off x="6254721" y="1628898"/>
            <a:ext cx="2463787" cy="1876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Оплата по потреблению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8200982" y="3566983"/>
            <a:ext cx="466723" cy="466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1049" name="Google Shape;104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332" y="3700316"/>
            <a:ext cx="200024" cy="1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40"/>
              <a:t>Перенести хранилище и расчёты в VK Cloud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91283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91283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26 млн ₽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491283" y="1819373"/>
            <a:ext cx="2434299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экономия в год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3174983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3380517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32738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3380517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7 мес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5"/>
          <p:cNvSpPr/>
          <p:nvPr/>
        </p:nvSpPr>
        <p:spPr>
          <a:xfrm>
            <a:off x="3380517" y="1819373"/>
            <a:ext cx="2434299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окупаемость миграции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6064218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6269753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621661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6269753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×3,4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6269753" y="1819373"/>
            <a:ext cx="2434299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расчёты в пик за счёт масштабирования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3556570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>Экономия 26 млн рублей в год, окупаемость миграции за 7 месяцев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Google Shape;503;p50"/>
          <p:cNvSpPr txBox="1"/>
          <p:nvPr>
            <p:ph type="title"/>
          </p:nvPr>
        </p:nvSpPr>
        <p:spPr>
          <a:xfrm>
            <a:off x="430360" y="338829"/>
            <a:ext cx="330418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40"/>
              <a:t>Экономика: 61 → 35 млн ₽ в год</a:t>
            </a:r>
            <a:endParaRPr/>
          </a:p>
        </p:txBody>
      </p:sp>
      <p:graphicFrame>
        <p:nvGraphicFramePr>
          <p:cNvPr id="508" name="Table 507"/>
          <p:cNvGraphicFramePr>
            <a:graphicFrameLocks noGrp="1"/>
          </p:cNvGraphicFramePr>
          <p:nvPr/>
        </p:nvGraphicFramePr>
        <p:xfrm>
          <a:off x="4637088" y="676278"/>
          <a:ext cx="3862387" cy="1783080"/>
        </p:xfrm>
        <a:graphic>
          <a:graphicData uri="http://schemas.openxmlformats.org/drawingml/2006/table">
            <a:tbl>
              <a:tblPr firstRow="1" bandRow="0"/>
              <a:tblGrid>
                <a:gridCol w="2175992"/>
                <a:gridCol w="779730"/>
                <a:gridCol w="906665"/>
              </a:tblGrid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lay"/>
                        </a:rPr>
                        <a:t>Статья, млн ₽ в год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Play"/>
                        </a:rPr>
                        <a:t>Сейчас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Play"/>
                        </a:rPr>
                        <a:t>В VK Cloud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7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Поддержка и амортизация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38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Электричество и площадка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9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solidFill>
                      <a:srgbClr val="FE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Облачные ресурсы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27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Команда эксплуатации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14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8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solidFill>
                      <a:srgbClr val="FE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Итого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61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Play"/>
                        </a:rPr>
                        <a:t>35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C4C4C4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9499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421165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588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Совместимость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66"/>
          <p:cNvSpPr/>
          <p:nvPr/>
        </p:nvSpPr>
        <p:spPr>
          <a:xfrm>
            <a:off x="4048160" y="1136224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2 из 140 отчётов используют нестандартные расширения — переписываем</a:t>
            </a:r>
            <a:endParaRPr b="0" i="0" sz="9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857722"/>
            <a:ext cx="4948861" cy="1421165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20676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2067616"/>
            <a:ext cx="4585000" cy="588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Безопасность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4048160" y="27174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Данные остаются в контуре РФ, шифрование на диске и в канале, доступ по ролям</a:t>
            </a:r>
            <a:endParaRPr b="0" i="0" sz="9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/>
          <p:nvPr/>
        </p:nvSpPr>
        <p:spPr>
          <a:xfrm>
            <a:off x="3838239" y="3438921"/>
            <a:ext cx="4948861" cy="1421165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3648815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3648815"/>
            <a:ext cx="4585000" cy="5880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2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Зависимость от провайдера</a:t>
            </a:r>
            <a:endParaRPr b="0" i="0" sz="13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66"/>
          <p:cNvSpPr/>
          <p:nvPr/>
        </p:nvSpPr>
        <p:spPr>
          <a:xfrm>
            <a:off x="4048160" y="4298621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2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Экспорт данных в открытых форматах закреплён в договоре</a:t>
            </a:r>
            <a:endParaRPr b="0" i="0" sz="9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210"/>
              <a:t>Риски и как их снимаем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91283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91283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Этап 1, месяц 1–2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491283" y="1819373"/>
            <a:ext cx="2434299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Пилот на копии хранилища и 20 отчётах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3174983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3380517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32738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3380517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Этап 2, месяц 3–4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5"/>
          <p:cNvSpPr/>
          <p:nvPr/>
        </p:nvSpPr>
        <p:spPr>
          <a:xfrm>
            <a:off x="3380517" y="1819373"/>
            <a:ext cx="2434299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Перенос расчётов, параллельная работа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6064218" y="1209852"/>
            <a:ext cx="2793985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6269753" y="1362233"/>
            <a:ext cx="2382915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621661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6269753" y="1590803"/>
            <a:ext cx="24514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Этап 3, месяц 5–6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55"/>
          <p:cNvSpPr/>
          <p:nvPr/>
        </p:nvSpPr>
        <p:spPr>
          <a:xfrm>
            <a:off x="6269753" y="1819373"/>
            <a:ext cx="2434299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Отключение старого кластера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/>
              <a:t>План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Google Shape;503;p50"/>
          <p:cNvSpPr txBox="1"/>
          <p:nvPr>
            <p:ph type="title"/>
          </p:nvPr>
        </p:nvSpPr>
        <p:spPr>
          <a:xfrm>
            <a:off x="430360" y="338829"/>
            <a:ext cx="3304180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2040"/>
              <a:t>Решение, которое просим</a:t>
            </a:r>
            <a:endParaRPr/>
          </a:p>
        </p:txBody>
      </p:sp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</a:pPr>
            <a:r>
              <a:rPr lang="en-US" sz="840"/>
              <a:t>Утвердить бюджет миграции 12 млн рублей и старт пилота с 1 ноября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7" name="Google Shape;447;p47"/>
          <p:cNvSpPr txBox="1"/>
          <p:nvPr>
            <p:ph type="title"/>
          </p:nvPr>
        </p:nvSpPr>
        <p:spPr>
          <a:xfrm>
            <a:off x="572960" y="1682878"/>
            <a:ext cx="3161580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060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