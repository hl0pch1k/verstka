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3311"/>
          <c:y val="0.0128"/>
          <c:w val="0.5677"/>
          <c:h val="0.97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Количество</c:v>
                </c:pt>
              </c:strCache>
            </c:strRef>
          </c:tx>
          <c:spPr>
            <a:solidFill>
              <a:srgbClr val="91C4FF"/>
            </a:solidFill>
            <a:ln>
              <a:noFill/>
            </a:ln>
          </c:spPr>
          <c:invertIfNegative val="0"/>
          <c:dPt>
            <c:idx val="3"/>
            <c:spPr>
              <a:solidFill>
                <a:srgbClr val="0077FF"/>
              </a:solidFill>
              <a:ln>
                <a:noFill/>
              </a:ln>
            </c:spPr>
          </c:dPt>
          <c:dLbls>
            <c:dLbl>
              <c:idx val="3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b="0">
                      <a:solidFill>
                        <a:srgbClr val="0077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Жители района</c:v>
                </c:pt>
                <c:pt idx="1">
                  <c:v>Выбранная возрастная аудитория</c:v>
                </c:pt>
                <c:pt idx="2">
                  <c:v>Потенциально заинтересованные</c:v>
                </c:pt>
                <c:pt idx="3">
                  <c:v>Целевое количество клиентов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18000.0</c:v>
                </c:pt>
                <c:pt idx="1">
                  <c:v>8000.0</c:v>
                </c:pt>
                <c:pt idx="2">
                  <c:v>1200.0</c:v>
                </c:pt>
                <c:pt idx="3">
                  <c:v>250.0</c:v>
                </c:pt>
              </c:numCache>
            </c:numRef>
          </c:val>
        </c:ser>
        <c:dLbls>
          <c:numFmt formatCode="#,##0&quot; человек&quot;;&quot;−&quot;#,##0&quot; человек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8000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238"/>
          <c:y val="0.0238"/>
          <c:w val="0.9524"/>
          <c:h val="0.9524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Важность критериев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  <a:ln w="25400">
                <a:solidFill>
                  <a:srgbClr val="FAFCFF"/>
                </a:solidFill>
              </a:ln>
            </c:spPr>
          </c:dPt>
          <c:dPt>
            <c:idx val="1"/>
            <c:spPr>
              <a:solidFill>
                <a:srgbClr val="2D8FFF"/>
              </a:solidFill>
              <a:ln w="25400">
                <a:solidFill>
                  <a:srgbClr val="FAFCFF"/>
                </a:solidFill>
              </a:ln>
            </c:spPr>
          </c:dPt>
          <c:dPt>
            <c:idx val="2"/>
            <c:spPr>
              <a:solidFill>
                <a:srgbClr val="5AA7FF"/>
              </a:solidFill>
              <a:ln w="25400">
                <a:solidFill>
                  <a:srgbClr val="FAFCFF"/>
                </a:solidFill>
              </a:ln>
            </c:spPr>
          </c:dPt>
          <c:dPt>
            <c:idx val="3"/>
            <c:spPr>
              <a:solidFill>
                <a:srgbClr val="8CC1FF"/>
              </a:solidFill>
              <a:ln w="25400">
                <a:solidFill>
                  <a:srgbClr val="FAFCFF"/>
                </a:solidFill>
              </a:ln>
            </c:spPr>
          </c:dPt>
          <c:dPt>
            <c:idx val="4"/>
            <c:spPr>
              <a:solidFill>
                <a:srgbClr val="B9D9FF"/>
              </a:solidFill>
              <a:ln w="25400">
                <a:solidFill>
                  <a:srgbClr val="FAFCFF"/>
                </a:solidFill>
              </a:ln>
            </c:spPr>
          </c:dPt>
          <c:dLbls>
            <c:dLbl>
              <c:idx val="0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FFFF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FFFF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.0&quot;%&quot;;&quot;−&quot;0.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.0&quot;%&quot;;&quot;−&quot;0.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;&quot;−&quot;0&quot;%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9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Близость к дому</c:v>
                </c:pt>
                <c:pt idx="1">
                  <c:v>Расписание</c:v>
                </c:pt>
                <c:pt idx="2">
                  <c:v>Стоимость</c:v>
                </c:pt>
                <c:pt idx="3">
                  <c:v>Тренеры</c:v>
                </c:pt>
                <c:pt idx="4">
                  <c:v>Атмосфера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35.0</c:v>
                </c:pt>
                <c:pt idx="1">
                  <c:v>25.0</c:v>
                </c:pt>
                <c:pt idx="2">
                  <c:v>20.0</c:v>
                </c:pt>
                <c:pt idx="3">
                  <c:v>12.5</c:v>
                </c:pt>
                <c:pt idx="4">
                  <c:v>7.5</c:v>
                </c:pt>
              </c:numCache>
            </c:numRef>
          </c:val>
        </c:ser>
        <c:dLbls>
          <c:numFmt formatCode="0&quot;%&quot;;&quot;−&quot;0&quot;%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9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  <c:holeSize val="56"/>
      </c:doughnutChart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3457"/>
          <c:y val="0.0128"/>
          <c:w val="0.5684"/>
          <c:h val="0.97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Посещений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Месячная вместимость</c:v>
                </c:pt>
                <c:pt idx="1">
                  <c:v>Ожидаемое количество посещений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2700.0</c:v>
                </c:pt>
                <c:pt idx="1">
                  <c:v>2000.0</c:v>
                </c:pt>
              </c:numCache>
            </c:numRef>
          </c:val>
        </c:ser>
        <c:dLbls>
          <c:numFmt formatCode="#,##0&quot; посещений&quot;;&quot;−&quot;#,##0&quot; посещений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28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2700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236"/>
          <c:y val="0.0236"/>
          <c:w val="0.9528"/>
          <c:h val="0.9528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Бюджет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  <a:ln w="25400">
                <a:solidFill>
                  <a:srgbClr val="FAFCFF"/>
                </a:solidFill>
              </a:ln>
            </c:spPr>
          </c:dPt>
          <c:dPt>
            <c:idx val="1"/>
            <c:spPr>
              <a:solidFill>
                <a:srgbClr val="3C97FF"/>
              </a:solidFill>
              <a:ln w="25400">
                <a:solidFill>
                  <a:srgbClr val="FAFCFF"/>
                </a:solidFill>
              </a:ln>
            </c:spPr>
          </c:dPt>
          <c:dPt>
            <c:idx val="2"/>
            <c:spPr>
              <a:solidFill>
                <a:srgbClr val="7DBAFF"/>
              </a:solidFill>
              <a:ln w="25400">
                <a:solidFill>
                  <a:srgbClr val="FAFCFF"/>
                </a:solidFill>
              </a:ln>
            </c:spPr>
          </c:dPt>
          <c:dPt>
            <c:idx val="3"/>
            <c:spPr>
              <a:solidFill>
                <a:srgbClr val="B9D9FF"/>
              </a:solidFill>
              <a:ln w="25400">
                <a:solidFill>
                  <a:srgbClr val="FAFCFF"/>
                </a:solidFill>
              </a:ln>
            </c:spPr>
          </c:dPt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Оплата работы тренеров</c:v>
                </c:pt>
                <c:pt idx="1">
                  <c:v>Администраторов</c:v>
                </c:pt>
                <c:pt idx="2">
                  <c:v>Уборки</c:v>
                </c:pt>
                <c:pt idx="3">
                  <c:v>Резерв на замены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260000.0</c:v>
                </c:pt>
                <c:pt idx="1">
                  <c:v>110000.0</c:v>
                </c:pt>
                <c:pt idx="2">
                  <c:v>30000.0</c:v>
                </c:pt>
                <c:pt idx="3">
                  <c:v>20000.0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  <c:holeSize val="56"/>
      </c:doughnutChart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3947"/>
          <c:y val="0.0114"/>
          <c:w val="0.4831"/>
          <c:h val="0.977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Бюджет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Реклама в соцсетях</c:v>
                </c:pt>
                <c:pt idx="1">
                  <c:v>Районные сообщества и местные каналы</c:v>
                </c:pt>
                <c:pt idx="2">
                  <c:v>Партнерства с ЖК и организациями</c:v>
                </c:pt>
                <c:pt idx="3">
                  <c:v>Мероприятия открытия</c:v>
                </c:pt>
                <c:pt idx="4">
                  <c:v>Печатные материалы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90000.0</c:v>
                </c:pt>
                <c:pt idx="1">
                  <c:v>60000.0</c:v>
                </c:pt>
                <c:pt idx="2">
                  <c:v>40000.0</c:v>
                </c:pt>
                <c:pt idx="3">
                  <c:v>30000.0</c:v>
                </c:pt>
                <c:pt idx="4">
                  <c:v>20000.0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90000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357"/>
          <c:y val="0.0357"/>
          <c:w val="0.9286"/>
          <c:h val="0.9286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Вложения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  <a:ln w="19050">
                <a:solidFill>
                  <a:srgbClr val="FAFCFF"/>
                </a:solidFill>
              </a:ln>
            </c:spPr>
          </c:dPt>
          <c:dPt>
            <c:idx val="1"/>
            <c:spPr>
              <a:solidFill>
                <a:srgbClr val="238AFF"/>
              </a:solidFill>
              <a:ln w="19050">
                <a:solidFill>
                  <a:srgbClr val="FAFCFF"/>
                </a:solidFill>
              </a:ln>
            </c:spPr>
          </c:dPt>
          <c:dPt>
            <c:idx val="2"/>
            <c:spPr>
              <a:solidFill>
                <a:srgbClr val="4B9FFF"/>
              </a:solidFill>
              <a:ln w="19050">
                <a:solidFill>
                  <a:srgbClr val="FAFCFF"/>
                </a:solidFill>
              </a:ln>
            </c:spPr>
          </c:dPt>
          <c:dPt>
            <c:idx val="3"/>
            <c:spPr>
              <a:solidFill>
                <a:srgbClr val="6EB2FF"/>
              </a:solidFill>
              <a:ln w="19050">
                <a:solidFill>
                  <a:srgbClr val="FAFCFF"/>
                </a:solidFill>
              </a:ln>
            </c:spPr>
          </c:dPt>
          <c:dPt>
            <c:idx val="4"/>
            <c:spPr>
              <a:solidFill>
                <a:srgbClr val="96C7FF"/>
              </a:solidFill>
              <a:ln w="19050">
                <a:solidFill>
                  <a:srgbClr val="FAFCFF"/>
                </a:solidFill>
              </a:ln>
            </c:spPr>
          </c:dPt>
          <c:dPt>
            <c:idx val="5"/>
            <c:spPr>
              <a:solidFill>
                <a:srgbClr val="B9D9FF"/>
              </a:solidFill>
              <a:ln w="19050">
                <a:solidFill>
                  <a:srgbClr val="FAFCFF"/>
                </a:solidFill>
              </a:ln>
            </c:spPr>
          </c:dPt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FFFF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9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Ремонт и подготовка помещения</c:v>
                </c:pt>
                <c:pt idx="1">
                  <c:v>Оборотный резерв</c:v>
                </c:pt>
                <c:pt idx="2">
                  <c:v>Оборудование и инвентарь</c:v>
                </c:pt>
                <c:pt idx="3">
                  <c:v>Мебель и обустройство раздевалок</c:v>
                </c:pt>
                <c:pt idx="4">
                  <c:v>Обеспечительный платеж по аренде</c:v>
                </c:pt>
                <c:pt idx="5">
                  <c:v>Сайт и система записи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900000.0</c:v>
                </c:pt>
                <c:pt idx="1">
                  <c:v>850000.0</c:v>
                </c:pt>
                <c:pt idx="2">
                  <c:v>650000.0</c:v>
                </c:pt>
                <c:pt idx="3">
                  <c:v>300000.0</c:v>
                </c:pt>
                <c:pt idx="4">
                  <c:v>180000.0</c:v>
                </c:pt>
                <c:pt idx="5">
                  <c:v>120000.0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9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2369"/>
          <c:y val="0.0127"/>
          <c:w val="0.6041"/>
          <c:h val="0.9746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₽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Выручка</c:v>
                </c:pt>
                <c:pt idx="1">
                  <c:v>Расходы</c:v>
                </c:pt>
                <c:pt idx="2">
                  <c:v>Операционная прибыль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1262500.0</c:v>
                </c:pt>
                <c:pt idx="1">
                  <c:v>1038125.0</c:v>
                </c:pt>
                <c:pt idx="2">
                  <c:v>224375.0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1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62500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32"/>
          <c:y val="0.1255"/>
          <c:w val="0.9937"/>
          <c:h val="0.7985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Активные клиенты</c:v>
                </c:pt>
              </c:strCache>
            </c:strRef>
          </c:tx>
          <c:spPr>
            <a:ln w="28575">
              <a:solidFill>
                <a:srgbClr val="0077FF"/>
              </a:solidFill>
            </a:ln>
          </c:spPr>
          <c:marker>
            <c:symbol val="circle"/>
            <c:size val="8"/>
            <c:spPr>
              <a:solidFill>
                <a:srgbClr val="0077FF"/>
              </a:solidFill>
              <a:ln w="19050">
                <a:solidFill>
                  <a:srgbClr val="FAFCFF"/>
                </a:solidFill>
              </a:ln>
            </c:spPr>
          </c:marker>
          <c:dPt>
            <c:idx val="5"/>
            <c:marker>
              <c:symbol val="circle"/>
              <c:size val="11"/>
              <c:spPr>
                <a:solidFill>
                  <a:srgbClr val="0077FF"/>
                </a:solidFill>
                <a:ln w="25400">
                  <a:solidFill>
                    <a:srgbClr val="FAFCFF"/>
                  </a:solidFill>
                </a:ln>
              </c:spPr>
            </c:marker>
          </c:dPt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18"/>
                  <c:y val="0.0000"/>
                </c:manualLayout>
              </c:layout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18"/>
                  <c:y val="0.0000"/>
                </c:manualLayout>
              </c:layout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400" b="0">
                      <a:solidFill>
                        <a:srgbClr val="0077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1-й месяц</c:v>
                </c:pt>
                <c:pt idx="1">
                  <c:v>2-й месяц</c:v>
                </c:pt>
                <c:pt idx="2">
                  <c:v>3-й месяц</c:v>
                </c:pt>
                <c:pt idx="3">
                  <c:v>4-й месяц</c:v>
                </c:pt>
                <c:pt idx="4">
                  <c:v>5-й месяц</c:v>
                </c:pt>
                <c:pt idx="5">
                  <c:v>6-й месяц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80.0</c:v>
                </c:pt>
                <c:pt idx="1">
                  <c:v>120.0</c:v>
                </c:pt>
                <c:pt idx="2">
                  <c:v>160.0</c:v>
                </c:pt>
                <c:pt idx="3">
                  <c:v>195.0</c:v>
                </c:pt>
                <c:pt idx="4">
                  <c:v>225.0</c:v>
                </c:pt>
                <c:pt idx="5">
                  <c:v>250.0</c:v>
                </c:pt>
              </c:numCache>
            </c:numRef>
          </c:val>
          <c:smooth val="0"/>
        </c:ser>
        <c:dLbls>
          <c:numFmt formatCode="#,##0&quot; чел.&quot;;&quot;−&quot;#,##0&quot; чел.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smooth val="0"/>
        <c:axId val="510000001"/>
        <c:axId val="510000002"/>
      </c:line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DDE3EA"/>
            </a:solidFill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250.0"/>
          <c:min val="0.0"/>
        </c:scaling>
        <c:delete val="1"/>
        <c:axPos val="l"/>
        <c:majorTickMark val="out"/>
        <c:minorTickMark val="none"/>
        <c:tickLblPos val="nextTo"/>
        <c:crossAx val="51000000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37"/>
          <c:y val="0.1055"/>
          <c:w val="0.9926"/>
          <c:h val="0.8185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Операционный результат</c:v>
                </c:pt>
              </c:strCache>
            </c:strRef>
          </c:tx>
          <c:spPr>
            <a:ln w="28575">
              <a:solidFill>
                <a:srgbClr val="0077FF"/>
              </a:solidFill>
            </a:ln>
          </c:spPr>
          <c:marker>
            <c:symbol val="circle"/>
            <c:size val="8"/>
            <c:spPr>
              <a:solidFill>
                <a:srgbClr val="0077FF"/>
              </a:solidFill>
              <a:ln w="19050">
                <a:solidFill>
                  <a:srgbClr val="FAFCFF"/>
                </a:solidFill>
              </a:ln>
            </c:spPr>
          </c:marker>
          <c:dPt>
            <c:idx val="5"/>
            <c:marker>
              <c:symbol val="circle"/>
              <c:size val="11"/>
              <c:spPr>
                <a:solidFill>
                  <a:srgbClr val="0077FF"/>
                </a:solidFill>
                <a:ln w="25400">
                  <a:solidFill>
                    <a:srgbClr val="FAFCFF"/>
                  </a:solidFill>
                </a:ln>
              </c:spPr>
            </c:marker>
          </c:dPt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929"/>
                  <c:y val="0.0000"/>
                </c:manualLayout>
              </c:layout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929"/>
                  <c:y val="0.0000"/>
                </c:manualLayout>
              </c:layout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841"/>
                  <c:y val="0.0000"/>
                </c:manualLayout>
              </c:layout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853"/>
                  <c:y val="0.0000"/>
                </c:manualLayout>
              </c:layout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9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050" b="0">
                      <a:solidFill>
                        <a:srgbClr val="0077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9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1-й месяц</c:v>
                </c:pt>
                <c:pt idx="1">
                  <c:v>2-й месяц</c:v>
                </c:pt>
                <c:pt idx="2">
                  <c:v>3-й месяц</c:v>
                </c:pt>
                <c:pt idx="3">
                  <c:v>4-й месяц</c:v>
                </c:pt>
                <c:pt idx="4">
                  <c:v>5-й месяц</c:v>
                </c:pt>
                <c:pt idx="5">
                  <c:v>6-й месяц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-591200.0</c:v>
                </c:pt>
                <c:pt idx="1">
                  <c:v>-399300.0</c:v>
                </c:pt>
                <c:pt idx="2">
                  <c:v>-207400.0</c:v>
                </c:pt>
                <c:pt idx="3">
                  <c:v>-39487.5</c:v>
                </c:pt>
                <c:pt idx="4">
                  <c:v>104437.5</c:v>
                </c:pt>
                <c:pt idx="5">
                  <c:v>224375.0</c:v>
                </c:pt>
              </c:numCache>
            </c:numRef>
          </c:val>
          <c:smooth val="0"/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9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smooth val="0"/>
        <c:axId val="510000001"/>
        <c:axId val="510000002"/>
      </c:line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DDE3EA"/>
            </a:solidFill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224375.0"/>
          <c:min val="-795093.75"/>
        </c:scaling>
        <c:delete val="1"/>
        <c:axPos val="l"/>
        <c:majorTickMark val="out"/>
        <c:minorTickMark val="none"/>
        <c:tickLblPos val="nextTo"/>
        <c:crossAx val="51000000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2924"/>
          <c:y val="0.0143"/>
          <c:w val="0.5486"/>
          <c:h val="0.971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Сумма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Имеющийся резерв</c:v>
                </c:pt>
                <c:pt idx="1">
                  <c:v>Прогнозируемая потребность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850000.0</c:v>
                </c:pt>
                <c:pt idx="1">
                  <c:v>1237388.0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93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37388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Фитнес-студия «Движение» предназначена для проведения групповых тренировок. Основные направления включают силовые занятия, растяжку, йогу и функциональные тренировки. Цель проекта — привлечь 250 постоянных клиентов и достичь ежемесячной операционной прибыли в размере 225 000 рублей к шестому месяцу работы.</a:t>
            </a:r>
          </a:p>
          <a:p>
            <a:r>
              <a:t>[verstka:sl2]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 районе проживает 18 000 человек, из них 8 000 относится к возрастной группе 23–45 лет. По предварительной оценке, 15% этой группы могут заинтересоваться занятиями — это 1 200 человек. Для достижения целевого показателя студии необходимо привлечь 21% этой аудитории, что составляет 250 человек.</a:t>
            </a:r>
          </a:p>
          <a:p>
            <a:r>
              <a:t>[verstka:sl3]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Опрос проводился среди 200 жителей района. Каждый участник выбирал один основной критерий.</a:t>
            </a:r>
          </a:p>
          <a:p>
            <a:r>
              <a:t>[verstka:sl4]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Средняя выручка на клиента рассчитана на основе этого распределения.</a:t>
            </a:r>
          </a:p>
          <a:p>
            <a:r>
              <a:t>[verstka:sl5]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Студия будет работать ежедневно с 07:00 до 22:00. В будние дни запланировано по восемь групповых занятий, в выходные — по шесть. Это 52 занятия в неделю, или около 225 в месяц. При вместимости 12 человек студия сможет обеспечить примерно 2 700 посещений в месяц. При 250 клиентах и среднем абонементе на восемь занятий ожидается до 2 000 посещений в месяц. Средняя загрузка составит около 74%.</a:t>
            </a:r>
          </a:p>
          <a:p>
            <a:r>
              <a:t>[verstka:sl6]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Площадь студии составляет 180 м².</a:t>
            </a:r>
          </a:p>
          <a:p>
            <a:r>
              <a:t>[verstka:sl7]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Бюджет команды составляет 420 000 рублей в месяц. На оплату работы тренеров выделяется 260 000 рублей, администраторов — 110 000 рублей, уборки — 30 000 рублей, резерв на замены — 20 000 рублей.</a:t>
            </a:r>
          </a:p>
          <a:p>
            <a:r>
              <a:t>[verstka:sl8]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Бюджет на первые три месяца продвижения составляет 240 000 ₽. Наибольшая часть — 90 000 ₽ — направлена на рекламу в социальных сетях. План привлечения клиентов рассчитан на получение 1 000 обращений, 500 записей на пробное занятие, 350 фактических посещений и 175 проданных абонементов. Средняя стоимость привлечения одного покупателя по этому плану — около 1 371 ₽.</a:t>
            </a:r>
          </a:p>
          <a:p>
            <a:r>
              <a:t>[verstka:sl9]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Стартовый бюджет проекта — 3 000 000 рублей.</a:t>
            </a:r>
          </a:p>
          <a:p>
            <a:r>
              <a:t>[verstka:sl10]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При 250 активных клиентах и средней месячной выручке на клиента 5 050 рублей студия получит 1 262 500 рублей выручки. Постоянные ежемесячные расходы составят 975 000 рублей, а переменные — 5% от выручки (63 125 рублей). Общие расходы — 1 038 125 рублей, операционная прибыль — 224 375 рублей, рентабельность — 17,8%. Налоги, амортизация и проценты по кредитам не учтены.</a:t>
            </a:r>
          </a:p>
          <a:p>
            <a:r>
              <a:t>[verstka:sl11]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Операционный результат рассчитывается как выручка минус постоянные и переменные расходы. Переменные расходы составляют 5% от выручки.</a:t>
            </a:r>
          </a:p>
          <a:p>
            <a:r>
              <a:t>[verstka:sl12]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Суммарный операционный убыток за первые четыре месяца составит около 1 237 388 рублей. Имеющийся оборотный резерв — 850 000 рублей, недостаток — 387 388 рублей.</a:t>
            </a:r>
          </a:p>
          <a:p>
            <a:r>
              <a:t>[verstka:sl13]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" name="Google Shape;2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" name="Google Shape;23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" name="Google Shape;24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" name="Google Shape;25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" name="Google Shape;26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" name="Google Shape;27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" name="Google Shape;28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" name="Google Shape;29;p3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0" name="Google Shape;30;p3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3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33" name="Google Shape;33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4" name="Google Shape;34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36" name="Google Shape;36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" name="Google Shape;37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9" name="Google Shape;3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0" name="Google Shape;40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1" name="Google Shape;4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2" name="Google Shape;42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3" name="Google Shape;43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" name="Google Shape;44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45" name="Google Shape;45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46" name="Google Shape;46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7" name="Google Shape;47;p4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8" name="Google Shape;48;p4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4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50" name="Google Shape;50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" name="Google Shape;51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52" name="Google Shape;52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3" name="Google Shape;53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Разделитель">
  <p:cSld name="1_Разделитель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57" name="Google Shape;57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58" name="Google Shape;58;p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9" name="Google Shape;5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1" name="Google Shape;61;p6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62" name="Google Shape;62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63" name="Google Shape;63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64" name="Google Shape;64;p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65" name="Google Shape;6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одержание">
  <p:cSld name="1_Содержание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78" name="Google Shape;78;p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79" name="Google Shape;79;p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80" name="Google Shape;80;p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81" name="Google Shape;81;p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2" name="Google Shape;82;p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одержание">
  <p:cSld name="2_Содержание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90" name="Google Shape;90;p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91" name="Google Shape;91;p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92" name="Google Shape;92;p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93" name="Google Shape;93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4" name="Google Shape;94;p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5" name="Google Shape;95;p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6" name="Google Shape;96;p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7" name="Google Shape;97;p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Визитка">
  <p:cSld name="1_Визитка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" name="Google Shape;111;p1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12" name="Google Shape;112;p1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13" name="Google Shape;113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14" name="Google Shape;114;p1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" name="Google Shape;115;p1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1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1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1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Визитка">
  <p:cSld name="4_Визитка"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2" name="Google Shape;122;p1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23" name="Google Shape;123;p1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24" name="Google Shape;124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25" name="Google Shape;125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6" name="Google Shape;126;p1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1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1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Контент">
  <p:cSld name="1_Контент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45" name="Google Shape;145;p1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46" name="Google Shape;146;p1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7" name="Google Shape;14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8" name="Google Shape;14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Контент">
  <p:cSld name="3_Контент">
    <p:bg>
      <p:bgPr>
        <a:solidFill>
          <a:schemeClr val="lt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2" name="Google Shape;152;p1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53" name="Google Shape;153;p1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54" name="Google Shape;154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5" name="Google Shape;155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Контент">
  <p:cSld name="5_Контент"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9" name="Google Shape;159;p1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0" name="Google Shape;160;p1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1" name="Google Shape;161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2" name="Google Shape;162;p1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Контент">
  <p:cSld name="7_Контент">
    <p:bg>
      <p:bgPr>
        <a:solidFill>
          <a:schemeClr val="lt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66" name="Google Shape;166;p1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7" name="Google Shape;167;p1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8" name="Google Shape;168;p1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9" name="Google Shape;169;p1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Контент">
  <p:cSld name="8_Контент">
    <p:bg>
      <p:bgPr>
        <a:solidFill>
          <a:schemeClr val="lt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73" name="Google Shape;173;p1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74" name="Google Shape;174;p1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75" name="Google Shape;175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76" name="Google Shape;176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Контент">
  <p:cSld name="13_Контент">
    <p:bg>
      <p:bgPr>
        <a:solidFill>
          <a:schemeClr val="lt1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9" name="Google Shape;179;p1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0" name="Google Shape;180;p1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1" name="Google Shape;181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2" name="Google Shape;182;p1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3" name="Google Shape;183;p1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oogle Shape;185;p2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6" name="Google Shape;186;p2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7" name="Google Shape;187;p2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8" name="Google Shape;188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вободный дизайн">
  <p:cSld name="2_Свободный дизайн">
    <p:bg>
      <p:bgPr>
        <a:solidFill>
          <a:schemeClr val="dk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1" name="Google Shape;191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2" name="Google Shape;192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3" name="Google Shape;19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94" name="Google Shape;194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5" name="Google Shape;195;p21"/>
          <p:cNvSpPr txBox="1"/>
          <p:nvPr>
            <p:ph type="title"/>
          </p:nvPr>
        </p:nvSpPr>
        <p:spPr>
          <a:xfrm>
            <a:off x="177970" y="175372"/>
            <a:ext cx="6792985" cy="907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6" name="Google Shape;196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7" name="Google Shape;197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8" name="Google Shape;198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9" name="Google Shape;199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0" name="Google Shape;200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Разделитель">
  <p:cSld name="2_Разделитель">
    <p:bg>
      <p:bgPr>
        <a:solidFill>
          <a:schemeClr val="dk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3" name="Google Shape;203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04" name="Google Shape;204;p2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5" name="Google Shape;205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6" name="Google Shape;206;p22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07" name="Google Shape;207;p22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08" name="Google Shape;208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9" name="Google Shape;209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10" name="Google Shape;210;p2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1" name="Google Shape;211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13" name="Google Shape;213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14" name="Google Shape;2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5" name="Google Shape;215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16" name="Google Shape;216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7" name="Google Shape;217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8" name="Google Shape;218;p23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20" name="Google Shape;220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21" name="Google Shape;221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22" name="Google Shape;222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4" name="Google Shape;224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" name="Google Shape;225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6" name="Google Shape;226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7" name="Google Shape;227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8" name="Google Shape;228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29" name="Google Shape;229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0" name="Google Shape;230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1" name="Google Shape;231;p24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2" name="Google Shape;232;p24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3" name="Google Shape;233;p24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4" name="Google Shape;234;p24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35" name="Google Shape;235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6" name="Google Shape;236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38" name="Google Shape;238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9" name="Google Shape;239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41" name="Google Shape;241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2" name="Google Shape;242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3" name="Google Shape;243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4" name="Google Shape;244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5" name="Google Shape;245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6" name="Google Shape;246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47" name="Google Shape;247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48" name="Google Shape;248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9" name="Google Shape;249;p25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0" name="Google Shape;250;p25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1" name="Google Shape;251;p25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52" name="Google Shape;252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3" name="Google Shape;253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54" name="Google Shape;254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55" name="Google Shape;255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лайд &quot;Спасибо!&quot;">
  <p:cSld name="2_Слайд &quot;Спасибо!&quot;">
    <p:bg>
      <p:bgPr>
        <a:solidFill>
          <a:schemeClr val="dk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57" name="Google Shape;257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0" name="Google Shape;260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1" name="Google Shape;261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2" name="Google Shape;262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63" name="Google Shape;263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64" name="Google Shape;264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5" name="Google Shape;265;p2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6" name="Google Shape;266;p26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7" name="Google Shape;267;p26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68" name="Google Shape;268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9" name="Google Shape;269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0" name="Google Shape;270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1" name="Google Shape;271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лайд &quot;Спасибо!&quot;">
  <p:cSld name="3_Слайд &quot;Спасибо!&quot;">
    <p:bg>
      <p:bgPr>
        <a:solidFill>
          <a:schemeClr val="dk1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4" name="Google Shape;274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5" name="Google Shape;275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6" name="Google Shape;276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7" name="Google Shape;277;p2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8" name="Google Shape;278;p2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79" name="Google Shape;279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80" name="Google Shape;280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1" name="Google Shape;281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Содержание">
  <p:cSld name="5_Содержание">
    <p:bg>
      <p:bgPr>
        <a:solidFill>
          <a:schemeClr val="dk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84" name="Google Shape;284;p2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85" name="Google Shape;285;p2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86" name="Google Shape;286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7" name="Google Shape;287;p2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8" name="Google Shape;288;p2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9" name="Google Shape;289;p2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0" name="Google Shape;290;p2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1" name="Google Shape;291;p2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2" name="Google Shape;292;p2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3" name="Google Shape;293;p2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Содержание">
  <p:cSld name="6_Содержание">
    <p:bg>
      <p:bgPr>
        <a:solidFill>
          <a:schemeClr val="dk1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96" name="Google Shape;296;p2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97" name="Google Shape;297;p2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98" name="Google Shape;298;p2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99" name="Google Shape;299;p2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0" name="Google Shape;300;p2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1" name="Google Shape;301;p2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2" name="Google Shape;302;p2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3" name="Google Shape;303;p2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4" name="Google Shape;304;p2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Визитка">
  <p:cSld name="3_Визитка">
    <p:bg>
      <p:bgPr>
        <a:solidFill>
          <a:schemeClr val="dk1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7" name="Google Shape;317;p3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18" name="Google Shape;318;p3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9" name="Google Shape;319;p3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20" name="Google Shape;320;p3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21" name="Google Shape;321;p3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3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3" name="Google Shape;323;p3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4" name="Google Shape;324;p3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5" name="Google Shape;325;p3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Визитка">
  <p:cSld name="2_Визитка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8" name="Google Shape;328;p3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29" name="Google Shape;329;p3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30" name="Google Shape;330;p3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31" name="Google Shape;331;p3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2" name="Google Shape;332;p3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3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4" name="Google Shape;334;p3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5" name="Google Shape;335;p3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Контент">
  <p:cSld name="2_Контент">
    <p:bg>
      <p:bgPr>
        <a:solidFill>
          <a:schemeClr val="dk1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3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39" name="Google Shape;339;p3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0" name="Google Shape;340;p3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1" name="Google Shape;341;p3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2" name="Google Shape;342;p3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Контент">
  <p:cSld name="4_Контент">
    <p:bg>
      <p:bgPr>
        <a:solidFill>
          <a:schemeClr val="dk1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3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46" name="Google Shape;346;p3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7" name="Google Shape;347;p3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8" name="Google Shape;348;p3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9" name="Google Shape;349;p3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Контент">
  <p:cSld name="6_Контент">
    <p:bg>
      <p:bgPr>
        <a:solidFill>
          <a:schemeClr val="dk1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53" name="Google Shape;353;p3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54" name="Google Shape;354;p3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55" name="Google Shape;355;p3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56" name="Google Shape;356;p3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Контент">
  <p:cSld name="12_Контент">
    <p:bg>
      <p:bgPr>
        <a:solidFill>
          <a:schemeClr val="dk1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0" name="Google Shape;360;p3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1" name="Google Shape;361;p3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2" name="Google Shape;362;p3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63" name="Google Shape;363;p3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Контент">
  <p:cSld name="9_Контент">
    <p:bg>
      <p:bgPr>
        <a:solidFill>
          <a:schemeClr val="dk1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37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7" name="Google Shape;367;p3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8" name="Google Shape;368;p3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9" name="Google Shape;369;p3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0" name="Google Shape;370;p3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Контент">
  <p:cSld name="10_Контент">
    <p:bg>
      <p:bgPr>
        <a:solidFill>
          <a:schemeClr val="dk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3" name="Google Shape;373;p3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74" name="Google Shape;374;p3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75" name="Google Shape;375;p3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6" name="Google Shape;376;p3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77" name="Google Shape;377;p38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Контент">
  <p:cSld name="11_Контент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0" name="Google Shape;380;p3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1" name="Google Shape;381;p3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2" name="Google Shape;382;p3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83" name="Google Shape;383;p3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4" name="Google Shape;384;p3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Контент">
  <p:cSld name="14_Контент">
    <p:bg>
      <p:bgPr>
        <a:solidFill>
          <a:schemeClr val="dk1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7" name="Google Shape;387;p4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8" name="Google Shape;388;p4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9" name="Google Shape;389;p4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0" name="Google Shape;390;p4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1" name="Google Shape;391;p40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EFAULT">
  <p:cSld name="1_DEFAULT">
    <p:bg>
      <p:bgPr>
        <a:solidFill>
          <a:schemeClr val="dk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393;p4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94" name="Google Shape;394;p4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95" name="Google Shape;395;p4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6" name="Google Shape;396;p4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29.xml"/><Relationship Id="rId27" Type="http://schemas.openxmlformats.org/officeDocument/2006/relationships/slideLayout" Target="../slideLayouts/slideLayout30.xml"/><Relationship Id="rId28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32.xml"/><Relationship Id="rId30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34.xml"/><Relationship Id="rId32" Type="http://schemas.openxmlformats.org/officeDocument/2006/relationships/slideLayout" Target="../slideLayouts/slideLayout35.xml"/><Relationship Id="rId33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37.xml"/><Relationship Id="rId35" Type="http://schemas.openxmlformats.org/officeDocument/2006/relationships/slideLayout" Target="../slideLayouts/slideLayout38.xml"/><Relationship Id="rId36" Type="http://schemas.openxmlformats.org/officeDocument/2006/relationships/slideLayout" Target="../slideLayouts/slideLayout39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4.xml"/><Relationship Id="rId4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5.xml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6.xml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7.xml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8.xml"/><Relationship Id="rId4" Type="http://schemas.openxmlformats.org/officeDocument/2006/relationships/chart" Target="../charts/chart9.xml"/><Relationship Id="rId5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10.xml"/><Relationship Id="rId4" Type="http://schemas.openxmlformats.org/officeDocument/2006/relationships/notesSlide" Target="../notesSlides/notesSlide66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040395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Цель — 250 клиентов и 225 000 ₽ прибыли к шестому месяцу</a:t>
            </a:r>
            <a:endParaRPr/>
          </a:p>
        </p:txBody>
      </p:sp>
      <p:sp>
        <p:nvSpPr>
          <p:cNvPr id="1220" name="Card 1220"/>
          <p:cNvSpPr/>
          <p:nvPr/>
        </p:nvSpPr>
        <p:spPr>
          <a:xfrm>
            <a:off x="248929" y="1366182"/>
            <a:ext cx="4196075" cy="2403632"/>
          </a:xfrm>
          <a:prstGeom prst="roundRect">
            <a:avLst>
              <a:gd fmla="val 599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1" name="Index 1221"/>
          <p:cNvSpPr txBox="1"/>
          <p:nvPr/>
        </p:nvSpPr>
        <p:spPr>
          <a:xfrm>
            <a:off x="506104" y="1623357"/>
            <a:ext cx="3681725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01</a:t>
            </a:r>
            <a:endParaRPr lang="ru-RU" sz="3600"/>
          </a:p>
        </p:txBody>
      </p:sp>
      <p:sp>
        <p:nvSpPr>
          <p:cNvPr id="1222" name="Card text 1222"/>
          <p:cNvSpPr txBox="1"/>
          <p:nvPr/>
        </p:nvSpPr>
        <p:spPr>
          <a:xfrm>
            <a:off x="506104" y="2226003"/>
            <a:ext cx="3681725" cy="128663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Фитнес-⁠студия «Движение» предлагает групповые тренировки рядом с домом</a:t>
            </a:r>
            <a:endParaRPr lang="ru-RU" sz="2000"/>
          </a:p>
        </p:txBody>
      </p:sp>
      <p:sp>
        <p:nvSpPr>
          <p:cNvPr id="1223" name="Card 1223"/>
          <p:cNvSpPr/>
          <p:nvPr/>
        </p:nvSpPr>
        <p:spPr>
          <a:xfrm>
            <a:off x="4664460" y="1366182"/>
            <a:ext cx="4196075" cy="2403632"/>
          </a:xfrm>
          <a:prstGeom prst="roundRect">
            <a:avLst>
              <a:gd fmla="val 599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4" name="Index 1224"/>
          <p:cNvSpPr txBox="1"/>
          <p:nvPr/>
        </p:nvSpPr>
        <p:spPr>
          <a:xfrm>
            <a:off x="4921635" y="1623357"/>
            <a:ext cx="3681725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02</a:t>
            </a:r>
            <a:endParaRPr lang="ru-RU" sz="3600"/>
          </a:p>
        </p:txBody>
      </p:sp>
      <p:sp>
        <p:nvSpPr>
          <p:cNvPr id="1225" name="Card text 1225"/>
          <p:cNvSpPr txBox="1"/>
          <p:nvPr/>
        </p:nvSpPr>
        <p:spPr>
          <a:xfrm>
            <a:off x="4921635" y="2226003"/>
            <a:ext cx="3681725" cy="128663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928"/>
              </a:spcAft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Основные направления</a:t>
            </a:r>
            <a:endParaRPr lang="ru-RU" sz="20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688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силовые занятия, растяжка, йога и функциональные тренировки</a:t>
            </a:r>
            <a:endParaRPr lang="ru-RU" sz="1688"/>
          </a:p>
        </p:txBody>
      </p:sp>
      <p:sp>
        <p:nvSpPr>
          <p:cNvPr id="1226" name="Footnote 1226"/>
          <p:cNvSpPr txBox="1"/>
          <p:nvPr/>
        </p:nvSpPr>
        <p:spPr>
          <a:xfrm>
            <a:off x="248929" y="4346269"/>
            <a:ext cx="8611607" cy="14914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81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Все цифры условные и используются для учебного бизнес-⁠плана</a:t>
            </a:r>
            <a:endParaRPr lang="ru-RU" sz="812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442614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Целевая аудитория — 250 клиентов из 1 200 потенциальных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366182"/>
            <a:ext cx="5761446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Потенциальные клиенты, человек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575033"/>
          <a:ext cx="5761446" cy="267004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Rule 1210"/>
          <p:cNvSpPr/>
          <p:nvPr/>
        </p:nvSpPr>
        <p:spPr>
          <a:xfrm>
            <a:off x="6449287" y="1366182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1" name="Figure 1211"/>
          <p:cNvSpPr txBox="1"/>
          <p:nvPr/>
        </p:nvSpPr>
        <p:spPr>
          <a:xfrm>
            <a:off x="6398995" y="1358863"/>
            <a:ext cx="2461541" cy="71628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15%</a:t>
            </a:r>
            <a:endParaRPr lang="ru-RU" sz="4700"/>
          </a:p>
        </p:txBody>
      </p:sp>
      <p:sp>
        <p:nvSpPr>
          <p:cNvPr id="1212" name="Label 1212"/>
          <p:cNvSpPr txBox="1"/>
          <p:nvPr/>
        </p:nvSpPr>
        <p:spPr>
          <a:xfrm>
            <a:off x="6449287" y="2121434"/>
            <a:ext cx="2411249" cy="711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Возрастной аудитории заинтересованы в занятиях рядом с домом</a:t>
            </a:r>
            <a:endParaRPr lang="ru-RU" sz="1500"/>
          </a:p>
        </p:txBody>
      </p:sp>
      <p:sp>
        <p:nvSpPr>
          <p:cNvPr id="1213" name="Rule 1213"/>
          <p:cNvSpPr/>
          <p:nvPr/>
        </p:nvSpPr>
        <p:spPr>
          <a:xfrm>
            <a:off x="6449287" y="3010084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4" name="Figure 1214"/>
          <p:cNvSpPr txBox="1"/>
          <p:nvPr/>
        </p:nvSpPr>
        <p:spPr>
          <a:xfrm>
            <a:off x="6428840" y="3002765"/>
            <a:ext cx="2431696" cy="71628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7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21%</a:t>
            </a:r>
            <a:endParaRPr lang="ru-RU" sz="4700"/>
          </a:p>
        </p:txBody>
      </p:sp>
      <p:sp>
        <p:nvSpPr>
          <p:cNvPr id="1215" name="Label 1215"/>
          <p:cNvSpPr txBox="1"/>
          <p:nvPr/>
        </p:nvSpPr>
        <p:spPr>
          <a:xfrm>
            <a:off x="6449287" y="3765336"/>
            <a:ext cx="2411249" cy="711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Для достижения цели нужно привлечь этой группы</a:t>
            </a:r>
            <a:endParaRPr lang="ru-RU" sz="15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4628387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Близость к дому важна для 35% потенциальных клиентов</a:t>
            </a:r>
            <a:endParaRPr/>
          </a:p>
        </p:txBody>
      </p:sp>
      <p:graphicFrame>
        <p:nvGraphicFramePr>
          <p:cNvPr id="1208" name="Chart 1207"/>
          <p:cNvGraphicFramePr>
            <a:graphicFrameLocks noGrp="1"/>
          </p:cNvGraphicFramePr>
          <p:nvPr/>
        </p:nvGraphicFramePr>
        <p:xfrm>
          <a:off x="1685343" y="1366182"/>
          <a:ext cx="2878897" cy="2878897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09" name="Legend title 1209"/>
          <p:cNvSpPr txBox="1"/>
          <p:nvPr/>
        </p:nvSpPr>
        <p:spPr>
          <a:xfrm>
            <a:off x="5003152" y="1786455"/>
            <a:ext cx="2420969" cy="38735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Что важно посетителям</a:t>
            </a:r>
            <a:endParaRPr lang="ru-RU" sz="1500"/>
          </a:p>
        </p:txBody>
      </p:sp>
      <p:sp>
        <p:nvSpPr>
          <p:cNvPr id="1210" name="Swatch 1210"/>
          <p:cNvSpPr/>
          <p:nvPr/>
        </p:nvSpPr>
        <p:spPr>
          <a:xfrm>
            <a:off x="5003152" y="221952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/>
          </a:solidFill>
          <a:ln>
            <a:noFill/>
          </a:ln>
        </p:spPr>
      </p:sp>
      <p:sp>
        <p:nvSpPr>
          <p:cNvPr id="1211" name="Legend 1211"/>
          <p:cNvSpPr txBox="1"/>
          <p:nvPr/>
        </p:nvSpPr>
        <p:spPr>
          <a:xfrm>
            <a:off x="5250040" y="2173805"/>
            <a:ext cx="153709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Близость к дому</a:t>
            </a:r>
            <a:endParaRPr lang="ru-RU" sz="1500"/>
          </a:p>
        </p:txBody>
      </p:sp>
      <p:sp>
        <p:nvSpPr>
          <p:cNvPr id="1212" name="Share 1212"/>
          <p:cNvSpPr txBox="1"/>
          <p:nvPr/>
        </p:nvSpPr>
        <p:spPr>
          <a:xfrm>
            <a:off x="6787137" y="2173805"/>
            <a:ext cx="63698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35%</a:t>
            </a:r>
            <a:endParaRPr lang="ru-RU" sz="1500"/>
          </a:p>
        </p:txBody>
      </p:sp>
      <p:sp>
        <p:nvSpPr>
          <p:cNvPr id="1213" name="Swatch 1213"/>
          <p:cNvSpPr/>
          <p:nvPr/>
        </p:nvSpPr>
        <p:spPr>
          <a:xfrm>
            <a:off x="5003152" y="256877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82000"/>
            </a:srgbClr>
          </a:solidFill>
          <a:ln>
            <a:noFill/>
          </a:ln>
        </p:spPr>
      </p:sp>
      <p:sp>
        <p:nvSpPr>
          <p:cNvPr id="1214" name="Legend 1214"/>
          <p:cNvSpPr txBox="1"/>
          <p:nvPr/>
        </p:nvSpPr>
        <p:spPr>
          <a:xfrm>
            <a:off x="5250040" y="2523055"/>
            <a:ext cx="153709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Расписание</a:t>
            </a:r>
            <a:endParaRPr lang="ru-RU" sz="1500"/>
          </a:p>
        </p:txBody>
      </p:sp>
      <p:sp>
        <p:nvSpPr>
          <p:cNvPr id="1215" name="Share 1215"/>
          <p:cNvSpPr txBox="1"/>
          <p:nvPr/>
        </p:nvSpPr>
        <p:spPr>
          <a:xfrm>
            <a:off x="6787137" y="2523055"/>
            <a:ext cx="63698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25%</a:t>
            </a:r>
            <a:endParaRPr lang="ru-RU" sz="1500"/>
          </a:p>
        </p:txBody>
      </p:sp>
      <p:sp>
        <p:nvSpPr>
          <p:cNvPr id="1216" name="Swatch 1216"/>
          <p:cNvSpPr/>
          <p:nvPr/>
        </p:nvSpPr>
        <p:spPr>
          <a:xfrm>
            <a:off x="5003152" y="291802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64000"/>
            </a:srgbClr>
          </a:solidFill>
          <a:ln>
            <a:noFill/>
          </a:ln>
        </p:spPr>
      </p:sp>
      <p:sp>
        <p:nvSpPr>
          <p:cNvPr id="1217" name="Legend 1217"/>
          <p:cNvSpPr txBox="1"/>
          <p:nvPr/>
        </p:nvSpPr>
        <p:spPr>
          <a:xfrm>
            <a:off x="5250040" y="2872305"/>
            <a:ext cx="153709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Стоимость</a:t>
            </a:r>
            <a:endParaRPr lang="ru-RU" sz="1500"/>
          </a:p>
        </p:txBody>
      </p:sp>
      <p:sp>
        <p:nvSpPr>
          <p:cNvPr id="1218" name="Share 1218"/>
          <p:cNvSpPr txBox="1"/>
          <p:nvPr/>
        </p:nvSpPr>
        <p:spPr>
          <a:xfrm>
            <a:off x="6787137" y="2872305"/>
            <a:ext cx="63698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20%</a:t>
            </a:r>
            <a:endParaRPr lang="ru-RU" sz="1500"/>
          </a:p>
        </p:txBody>
      </p:sp>
      <p:sp>
        <p:nvSpPr>
          <p:cNvPr id="1219" name="Swatch 1219"/>
          <p:cNvSpPr/>
          <p:nvPr/>
        </p:nvSpPr>
        <p:spPr>
          <a:xfrm>
            <a:off x="5003152" y="326727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44000"/>
            </a:srgbClr>
          </a:solidFill>
          <a:ln>
            <a:noFill/>
          </a:ln>
        </p:spPr>
      </p:sp>
      <p:sp>
        <p:nvSpPr>
          <p:cNvPr id="1220" name="Legend 1220"/>
          <p:cNvSpPr txBox="1"/>
          <p:nvPr/>
        </p:nvSpPr>
        <p:spPr>
          <a:xfrm>
            <a:off x="5250040" y="3221555"/>
            <a:ext cx="153709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Тренеры</a:t>
            </a:r>
            <a:endParaRPr lang="ru-RU" sz="1500"/>
          </a:p>
        </p:txBody>
      </p:sp>
      <p:sp>
        <p:nvSpPr>
          <p:cNvPr id="1221" name="Share 1221"/>
          <p:cNvSpPr txBox="1"/>
          <p:nvPr/>
        </p:nvSpPr>
        <p:spPr>
          <a:xfrm>
            <a:off x="6787137" y="3221555"/>
            <a:ext cx="63698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12,5%</a:t>
            </a:r>
            <a:endParaRPr lang="ru-RU" sz="1500"/>
          </a:p>
        </p:txBody>
      </p:sp>
      <p:sp>
        <p:nvSpPr>
          <p:cNvPr id="1222" name="Swatch 1222"/>
          <p:cNvSpPr/>
          <p:nvPr/>
        </p:nvSpPr>
        <p:spPr>
          <a:xfrm>
            <a:off x="5003152" y="361652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26000"/>
            </a:srgbClr>
          </a:solidFill>
          <a:ln>
            <a:noFill/>
          </a:ln>
        </p:spPr>
      </p:sp>
      <p:sp>
        <p:nvSpPr>
          <p:cNvPr id="1223" name="Legend 1223"/>
          <p:cNvSpPr txBox="1"/>
          <p:nvPr/>
        </p:nvSpPr>
        <p:spPr>
          <a:xfrm>
            <a:off x="5250040" y="3570805"/>
            <a:ext cx="153709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Атмосфера</a:t>
            </a:r>
            <a:endParaRPr lang="ru-RU" sz="1500"/>
          </a:p>
        </p:txBody>
      </p:sp>
      <p:sp>
        <p:nvSpPr>
          <p:cNvPr id="1224" name="Share 1224"/>
          <p:cNvSpPr txBox="1"/>
          <p:nvPr/>
        </p:nvSpPr>
        <p:spPr>
          <a:xfrm>
            <a:off x="6787137" y="3570805"/>
            <a:ext cx="63698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7,5%</a:t>
            </a:r>
            <a:endParaRPr lang="ru-RU" sz="150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717583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Средняя месячная выручка на одного клиента составит 5 050 рублей</a:t>
            </a:r>
            <a:endParaRPr/>
          </a:p>
        </p:txBody>
      </p:sp>
      <p:graphicFrame>
        <p:nvGraphicFramePr>
          <p:cNvPr id="1208" name="Table"/>
          <p:cNvGraphicFramePr>
            <a:graphicFrameLocks noGrp="1"/>
          </p:cNvGraphicFramePr>
          <p:nvPr/>
        </p:nvGraphicFramePr>
        <p:xfrm>
          <a:off x="248929" y="1366182"/>
          <a:ext cx="8611607" cy="203331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85150"/>
                <a:gridCol w="2175486"/>
                <a:gridCol w="2175486"/>
                <a:gridCol w="2175485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Абонемент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Количество занятий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Стоимость, ₽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Стоимость одного занятия, ₽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</a:tr>
              <a:tr h="4999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Четыре занятия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4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3 200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800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4999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Восемь занятий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8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5 200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650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4999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Двенадцать занятий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12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6 600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550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09" name="Conclusion figure 1209"/>
          <p:cNvSpPr txBox="1"/>
          <p:nvPr/>
        </p:nvSpPr>
        <p:spPr>
          <a:xfrm>
            <a:off x="246218" y="3615519"/>
            <a:ext cx="992650" cy="412242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05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900 ₽</a:t>
            </a:r>
            <a:endParaRPr lang="ru-RU" sz="2705"/>
          </a:p>
        </p:txBody>
      </p:sp>
      <p:sp>
        <p:nvSpPr>
          <p:cNvPr id="1210" name="Conclusion 1210"/>
          <p:cNvSpPr txBox="1"/>
          <p:nvPr/>
        </p:nvSpPr>
        <p:spPr>
          <a:xfrm>
            <a:off x="1467468" y="3694640"/>
            <a:ext cx="7393068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Разовое посещение обойдется в </a:t>
            </a: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900 рублей</a:t>
            </a: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, пробная тренировка — в </a:t>
            </a: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500 рублей</a:t>
            </a:r>
            <a:endParaRPr lang="ru-RU" sz="1500"/>
          </a:p>
        </p:txBody>
      </p:sp>
      <p:sp>
        <p:nvSpPr>
          <p:cNvPr id="1211" name="Footnote 1211"/>
          <p:cNvSpPr txBox="1"/>
          <p:nvPr/>
        </p:nvSpPr>
        <p:spPr>
          <a:xfrm>
            <a:off x="248929" y="4346269"/>
            <a:ext cx="8611607" cy="14914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81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Доход от разовых и пробных посещений в основной финансовый прогноз не включен</a:t>
            </a:r>
            <a:endParaRPr lang="ru-RU" sz="812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6413458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Месячная вместимость превышает ожидаемое количество посещений на 700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366182"/>
            <a:ext cx="5761446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посещений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575033"/>
          <a:ext cx="5761446" cy="267004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Rule 1210"/>
          <p:cNvSpPr/>
          <p:nvPr/>
        </p:nvSpPr>
        <p:spPr>
          <a:xfrm>
            <a:off x="6449287" y="1366182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1" name="Figure 1211"/>
          <p:cNvSpPr txBox="1"/>
          <p:nvPr/>
        </p:nvSpPr>
        <p:spPr>
          <a:xfrm>
            <a:off x="6429475" y="1331415"/>
            <a:ext cx="2431061" cy="82296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74%</a:t>
            </a:r>
            <a:endParaRPr lang="ru-RU" sz="5400"/>
          </a:p>
        </p:txBody>
      </p:sp>
      <p:sp>
        <p:nvSpPr>
          <p:cNvPr id="1212" name="Label 1212"/>
          <p:cNvSpPr txBox="1"/>
          <p:nvPr/>
        </p:nvSpPr>
        <p:spPr>
          <a:xfrm>
            <a:off x="6449287" y="2200666"/>
            <a:ext cx="2411249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Месячная загрузка составит около</a:t>
            </a:r>
            <a:endParaRPr lang="ru-RU" sz="150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100 м² — основное пространство для тренировок</a:t>
            </a:r>
            <a:endParaRPr/>
          </a:p>
        </p:txBody>
      </p:sp>
      <p:sp>
        <p:nvSpPr>
          <p:cNvPr id="1208" name="Место для фото" descr="Фото помещения: место оставлено свободным — вставьте фото в плейсхолдер или через «Формат фигуры → Заливка → Рисунок»"/>
          <p:cNvSpPr/>
          <p:nvPr/>
        </p:nvSpPr>
        <p:spPr>
          <a:xfrm>
            <a:off x="5415894" y="1000422"/>
            <a:ext cx="3444642" cy="2931349"/>
          </a:xfrm>
          <a:prstGeom prst="roundRect">
            <a:avLst>
              <a:gd name="adj" fmla="val 3185"/>
            </a:avLst>
          </a:prstGeom>
          <a:solidFill>
            <a:srgbClr val="D6ECFF"/>
          </a:solidFill>
          <a:ln>
            <a:noFill/>
          </a:ln>
        </p:spPr>
      </p:sp>
      <p:sp>
        <p:nvSpPr>
          <p:cNvPr id="1209" name="Card 1209"/>
          <p:cNvSpPr/>
          <p:nvPr/>
        </p:nvSpPr>
        <p:spPr>
          <a:xfrm>
            <a:off x="248929" y="1000422"/>
            <a:ext cx="2313734" cy="1388522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0" name="Figure 1210"/>
          <p:cNvSpPr txBox="1"/>
          <p:nvPr/>
        </p:nvSpPr>
        <p:spPr>
          <a:xfrm>
            <a:off x="428486" y="966513"/>
            <a:ext cx="1902804" cy="73152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100</a:t>
            </a:r>
            <a:r>
              <a:rPr lang="ru-RU" sz="2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м²</a:t>
            </a:r>
            <a:endParaRPr lang="ru-RU" sz="4800"/>
          </a:p>
        </p:txBody>
      </p:sp>
      <p:sp>
        <p:nvSpPr>
          <p:cNvPr id="1211" name="Label 1211"/>
          <p:cNvSpPr txBox="1"/>
          <p:nvPr/>
        </p:nvSpPr>
        <p:spPr>
          <a:xfrm>
            <a:off x="480302" y="1752039"/>
            <a:ext cx="1850988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Тренировочный зал</a:t>
            </a:r>
            <a:endParaRPr lang="ru-RU" sz="1500"/>
          </a:p>
        </p:txBody>
      </p:sp>
      <p:sp>
        <p:nvSpPr>
          <p:cNvPr id="1212" name="Card 1212"/>
          <p:cNvSpPr/>
          <p:nvPr/>
        </p:nvSpPr>
        <p:spPr>
          <a:xfrm>
            <a:off x="2782119" y="1000422"/>
            <a:ext cx="2313734" cy="1388522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3" name="Figure 1213"/>
          <p:cNvSpPr txBox="1"/>
          <p:nvPr/>
        </p:nvSpPr>
        <p:spPr>
          <a:xfrm>
            <a:off x="2989108" y="966513"/>
            <a:ext cx="1875372" cy="73152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35</a:t>
            </a:r>
            <a:r>
              <a:rPr lang="ru-RU" sz="2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м²</a:t>
            </a:r>
            <a:endParaRPr lang="ru-RU" sz="4800"/>
          </a:p>
        </p:txBody>
      </p:sp>
      <p:sp>
        <p:nvSpPr>
          <p:cNvPr id="1214" name="Label 1214"/>
          <p:cNvSpPr txBox="1"/>
          <p:nvPr/>
        </p:nvSpPr>
        <p:spPr>
          <a:xfrm>
            <a:off x="3013492" y="1752039"/>
            <a:ext cx="1850988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Раздевалки и душевые</a:t>
            </a:r>
            <a:endParaRPr lang="ru-RU" sz="1500"/>
          </a:p>
        </p:txBody>
      </p:sp>
      <p:sp>
        <p:nvSpPr>
          <p:cNvPr id="1215" name="Card 1215"/>
          <p:cNvSpPr/>
          <p:nvPr/>
        </p:nvSpPr>
        <p:spPr>
          <a:xfrm>
            <a:off x="248929" y="2543249"/>
            <a:ext cx="2313734" cy="1388522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6" name="Figure 1216"/>
          <p:cNvSpPr txBox="1"/>
          <p:nvPr/>
        </p:nvSpPr>
        <p:spPr>
          <a:xfrm>
            <a:off x="458966" y="2509340"/>
            <a:ext cx="1872324" cy="73152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25</a:t>
            </a:r>
            <a:r>
              <a:rPr lang="ru-RU" sz="2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м²</a:t>
            </a:r>
            <a:endParaRPr lang="ru-RU" sz="4800"/>
          </a:p>
        </p:txBody>
      </p:sp>
      <p:sp>
        <p:nvSpPr>
          <p:cNvPr id="1217" name="Label 1217"/>
          <p:cNvSpPr txBox="1"/>
          <p:nvPr/>
        </p:nvSpPr>
        <p:spPr>
          <a:xfrm>
            <a:off x="480302" y="3294866"/>
            <a:ext cx="1850988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Зона ресепшена и ожидания</a:t>
            </a:r>
            <a:endParaRPr lang="ru-RU" sz="1500"/>
          </a:p>
        </p:txBody>
      </p:sp>
      <p:sp>
        <p:nvSpPr>
          <p:cNvPr id="1218" name="Card 1218"/>
          <p:cNvSpPr/>
          <p:nvPr/>
        </p:nvSpPr>
        <p:spPr>
          <a:xfrm>
            <a:off x="2782119" y="2543249"/>
            <a:ext cx="2313734" cy="1388522"/>
          </a:xfrm>
          <a:prstGeom prst="roundRect">
            <a:avLst>
              <a:gd fmla="val 10370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9" name="Figure 1219"/>
          <p:cNvSpPr txBox="1"/>
          <p:nvPr/>
        </p:nvSpPr>
        <p:spPr>
          <a:xfrm>
            <a:off x="2992156" y="2509340"/>
            <a:ext cx="1872324" cy="73152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20</a:t>
            </a:r>
            <a:r>
              <a:rPr lang="ru-RU" sz="2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м²</a:t>
            </a:r>
            <a:endParaRPr lang="ru-RU" sz="4800"/>
          </a:p>
        </p:txBody>
      </p:sp>
      <p:sp>
        <p:nvSpPr>
          <p:cNvPr id="1220" name="Label 1220"/>
          <p:cNvSpPr txBox="1"/>
          <p:nvPr/>
        </p:nvSpPr>
        <p:spPr>
          <a:xfrm>
            <a:off x="3013492" y="3294866"/>
            <a:ext cx="1850988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Подсобные помещения</a:t>
            </a:r>
            <a:endParaRPr lang="ru-RU" sz="150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Бюджет команды — 420 000 ₽ в месяц</a:t>
            </a:r>
            <a:endParaRPr/>
          </a:p>
        </p:txBody>
      </p:sp>
      <p:graphicFrame>
        <p:nvGraphicFramePr>
          <p:cNvPr id="1208" name="Chart 1207"/>
          <p:cNvGraphicFramePr>
            <a:graphicFrameLocks noGrp="1"/>
          </p:cNvGraphicFramePr>
          <p:nvPr/>
        </p:nvGraphicFramePr>
        <p:xfrm>
          <a:off x="810652" y="1000422"/>
          <a:ext cx="2907826" cy="290782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09" name="Total 1209"/>
          <p:cNvSpPr txBox="1"/>
          <p:nvPr/>
        </p:nvSpPr>
        <p:spPr>
          <a:xfrm>
            <a:off x="1633736" y="2305743"/>
            <a:ext cx="1261655" cy="2971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420 000 ₽</a:t>
            </a:r>
            <a:endParaRPr lang="ru-RU" sz="1800"/>
          </a:p>
        </p:txBody>
      </p:sp>
      <p:sp>
        <p:nvSpPr>
          <p:cNvPr id="1210" name="Legend title 1210"/>
          <p:cNvSpPr txBox="1"/>
          <p:nvPr/>
        </p:nvSpPr>
        <p:spPr>
          <a:xfrm>
            <a:off x="4157390" y="1609785"/>
            <a:ext cx="4141422" cy="38735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Сумма · доля от общей суммы</a:t>
            </a:r>
            <a:endParaRPr lang="ru-RU" sz="1500"/>
          </a:p>
        </p:txBody>
      </p:sp>
      <p:sp>
        <p:nvSpPr>
          <p:cNvPr id="1211" name="Swatch 1211"/>
          <p:cNvSpPr/>
          <p:nvPr/>
        </p:nvSpPr>
        <p:spPr>
          <a:xfrm>
            <a:off x="4157390" y="204285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/>
          </a:solidFill>
          <a:ln>
            <a:noFill/>
          </a:ln>
        </p:spPr>
      </p:sp>
      <p:sp>
        <p:nvSpPr>
          <p:cNvPr id="1212" name="Legend 1212"/>
          <p:cNvSpPr txBox="1"/>
          <p:nvPr/>
        </p:nvSpPr>
        <p:spPr>
          <a:xfrm>
            <a:off x="4404278" y="1997135"/>
            <a:ext cx="2331839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Оплата работы тренеров</a:t>
            </a:r>
            <a:endParaRPr lang="ru-RU" sz="1500"/>
          </a:p>
        </p:txBody>
      </p:sp>
      <p:sp>
        <p:nvSpPr>
          <p:cNvPr id="1213" name="Share 1213"/>
          <p:cNvSpPr txBox="1"/>
          <p:nvPr/>
        </p:nvSpPr>
        <p:spPr>
          <a:xfrm>
            <a:off x="6736117" y="1997135"/>
            <a:ext cx="156269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260 000 ₽  ·  62%</a:t>
            </a:r>
            <a:endParaRPr lang="ru-RU" sz="1500"/>
          </a:p>
        </p:txBody>
      </p:sp>
      <p:sp>
        <p:nvSpPr>
          <p:cNvPr id="1214" name="Swatch 1214"/>
          <p:cNvSpPr/>
          <p:nvPr/>
        </p:nvSpPr>
        <p:spPr>
          <a:xfrm>
            <a:off x="4157390" y="239210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76000"/>
            </a:srgbClr>
          </a:solidFill>
          <a:ln>
            <a:noFill/>
          </a:ln>
        </p:spPr>
      </p:sp>
      <p:sp>
        <p:nvSpPr>
          <p:cNvPr id="1215" name="Legend 1215"/>
          <p:cNvSpPr txBox="1"/>
          <p:nvPr/>
        </p:nvSpPr>
        <p:spPr>
          <a:xfrm>
            <a:off x="4404278" y="2346385"/>
            <a:ext cx="2331839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Администраторов</a:t>
            </a:r>
            <a:endParaRPr lang="ru-RU" sz="1500"/>
          </a:p>
        </p:txBody>
      </p:sp>
      <p:sp>
        <p:nvSpPr>
          <p:cNvPr id="1216" name="Share 1216"/>
          <p:cNvSpPr txBox="1"/>
          <p:nvPr/>
        </p:nvSpPr>
        <p:spPr>
          <a:xfrm>
            <a:off x="6736117" y="2346385"/>
            <a:ext cx="156269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110 000 ₽  ·  26%</a:t>
            </a:r>
            <a:endParaRPr lang="ru-RU" sz="1500"/>
          </a:p>
        </p:txBody>
      </p:sp>
      <p:sp>
        <p:nvSpPr>
          <p:cNvPr id="1217" name="Swatch 1217"/>
          <p:cNvSpPr/>
          <p:nvPr/>
        </p:nvSpPr>
        <p:spPr>
          <a:xfrm>
            <a:off x="4157390" y="274135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50000"/>
            </a:srgbClr>
          </a:solidFill>
          <a:ln>
            <a:noFill/>
          </a:ln>
        </p:spPr>
      </p:sp>
      <p:sp>
        <p:nvSpPr>
          <p:cNvPr id="1218" name="Legend 1218"/>
          <p:cNvSpPr txBox="1"/>
          <p:nvPr/>
        </p:nvSpPr>
        <p:spPr>
          <a:xfrm>
            <a:off x="4404278" y="2695635"/>
            <a:ext cx="2331839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Уборки</a:t>
            </a:r>
            <a:endParaRPr lang="ru-RU" sz="1500"/>
          </a:p>
        </p:txBody>
      </p:sp>
      <p:sp>
        <p:nvSpPr>
          <p:cNvPr id="1219" name="Share 1219"/>
          <p:cNvSpPr txBox="1"/>
          <p:nvPr/>
        </p:nvSpPr>
        <p:spPr>
          <a:xfrm>
            <a:off x="6736117" y="2695635"/>
            <a:ext cx="156269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30 000 ₽  ·  7%</a:t>
            </a:r>
            <a:endParaRPr lang="ru-RU" sz="1500"/>
          </a:p>
        </p:txBody>
      </p:sp>
      <p:sp>
        <p:nvSpPr>
          <p:cNvPr id="1220" name="Swatch 1220"/>
          <p:cNvSpPr/>
          <p:nvPr/>
        </p:nvSpPr>
        <p:spPr>
          <a:xfrm>
            <a:off x="4157390" y="3090605"/>
            <a:ext cx="137160" cy="137160"/>
          </a:xfrm>
          <a:prstGeom prst="roundRect">
            <a:avLst>
              <a:gd name="adj" fmla="val 25000"/>
            </a:avLst>
          </a:prstGeom>
          <a:solidFill>
            <a:srgbClr val="0077FF">
              <a:alpha val="26000"/>
            </a:srgbClr>
          </a:solidFill>
          <a:ln>
            <a:noFill/>
          </a:ln>
        </p:spPr>
      </p:sp>
      <p:sp>
        <p:nvSpPr>
          <p:cNvPr id="1221" name="Legend 1221"/>
          <p:cNvSpPr txBox="1"/>
          <p:nvPr/>
        </p:nvSpPr>
        <p:spPr>
          <a:xfrm>
            <a:off x="4404278" y="3044885"/>
            <a:ext cx="2331839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Резерв на замены</a:t>
            </a:r>
            <a:endParaRPr lang="ru-RU" sz="1500"/>
          </a:p>
        </p:txBody>
      </p:sp>
      <p:sp>
        <p:nvSpPr>
          <p:cNvPr id="1222" name="Share 1222"/>
          <p:cNvSpPr txBox="1"/>
          <p:nvPr/>
        </p:nvSpPr>
        <p:spPr>
          <a:xfrm>
            <a:off x="6736117" y="3044885"/>
            <a:ext cx="1562695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20 000 ₽  ·  5%</a:t>
            </a:r>
            <a:endParaRPr lang="ru-RU" sz="1500"/>
          </a:p>
        </p:txBody>
      </p:sp>
      <p:sp>
        <p:nvSpPr>
          <p:cNvPr id="1223" name="Footnote 1223"/>
          <p:cNvSpPr txBox="1"/>
          <p:nvPr/>
        </p:nvSpPr>
        <p:spPr>
          <a:xfrm>
            <a:off x="248929" y="4346269"/>
            <a:ext cx="8611607" cy="14914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81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Отдельная зарплата владельца в модель не включена</a:t>
            </a:r>
            <a:endParaRPr lang="ru-RU" sz="812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90 000 ₽ уйдут на рекламу в соцсетях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000422"/>
            <a:ext cx="5761446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Распределение бюджета на привлечение клиентов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209273"/>
          <a:ext cx="5761446" cy="300654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Rule 1210"/>
          <p:cNvSpPr/>
          <p:nvPr/>
        </p:nvSpPr>
        <p:spPr>
          <a:xfrm>
            <a:off x="6449287" y="1000422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1" name="Figure 1211"/>
          <p:cNvSpPr txBox="1"/>
          <p:nvPr/>
        </p:nvSpPr>
        <p:spPr>
          <a:xfrm>
            <a:off x="6388327" y="965655"/>
            <a:ext cx="2472209" cy="82296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1 371</a:t>
            </a:r>
            <a:r>
              <a:rPr lang="ru-RU" sz="2705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₽</a:t>
            </a:r>
            <a:endParaRPr lang="ru-RU" sz="5400"/>
          </a:p>
        </p:txBody>
      </p:sp>
      <p:sp>
        <p:nvSpPr>
          <p:cNvPr id="1212" name="Label 1212"/>
          <p:cNvSpPr txBox="1"/>
          <p:nvPr/>
        </p:nvSpPr>
        <p:spPr>
          <a:xfrm>
            <a:off x="6449287" y="1834906"/>
            <a:ext cx="2411249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Средняя стоимость привлечения покупателя</a:t>
            </a:r>
            <a:endParaRPr lang="ru-RU" sz="1500"/>
          </a:p>
        </p:txBody>
      </p:sp>
      <p:sp>
        <p:nvSpPr>
          <p:cNvPr id="1213" name="Chart note 1213"/>
          <p:cNvSpPr txBox="1"/>
          <p:nvPr/>
        </p:nvSpPr>
        <p:spPr>
          <a:xfrm>
            <a:off x="6449287" y="2494956"/>
            <a:ext cx="2411249" cy="5283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605"/>
              </a:spcAft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План: 1 000 обращений → 500 записей → 350 посещений → 175 покупателей</a:t>
            </a:r>
            <a:endParaRPr lang="ru-RU" sz="110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Ремонт и подготовка — больше трети бюджета</a:t>
            </a:r>
            <a:endParaRPr/>
          </a:p>
        </p:txBody>
      </p:sp>
      <p:graphicFrame>
        <p:nvGraphicFramePr>
          <p:cNvPr id="1208" name="Chart 1207"/>
          <p:cNvGraphicFramePr>
            <a:graphicFrameLocks noGrp="1"/>
          </p:cNvGraphicFramePr>
          <p:nvPr/>
        </p:nvGraphicFramePr>
        <p:xfrm>
          <a:off x="248929" y="1000422"/>
          <a:ext cx="1921386" cy="192138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09" name="Legend title 1209"/>
          <p:cNvSpPr txBox="1"/>
          <p:nvPr/>
        </p:nvSpPr>
        <p:spPr>
          <a:xfrm>
            <a:off x="2609227" y="1000422"/>
            <a:ext cx="3401148" cy="45847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Распределение стартового бюджета</a:t>
            </a:r>
            <a:endParaRPr lang="ru-RU" sz="11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сумма · доля от общей суммы</a:t>
            </a:r>
            <a:endParaRPr lang="ru-RU" sz="1100"/>
          </a:p>
        </p:txBody>
      </p:sp>
      <p:sp>
        <p:nvSpPr>
          <p:cNvPr id="1210" name="Swatch 1210"/>
          <p:cNvSpPr/>
          <p:nvPr/>
        </p:nvSpPr>
        <p:spPr>
          <a:xfrm>
            <a:off x="2609227" y="1492420"/>
            <a:ext cx="100584" cy="100584"/>
          </a:xfrm>
          <a:prstGeom prst="roundRect">
            <a:avLst>
              <a:gd name="adj" fmla="val 25000"/>
            </a:avLst>
          </a:prstGeom>
          <a:solidFill>
            <a:srgbClr val="0077FF"/>
          </a:solidFill>
          <a:ln>
            <a:noFill/>
          </a:ln>
        </p:spPr>
      </p:sp>
      <p:sp>
        <p:nvSpPr>
          <p:cNvPr id="1211" name="Legend 1211"/>
          <p:cNvSpPr txBox="1"/>
          <p:nvPr/>
        </p:nvSpPr>
        <p:spPr>
          <a:xfrm>
            <a:off x="2790278" y="1458892"/>
            <a:ext cx="2074120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Ремонт и подготовка</a:t>
            </a:r>
            <a:endParaRPr lang="ru-RU" sz="11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помещения</a:t>
            </a:r>
            <a:endParaRPr lang="ru-RU" sz="1100"/>
          </a:p>
        </p:txBody>
      </p:sp>
      <p:sp>
        <p:nvSpPr>
          <p:cNvPr id="1212" name="Share 1212"/>
          <p:cNvSpPr txBox="1"/>
          <p:nvPr/>
        </p:nvSpPr>
        <p:spPr>
          <a:xfrm>
            <a:off x="4864398" y="1458892"/>
            <a:ext cx="1145977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900 000 ₽  ·  30%</a:t>
            </a:r>
            <a:endParaRPr lang="ru-RU" sz="1100"/>
          </a:p>
        </p:txBody>
      </p:sp>
      <p:sp>
        <p:nvSpPr>
          <p:cNvPr id="1213" name="Swatch 1213"/>
          <p:cNvSpPr/>
          <p:nvPr/>
        </p:nvSpPr>
        <p:spPr>
          <a:xfrm>
            <a:off x="2609227" y="1922950"/>
            <a:ext cx="100584" cy="100584"/>
          </a:xfrm>
          <a:prstGeom prst="roundRect">
            <a:avLst>
              <a:gd name="adj" fmla="val 25000"/>
            </a:avLst>
          </a:prstGeom>
          <a:solidFill>
            <a:srgbClr val="0077FF">
              <a:alpha val="86000"/>
            </a:srgbClr>
          </a:solidFill>
          <a:ln>
            <a:noFill/>
          </a:ln>
        </p:spPr>
      </p:sp>
      <p:sp>
        <p:nvSpPr>
          <p:cNvPr id="1214" name="Legend 1214"/>
          <p:cNvSpPr txBox="1"/>
          <p:nvPr/>
        </p:nvSpPr>
        <p:spPr>
          <a:xfrm>
            <a:off x="2790278" y="1889422"/>
            <a:ext cx="2074120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Оборотный резерв</a:t>
            </a:r>
            <a:endParaRPr lang="ru-RU" sz="1100"/>
          </a:p>
        </p:txBody>
      </p:sp>
      <p:sp>
        <p:nvSpPr>
          <p:cNvPr id="1215" name="Share 1215"/>
          <p:cNvSpPr txBox="1"/>
          <p:nvPr/>
        </p:nvSpPr>
        <p:spPr>
          <a:xfrm>
            <a:off x="4864398" y="1889422"/>
            <a:ext cx="1145977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850 000 ₽  ·  28%</a:t>
            </a:r>
            <a:endParaRPr lang="ru-RU" sz="1100"/>
          </a:p>
        </p:txBody>
      </p:sp>
      <p:sp>
        <p:nvSpPr>
          <p:cNvPr id="1216" name="Swatch 1216"/>
          <p:cNvSpPr/>
          <p:nvPr/>
        </p:nvSpPr>
        <p:spPr>
          <a:xfrm>
            <a:off x="2609227" y="2185840"/>
            <a:ext cx="100584" cy="100584"/>
          </a:xfrm>
          <a:prstGeom prst="roundRect">
            <a:avLst>
              <a:gd name="adj" fmla="val 25000"/>
            </a:avLst>
          </a:prstGeom>
          <a:solidFill>
            <a:srgbClr val="0077FF">
              <a:alpha val="70000"/>
            </a:srgbClr>
          </a:solidFill>
          <a:ln>
            <a:noFill/>
          </a:ln>
        </p:spPr>
      </p:sp>
      <p:sp>
        <p:nvSpPr>
          <p:cNvPr id="1217" name="Legend 1217"/>
          <p:cNvSpPr txBox="1"/>
          <p:nvPr/>
        </p:nvSpPr>
        <p:spPr>
          <a:xfrm>
            <a:off x="2790278" y="2152312"/>
            <a:ext cx="2074120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Оборудование и инвентарь</a:t>
            </a:r>
            <a:endParaRPr lang="ru-RU" sz="1100"/>
          </a:p>
        </p:txBody>
      </p:sp>
      <p:sp>
        <p:nvSpPr>
          <p:cNvPr id="1218" name="Share 1218"/>
          <p:cNvSpPr txBox="1"/>
          <p:nvPr/>
        </p:nvSpPr>
        <p:spPr>
          <a:xfrm>
            <a:off x="4864398" y="2152312"/>
            <a:ext cx="1145977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650 000 ₽  ·  22%</a:t>
            </a:r>
            <a:endParaRPr lang="ru-RU" sz="1100"/>
          </a:p>
        </p:txBody>
      </p:sp>
      <p:sp>
        <p:nvSpPr>
          <p:cNvPr id="1219" name="Swatch 1219"/>
          <p:cNvSpPr/>
          <p:nvPr/>
        </p:nvSpPr>
        <p:spPr>
          <a:xfrm>
            <a:off x="2609227" y="2448730"/>
            <a:ext cx="100584" cy="100584"/>
          </a:xfrm>
          <a:prstGeom prst="roundRect">
            <a:avLst>
              <a:gd name="adj" fmla="val 25000"/>
            </a:avLst>
          </a:prstGeom>
          <a:solidFill>
            <a:srgbClr val="0077FF">
              <a:alpha val="56000"/>
            </a:srgbClr>
          </a:solidFill>
          <a:ln>
            <a:noFill/>
          </a:ln>
        </p:spPr>
      </p:sp>
      <p:sp>
        <p:nvSpPr>
          <p:cNvPr id="1220" name="Legend 1220"/>
          <p:cNvSpPr txBox="1"/>
          <p:nvPr/>
        </p:nvSpPr>
        <p:spPr>
          <a:xfrm>
            <a:off x="2790278" y="2415202"/>
            <a:ext cx="2074120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Мебель и обустройство</a:t>
            </a:r>
            <a:endParaRPr lang="ru-RU" sz="11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раздевалок</a:t>
            </a:r>
            <a:endParaRPr lang="ru-RU" sz="1100"/>
          </a:p>
        </p:txBody>
      </p:sp>
      <p:sp>
        <p:nvSpPr>
          <p:cNvPr id="1221" name="Share 1221"/>
          <p:cNvSpPr txBox="1"/>
          <p:nvPr/>
        </p:nvSpPr>
        <p:spPr>
          <a:xfrm>
            <a:off x="4864398" y="2415202"/>
            <a:ext cx="1145977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300 000 ₽  ·  10%</a:t>
            </a:r>
            <a:endParaRPr lang="ru-RU" sz="1100"/>
          </a:p>
        </p:txBody>
      </p:sp>
      <p:sp>
        <p:nvSpPr>
          <p:cNvPr id="1222" name="Swatch 1222"/>
          <p:cNvSpPr/>
          <p:nvPr/>
        </p:nvSpPr>
        <p:spPr>
          <a:xfrm>
            <a:off x="2609227" y="2879260"/>
            <a:ext cx="100584" cy="100584"/>
          </a:xfrm>
          <a:prstGeom prst="roundRect">
            <a:avLst>
              <a:gd name="adj" fmla="val 25000"/>
            </a:avLst>
          </a:prstGeom>
          <a:solidFill>
            <a:srgbClr val="0077FF">
              <a:alpha val="40000"/>
            </a:srgbClr>
          </a:solidFill>
          <a:ln>
            <a:noFill/>
          </a:ln>
        </p:spPr>
      </p:sp>
      <p:sp>
        <p:nvSpPr>
          <p:cNvPr id="1223" name="Legend 1223"/>
          <p:cNvSpPr txBox="1"/>
          <p:nvPr/>
        </p:nvSpPr>
        <p:spPr>
          <a:xfrm>
            <a:off x="2790278" y="2845732"/>
            <a:ext cx="2074120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Обеспечительный платеж</a:t>
            </a:r>
            <a:endParaRPr lang="ru-RU" sz="11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 аренде</a:t>
            </a:r>
            <a:endParaRPr lang="ru-RU" sz="1100"/>
          </a:p>
        </p:txBody>
      </p:sp>
      <p:sp>
        <p:nvSpPr>
          <p:cNvPr id="1224" name="Share 1224"/>
          <p:cNvSpPr txBox="1"/>
          <p:nvPr/>
        </p:nvSpPr>
        <p:spPr>
          <a:xfrm>
            <a:off x="4864398" y="2845732"/>
            <a:ext cx="1145977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180 000 ₽  ·  6%</a:t>
            </a:r>
            <a:endParaRPr lang="ru-RU" sz="1100"/>
          </a:p>
        </p:txBody>
      </p:sp>
      <p:sp>
        <p:nvSpPr>
          <p:cNvPr id="1225" name="Swatch 1225"/>
          <p:cNvSpPr/>
          <p:nvPr/>
        </p:nvSpPr>
        <p:spPr>
          <a:xfrm>
            <a:off x="2609227" y="3309790"/>
            <a:ext cx="100584" cy="100584"/>
          </a:xfrm>
          <a:prstGeom prst="roundRect">
            <a:avLst>
              <a:gd name="adj" fmla="val 25000"/>
            </a:avLst>
          </a:prstGeom>
          <a:solidFill>
            <a:srgbClr val="0077FF">
              <a:alpha val="26000"/>
            </a:srgbClr>
          </a:solidFill>
          <a:ln>
            <a:noFill/>
          </a:ln>
        </p:spPr>
      </p:sp>
      <p:sp>
        <p:nvSpPr>
          <p:cNvPr id="1226" name="Legend 1226"/>
          <p:cNvSpPr txBox="1"/>
          <p:nvPr/>
        </p:nvSpPr>
        <p:spPr>
          <a:xfrm>
            <a:off x="2790278" y="3276262"/>
            <a:ext cx="2074120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Сайт и система записи</a:t>
            </a:r>
            <a:endParaRPr lang="ru-RU" sz="1100"/>
          </a:p>
        </p:txBody>
      </p:sp>
      <p:sp>
        <p:nvSpPr>
          <p:cNvPr id="1227" name="Share 1227"/>
          <p:cNvSpPr txBox="1"/>
          <p:nvPr/>
        </p:nvSpPr>
        <p:spPr>
          <a:xfrm>
            <a:off x="4864398" y="3276262"/>
            <a:ext cx="1145977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00000"/>
              </a:lnSpc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120 000 ₽  ·  4%</a:t>
            </a:r>
            <a:endParaRPr lang="ru-RU" sz="1100"/>
          </a:p>
        </p:txBody>
      </p:sp>
      <p:sp>
        <p:nvSpPr>
          <p:cNvPr id="1228" name="Rule 1228"/>
          <p:cNvSpPr/>
          <p:nvPr/>
        </p:nvSpPr>
        <p:spPr>
          <a:xfrm>
            <a:off x="6449287" y="1000422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9" name="Figure 1229"/>
          <p:cNvSpPr txBox="1"/>
          <p:nvPr/>
        </p:nvSpPr>
        <p:spPr>
          <a:xfrm>
            <a:off x="6445477" y="1036235"/>
            <a:ext cx="2415059" cy="5486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850 000</a:t>
            </a:r>
            <a:r>
              <a:rPr lang="ru-RU" sz="1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₽</a:t>
            </a:r>
            <a:endParaRPr lang="ru-RU" sz="3600"/>
          </a:p>
        </p:txBody>
      </p:sp>
      <p:sp>
        <p:nvSpPr>
          <p:cNvPr id="1230" name="Label 1230"/>
          <p:cNvSpPr txBox="1"/>
          <p:nvPr/>
        </p:nvSpPr>
        <p:spPr>
          <a:xfrm>
            <a:off x="6449287" y="1631166"/>
            <a:ext cx="2411249" cy="711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Еще 850 000 рублей составят оборотный резерв</a:t>
            </a:r>
            <a:endParaRPr lang="ru-RU" sz="1500"/>
          </a:p>
        </p:txBody>
      </p:sp>
      <p:sp>
        <p:nvSpPr>
          <p:cNvPr id="1231" name="Rule 1231"/>
          <p:cNvSpPr/>
          <p:nvPr/>
        </p:nvSpPr>
        <p:spPr>
          <a:xfrm>
            <a:off x="6449287" y="2519816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2" name="Figure 1232"/>
          <p:cNvSpPr txBox="1"/>
          <p:nvPr/>
        </p:nvSpPr>
        <p:spPr>
          <a:xfrm>
            <a:off x="6436333" y="2555629"/>
            <a:ext cx="2424203" cy="54864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3 000 000</a:t>
            </a:r>
            <a:r>
              <a:rPr lang="ru-RU" sz="1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 ₽</a:t>
            </a:r>
            <a:endParaRPr lang="ru-RU" sz="3600"/>
          </a:p>
        </p:txBody>
      </p:sp>
      <p:sp>
        <p:nvSpPr>
          <p:cNvPr id="1233" name="Label 1233"/>
          <p:cNvSpPr txBox="1"/>
          <p:nvPr/>
        </p:nvSpPr>
        <p:spPr>
          <a:xfrm>
            <a:off x="6449287" y="3150560"/>
            <a:ext cx="2411249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Начальный бюджет проекта</a:t>
            </a:r>
            <a:endParaRPr lang="ru-RU" sz="1500"/>
          </a:p>
        </p:txBody>
      </p:sp>
      <p:sp>
        <p:nvSpPr>
          <p:cNvPr id="1234" name="Chart note 1234"/>
          <p:cNvSpPr txBox="1"/>
          <p:nvPr/>
        </p:nvSpPr>
        <p:spPr>
          <a:xfrm>
            <a:off x="6449287" y="3810610"/>
            <a:ext cx="2411249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605"/>
              </a:spcAft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Сайт и система записи — минимальные вложения</a:t>
            </a:r>
            <a:endParaRPr lang="ru-RU" sz="110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Рентабельность — 17,8% при 250 клиентах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000422"/>
            <a:ext cx="5761446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₽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209273"/>
          <a:ext cx="5761446" cy="269897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Rule 1210"/>
          <p:cNvSpPr/>
          <p:nvPr/>
        </p:nvSpPr>
        <p:spPr>
          <a:xfrm>
            <a:off x="6449287" y="1000422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1" name="Figure 1211"/>
          <p:cNvSpPr txBox="1"/>
          <p:nvPr/>
        </p:nvSpPr>
        <p:spPr>
          <a:xfrm>
            <a:off x="6412330" y="965655"/>
            <a:ext cx="2448206" cy="82296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5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5%</a:t>
            </a:r>
            <a:endParaRPr lang="ru-RU" sz="5400"/>
          </a:p>
        </p:txBody>
      </p:sp>
      <p:sp>
        <p:nvSpPr>
          <p:cNvPr id="1212" name="Label 1212"/>
          <p:cNvSpPr txBox="1"/>
          <p:nvPr/>
        </p:nvSpPr>
        <p:spPr>
          <a:xfrm>
            <a:off x="6449287" y="1834906"/>
            <a:ext cx="2411249" cy="711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Переменные расходы — 5% от выручки (63 125 рублей)</a:t>
            </a:r>
            <a:endParaRPr lang="ru-RU" sz="1500"/>
          </a:p>
        </p:txBody>
      </p:sp>
      <p:sp>
        <p:nvSpPr>
          <p:cNvPr id="1213" name="Chart note 1213"/>
          <p:cNvSpPr txBox="1"/>
          <p:nvPr/>
        </p:nvSpPr>
        <p:spPr>
          <a:xfrm>
            <a:off x="6449287" y="2723556"/>
            <a:ext cx="2411249" cy="77279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153670" indent="-153670">
              <a:lnSpc>
                <a:spcPct val="100000"/>
              </a:lnSpc>
              <a:spcAft>
                <a:spcPts val="605"/>
              </a:spcAft>
              <a:buClr>
                <a:srgbClr val="0077FF"/>
              </a:buClr>
              <a:buFont typeface="Arial"/>
              <a:buChar char="•"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Выручка — 1 262 500 рублей при 250 клиентах</a:t>
            </a:r>
            <a:endParaRPr lang="ru-RU" sz="1100"/>
          </a:p>
          <a:p>
            <a:pPr algn="l" marL="153670" indent="-153670">
              <a:lnSpc>
                <a:spcPct val="100000"/>
              </a:lnSpc>
              <a:spcAft>
                <a:spcPts val="605"/>
              </a:spcAft>
              <a:buClr>
                <a:srgbClr val="0077FF"/>
              </a:buClr>
              <a:buFont typeface="Arial"/>
              <a:buChar char="•"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Расходы — 1 038 125 рублей, включая 5% переменных</a:t>
            </a:r>
            <a:endParaRPr lang="ru-RU" sz="1100"/>
          </a:p>
        </p:txBody>
      </p:sp>
      <p:sp>
        <p:nvSpPr>
          <p:cNvPr id="1214" name="Footnote 1214"/>
          <p:cNvSpPr txBox="1"/>
          <p:nvPr/>
        </p:nvSpPr>
        <p:spPr>
          <a:xfrm>
            <a:off x="248929" y="4346269"/>
            <a:ext cx="8611607" cy="14914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81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Налоги, амортизация и проценты по кредитам не учтены</a:t>
            </a:r>
            <a:endParaRPr lang="ru-RU" sz="812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064422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Операционная прибыль станет положительной на пятом месяце</a:t>
            </a:r>
            <a:endParaRPr/>
          </a:p>
        </p:txBody>
      </p:sp>
      <p:sp>
        <p:nvSpPr>
          <p:cNvPr id="1208" name="Chart title 1208"/>
          <p:cNvSpPr txBox="1"/>
          <p:nvPr/>
        </p:nvSpPr>
        <p:spPr>
          <a:xfrm>
            <a:off x="248929" y="1366182"/>
            <a:ext cx="4031483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Рост активных клиентов, чел.</a:t>
            </a:r>
            <a:endParaRPr lang="ru-RU" sz="15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712765"/>
          <a:ext cx="4031483" cy="278265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Chart title 1210"/>
          <p:cNvSpPr txBox="1"/>
          <p:nvPr/>
        </p:nvSpPr>
        <p:spPr>
          <a:xfrm>
            <a:off x="4829052" y="1366182"/>
            <a:ext cx="4031484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Операционный результат</a:t>
            </a:r>
            <a:endParaRPr lang="ru-RU" sz="1500"/>
          </a:p>
        </p:txBody>
      </p:sp>
      <p:graphicFrame>
        <p:nvGraphicFramePr>
          <p:cNvPr id="1211" name="Chart 1210"/>
          <p:cNvGraphicFramePr>
            <a:graphicFrameLocks noGrp="1"/>
          </p:cNvGraphicFramePr>
          <p:nvPr/>
        </p:nvGraphicFramePr>
        <p:xfrm>
          <a:off x="4829052" y="1712765"/>
          <a:ext cx="4031484" cy="2782653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Недостаток оборотных средств — 387 388 ₽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000422"/>
            <a:ext cx="5761446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Сумма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209273"/>
          <a:ext cx="5761446" cy="2392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Rule 1210"/>
          <p:cNvSpPr/>
          <p:nvPr/>
        </p:nvSpPr>
        <p:spPr>
          <a:xfrm>
            <a:off x="6449287" y="1000422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1" name="Figure 1211"/>
          <p:cNvSpPr txBox="1"/>
          <p:nvPr/>
        </p:nvSpPr>
        <p:spPr>
          <a:xfrm>
            <a:off x="6444858" y="1071330"/>
            <a:ext cx="2415678" cy="412242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05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3 387 388 ₽</a:t>
            </a:r>
            <a:endParaRPr lang="ru-RU" sz="2705"/>
          </a:p>
        </p:txBody>
      </p:sp>
      <p:sp>
        <p:nvSpPr>
          <p:cNvPr id="1212" name="Label 1212"/>
          <p:cNvSpPr txBox="1"/>
          <p:nvPr/>
        </p:nvSpPr>
        <p:spPr>
          <a:xfrm>
            <a:off x="6449287" y="1529863"/>
            <a:ext cx="2411249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Общий бюджет проекта следует увеличить</a:t>
            </a:r>
            <a:endParaRPr lang="ru-RU" sz="1500"/>
          </a:p>
        </p:txBody>
      </p:sp>
      <p:sp>
        <p:nvSpPr>
          <p:cNvPr id="1213" name="Rule 1213"/>
          <p:cNvSpPr/>
          <p:nvPr/>
        </p:nvSpPr>
        <p:spPr>
          <a:xfrm>
            <a:off x="6449287" y="2189913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4" name="Figure 1214"/>
          <p:cNvSpPr txBox="1"/>
          <p:nvPr/>
        </p:nvSpPr>
        <p:spPr>
          <a:xfrm>
            <a:off x="6429399" y="2260821"/>
            <a:ext cx="2431137" cy="412242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05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1 237 388 ₽</a:t>
            </a:r>
            <a:endParaRPr lang="ru-RU" sz="2705"/>
          </a:p>
        </p:txBody>
      </p:sp>
      <p:sp>
        <p:nvSpPr>
          <p:cNvPr id="1215" name="Label 1215"/>
          <p:cNvSpPr txBox="1"/>
          <p:nvPr/>
        </p:nvSpPr>
        <p:spPr>
          <a:xfrm>
            <a:off x="6449287" y="2719354"/>
            <a:ext cx="2411249" cy="711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Суммарный операционный убыток за первые четыре месяца составит</a:t>
            </a:r>
            <a:endParaRPr lang="ru-RU" sz="1500"/>
          </a:p>
        </p:txBody>
      </p:sp>
      <p:sp>
        <p:nvSpPr>
          <p:cNvPr id="1216" name="Chart note 1216"/>
          <p:cNvSpPr txBox="1"/>
          <p:nvPr/>
        </p:nvSpPr>
        <p:spPr>
          <a:xfrm>
            <a:off x="6449287" y="3608004"/>
            <a:ext cx="2411249" cy="193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605"/>
              </a:spcAft>
              <a:buNone/>
            </a:pPr>
            <a:r>
              <a:rPr lang="ru-RU" sz="11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Или сократить затраты до запуска</a:t>
            </a:r>
            <a:endParaRPr lang="ru-RU" sz="1100"/>
          </a:p>
        </p:txBody>
      </p:sp>
      <p:sp>
        <p:nvSpPr>
          <p:cNvPr id="1217" name="Conclusion bar 1217"/>
          <p:cNvSpPr/>
          <p:nvPr/>
        </p:nvSpPr>
        <p:spPr>
          <a:xfrm>
            <a:off x="248929" y="4035678"/>
            <a:ext cx="38100" cy="4368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8" name="Conclusion 1218"/>
          <p:cNvSpPr txBox="1"/>
          <p:nvPr/>
        </p:nvSpPr>
        <p:spPr>
          <a:xfrm>
            <a:off x="439429" y="4012818"/>
            <a:ext cx="8421107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Проект может выйти на операционную прибыль к пятому месяцу, но для запуска необходимо заранее закрыть недостаток оборотных средств</a:t>
            </a:r>
            <a:endParaRPr lang="ru-RU" sz="15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