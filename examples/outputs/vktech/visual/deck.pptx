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311"/>
          <c:y val="0.0128"/>
          <c:w val="0.5677"/>
          <c:h val="0.97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Количество</c:v>
                </c:pt>
              </c:strCache>
            </c:strRef>
          </c:tx>
          <c:spPr>
            <a:solidFill>
              <a:srgbClr val="91C4FF"/>
            </a:solidFill>
            <a:ln>
              <a:noFill/>
            </a:ln>
          </c:spPr>
          <c:invertIfNegative val="0"/>
          <c:dPt>
            <c:idx val="3"/>
            <c:spPr>
              <a:solidFill>
                <a:srgbClr val="0077FF"/>
              </a:solidFill>
              <a:ln>
                <a:noFill/>
              </a:ln>
            </c:spPr>
          </c:dPt>
          <c:dLbls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Жители района</c:v>
                </c:pt>
                <c:pt idx="1">
                  <c:v>Выбранная возрастная аудитория</c:v>
                </c:pt>
                <c:pt idx="2">
                  <c:v>Потенциально заинтересованные</c:v>
                </c:pt>
                <c:pt idx="3">
                  <c:v>Целевое количество клиентов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18000.0</c:v>
                </c:pt>
                <c:pt idx="1">
                  <c:v>8000.0</c:v>
                </c:pt>
                <c:pt idx="2">
                  <c:v>1200.0</c:v>
                </c:pt>
                <c:pt idx="3">
                  <c:v>250.0</c:v>
                </c:pt>
              </c:numCache>
            </c:numRef>
          </c:val>
        </c:ser>
        <c:dLbls>
          <c:numFmt formatCode="#,##0&quot; человек&quot;;&quot;−&quot;#,##0&quot; челов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8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38"/>
          <c:y val="0.0238"/>
          <c:w val="0.9524"/>
          <c:h val="0.9524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критериев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2D8FFF"/>
              </a:solidFill>
              <a:ln w="2540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5AA7FF"/>
              </a:solidFill>
              <a:ln w="2540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8CC1FF"/>
              </a:solidFill>
              <a:ln w="25400">
                <a:solidFill>
                  <a:srgbClr val="FAFCFF"/>
                </a:solidFill>
              </a:ln>
            </c:spPr>
          </c:dPt>
          <c:dPt>
            <c:idx val="4"/>
            <c:spPr>
              <a:solidFill>
                <a:srgbClr val="B9D9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Близость к дому</c:v>
                </c:pt>
                <c:pt idx="1">
                  <c:v>Расписание</c:v>
                </c:pt>
                <c:pt idx="2">
                  <c:v>Стоимость</c:v>
                </c:pt>
                <c:pt idx="3">
                  <c:v>Тренеры</c:v>
                </c:pt>
                <c:pt idx="4">
                  <c:v>Атмосфера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35.0</c:v>
                </c:pt>
                <c:pt idx="1">
                  <c:v>25.0</c:v>
                </c:pt>
                <c:pt idx="2">
                  <c:v>20.0</c:v>
                </c:pt>
                <c:pt idx="3">
                  <c:v>12.5</c:v>
                </c:pt>
                <c:pt idx="4">
                  <c:v>7.5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457"/>
          <c:y val="0.0128"/>
          <c:w val="0.5684"/>
          <c:h val="0.97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Посещений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Месячная вместимость</c:v>
                </c:pt>
                <c:pt idx="1">
                  <c:v>Ожидаемое количество посещений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2700.0</c:v>
                </c:pt>
                <c:pt idx="1">
                  <c:v>2000.0</c:v>
                </c:pt>
              </c:numCache>
            </c:numRef>
          </c:val>
        </c:ser>
        <c:dLbls>
          <c:numFmt formatCode="#,##0&quot; посещений&quot;;&quot;−&quot;#,##0&quot; посещений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28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7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36"/>
          <c:y val="0.0236"/>
          <c:w val="0.9528"/>
          <c:h val="0.9528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3C97FF"/>
              </a:solidFill>
              <a:ln w="2540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7DBAFF"/>
              </a:solidFill>
              <a:ln w="2540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B9D9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Оплата работы тренеров</c:v>
                </c:pt>
                <c:pt idx="1">
                  <c:v>Администраторов</c:v>
                </c:pt>
                <c:pt idx="2">
                  <c:v>Уборки</c:v>
                </c:pt>
                <c:pt idx="3">
                  <c:v>Резерв на замены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260000.0</c:v>
                </c:pt>
                <c:pt idx="1">
                  <c:v>110000.0</c:v>
                </c:pt>
                <c:pt idx="2">
                  <c:v>30000.0</c:v>
                </c:pt>
                <c:pt idx="3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947"/>
          <c:y val="0.0114"/>
          <c:w val="0.4831"/>
          <c:h val="0.9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Реклама в соцсетях</c:v>
                </c:pt>
                <c:pt idx="1">
                  <c:v>Районные сообщества и местные каналы</c:v>
                </c:pt>
                <c:pt idx="2">
                  <c:v>Партнерства с ЖК и организациями</c:v>
                </c:pt>
                <c:pt idx="3">
                  <c:v>Мероприятия открытия</c:v>
                </c:pt>
                <c:pt idx="4">
                  <c:v>Печатные материалы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90000.0</c:v>
                </c:pt>
                <c:pt idx="1">
                  <c:v>60000.0</c:v>
                </c:pt>
                <c:pt idx="2">
                  <c:v>40000.0</c:v>
                </c:pt>
                <c:pt idx="3">
                  <c:v>30000.0</c:v>
                </c:pt>
                <c:pt idx="4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90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357"/>
          <c:y val="0.0357"/>
          <c:w val="0.9286"/>
          <c:h val="0.928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Вложения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238AFF"/>
              </a:solidFill>
              <a:ln w="1905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4B9FFF"/>
              </a:solidFill>
              <a:ln w="1905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6EB2FF"/>
              </a:solidFill>
              <a:ln w="19050">
                <a:solidFill>
                  <a:srgbClr val="FAFCFF"/>
                </a:solidFill>
              </a:ln>
            </c:spPr>
          </c:dPt>
          <c:dPt>
            <c:idx val="4"/>
            <c:spPr>
              <a:solidFill>
                <a:srgbClr val="96C7FF"/>
              </a:solidFill>
              <a:ln w="19050">
                <a:solidFill>
                  <a:srgbClr val="FAFCFF"/>
                </a:solidFill>
              </a:ln>
            </c:spPr>
          </c:dPt>
          <c:dPt>
            <c:idx val="5"/>
            <c:spPr>
              <a:solidFill>
                <a:srgbClr val="B9D9FF"/>
              </a:solidFill>
              <a:ln w="1905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Ремонт и подготовка помещения</c:v>
                </c:pt>
                <c:pt idx="1">
                  <c:v>Оборотный резерв</c:v>
                </c:pt>
                <c:pt idx="2">
                  <c:v>Оборудование и инвентарь</c:v>
                </c:pt>
                <c:pt idx="3">
                  <c:v>Мебель и обустройство раздевалок</c:v>
                </c:pt>
                <c:pt idx="4">
                  <c:v>Обеспечительный платеж по аренде</c:v>
                </c:pt>
                <c:pt idx="5">
                  <c:v>Сайт и система записи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900000.0</c:v>
                </c:pt>
                <c:pt idx="1">
                  <c:v>850000.0</c:v>
                </c:pt>
                <c:pt idx="2">
                  <c:v>650000.0</c:v>
                </c:pt>
                <c:pt idx="3">
                  <c:v>300000.0</c:v>
                </c:pt>
                <c:pt idx="4">
                  <c:v>180000.0</c:v>
                </c:pt>
                <c:pt idx="5">
                  <c:v>120000.0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369"/>
          <c:y val="0.0127"/>
          <c:w val="0.6041"/>
          <c:h val="0.974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₽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Выручка</c:v>
                </c:pt>
                <c:pt idx="1">
                  <c:v>Расходы</c:v>
                </c:pt>
                <c:pt idx="2">
                  <c:v>Операционная прибыль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1262500.0</c:v>
                </c:pt>
                <c:pt idx="1">
                  <c:v>1038125.0</c:v>
                </c:pt>
                <c:pt idx="2">
                  <c:v>224375.0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1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625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32"/>
          <c:y val="0.1255"/>
          <c:w val="0.9937"/>
          <c:h val="0.798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Активные клиенты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AFCFF"/>
                  </a:solidFill>
                </a:ln>
              </c:spPr>
            </c:marker>
          </c:dPt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18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18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80.0</c:v>
                </c:pt>
                <c:pt idx="1">
                  <c:v>120.0</c:v>
                </c:pt>
                <c:pt idx="2">
                  <c:v>160.0</c:v>
                </c:pt>
                <c:pt idx="3">
                  <c:v>195.0</c:v>
                </c:pt>
                <c:pt idx="4">
                  <c:v>225.0</c:v>
                </c:pt>
                <c:pt idx="5">
                  <c:v>250.0</c:v>
                </c:pt>
              </c:numCache>
            </c:numRef>
          </c:val>
          <c:smooth val="0"/>
        </c:ser>
        <c:dLbls>
          <c:numFmt formatCode="#,##0&quot; чел.&quot;;&quot;−&quot;#,##0&quot; чел.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50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37"/>
          <c:y val="0.1055"/>
          <c:w val="0.9926"/>
          <c:h val="0.818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Операционный результат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AFCFF"/>
                  </a:solidFill>
                </a:ln>
              </c:spPr>
            </c:marke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929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929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841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853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05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-591200.0</c:v>
                </c:pt>
                <c:pt idx="1">
                  <c:v>-399300.0</c:v>
                </c:pt>
                <c:pt idx="2">
                  <c:v>-207400.0</c:v>
                </c:pt>
                <c:pt idx="3">
                  <c:v>-39487.5</c:v>
                </c:pt>
                <c:pt idx="4">
                  <c:v>104437.5</c:v>
                </c:pt>
                <c:pt idx="5">
                  <c:v>224375.0</c:v>
                </c:pt>
              </c:numCache>
            </c:numRef>
          </c:val>
          <c:smooth val="0"/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24375.0"/>
          <c:min val="-795093.75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924"/>
          <c:y val="0.0143"/>
          <c:w val="0.5486"/>
          <c:h val="0.971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Сумма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Имеющийся резерв</c:v>
                </c:pt>
                <c:pt idx="1">
                  <c:v>Прогнозируемая потребность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850000.0</c:v>
                </c:pt>
                <c:pt idx="1">
                  <c:v>1237388.0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93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37388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Фитнес-студия «Движение» предназначена для проведения групповых тренировок. Основные направления включают силовые занятия, растяжку, йогу и функциональные тренировки. Цель проекта — привлечь 250 постоянных клиентов и достичь ежемесячной операционной прибыли в размере 225 000 рублей к шестому месяцу работы.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районе проживает 18 000 человек, из них 8 000 относится к возрастной группе 23–45 лет. По предварительной оценке, 15% этой группы могут заинтересоваться занятиями — это 1 200 человек. Для достижения целевого показателя студии необходимо привлечь 21% этой аудитории, что составляет 250 человек.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Опрос проводился среди 200 жителей района. Каждый участник выбирал один основной критерий.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Средняя выручка на клиента рассчитана на основе этого распределения.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Студия будет работать ежедневно с 07:00 до 22:00. В будние дни запланировано по восемь групповых занятий, в выходные — по шесть. Это 52 занятия в неделю, или около 225 в месяц. При вместимости 12 человек студия сможет обеспечить примерно 2 700 посещений в месяц. При 250 клиентах и среднем абонементе на восемь занятий ожидается до 2 000 посещений в месяц. Средняя загрузка составит около 74%.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Площадь студии составляет 180 м².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команды составляет 420 000 рублей в месяц. На оплату работы тренеров выделяется 260 000 рублей, администраторов — 110 000 рублей, уборки — 30 000 рублей, резерв на замены — 20 000 рублей.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на первые три месяца продвижения составляет 240 000 ₽. Наибольшая часть — 90 000 ₽ — направлена на рекламу в социальных сетях. План привлечения клиентов рассчитан на получение 1 000 обращений, 500 записей на пробное занятие, 350 фактических посещений и 175 проданных абонементов. Средняя стоимость привлечения одного покупателя по этому плану — около 1 371 ₽.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Стартовый бюджет проекта — 3 000 000 рублей.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При 250 активных клиентах и средней месячной выручке на клиента 5 050 рублей студия получит 1 262 500 рублей выручки. Постоянные ежемесячные расходы составят 975 000 рублей, а переменные — 5% от выручки (63 125 рублей). Общие расходы — 1 038 125 рублей, операционная прибыль — 224 375 рублей, рентабельность — 17,8%. Налоги, амортизация и проценты по кредитам не учтены.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Операционный результат рассчитывается как выручка минус постоянные и переменные расходы. Переменные расходы составляют 5% от выручки.</a:t>
            </a:r>
          </a:p>
          <a:p>
            <a:r>
              <a:t>[verstka:sl12]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Суммарный операционный убыток за первые четыре месяца составит около 1 237 388 рублей. Имеющийся оборотный резерв — 850 000 рублей, недостаток — 387 388 рублей.</a:t>
            </a:r>
          </a:p>
          <a:p>
            <a:r>
              <a:t>[verstka:sl13]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04039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Цель — 250 клиентов и 225 000 ₽ прибыли к шестому месяцу</a:t>
            </a:r>
            <a:endParaRPr/>
          </a:p>
        </p:txBody>
      </p:sp>
      <p:sp>
        <p:nvSpPr>
          <p:cNvPr id="1220" name="Card 1220"/>
          <p:cNvSpPr/>
          <p:nvPr/>
        </p:nvSpPr>
        <p:spPr>
          <a:xfrm>
            <a:off x="248929" y="1366182"/>
            <a:ext cx="4196075" cy="2403632"/>
          </a:xfrm>
          <a:prstGeom prst="roundRect">
            <a:avLst>
              <a:gd fmla="val 599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1" name="Index 1221"/>
          <p:cNvSpPr txBox="1"/>
          <p:nvPr/>
        </p:nvSpPr>
        <p:spPr>
          <a:xfrm>
            <a:off x="506104" y="1623357"/>
            <a:ext cx="3681725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22" name="Card text 1222"/>
          <p:cNvSpPr txBox="1"/>
          <p:nvPr/>
        </p:nvSpPr>
        <p:spPr>
          <a:xfrm>
            <a:off x="506104" y="2226003"/>
            <a:ext cx="3681725" cy="12866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Фитнес-⁠студия «Движение» предлагает групповые тренировки рядом с домом</a:t>
            </a:r>
            <a:endParaRPr lang="ru-RU" sz="2000"/>
          </a:p>
        </p:txBody>
      </p:sp>
      <p:sp>
        <p:nvSpPr>
          <p:cNvPr id="1223" name="Card 1223"/>
          <p:cNvSpPr/>
          <p:nvPr/>
        </p:nvSpPr>
        <p:spPr>
          <a:xfrm>
            <a:off x="4664460" y="1366182"/>
            <a:ext cx="4196075" cy="2403632"/>
          </a:xfrm>
          <a:prstGeom prst="roundRect">
            <a:avLst>
              <a:gd fmla="val 599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4" name="Index 1224"/>
          <p:cNvSpPr txBox="1"/>
          <p:nvPr/>
        </p:nvSpPr>
        <p:spPr>
          <a:xfrm>
            <a:off x="4921635" y="1623357"/>
            <a:ext cx="3681725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25" name="Card text 1225"/>
          <p:cNvSpPr txBox="1"/>
          <p:nvPr/>
        </p:nvSpPr>
        <p:spPr>
          <a:xfrm>
            <a:off x="4921635" y="2226003"/>
            <a:ext cx="3681725" cy="12866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28"/>
              </a:spcAft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Основные направления</a:t>
            </a:r>
            <a:endParaRPr lang="ru-RU" sz="20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88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силовые занятия, растяжка, йога и функциональные тренировки</a:t>
            </a:r>
            <a:endParaRPr lang="ru-RU" sz="1688"/>
          </a:p>
        </p:txBody>
      </p:sp>
      <p:sp>
        <p:nvSpPr>
          <p:cNvPr id="1226" name="Footnote 1226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цифры условные и используются для учебного бизнес-⁠плана</a:t>
            </a:r>
            <a:endParaRPr lang="ru-RU" sz="812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442614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Целевая аудитория — 250 клиентов из 1 200 потенциальных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Потенциальные клиенты, человек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5761446" cy="267004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36618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398995" y="1358863"/>
            <a:ext cx="2461541" cy="71628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15%</a:t>
            </a:r>
            <a:endParaRPr lang="ru-RU" sz="47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2121434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Возрастной аудитории заинтересованы в занятиях рядом с домом</a:t>
            </a:r>
            <a:endParaRPr lang="ru-RU" sz="1500"/>
          </a:p>
        </p:txBody>
      </p:sp>
      <p:sp>
        <p:nvSpPr>
          <p:cNvPr id="1213" name="Rule 1213"/>
          <p:cNvSpPr/>
          <p:nvPr/>
        </p:nvSpPr>
        <p:spPr>
          <a:xfrm>
            <a:off x="6449287" y="30100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4" name="Figure 1214"/>
          <p:cNvSpPr txBox="1"/>
          <p:nvPr/>
        </p:nvSpPr>
        <p:spPr>
          <a:xfrm>
            <a:off x="6428840" y="3002765"/>
            <a:ext cx="2431696" cy="71628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21%</a:t>
            </a:r>
            <a:endParaRPr lang="ru-RU" sz="4700"/>
          </a:p>
        </p:txBody>
      </p:sp>
      <p:sp>
        <p:nvSpPr>
          <p:cNvPr id="1215" name="Label 1215"/>
          <p:cNvSpPr txBox="1"/>
          <p:nvPr/>
        </p:nvSpPr>
        <p:spPr>
          <a:xfrm>
            <a:off x="6449287" y="376533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Для достижения цели нужно привлечь этой группы</a:t>
            </a:r>
            <a:endParaRPr lang="ru-RU"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62838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Близость к дому важна для 35% потенциальных клиентов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1685343" y="1366182"/>
          <a:ext cx="2878897" cy="28788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5003152" y="1786455"/>
            <a:ext cx="2420969" cy="3873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Что важно посетителям</a:t>
            </a:r>
            <a:endParaRPr lang="ru-RU" sz="1500"/>
          </a:p>
        </p:txBody>
      </p:sp>
      <p:sp>
        <p:nvSpPr>
          <p:cNvPr id="1210" name="Swatch 1210"/>
          <p:cNvSpPr/>
          <p:nvPr/>
        </p:nvSpPr>
        <p:spPr>
          <a:xfrm>
            <a:off x="5003152" y="22195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5250040" y="21738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Близость к дому</a:t>
            </a:r>
            <a:endParaRPr lang="ru-RU" sz="1500"/>
          </a:p>
        </p:txBody>
      </p:sp>
      <p:sp>
        <p:nvSpPr>
          <p:cNvPr id="1212" name="Share 1212"/>
          <p:cNvSpPr txBox="1"/>
          <p:nvPr/>
        </p:nvSpPr>
        <p:spPr>
          <a:xfrm>
            <a:off x="6787137" y="21738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35%</a:t>
            </a:r>
            <a:endParaRPr lang="ru-RU" sz="1500"/>
          </a:p>
        </p:txBody>
      </p:sp>
      <p:sp>
        <p:nvSpPr>
          <p:cNvPr id="1213" name="Swatch 1213"/>
          <p:cNvSpPr/>
          <p:nvPr/>
        </p:nvSpPr>
        <p:spPr>
          <a:xfrm>
            <a:off x="5003152" y="256877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82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5250040" y="252305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Расписание</a:t>
            </a:r>
            <a:endParaRPr lang="ru-RU" sz="1500"/>
          </a:p>
        </p:txBody>
      </p:sp>
      <p:sp>
        <p:nvSpPr>
          <p:cNvPr id="1215" name="Share 1215"/>
          <p:cNvSpPr txBox="1"/>
          <p:nvPr/>
        </p:nvSpPr>
        <p:spPr>
          <a:xfrm>
            <a:off x="6787137" y="252305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25%</a:t>
            </a:r>
            <a:endParaRPr lang="ru-RU" sz="1500"/>
          </a:p>
        </p:txBody>
      </p:sp>
      <p:sp>
        <p:nvSpPr>
          <p:cNvPr id="1216" name="Swatch 1216"/>
          <p:cNvSpPr/>
          <p:nvPr/>
        </p:nvSpPr>
        <p:spPr>
          <a:xfrm>
            <a:off x="5003152" y="29180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64000"/>
            </a:srgbClr>
          </a:solidFill>
          <a:ln>
            <a:noFill/>
          </a:ln>
        </p:spPr>
      </p:sp>
      <p:sp>
        <p:nvSpPr>
          <p:cNvPr id="1217" name="Legend 1217"/>
          <p:cNvSpPr txBox="1"/>
          <p:nvPr/>
        </p:nvSpPr>
        <p:spPr>
          <a:xfrm>
            <a:off x="5250040" y="28723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Стоимость</a:t>
            </a:r>
            <a:endParaRPr lang="ru-RU" sz="1500"/>
          </a:p>
        </p:txBody>
      </p:sp>
      <p:sp>
        <p:nvSpPr>
          <p:cNvPr id="1218" name="Share 1218"/>
          <p:cNvSpPr txBox="1"/>
          <p:nvPr/>
        </p:nvSpPr>
        <p:spPr>
          <a:xfrm>
            <a:off x="6787137" y="28723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20%</a:t>
            </a:r>
            <a:endParaRPr lang="ru-RU" sz="1500"/>
          </a:p>
        </p:txBody>
      </p:sp>
      <p:sp>
        <p:nvSpPr>
          <p:cNvPr id="1219" name="Swatch 1219"/>
          <p:cNvSpPr/>
          <p:nvPr/>
        </p:nvSpPr>
        <p:spPr>
          <a:xfrm>
            <a:off x="5003152" y="326727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44000"/>
            </a:srgbClr>
          </a:solidFill>
          <a:ln>
            <a:noFill/>
          </a:ln>
        </p:spPr>
      </p:sp>
      <p:sp>
        <p:nvSpPr>
          <p:cNvPr id="1220" name="Legend 1220"/>
          <p:cNvSpPr txBox="1"/>
          <p:nvPr/>
        </p:nvSpPr>
        <p:spPr>
          <a:xfrm>
            <a:off x="5250040" y="322155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Тренеры</a:t>
            </a:r>
            <a:endParaRPr lang="ru-RU" sz="1500"/>
          </a:p>
        </p:txBody>
      </p:sp>
      <p:sp>
        <p:nvSpPr>
          <p:cNvPr id="1221" name="Share 1221"/>
          <p:cNvSpPr txBox="1"/>
          <p:nvPr/>
        </p:nvSpPr>
        <p:spPr>
          <a:xfrm>
            <a:off x="6787137" y="322155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12,5%</a:t>
            </a:r>
            <a:endParaRPr lang="ru-RU" sz="1500"/>
          </a:p>
        </p:txBody>
      </p:sp>
      <p:sp>
        <p:nvSpPr>
          <p:cNvPr id="1222" name="Swatch 1222"/>
          <p:cNvSpPr/>
          <p:nvPr/>
        </p:nvSpPr>
        <p:spPr>
          <a:xfrm>
            <a:off x="5003152" y="36165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3" name="Legend 1223"/>
          <p:cNvSpPr txBox="1"/>
          <p:nvPr/>
        </p:nvSpPr>
        <p:spPr>
          <a:xfrm>
            <a:off x="5250040" y="35708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Атмосфера</a:t>
            </a:r>
            <a:endParaRPr lang="ru-RU" sz="1500"/>
          </a:p>
        </p:txBody>
      </p:sp>
      <p:sp>
        <p:nvSpPr>
          <p:cNvPr id="1224" name="Share 1224"/>
          <p:cNvSpPr txBox="1"/>
          <p:nvPr/>
        </p:nvSpPr>
        <p:spPr>
          <a:xfrm>
            <a:off x="6787137" y="35708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7,5%</a:t>
            </a:r>
            <a:endParaRPr lang="ru-RU" sz="15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717583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Средняя месячная выручка на одного клиента составит 5 050 рублей</a:t>
            </a:r>
            <a:endParaRPr/>
          </a:p>
        </p:txBody>
      </p:sp>
      <p:graphicFrame>
        <p:nvGraphicFramePr>
          <p:cNvPr id="1208" name="Table"/>
          <p:cNvGraphicFramePr>
            <a:graphicFrameLocks noGrp="1"/>
          </p:cNvGraphicFramePr>
          <p:nvPr/>
        </p:nvGraphicFramePr>
        <p:xfrm>
          <a:off x="248929" y="1366182"/>
          <a:ext cx="8611607" cy="203331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85150"/>
                <a:gridCol w="2175486"/>
                <a:gridCol w="2175486"/>
                <a:gridCol w="2175485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Абонемент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Количество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 одного занятия,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4999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Четыре занятия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4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3 200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4999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Восемь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5 200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650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4999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Двенадцать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6 600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550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09" name="Conclusion figure 1209"/>
          <p:cNvSpPr txBox="1"/>
          <p:nvPr/>
        </p:nvSpPr>
        <p:spPr>
          <a:xfrm>
            <a:off x="246218" y="3615519"/>
            <a:ext cx="992650" cy="41224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900 ₽</a:t>
            </a:r>
            <a:endParaRPr lang="ru-RU" sz="2705"/>
          </a:p>
        </p:txBody>
      </p:sp>
      <p:sp>
        <p:nvSpPr>
          <p:cNvPr id="1210" name="Conclusion 1210"/>
          <p:cNvSpPr txBox="1"/>
          <p:nvPr/>
        </p:nvSpPr>
        <p:spPr>
          <a:xfrm>
            <a:off x="1467468" y="3694640"/>
            <a:ext cx="7393068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Разовое посещение обойдется в 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900 рублей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, пробная тренировка — в 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500 рублей</a:t>
            </a:r>
            <a:endParaRPr lang="ru-RU" sz="1500"/>
          </a:p>
        </p:txBody>
      </p:sp>
      <p:sp>
        <p:nvSpPr>
          <p:cNvPr id="1211" name="Footnote 1211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Доход от разовых и пробных посещений в основной финансовый прогноз не включен</a:t>
            </a:r>
            <a:endParaRPr lang="ru-RU" sz="812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6413458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Месячная вместимость превышает ожидаемое количество посещений на 700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посещений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5761446" cy="267004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36618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429475" y="1331415"/>
            <a:ext cx="2431061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74%</a:t>
            </a:r>
            <a:endParaRPr lang="ru-RU" sz="54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2200666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Месячная загрузка составит около</a:t>
            </a:r>
            <a:endParaRPr lang="ru-RU" sz="15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100 м² — основное пространство для тренировок</a:t>
            </a:r>
            <a:endParaRPr/>
          </a:p>
        </p:txBody>
      </p:sp>
      <p:sp>
        <p:nvSpPr>
          <p:cNvPr id="1208" name="Место для фото" descr="Фото помещения: место оставлено свободным — вставьте фото в плейсхолдер или через «Формат фигуры → Заливка → Рисунок»"/>
          <p:cNvSpPr/>
          <p:nvPr/>
        </p:nvSpPr>
        <p:spPr>
          <a:xfrm>
            <a:off x="5415894" y="1000422"/>
            <a:ext cx="3444642" cy="2931349"/>
          </a:xfrm>
          <a:prstGeom prst="roundRect">
            <a:avLst>
              <a:gd name="adj" fmla="val 3185"/>
            </a:avLst>
          </a:prstGeom>
          <a:solidFill>
            <a:srgbClr val="D6ECFF"/>
          </a:solidFill>
          <a:ln>
            <a:noFill/>
          </a:ln>
        </p:spPr>
      </p:sp>
      <p:sp>
        <p:nvSpPr>
          <p:cNvPr id="1209" name="Card 1209"/>
          <p:cNvSpPr/>
          <p:nvPr/>
        </p:nvSpPr>
        <p:spPr>
          <a:xfrm>
            <a:off x="248929" y="1000422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0" name="Figure 1210"/>
          <p:cNvSpPr txBox="1"/>
          <p:nvPr/>
        </p:nvSpPr>
        <p:spPr>
          <a:xfrm>
            <a:off x="428486" y="966513"/>
            <a:ext cx="1902804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100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11" name="Label 1211"/>
          <p:cNvSpPr txBox="1"/>
          <p:nvPr/>
        </p:nvSpPr>
        <p:spPr>
          <a:xfrm>
            <a:off x="480302" y="1752039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Тренировочный зал</a:t>
            </a:r>
            <a:endParaRPr lang="ru-RU" sz="1500"/>
          </a:p>
        </p:txBody>
      </p:sp>
      <p:sp>
        <p:nvSpPr>
          <p:cNvPr id="1212" name="Card 1212"/>
          <p:cNvSpPr/>
          <p:nvPr/>
        </p:nvSpPr>
        <p:spPr>
          <a:xfrm>
            <a:off x="2782119" y="1000422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3" name="Figure 1213"/>
          <p:cNvSpPr txBox="1"/>
          <p:nvPr/>
        </p:nvSpPr>
        <p:spPr>
          <a:xfrm>
            <a:off x="2989108" y="966513"/>
            <a:ext cx="1875372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35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14" name="Label 1214"/>
          <p:cNvSpPr txBox="1"/>
          <p:nvPr/>
        </p:nvSpPr>
        <p:spPr>
          <a:xfrm>
            <a:off x="3013492" y="1752039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Раздевалки и душевые</a:t>
            </a:r>
            <a:endParaRPr lang="ru-RU" sz="1500"/>
          </a:p>
        </p:txBody>
      </p:sp>
      <p:sp>
        <p:nvSpPr>
          <p:cNvPr id="1215" name="Card 1215"/>
          <p:cNvSpPr/>
          <p:nvPr/>
        </p:nvSpPr>
        <p:spPr>
          <a:xfrm>
            <a:off x="248929" y="2543249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6" name="Figure 1216"/>
          <p:cNvSpPr txBox="1"/>
          <p:nvPr/>
        </p:nvSpPr>
        <p:spPr>
          <a:xfrm>
            <a:off x="458966" y="2509340"/>
            <a:ext cx="1872324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25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17" name="Label 1217"/>
          <p:cNvSpPr txBox="1"/>
          <p:nvPr/>
        </p:nvSpPr>
        <p:spPr>
          <a:xfrm>
            <a:off x="480302" y="3294866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Зона ресепшена и ожидания</a:t>
            </a:r>
            <a:endParaRPr lang="ru-RU" sz="1500"/>
          </a:p>
        </p:txBody>
      </p:sp>
      <p:sp>
        <p:nvSpPr>
          <p:cNvPr id="1218" name="Card 1218"/>
          <p:cNvSpPr/>
          <p:nvPr/>
        </p:nvSpPr>
        <p:spPr>
          <a:xfrm>
            <a:off x="2782119" y="2543249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9" name="Figure 1219"/>
          <p:cNvSpPr txBox="1"/>
          <p:nvPr/>
        </p:nvSpPr>
        <p:spPr>
          <a:xfrm>
            <a:off x="2992156" y="2509340"/>
            <a:ext cx="1872324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20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20" name="Label 1220"/>
          <p:cNvSpPr txBox="1"/>
          <p:nvPr/>
        </p:nvSpPr>
        <p:spPr>
          <a:xfrm>
            <a:off x="3013492" y="3294866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Подсобные помещения</a:t>
            </a:r>
            <a:endParaRPr lang="ru-RU" sz="15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Бюджет команды — 420 000 ₽ в месяц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810652" y="1000422"/>
          <a:ext cx="2907826" cy="290782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Total 1209"/>
          <p:cNvSpPr txBox="1"/>
          <p:nvPr/>
        </p:nvSpPr>
        <p:spPr>
          <a:xfrm>
            <a:off x="1633736" y="2305743"/>
            <a:ext cx="1261655" cy="2971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420 000 ₽</a:t>
            </a:r>
            <a:endParaRPr lang="ru-RU" sz="1800"/>
          </a:p>
        </p:txBody>
      </p:sp>
      <p:sp>
        <p:nvSpPr>
          <p:cNvPr id="1210" name="Legend title 1210"/>
          <p:cNvSpPr txBox="1"/>
          <p:nvPr/>
        </p:nvSpPr>
        <p:spPr>
          <a:xfrm>
            <a:off x="4157390" y="1609785"/>
            <a:ext cx="4141422" cy="3873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500"/>
          </a:p>
        </p:txBody>
      </p:sp>
      <p:sp>
        <p:nvSpPr>
          <p:cNvPr id="1211" name="Swatch 1211"/>
          <p:cNvSpPr/>
          <p:nvPr/>
        </p:nvSpPr>
        <p:spPr>
          <a:xfrm>
            <a:off x="4157390" y="204285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2" name="Legend 1212"/>
          <p:cNvSpPr txBox="1"/>
          <p:nvPr/>
        </p:nvSpPr>
        <p:spPr>
          <a:xfrm>
            <a:off x="4404278" y="199713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Оплата работы тренеров</a:t>
            </a:r>
            <a:endParaRPr lang="ru-RU" sz="1500"/>
          </a:p>
        </p:txBody>
      </p:sp>
      <p:sp>
        <p:nvSpPr>
          <p:cNvPr id="1213" name="Share 1213"/>
          <p:cNvSpPr txBox="1"/>
          <p:nvPr/>
        </p:nvSpPr>
        <p:spPr>
          <a:xfrm>
            <a:off x="6736117" y="199713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260 000 ₽  ·  62%</a:t>
            </a:r>
            <a:endParaRPr lang="ru-RU" sz="1500"/>
          </a:p>
        </p:txBody>
      </p:sp>
      <p:sp>
        <p:nvSpPr>
          <p:cNvPr id="1214" name="Swatch 1214"/>
          <p:cNvSpPr/>
          <p:nvPr/>
        </p:nvSpPr>
        <p:spPr>
          <a:xfrm>
            <a:off x="4157390" y="239210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76000"/>
            </a:srgbClr>
          </a:solidFill>
          <a:ln>
            <a:noFill/>
          </a:ln>
        </p:spPr>
      </p:sp>
      <p:sp>
        <p:nvSpPr>
          <p:cNvPr id="1215" name="Legend 1215"/>
          <p:cNvSpPr txBox="1"/>
          <p:nvPr/>
        </p:nvSpPr>
        <p:spPr>
          <a:xfrm>
            <a:off x="4404278" y="234638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Администраторов</a:t>
            </a:r>
            <a:endParaRPr lang="ru-RU" sz="1500"/>
          </a:p>
        </p:txBody>
      </p:sp>
      <p:sp>
        <p:nvSpPr>
          <p:cNvPr id="1216" name="Share 1216"/>
          <p:cNvSpPr txBox="1"/>
          <p:nvPr/>
        </p:nvSpPr>
        <p:spPr>
          <a:xfrm>
            <a:off x="6736117" y="234638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110 000 ₽  ·  26%</a:t>
            </a:r>
            <a:endParaRPr lang="ru-RU" sz="1500"/>
          </a:p>
        </p:txBody>
      </p:sp>
      <p:sp>
        <p:nvSpPr>
          <p:cNvPr id="1217" name="Swatch 1217"/>
          <p:cNvSpPr/>
          <p:nvPr/>
        </p:nvSpPr>
        <p:spPr>
          <a:xfrm>
            <a:off x="4157390" y="274135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50000"/>
            </a:srgbClr>
          </a:solidFill>
          <a:ln>
            <a:noFill/>
          </a:ln>
        </p:spPr>
      </p:sp>
      <p:sp>
        <p:nvSpPr>
          <p:cNvPr id="1218" name="Legend 1218"/>
          <p:cNvSpPr txBox="1"/>
          <p:nvPr/>
        </p:nvSpPr>
        <p:spPr>
          <a:xfrm>
            <a:off x="4404278" y="269563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Уборки</a:t>
            </a:r>
            <a:endParaRPr lang="ru-RU" sz="1500"/>
          </a:p>
        </p:txBody>
      </p:sp>
      <p:sp>
        <p:nvSpPr>
          <p:cNvPr id="1219" name="Share 1219"/>
          <p:cNvSpPr txBox="1"/>
          <p:nvPr/>
        </p:nvSpPr>
        <p:spPr>
          <a:xfrm>
            <a:off x="6736117" y="269563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30 000 ₽  ·  7%</a:t>
            </a:r>
            <a:endParaRPr lang="ru-RU" sz="1500"/>
          </a:p>
        </p:txBody>
      </p:sp>
      <p:sp>
        <p:nvSpPr>
          <p:cNvPr id="1220" name="Swatch 1220"/>
          <p:cNvSpPr/>
          <p:nvPr/>
        </p:nvSpPr>
        <p:spPr>
          <a:xfrm>
            <a:off x="4157390" y="309060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1" name="Legend 1221"/>
          <p:cNvSpPr txBox="1"/>
          <p:nvPr/>
        </p:nvSpPr>
        <p:spPr>
          <a:xfrm>
            <a:off x="4404278" y="304488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Резерв на замены</a:t>
            </a:r>
            <a:endParaRPr lang="ru-RU" sz="1500"/>
          </a:p>
        </p:txBody>
      </p:sp>
      <p:sp>
        <p:nvSpPr>
          <p:cNvPr id="1222" name="Share 1222"/>
          <p:cNvSpPr txBox="1"/>
          <p:nvPr/>
        </p:nvSpPr>
        <p:spPr>
          <a:xfrm>
            <a:off x="6736117" y="304488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20 000 ₽  ·  5%</a:t>
            </a:r>
            <a:endParaRPr lang="ru-RU" sz="1500"/>
          </a:p>
        </p:txBody>
      </p:sp>
      <p:sp>
        <p:nvSpPr>
          <p:cNvPr id="1223" name="Footnote 1223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Отдельная зарплата владельца в модель не включена</a:t>
            </a:r>
            <a:endParaRPr lang="ru-RU" sz="812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90 000 ₽ уйдут на рекламу в соцсетях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Распределение бюджета на привлечение клиентов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388327" y="965655"/>
            <a:ext cx="2472209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1 371</a:t>
            </a: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₽</a:t>
            </a:r>
            <a:endParaRPr lang="ru-RU" sz="54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1834906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стоимость привлечения покупателя</a:t>
            </a:r>
            <a:endParaRPr lang="ru-RU" sz="1500"/>
          </a:p>
        </p:txBody>
      </p:sp>
      <p:sp>
        <p:nvSpPr>
          <p:cNvPr id="1213" name="Chart note 1213"/>
          <p:cNvSpPr txBox="1"/>
          <p:nvPr/>
        </p:nvSpPr>
        <p:spPr>
          <a:xfrm>
            <a:off x="6449287" y="2494956"/>
            <a:ext cx="2411249" cy="528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План: 1 000 обращений → 500 записей → 350 посещений → 175 покупателей</a:t>
            </a:r>
            <a:endParaRPr lang="ru-RU" sz="11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Ремонт и подготовка — больше трети бюджета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248929" y="1000422"/>
          <a:ext cx="1921386" cy="192138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2609227" y="1000422"/>
            <a:ext cx="3401148" cy="45847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Распределение стартового бюджета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100"/>
          </a:p>
        </p:txBody>
      </p:sp>
      <p:sp>
        <p:nvSpPr>
          <p:cNvPr id="1210" name="Swatch 1210"/>
          <p:cNvSpPr/>
          <p:nvPr/>
        </p:nvSpPr>
        <p:spPr>
          <a:xfrm>
            <a:off x="2609227" y="149242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2790278" y="1458892"/>
            <a:ext cx="207412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Ремонт и подготовка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помещения</a:t>
            </a:r>
            <a:endParaRPr lang="ru-RU" sz="1100"/>
          </a:p>
        </p:txBody>
      </p:sp>
      <p:sp>
        <p:nvSpPr>
          <p:cNvPr id="1212" name="Share 1212"/>
          <p:cNvSpPr txBox="1"/>
          <p:nvPr/>
        </p:nvSpPr>
        <p:spPr>
          <a:xfrm>
            <a:off x="4864398" y="145889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900 000 ₽  ·  30%</a:t>
            </a:r>
            <a:endParaRPr lang="ru-RU" sz="1100"/>
          </a:p>
        </p:txBody>
      </p:sp>
      <p:sp>
        <p:nvSpPr>
          <p:cNvPr id="1213" name="Swatch 1213"/>
          <p:cNvSpPr/>
          <p:nvPr/>
        </p:nvSpPr>
        <p:spPr>
          <a:xfrm>
            <a:off x="2609227" y="192295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86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2790278" y="1889422"/>
            <a:ext cx="2074120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Оборотный резерв</a:t>
            </a:r>
            <a:endParaRPr lang="ru-RU" sz="1100"/>
          </a:p>
        </p:txBody>
      </p:sp>
      <p:sp>
        <p:nvSpPr>
          <p:cNvPr id="1215" name="Share 1215"/>
          <p:cNvSpPr txBox="1"/>
          <p:nvPr/>
        </p:nvSpPr>
        <p:spPr>
          <a:xfrm>
            <a:off x="4864398" y="188942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850 000 ₽  ·  28%</a:t>
            </a:r>
            <a:endParaRPr lang="ru-RU" sz="1100"/>
          </a:p>
        </p:txBody>
      </p:sp>
      <p:sp>
        <p:nvSpPr>
          <p:cNvPr id="1216" name="Swatch 1216"/>
          <p:cNvSpPr/>
          <p:nvPr/>
        </p:nvSpPr>
        <p:spPr>
          <a:xfrm>
            <a:off x="2609227" y="218584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70000"/>
            </a:srgbClr>
          </a:solidFill>
          <a:ln>
            <a:noFill/>
          </a:ln>
        </p:spPr>
      </p:sp>
      <p:sp>
        <p:nvSpPr>
          <p:cNvPr id="1217" name="Legend 1217"/>
          <p:cNvSpPr txBox="1"/>
          <p:nvPr/>
        </p:nvSpPr>
        <p:spPr>
          <a:xfrm>
            <a:off x="2790278" y="2152312"/>
            <a:ext cx="2074120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Оборудование и инвентарь</a:t>
            </a:r>
            <a:endParaRPr lang="ru-RU" sz="1100"/>
          </a:p>
        </p:txBody>
      </p:sp>
      <p:sp>
        <p:nvSpPr>
          <p:cNvPr id="1218" name="Share 1218"/>
          <p:cNvSpPr txBox="1"/>
          <p:nvPr/>
        </p:nvSpPr>
        <p:spPr>
          <a:xfrm>
            <a:off x="4864398" y="215231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650 000 ₽  ·  22%</a:t>
            </a:r>
            <a:endParaRPr lang="ru-RU" sz="1100"/>
          </a:p>
        </p:txBody>
      </p:sp>
      <p:sp>
        <p:nvSpPr>
          <p:cNvPr id="1219" name="Swatch 1219"/>
          <p:cNvSpPr/>
          <p:nvPr/>
        </p:nvSpPr>
        <p:spPr>
          <a:xfrm>
            <a:off x="2609227" y="244873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56000"/>
            </a:srgbClr>
          </a:solidFill>
          <a:ln>
            <a:noFill/>
          </a:ln>
        </p:spPr>
      </p:sp>
      <p:sp>
        <p:nvSpPr>
          <p:cNvPr id="1220" name="Legend 1220"/>
          <p:cNvSpPr txBox="1"/>
          <p:nvPr/>
        </p:nvSpPr>
        <p:spPr>
          <a:xfrm>
            <a:off x="2790278" y="2415202"/>
            <a:ext cx="207412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Мебель и обустройство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раздевалок</a:t>
            </a:r>
            <a:endParaRPr lang="ru-RU" sz="1100"/>
          </a:p>
        </p:txBody>
      </p:sp>
      <p:sp>
        <p:nvSpPr>
          <p:cNvPr id="1221" name="Share 1221"/>
          <p:cNvSpPr txBox="1"/>
          <p:nvPr/>
        </p:nvSpPr>
        <p:spPr>
          <a:xfrm>
            <a:off x="4864398" y="241520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300 000 ₽  ·  10%</a:t>
            </a:r>
            <a:endParaRPr lang="ru-RU" sz="1100"/>
          </a:p>
        </p:txBody>
      </p:sp>
      <p:sp>
        <p:nvSpPr>
          <p:cNvPr id="1222" name="Swatch 1222"/>
          <p:cNvSpPr/>
          <p:nvPr/>
        </p:nvSpPr>
        <p:spPr>
          <a:xfrm>
            <a:off x="2609227" y="287926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40000"/>
            </a:srgbClr>
          </a:solidFill>
          <a:ln>
            <a:noFill/>
          </a:ln>
        </p:spPr>
      </p:sp>
      <p:sp>
        <p:nvSpPr>
          <p:cNvPr id="1223" name="Legend 1223"/>
          <p:cNvSpPr txBox="1"/>
          <p:nvPr/>
        </p:nvSpPr>
        <p:spPr>
          <a:xfrm>
            <a:off x="2790278" y="2845732"/>
            <a:ext cx="207412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Обеспечительный платеж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 аренде</a:t>
            </a:r>
            <a:endParaRPr lang="ru-RU" sz="1100"/>
          </a:p>
        </p:txBody>
      </p:sp>
      <p:sp>
        <p:nvSpPr>
          <p:cNvPr id="1224" name="Share 1224"/>
          <p:cNvSpPr txBox="1"/>
          <p:nvPr/>
        </p:nvSpPr>
        <p:spPr>
          <a:xfrm>
            <a:off x="4864398" y="284573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180 000 ₽  ·  6%</a:t>
            </a:r>
            <a:endParaRPr lang="ru-RU" sz="1100"/>
          </a:p>
        </p:txBody>
      </p:sp>
      <p:sp>
        <p:nvSpPr>
          <p:cNvPr id="1225" name="Swatch 1225"/>
          <p:cNvSpPr/>
          <p:nvPr/>
        </p:nvSpPr>
        <p:spPr>
          <a:xfrm>
            <a:off x="2609227" y="330979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6" name="Legend 1226"/>
          <p:cNvSpPr txBox="1"/>
          <p:nvPr/>
        </p:nvSpPr>
        <p:spPr>
          <a:xfrm>
            <a:off x="2790278" y="3276262"/>
            <a:ext cx="2074120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</a:t>
            </a:r>
            <a:endParaRPr lang="ru-RU" sz="1100"/>
          </a:p>
        </p:txBody>
      </p:sp>
      <p:sp>
        <p:nvSpPr>
          <p:cNvPr id="1227" name="Share 1227"/>
          <p:cNvSpPr txBox="1"/>
          <p:nvPr/>
        </p:nvSpPr>
        <p:spPr>
          <a:xfrm>
            <a:off x="4864398" y="327626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120 000 ₽  ·  4%</a:t>
            </a:r>
            <a:endParaRPr lang="ru-RU" sz="1100"/>
          </a:p>
        </p:txBody>
      </p:sp>
      <p:sp>
        <p:nvSpPr>
          <p:cNvPr id="1228" name="Rule 1228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9" name="Figure 1229"/>
          <p:cNvSpPr txBox="1"/>
          <p:nvPr/>
        </p:nvSpPr>
        <p:spPr>
          <a:xfrm>
            <a:off x="6445477" y="1036235"/>
            <a:ext cx="2415059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850 000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₽</a:t>
            </a:r>
            <a:endParaRPr lang="ru-RU" sz="3600"/>
          </a:p>
        </p:txBody>
      </p:sp>
      <p:sp>
        <p:nvSpPr>
          <p:cNvPr id="1230" name="Label 1230"/>
          <p:cNvSpPr txBox="1"/>
          <p:nvPr/>
        </p:nvSpPr>
        <p:spPr>
          <a:xfrm>
            <a:off x="6449287" y="163116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Еще 850 000 рублей составят оборотный резерв</a:t>
            </a:r>
            <a:endParaRPr lang="ru-RU" sz="1500"/>
          </a:p>
        </p:txBody>
      </p:sp>
      <p:sp>
        <p:nvSpPr>
          <p:cNvPr id="1231" name="Rule 1231"/>
          <p:cNvSpPr/>
          <p:nvPr/>
        </p:nvSpPr>
        <p:spPr>
          <a:xfrm>
            <a:off x="6449287" y="2519816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2" name="Figure 1232"/>
          <p:cNvSpPr txBox="1"/>
          <p:nvPr/>
        </p:nvSpPr>
        <p:spPr>
          <a:xfrm>
            <a:off x="6436333" y="2555629"/>
            <a:ext cx="2424203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3 000 000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₽</a:t>
            </a:r>
            <a:endParaRPr lang="ru-RU" sz="3600"/>
          </a:p>
        </p:txBody>
      </p:sp>
      <p:sp>
        <p:nvSpPr>
          <p:cNvPr id="1233" name="Label 1233"/>
          <p:cNvSpPr txBox="1"/>
          <p:nvPr/>
        </p:nvSpPr>
        <p:spPr>
          <a:xfrm>
            <a:off x="6449287" y="3150560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Начальный бюджет проекта</a:t>
            </a:r>
            <a:endParaRPr lang="ru-RU" sz="1500"/>
          </a:p>
        </p:txBody>
      </p:sp>
      <p:sp>
        <p:nvSpPr>
          <p:cNvPr id="1234" name="Chart note 1234"/>
          <p:cNvSpPr txBox="1"/>
          <p:nvPr/>
        </p:nvSpPr>
        <p:spPr>
          <a:xfrm>
            <a:off x="6449287" y="3810610"/>
            <a:ext cx="2411249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 — минимальные вложения</a:t>
            </a:r>
            <a:endParaRPr lang="ru-RU" sz="11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Рентабельность — 17,8% при 250 клиентах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₽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26989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412330" y="965655"/>
            <a:ext cx="2448206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5%</a:t>
            </a:r>
            <a:endParaRPr lang="ru-RU" sz="54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183490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Переменные расходы — 5% от выручки (63 125 рублей)</a:t>
            </a:r>
            <a:endParaRPr lang="ru-RU" sz="1500"/>
          </a:p>
        </p:txBody>
      </p:sp>
      <p:sp>
        <p:nvSpPr>
          <p:cNvPr id="1213" name="Chart note 1213"/>
          <p:cNvSpPr txBox="1"/>
          <p:nvPr/>
        </p:nvSpPr>
        <p:spPr>
          <a:xfrm>
            <a:off x="6449287" y="2723556"/>
            <a:ext cx="2411249" cy="7727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Выручка — 1 262 500 рублей при 250 клиентах</a:t>
            </a:r>
            <a:endParaRPr lang="ru-RU" sz="1100"/>
          </a:p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Расходы — 1 038 125 рублей, включая 5% переменных</a:t>
            </a:r>
            <a:endParaRPr lang="ru-RU" sz="1100"/>
          </a:p>
        </p:txBody>
      </p:sp>
      <p:sp>
        <p:nvSpPr>
          <p:cNvPr id="1214" name="Footnote 1214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Налоги, амортизация и проценты по кредитам не учтены</a:t>
            </a:r>
            <a:endParaRPr lang="ru-RU" sz="812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064422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Операционная прибыль станет положительной на пятом месяце</a:t>
            </a:r>
            <a:endParaRPr/>
          </a:p>
        </p:txBody>
      </p:sp>
      <p:sp>
        <p:nvSpPr>
          <p:cNvPr id="1208" name="Chart title 1208"/>
          <p:cNvSpPr txBox="1"/>
          <p:nvPr/>
        </p:nvSpPr>
        <p:spPr>
          <a:xfrm>
            <a:off x="248929" y="1366182"/>
            <a:ext cx="4031483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Рост активных клиентов, чел.</a:t>
            </a:r>
            <a:endParaRPr lang="ru-RU" sz="15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712765"/>
          <a:ext cx="4031483" cy="278265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hart title 1210"/>
          <p:cNvSpPr txBox="1"/>
          <p:nvPr/>
        </p:nvSpPr>
        <p:spPr>
          <a:xfrm>
            <a:off x="4829052" y="1366182"/>
            <a:ext cx="40314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Операционный результат</a:t>
            </a:r>
            <a:endParaRPr lang="ru-RU" sz="1500"/>
          </a:p>
        </p:txBody>
      </p:sp>
      <p:graphicFrame>
        <p:nvGraphicFramePr>
          <p:cNvPr id="1211" name="Chart 1210"/>
          <p:cNvGraphicFramePr>
            <a:graphicFrameLocks noGrp="1"/>
          </p:cNvGraphicFramePr>
          <p:nvPr/>
        </p:nvGraphicFramePr>
        <p:xfrm>
          <a:off x="4829052" y="1712765"/>
          <a:ext cx="4031484" cy="278265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Недостаток оборотных средств — 387 388 ₽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2392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444858" y="1071330"/>
            <a:ext cx="2415678" cy="41224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3 387 388 ₽</a:t>
            </a:r>
            <a:endParaRPr lang="ru-RU" sz="2705"/>
          </a:p>
        </p:txBody>
      </p:sp>
      <p:sp>
        <p:nvSpPr>
          <p:cNvPr id="1212" name="Label 1212"/>
          <p:cNvSpPr txBox="1"/>
          <p:nvPr/>
        </p:nvSpPr>
        <p:spPr>
          <a:xfrm>
            <a:off x="6449287" y="1529863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Общий бюджет проекта следует увеличить</a:t>
            </a:r>
            <a:endParaRPr lang="ru-RU" sz="1500"/>
          </a:p>
        </p:txBody>
      </p:sp>
      <p:sp>
        <p:nvSpPr>
          <p:cNvPr id="1213" name="Rule 1213"/>
          <p:cNvSpPr/>
          <p:nvPr/>
        </p:nvSpPr>
        <p:spPr>
          <a:xfrm>
            <a:off x="6449287" y="2189913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4" name="Figure 1214"/>
          <p:cNvSpPr txBox="1"/>
          <p:nvPr/>
        </p:nvSpPr>
        <p:spPr>
          <a:xfrm>
            <a:off x="6429399" y="2260821"/>
            <a:ext cx="2431137" cy="41224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1 237 388 ₽</a:t>
            </a:r>
            <a:endParaRPr lang="ru-RU" sz="2705"/>
          </a:p>
        </p:txBody>
      </p:sp>
      <p:sp>
        <p:nvSpPr>
          <p:cNvPr id="1215" name="Label 1215"/>
          <p:cNvSpPr txBox="1"/>
          <p:nvPr/>
        </p:nvSpPr>
        <p:spPr>
          <a:xfrm>
            <a:off x="6449287" y="2719354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Суммарный операционный убыток за первые четыре месяца составит</a:t>
            </a:r>
            <a:endParaRPr lang="ru-RU" sz="1500"/>
          </a:p>
        </p:txBody>
      </p:sp>
      <p:sp>
        <p:nvSpPr>
          <p:cNvPr id="1216" name="Chart note 1216"/>
          <p:cNvSpPr txBox="1"/>
          <p:nvPr/>
        </p:nvSpPr>
        <p:spPr>
          <a:xfrm>
            <a:off x="6449287" y="3608004"/>
            <a:ext cx="2411249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Или сократить затраты до запуска</a:t>
            </a:r>
            <a:endParaRPr lang="ru-RU" sz="1100"/>
          </a:p>
        </p:txBody>
      </p:sp>
      <p:sp>
        <p:nvSpPr>
          <p:cNvPr id="1217" name="Conclusion bar 1217"/>
          <p:cNvSpPr/>
          <p:nvPr/>
        </p:nvSpPr>
        <p:spPr>
          <a:xfrm>
            <a:off x="248929" y="4035678"/>
            <a:ext cx="38100" cy="4368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nclusion 1218"/>
          <p:cNvSpPr txBox="1"/>
          <p:nvPr/>
        </p:nvSpPr>
        <p:spPr>
          <a:xfrm>
            <a:off x="439429" y="4012818"/>
            <a:ext cx="8421107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Проект может выйти на операционную прибыль к пятому месяцу, но для запуска необходимо заранее закрыть недостаток оборотных средств</a:t>
            </a:r>
            <a:endParaRPr lang="ru-RU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