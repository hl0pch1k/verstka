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Сейчас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Поддержка и амортизация</c:v>
                </c:pt>
                <c:pt idx="1">
                  <c:v>Электричество и площадка</c:v>
                </c:pt>
                <c:pt idx="2">
                  <c:v>Облачные ресурсы</c:v>
                </c:pt>
                <c:pt idx="3">
                  <c:v>Команда эксплуатации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38.0</c:v>
                </c:pt>
                <c:pt idx="1">
                  <c:v>9.0</c:v>
                </c:pt>
                <c:pt idx="2">
                  <c:v>0.0</c:v>
                </c:pt>
                <c:pt idx="3">
                  <c:v>14.0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 VK Cloud</c:v>
                </c:pt>
              </c:strCache>
            </c:strRef>
          </c:tx>
          <c:spPr>
            <a:solidFill>
              <a:srgbClr val="00D3E6"/>
            </a:solidFill>
          </c:spPr>
          <c:cat>
            <c:strRef>
              <c:f>Sheet1!$A$2:$A$5</c:f>
              <c:strCache>
                <c:ptCount val="4"/>
                <c:pt idx="0">
                  <c:v>Поддержка и амортизация</c:v>
                </c:pt>
                <c:pt idx="1">
                  <c:v>Электричество и площадка</c:v>
                </c:pt>
                <c:pt idx="2">
                  <c:v>Облачные ресурсы</c:v>
                </c:pt>
                <c:pt idx="3">
                  <c:v>Команда эксплуатации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27.0</c:v>
                </c:pt>
                <c:pt idx="3">
                  <c:v>8.0</c:v>
                </c:pt>
              </c:numCache>
            </c:numRef>
          </c:val>
        </c:ser>
        <c:dLbls>
          <c:numFmt formatCode="#,##0&quot; млн ₽ в год&quot;" sourceLinked="0"/>
          <c:txPr>
            <a:bodyPr/>
            <a:lstStyle/>
            <a:p>
              <a:pPr>
                <a:defRPr sz="70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4C4C4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numFmt formatCode="#,##0&quot; млн ₽ в год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9.png"/><Relationship Id="rId3" Type="http://schemas.openxmlformats.org/officeDocument/2006/relationships/image" Target="../media/image147.png"/><Relationship Id="rId4" Type="http://schemas.openxmlformats.org/officeDocument/2006/relationships/image" Target="../media/image151.png"/><Relationship Id="rId5" Type="http://schemas.openxmlformats.org/officeDocument/2006/relationships/image" Target="../media/image146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Relationship Id="rId8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4.png"/><Relationship Id="rId3" Type="http://schemas.openxmlformats.org/officeDocument/2006/relationships/image" Target="../media/image144.png"/><Relationship Id="rId4" Type="http://schemas.openxmlformats.org/officeDocument/2006/relationships/image" Target="../media/image140.png"/><Relationship Id="rId5" Type="http://schemas.openxmlformats.org/officeDocument/2006/relationships/image" Target="../media/image152.png"/><Relationship Id="rId6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6.png"/><Relationship Id="rId3" Type="http://schemas.openxmlformats.org/officeDocument/2006/relationships/image" Target="../media/image162.png"/><Relationship Id="rId4" Type="http://schemas.openxmlformats.org/officeDocument/2006/relationships/image" Target="../media/image158.png"/><Relationship Id="rId5" Type="http://schemas.openxmlformats.org/officeDocument/2006/relationships/image" Target="../media/image155.png"/><Relationship Id="rId6" Type="http://schemas.openxmlformats.org/officeDocument/2006/relationships/image" Target="../media/image157.png"/><Relationship Id="rId7" Type="http://schemas.openxmlformats.org/officeDocument/2006/relationships/image" Target="../media/image161.png"/><Relationship Id="rId8" Type="http://schemas.openxmlformats.org/officeDocument/2006/relationships/chart" Target="../charts/chart1.xml"/><Relationship Id="rId9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3524297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00"/>
              <a:t>Инициатива: перенос аналитического контура в VK Cloud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200"/>
              <a:t>техническое руководство и финансовый директор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356" name="Google Shape;2356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0533" y="3217771"/>
            <a:ext cx="343849" cy="82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7" name="Google Shape;235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5907" y="1121014"/>
            <a:ext cx="3531595" cy="3531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8" name="Google Shape;2358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947" y="956231"/>
            <a:ext cx="360941" cy="4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9" name="Google Shape;2359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1288" y="1205007"/>
            <a:ext cx="435827" cy="635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87"/>
          <p:cNvSpPr/>
          <p:nvPr/>
        </p:nvSpPr>
        <p:spPr>
          <a:xfrm>
            <a:off x="285749" y="1328899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64" name="Google Shape;2364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1490803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5" name="Google Shape;2365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407" y="1508833"/>
            <a:ext cx="214946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2" name="Google Shape;2372;p87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>Экономия 26 млн рублей в год, окупаемость миграции за 7 месяцев</a:t>
            </a:r>
            <a:endParaRPr/>
          </a:p>
        </p:txBody>
      </p:sp>
      <p:sp>
        <p:nvSpPr>
          <p:cNvPr id="2373" name="Google Shape;2373;p87"/>
          <p:cNvSpPr txBox="1"/>
          <p:nvPr/>
        </p:nvSpPr>
        <p:spPr>
          <a:xfrm>
            <a:off x="5473184" y="2560606"/>
            <a:ext cx="2044293" cy="898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26 млн ₽</a:t>
            </a:r>
            <a:endParaRPr b="0" i="0" sz="4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75" name="Google Shape;2375;p87"/>
          <p:cNvSpPr/>
          <p:nvPr/>
        </p:nvSpPr>
        <p:spPr>
          <a:xfrm>
            <a:off x="1019111" y="149080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экономия в год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56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6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6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6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6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6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438148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загрузка в среднем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6"/>
          <p:cNvSpPr/>
          <p:nvPr/>
        </p:nvSpPr>
        <p:spPr>
          <a:xfrm>
            <a:off x="2605074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в пиковые дни отчётности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6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6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 из 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6"/>
          <p:cNvSpPr/>
          <p:nvPr/>
        </p:nvSpPr>
        <p:spPr>
          <a:xfrm>
            <a:off x="4772001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ночные расчёты не успевают к утру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6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38 млн 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6"/>
          <p:cNvSpPr/>
          <p:nvPr/>
        </p:nvSpPr>
        <p:spPr>
          <a:xfrm>
            <a:off x="6938927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продление поддержки железа на следующий год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>Аналитический кластер работает на 48 собственных серверах возрастом от четырёх лет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248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Управляемые Kubernetes и ClickHouse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5479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Автоматическое масштабирование под пиковую нагрузку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721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Оплата по потреблению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Перенести хранилище и расчёты в VK Cloud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337" name="Google Shape;2337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499" y="2048344"/>
            <a:ext cx="2309410" cy="2309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8" name="Google Shape;233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562" y="2048725"/>
            <a:ext cx="1165937" cy="1404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9" name="Google Shape;2339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28" y="2045867"/>
            <a:ext cx="2308938" cy="2308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40" name="Google Shape;2340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2291" y="1685070"/>
            <a:ext cx="3030631" cy="30302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86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Экономика</a:t>
            </a:r>
            <a:endParaRPr/>
          </a:p>
        </p:txBody>
      </p:sp>
      <p:sp>
        <p:nvSpPr>
          <p:cNvPr id="2343" name="Google Shape;2343;p86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экономия в год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86"/>
          <p:cNvSpPr/>
          <p:nvPr/>
        </p:nvSpPr>
        <p:spPr>
          <a:xfrm>
            <a:off x="3333728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окупаемость миграции</a:t>
            </a:r>
            <a:endParaRPr b="0" i="0" sz="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86"/>
          <p:cNvSpPr/>
          <p:nvPr/>
        </p:nvSpPr>
        <p:spPr>
          <a:xfrm>
            <a:off x="6381707" y="154305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расчёты в пик за счёт масштабирования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6"/>
          <p:cNvSpPr txBox="1"/>
          <p:nvPr/>
        </p:nvSpPr>
        <p:spPr>
          <a:xfrm>
            <a:off x="854932" y="2991623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26 млн ₽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49" name="Google Shape;2349;p86"/>
          <p:cNvSpPr txBox="1"/>
          <p:nvPr/>
        </p:nvSpPr>
        <p:spPr>
          <a:xfrm>
            <a:off x="3776371" y="2991622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 мес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50" name="Google Shape;2350;p86"/>
          <p:cNvSpPr txBox="1"/>
          <p:nvPr/>
        </p:nvSpPr>
        <p:spPr>
          <a:xfrm>
            <a:off x="6795780" y="2980839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×3,4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72" name="Google Shape;2472;p90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Экономика: 61 → 35 млн ₽ в год</a:t>
            </a:r>
            <a:endParaRPr/>
          </a:p>
        </p:txBody>
      </p:sp>
      <p:graphicFrame>
        <p:nvGraphicFramePr>
          <p:cNvPr id="2473" name="Chart 2472"/>
          <p:cNvGraphicFramePr>
            <a:graphicFrameLocks noGrp="1"/>
          </p:cNvGraphicFramePr>
          <p:nvPr/>
        </p:nvGraphicFramePr>
        <p:xfrm>
          <a:off x="285749" y="1243185"/>
          <a:ext cx="8572455" cy="3152365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56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6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6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6"/>
          <p:cNvSpPr/>
          <p:nvPr/>
        </p:nvSpPr>
        <p:spPr>
          <a:xfrm>
            <a:off x="49128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6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6"/>
          <p:cNvSpPr/>
          <p:nvPr/>
        </p:nvSpPr>
        <p:spPr>
          <a:xfrm>
            <a:off x="49128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Совместимость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491283" y="1819373"/>
            <a:ext cx="2434299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2 из 140 отчётов используют нестандартные расширения — переписываем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3174983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/>
          <p:nvPr/>
        </p:nvSpPr>
        <p:spPr>
          <a:xfrm>
            <a:off x="3380517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332738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/>
          <p:nvPr/>
        </p:nvSpPr>
        <p:spPr>
          <a:xfrm>
            <a:off x="3380517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6"/>
          <p:cNvSpPr/>
          <p:nvPr/>
        </p:nvSpPr>
        <p:spPr>
          <a:xfrm>
            <a:off x="3380517" y="1819373"/>
            <a:ext cx="2434299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Данные остаются в контуре РФ, шифрование на диске и в канале, доступ по ролям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6"/>
          <p:cNvSpPr/>
          <p:nvPr/>
        </p:nvSpPr>
        <p:spPr>
          <a:xfrm>
            <a:off x="6064218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6"/>
          <p:cNvSpPr/>
          <p:nvPr/>
        </p:nvSpPr>
        <p:spPr>
          <a:xfrm>
            <a:off x="626975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621661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626975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Зависимость от провайдера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6"/>
          <p:cNvSpPr/>
          <p:nvPr/>
        </p:nvSpPr>
        <p:spPr>
          <a:xfrm>
            <a:off x="6269753" y="1819373"/>
            <a:ext cx="2434299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Экспорт данных в открытых форматах закреплён в договоре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Риски и как их снимаем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949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588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1, месяц 1–2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4048160" y="1136224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Пилот на копии хранилища и 20 отчётах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857722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20676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2067616"/>
            <a:ext cx="4585000" cy="588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2, месяц 3–4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048160" y="27174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Перенос расчётов, параллельная работа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838239" y="3438921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36488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3648815"/>
            <a:ext cx="4585000" cy="588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3, месяц 5–6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Отключение старого кластера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План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Google Shape;503;p50"/>
          <p:cNvSpPr txBox="1"/>
          <p:nvPr>
            <p:ph type="title"/>
          </p:nvPr>
        </p:nvSpPr>
        <p:spPr>
          <a:xfrm>
            <a:off x="430360" y="338829"/>
            <a:ext cx="330418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Решение, которое просим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840"/>
              <a:t>Утвердить бюджет миграции 12 млн рублей и старт пилота с 1 ноября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7" name="Google Shape;447;p47"/>
          <p:cNvSpPr txBox="1"/>
          <p:nvPr>
            <p:ph type="title"/>
          </p:nvPr>
        </p:nvSpPr>
        <p:spPr>
          <a:xfrm>
            <a:off x="572960" y="1682878"/>
            <a:ext cx="3161580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060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