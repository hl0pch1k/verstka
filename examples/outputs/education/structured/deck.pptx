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667"/>
          <c:y val="0.0191"/>
          <c:w val="0.5212"/>
          <c:h val="0.96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94C6FF"/>
            </a:solidFill>
            <a:ln>
              <a:noFill/>
            </a:ln>
          </c:spPr>
          <c:invertIfNegative val="0"/>
          <c:dPt>
            <c:idx val="3"/>
            <c:spPr>
              <a:solidFill>
                <a:srgbClr val="0077FF"/>
              </a:solidFill>
              <a:ln>
                <a:noFill/>
              </a:ln>
            </c:spPr>
          </c:dPt>
          <c:dLbls>
            <c:dLbl>
              <c:idx val="3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Жители района</c:v>
                </c:pt>
                <c:pt idx="1">
                  <c:v>Выбранная возрастная аудитория</c:v>
                </c:pt>
                <c:pt idx="2">
                  <c:v>Потенциально заинтересованные</c:v>
                </c:pt>
                <c:pt idx="3">
                  <c:v>Целевое количество клиентов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18000.0</c:v>
                </c:pt>
                <c:pt idx="1">
                  <c:v>8000.0</c:v>
                </c:pt>
                <c:pt idx="2">
                  <c:v>1200.0</c:v>
                </c:pt>
                <c:pt idx="3">
                  <c:v>250.0</c:v>
                </c:pt>
              </c:numCache>
            </c:numRef>
          </c:val>
        </c:ser>
        <c:dLbls>
          <c:numFmt formatCode="#,##0&quot; человек&quot;;&quot;−&quot;#,##0&quot; челове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5757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80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282"/>
          <c:y val="0.0282"/>
          <c:w val="0.9436"/>
          <c:h val="0.943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Важность критериев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E8FFF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5CA8FF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8FC3FF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BDDCFF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;&quot;−&quot;0.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;&quot;−&quot;0.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Близость к дому</c:v>
                </c:pt>
                <c:pt idx="1">
                  <c:v>Расписание</c:v>
                </c:pt>
                <c:pt idx="2">
                  <c:v>Стоимость</c:v>
                </c:pt>
                <c:pt idx="3">
                  <c:v>Тренеры</c:v>
                </c:pt>
                <c:pt idx="4">
                  <c:v>Атмосфера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35.0</c:v>
                </c:pt>
                <c:pt idx="1">
                  <c:v>25.0</c:v>
                </c:pt>
                <c:pt idx="2">
                  <c:v>20.0</c:v>
                </c:pt>
                <c:pt idx="3">
                  <c:v>12.5</c:v>
                </c:pt>
                <c:pt idx="4">
                  <c:v>7.5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18"/>
          <c:y val="0.1366"/>
          <c:w val="0.9963"/>
          <c:h val="0.74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Посещения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Месячная вместимость</c:v>
                </c:pt>
                <c:pt idx="1">
                  <c:v>Ожидаемые посещения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2700.0</c:v>
                </c:pt>
                <c:pt idx="1">
                  <c:v>2000.0</c:v>
                </c:pt>
              </c:numCache>
            </c:numRef>
          </c:val>
        </c:ser>
        <c:dLbls>
          <c:numFmt formatCode="#,##0&quot; посещений&quot;;&quot;−&quot;#,##0&quot; посещений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8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E1E1E1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5757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70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368"/>
          <c:y val="0.0368"/>
          <c:w val="0.9264"/>
          <c:h val="0.926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 команды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D98FF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0BBFF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DDCFF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Оплата работы тренеров</c:v>
                </c:pt>
                <c:pt idx="1">
                  <c:v>Администраторов</c:v>
                </c:pt>
                <c:pt idx="2">
                  <c:v>Уборки</c:v>
                </c:pt>
                <c:pt idx="3">
                  <c:v>Резерв на замены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260000.0</c:v>
                </c:pt>
                <c:pt idx="1">
                  <c:v>110000.0</c:v>
                </c:pt>
                <c:pt idx="2">
                  <c:v>30000.0</c:v>
                </c:pt>
                <c:pt idx="3">
                  <c:v>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380"/>
          <c:y val="0.0380"/>
          <c:w val="0.9240"/>
          <c:h val="0.9240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Вложения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48AFF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4DA0FF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0B3FF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99C9FF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BDDCFF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Ремонт и подготовка помещения</c:v>
                </c:pt>
                <c:pt idx="1">
                  <c:v>Оборотный резерв</c:v>
                </c:pt>
                <c:pt idx="2">
                  <c:v>Оборудование и инвентарь</c:v>
                </c:pt>
                <c:pt idx="3">
                  <c:v>Мебель и обустройство раздевалок</c:v>
                </c:pt>
                <c:pt idx="4">
                  <c:v>Обеспечительный платеж по аренде</c:v>
                </c:pt>
                <c:pt idx="5">
                  <c:v>Сайт и система записи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900000.0</c:v>
                </c:pt>
                <c:pt idx="1">
                  <c:v>850000.0</c:v>
                </c:pt>
                <c:pt idx="2">
                  <c:v>650000.0</c:v>
                </c:pt>
                <c:pt idx="3">
                  <c:v>300000.0</c:v>
                </c:pt>
                <c:pt idx="4">
                  <c:v>180000.0</c:v>
                </c:pt>
                <c:pt idx="5">
                  <c:v>120000.0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2624"/>
          <c:y val="0.0224"/>
          <c:w val="0.5615"/>
          <c:h val="0.955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₽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Выручка</c:v>
                </c:pt>
                <c:pt idx="1">
                  <c:v>Расходы</c:v>
                </c:pt>
                <c:pt idx="2">
                  <c:v>Операционная прибыль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1262500.0</c:v>
                </c:pt>
                <c:pt idx="1">
                  <c:v>1038125.0</c:v>
                </c:pt>
                <c:pt idx="2">
                  <c:v>224375.0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5757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625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25"/>
          <c:y val="0.1358"/>
          <c:w val="0.9950"/>
          <c:h val="0.771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Активные клиенты</c:v>
                </c:pt>
              </c:strCache>
            </c:strRef>
          </c:tx>
          <c:spPr>
            <a:ln w="28575">
              <a:solidFill>
                <a:srgbClr val="0077FF"/>
              </a:solidFill>
            </a:ln>
          </c:spPr>
          <c:marker>
            <c:symbol val="circle"/>
            <c:size val="8"/>
            <c:spPr>
              <a:solidFill>
                <a:srgbClr val="0077FF"/>
              </a:solidFill>
              <a:ln w="19050">
                <a:solidFill>
                  <a:srgbClr val="FFFFFF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0077FF"/>
                </a:solidFill>
                <a:ln w="25400">
                  <a:solidFill>
                    <a:srgbClr val="FFFFFF"/>
                  </a:solidFill>
                </a:ln>
              </c:spPr>
            </c:marker>
          </c:dPt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0507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507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1-й месяц</c:v>
                </c:pt>
                <c:pt idx="1">
                  <c:v>2-й месяц</c:v>
                </c:pt>
                <c:pt idx="2">
                  <c:v>3-й месяц</c:v>
                </c:pt>
                <c:pt idx="3">
                  <c:v>4-й месяц</c:v>
                </c:pt>
                <c:pt idx="4">
                  <c:v>5-й месяц</c:v>
                </c:pt>
                <c:pt idx="5">
                  <c:v>6-й месяц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80.0</c:v>
                </c:pt>
                <c:pt idx="1">
                  <c:v>120.0</c:v>
                </c:pt>
                <c:pt idx="2">
                  <c:v>160.0</c:v>
                </c:pt>
                <c:pt idx="3">
                  <c:v>195.0</c:v>
                </c:pt>
                <c:pt idx="4">
                  <c:v>225.0</c:v>
                </c:pt>
                <c:pt idx="5">
                  <c:v>250.0</c:v>
                </c:pt>
              </c:numCache>
            </c:numRef>
          </c:val>
          <c:smooth val="0"/>
        </c:ser>
        <c:dLbls>
          <c:numFmt formatCode="#,##0&quot; человек&quot;;&quot;−&quot;#,##0&quot; челове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E1E1E1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5757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5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31"/>
          <c:y val="0.1123"/>
          <c:w val="0.9939"/>
          <c:h val="0.795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Операционный результат</c:v>
                </c:pt>
              </c:strCache>
            </c:strRef>
          </c:tx>
          <c:spPr>
            <a:ln w="28575">
              <a:solidFill>
                <a:srgbClr val="0077FF"/>
              </a:solidFill>
            </a:ln>
          </c:spPr>
          <c:marker>
            <c:symbol val="circle"/>
            <c:size val="8"/>
            <c:spPr>
              <a:solidFill>
                <a:srgbClr val="0077FF"/>
              </a:solidFill>
              <a:ln w="19050">
                <a:solidFill>
                  <a:srgbClr val="FFFFFF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0077FF"/>
                </a:solidFill>
                <a:ln w="25400">
                  <a:solidFill>
                    <a:srgbClr val="FFFFFF"/>
                  </a:solidFill>
                </a:ln>
              </c:spPr>
            </c:marke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0945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945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0.0851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0.0864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5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1-й месяц</c:v>
                </c:pt>
                <c:pt idx="1">
                  <c:v>2-й месяц</c:v>
                </c:pt>
                <c:pt idx="2">
                  <c:v>3-й месяц</c:v>
                </c:pt>
                <c:pt idx="3">
                  <c:v>4-й месяц</c:v>
                </c:pt>
                <c:pt idx="4">
                  <c:v>5-й месяц</c:v>
                </c:pt>
                <c:pt idx="5">
                  <c:v>6-й месяц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-591200.0</c:v>
                </c:pt>
                <c:pt idx="1">
                  <c:v>-399300.0</c:v>
                </c:pt>
                <c:pt idx="2">
                  <c:v>-207400.0</c:v>
                </c:pt>
                <c:pt idx="3">
                  <c:v>-39487.5</c:v>
                </c:pt>
                <c:pt idx="4">
                  <c:v>104437.5</c:v>
                </c:pt>
                <c:pt idx="5">
                  <c:v>224375.0</c:v>
                </c:pt>
              </c:numCache>
            </c:numRef>
          </c:val>
          <c:smooth val="0"/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E1E1E1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5757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24375.0"/>
          <c:min val="-795093.75"/>
        </c:scaling>
        <c:delete val="1"/>
        <c:axPos val="l"/>
        <c:majorTickMark val="out"/>
        <c:minorTickMark val="none"/>
        <c:tickLblPos val="nextTo"/>
        <c:crossAx val="5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238"/>
          <c:y val="0.0173"/>
          <c:w val="0.5000"/>
          <c:h val="0.965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Сумма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Имеющийся резерв</c:v>
                </c:pt>
                <c:pt idx="1">
                  <c:v>Прогнозируемая потребность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850000.0</c:v>
                </c:pt>
                <c:pt idx="1">
                  <c:v>1237388.0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2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5757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37388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Фитнес-студия «Движение» предназначена для групповых тренировок рядом с домом. Основные направления включают силовые занятия, растяжку, йогу и функциональные тренировки. Цель проекта — привлечь 250 постоянных клиентов и выйти на ежемесячную операционную прибыль 225 000 рублей к шестому месяцу работы.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основе предварительной гипотезы 15% из 8 000 жителей в возрасте 23–45 лет могут заинтересоваться занятиями в студии — это 1 200 человек. Для достижения целей проекта необходимо привлечь 21% этой группы, что составляет 250 клиентов.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Опрос проводился среди 200 жителей района. Каждый участник указал один основной критерий выбора фитнес-студии.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Доход от разовых и пробных посещений не учитывается в основном финансовом прогнозе.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Студия может обслужить до 2 700 посещений в месяц, но ожидается только 2 000. Это соответствует загрузке 74%. Утренние и вечерние занятия будут наиболее востребованы.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Общая площадь студии — 180 м². Тренировочный зал занимает 100 м², что составляет большую часть от общей площади.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Бюджет команды на первом этапе составляет 420 000 рублей. На оплату тренеров приходится 260 000 рублей, администраторов — 110 000 рублей, уборки — 30 000 рублей, резерв на замены — 20 000 рублей.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первые три месяца продвижения выделяется 240 000 рублей. Из них 90 000 рублей направят на рекламу в социальных сетях, 60 000 рублей — на районные сообщества и местные каналы, 40 000 рублей — на партнерства с жилыми комплексами и организациями, 30 000 рублей — на мероприятия открытия, 20 000 рублей — на печатные материалы. План на этот период — получить 1 000 обращений, записать 500 человек на пробное занятие, обеспечить 350 фактических посещений и продать 175 первых абонементов.</a:t>
            </a:r>
          </a:p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Стартовый бюджет проекта составляет 3 000 000 рублей. Ремонт и подготовка помещения требуют 900 000 рублей, оборудование и инвентарь — 650 000 рублей, мебель и обустройство раздевалок — 300 000 рублей, обеспечительный платеж по аренде — 180 000 рублей, сайт и система записи — 120 000 рублей. Оборотный резерв составляет 850 000 рублей.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При 250 активных клиентах и средней месячной выручке на клиента 5 050 рублей студия получит 1 262 500 рублей выручки. Постоянные ежемесячные расходы составят 975 000 рублей, а переменные расходы — 5% от выручки (63 125 рублей). Общие расходы составят 1 038 125 рублей, операционная прибыль — 224 375 рублей. Налоги, амортизация и проценты по кредитам не учтены.</a:t>
            </a:r>
          </a:p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Прогноз активных клиентов: 80, 120, 160, 195, 225, 250. Месячная выручка: 404 000, 606 000, 808 000, 984 750, 1 136 250, 1 262 500 ₽. Постоянные расходы: 975 000 ₽, переменные: 5% от выручки. Операционный результат: -591 200, -399 300, -207 400, -39 487,50, +104 437,50, +224 375 ₽.</a:t>
            </a:r>
          </a:p>
          <a:p>
            <a:r>
              <a:t>[verstka:sl12]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Суммарный операционный убыток за первые четыре месяца составит около 1 237 388 рублей. Имеющийся оборотный резерв в 850 000 рублей недостаточен, поэтому дополнительная потребность в финансировании — не менее 387 388 рублей. Это означает, что общий бюджет проекта следует увеличить до 3 387 388 рублей или сократить затраты до запуска.</a:t>
            </a:r>
          </a:p>
          <a:p>
            <a:r>
              <a:t>[verstka:sl13]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42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67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7892778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Цель проекта — 250 клиентов и 225 000 ₽ прибыли к 6-⁠му месяцу</a:t>
            </a:r>
            <a:endParaRPr/>
          </a:p>
        </p:txBody>
      </p:sp>
      <p:sp>
        <p:nvSpPr>
          <p:cNvPr id="544" name="Card 544"/>
          <p:cNvSpPr/>
          <p:nvPr/>
        </p:nvSpPr>
        <p:spPr>
          <a:xfrm>
            <a:off x="677334" y="2356358"/>
            <a:ext cx="2489877" cy="3267189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45" name="Index 545"/>
          <p:cNvSpPr txBox="1"/>
          <p:nvPr/>
        </p:nvSpPr>
        <p:spPr>
          <a:xfrm>
            <a:off x="888973" y="2567997"/>
            <a:ext cx="2066599" cy="4693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01</a:t>
            </a:r>
            <a:endParaRPr lang="ru-RU" sz="2800"/>
          </a:p>
        </p:txBody>
      </p:sp>
      <p:sp>
        <p:nvSpPr>
          <p:cNvPr id="546" name="Card text 546"/>
          <p:cNvSpPr txBox="1"/>
          <p:nvPr/>
        </p:nvSpPr>
        <p:spPr>
          <a:xfrm>
            <a:off x="888973" y="3109398"/>
            <a:ext cx="2066599" cy="230251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spcAft>
                <a:spcPts val="3410"/>
              </a:spcAft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Основные направления</a:t>
            </a:r>
            <a:endParaRPr lang="ru-RU" sz="2000"/>
          </a:p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силовые занятия, растяжка, йога и функциональные тренировки</a:t>
            </a:r>
            <a:endParaRPr lang="ru-RU" sz="1400"/>
          </a:p>
        </p:txBody>
      </p:sp>
      <p:sp>
        <p:nvSpPr>
          <p:cNvPr id="547" name="Card 547"/>
          <p:cNvSpPr/>
          <p:nvPr/>
        </p:nvSpPr>
        <p:spPr>
          <a:xfrm>
            <a:off x="3459819" y="2356358"/>
            <a:ext cx="2489877" cy="3267189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48" name="Index 548"/>
          <p:cNvSpPr txBox="1"/>
          <p:nvPr/>
        </p:nvSpPr>
        <p:spPr>
          <a:xfrm>
            <a:off x="3671458" y="2567997"/>
            <a:ext cx="2066599" cy="4693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02</a:t>
            </a:r>
            <a:endParaRPr lang="ru-RU" sz="2800"/>
          </a:p>
        </p:txBody>
      </p:sp>
      <p:sp>
        <p:nvSpPr>
          <p:cNvPr id="549" name="Card text 549"/>
          <p:cNvSpPr txBox="1"/>
          <p:nvPr/>
        </p:nvSpPr>
        <p:spPr>
          <a:xfrm>
            <a:off x="3671458" y="3109398"/>
            <a:ext cx="2066599" cy="230251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spcAft>
                <a:spcPts val="6050"/>
              </a:spcAft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Площадь студии</a:t>
            </a:r>
            <a:endParaRPr lang="ru-RU" sz="2000"/>
          </a:p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180 м²</a:t>
            </a:r>
            <a:endParaRPr lang="ru-RU" sz="1400"/>
          </a:p>
        </p:txBody>
      </p:sp>
      <p:sp>
        <p:nvSpPr>
          <p:cNvPr id="550" name="Card 550"/>
          <p:cNvSpPr/>
          <p:nvPr/>
        </p:nvSpPr>
        <p:spPr>
          <a:xfrm>
            <a:off x="6242304" y="2356358"/>
            <a:ext cx="2489877" cy="3267189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1" name="Index 551"/>
          <p:cNvSpPr txBox="1"/>
          <p:nvPr/>
        </p:nvSpPr>
        <p:spPr>
          <a:xfrm>
            <a:off x="6453943" y="2567997"/>
            <a:ext cx="2066599" cy="4693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03</a:t>
            </a:r>
            <a:endParaRPr lang="ru-RU" sz="2800"/>
          </a:p>
        </p:txBody>
      </p:sp>
      <p:sp>
        <p:nvSpPr>
          <p:cNvPr id="552" name="Card text 552"/>
          <p:cNvSpPr txBox="1"/>
          <p:nvPr/>
        </p:nvSpPr>
        <p:spPr>
          <a:xfrm>
            <a:off x="6453943" y="3109398"/>
            <a:ext cx="2066599" cy="230251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spcAft>
                <a:spcPts val="770"/>
              </a:spcAft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Максимальное количество участников</a:t>
            </a:r>
            <a:endParaRPr lang="ru-RU" sz="2000"/>
          </a:p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12 человек на занятии</a:t>
            </a:r>
            <a:endParaRPr lang="ru-RU" sz="1400"/>
          </a:p>
        </p:txBody>
      </p:sp>
      <p:sp>
        <p:nvSpPr>
          <p:cNvPr id="553" name="Card 553"/>
          <p:cNvSpPr/>
          <p:nvPr/>
        </p:nvSpPr>
        <p:spPr>
          <a:xfrm>
            <a:off x="9024789" y="2356358"/>
            <a:ext cx="2489877" cy="3267189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4" name="Index 554"/>
          <p:cNvSpPr txBox="1"/>
          <p:nvPr/>
        </p:nvSpPr>
        <p:spPr>
          <a:xfrm>
            <a:off x="9236428" y="2567997"/>
            <a:ext cx="2066599" cy="4693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04</a:t>
            </a:r>
            <a:endParaRPr lang="ru-RU" sz="2800"/>
          </a:p>
        </p:txBody>
      </p:sp>
      <p:sp>
        <p:nvSpPr>
          <p:cNvPr id="555" name="Card text 555"/>
          <p:cNvSpPr txBox="1"/>
          <p:nvPr/>
        </p:nvSpPr>
        <p:spPr>
          <a:xfrm>
            <a:off x="9236428" y="3109398"/>
            <a:ext cx="2066599" cy="230251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spcAft>
                <a:spcPts val="6050"/>
              </a:spcAft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Цель проекта</a:t>
            </a:r>
            <a:endParaRPr lang="ru-RU" sz="2000"/>
          </a:p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250 постоянных клиентов и 225 000 рублей операционной прибыли к 6-⁠му месяцу</a:t>
            </a:r>
            <a:endParaRPr lang="ru-RU" sz="1400"/>
          </a:p>
        </p:txBody>
      </p:sp>
      <p:sp>
        <p:nvSpPr>
          <p:cNvPr id="556" name="Footnote 556"/>
          <p:cNvSpPr txBox="1"/>
          <p:nvPr/>
        </p:nvSpPr>
        <p:spPr>
          <a:xfrm>
            <a:off x="677334" y="5973064"/>
            <a:ext cx="10837332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Все цифры условные и используются для учебного бизнес-⁠плана</a:t>
            </a:r>
            <a:endParaRPr lang="ru-RU" sz="12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8069564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Целевая аудитория — 250 клиентов из 1 200 потенциальных</a:t>
            </a:r>
            <a:endParaRPr/>
          </a:p>
        </p:txBody>
      </p:sp>
      <p:sp>
        <p:nvSpPr>
          <p:cNvPr id="544" name="Unit 544"/>
          <p:cNvSpPr txBox="1"/>
          <p:nvPr/>
        </p:nvSpPr>
        <p:spPr>
          <a:xfrm>
            <a:off x="677334" y="2356358"/>
            <a:ext cx="6935892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Потенциальные клиенты, человек</a:t>
            </a:r>
            <a:endParaRPr lang="ru-RU" sz="1200"/>
          </a:p>
        </p:txBody>
      </p:sp>
      <p:graphicFrame>
        <p:nvGraphicFramePr>
          <p:cNvPr id="545" name="Chart 544"/>
          <p:cNvGraphicFramePr>
            <a:graphicFrameLocks noGrp="1"/>
          </p:cNvGraphicFramePr>
          <p:nvPr/>
        </p:nvGraphicFramePr>
        <p:xfrm>
          <a:off x="677334" y="2644648"/>
          <a:ext cx="6935892" cy="23987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46" name="Line 546"/>
          <p:cNvCxnSpPr/>
          <p:nvPr/>
        </p:nvCxnSpPr>
        <p:spPr>
          <a:xfrm>
            <a:off x="7905834" y="3135033"/>
            <a:ext cx="0" cy="695960"/>
          </a:xfrm>
          <a:prstGeom prst="line">
            <a:avLst/>
          </a:prstGeom>
          <a:ln w="12700">
            <a:solidFill>
              <a:srgbClr val="E1E1E1"/>
            </a:solidFill>
          </a:ln>
        </p:spPr>
      </p:cxnSp>
      <p:sp>
        <p:nvSpPr>
          <p:cNvPr id="547" name="Takeaway 547"/>
          <p:cNvSpPr txBox="1"/>
          <p:nvPr/>
        </p:nvSpPr>
        <p:spPr>
          <a:xfrm>
            <a:off x="8198442" y="3135033"/>
            <a:ext cx="3316224" cy="695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spcAft>
                <a:spcPts val="980"/>
              </a:spcAft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8 000 в возрасте 23⁠–⁠45 лет</a:t>
            </a:r>
            <a:endParaRPr lang="ru-RU" sz="2000"/>
          </a:p>
        </p:txBody>
      </p:sp>
      <p:sp>
        <p:nvSpPr>
          <p:cNvPr id="548" name="Conclusion strip 548"/>
          <p:cNvSpPr/>
          <p:nvPr/>
        </p:nvSpPr>
        <p:spPr>
          <a:xfrm>
            <a:off x="677334" y="5331480"/>
            <a:ext cx="10837332" cy="67564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49" name="Conclusion bar 549"/>
          <p:cNvSpPr/>
          <p:nvPr/>
        </p:nvSpPr>
        <p:spPr>
          <a:xfrm>
            <a:off x="931334" y="5519440"/>
            <a:ext cx="41148" cy="29972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550" name="Conclusion 550"/>
          <p:cNvSpPr txBox="1"/>
          <p:nvPr/>
        </p:nvSpPr>
        <p:spPr>
          <a:xfrm>
            <a:off x="1175682" y="5488960"/>
            <a:ext cx="10084984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Цель — привлечь 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21%</a:t>
            </a: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 потенциально заинтересованных</a:t>
            </a:r>
            <a:endParaRPr lang="ru-RU" sz="2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10485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Близость к дому важна для 35% опрошенных</a:t>
            </a:r>
            <a:endParaRPr/>
          </a:p>
        </p:txBody>
      </p:sp>
      <p:graphicFrame>
        <p:nvGraphicFramePr>
          <p:cNvPr id="544" name="Chart 543"/>
          <p:cNvGraphicFramePr>
            <a:graphicFrameLocks noGrp="1"/>
          </p:cNvGraphicFramePr>
          <p:nvPr/>
        </p:nvGraphicFramePr>
        <p:xfrm>
          <a:off x="2568258" y="1752854"/>
          <a:ext cx="3242310" cy="324231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45" name="Legend title 545"/>
          <p:cNvSpPr txBox="1"/>
          <p:nvPr/>
        </p:nvSpPr>
        <p:spPr>
          <a:xfrm>
            <a:off x="6395784" y="1949069"/>
            <a:ext cx="3227958" cy="538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Что важно посетителям</a:t>
            </a:r>
            <a:endParaRPr lang="ru-RU" sz="2000"/>
          </a:p>
        </p:txBody>
      </p:sp>
      <p:sp>
        <p:nvSpPr>
          <p:cNvPr id="546" name="Swatch 546"/>
          <p:cNvSpPr/>
          <p:nvPr/>
        </p:nvSpPr>
        <p:spPr>
          <a:xfrm>
            <a:off x="6395784" y="2563749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547" name="Legend 547"/>
          <p:cNvSpPr txBox="1"/>
          <p:nvPr/>
        </p:nvSpPr>
        <p:spPr>
          <a:xfrm>
            <a:off x="6724968" y="2487549"/>
            <a:ext cx="2049462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Близость к дому</a:t>
            </a:r>
            <a:endParaRPr lang="ru-RU" sz="2000"/>
          </a:p>
        </p:txBody>
      </p:sp>
      <p:sp>
        <p:nvSpPr>
          <p:cNvPr id="548" name="Share 548"/>
          <p:cNvSpPr txBox="1"/>
          <p:nvPr/>
        </p:nvSpPr>
        <p:spPr>
          <a:xfrm>
            <a:off x="8774430" y="2487549"/>
            <a:ext cx="849312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35%</a:t>
            </a:r>
            <a:endParaRPr lang="ru-RU" sz="2000"/>
          </a:p>
        </p:txBody>
      </p:sp>
      <p:sp>
        <p:nvSpPr>
          <p:cNvPr id="549" name="Swatch 549"/>
          <p:cNvSpPr/>
          <p:nvPr/>
        </p:nvSpPr>
        <p:spPr>
          <a:xfrm>
            <a:off x="6395784" y="3051429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7FF">
              <a:alpha val="82000"/>
            </a:srgbClr>
          </a:solidFill>
          <a:ln>
            <a:noFill/>
          </a:ln>
        </p:spPr>
      </p:sp>
      <p:sp>
        <p:nvSpPr>
          <p:cNvPr id="550" name="Legend 550"/>
          <p:cNvSpPr txBox="1"/>
          <p:nvPr/>
        </p:nvSpPr>
        <p:spPr>
          <a:xfrm>
            <a:off x="6724968" y="2975229"/>
            <a:ext cx="2049462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Расписание</a:t>
            </a:r>
            <a:endParaRPr lang="ru-RU" sz="2000"/>
          </a:p>
        </p:txBody>
      </p:sp>
      <p:sp>
        <p:nvSpPr>
          <p:cNvPr id="551" name="Share 551"/>
          <p:cNvSpPr txBox="1"/>
          <p:nvPr/>
        </p:nvSpPr>
        <p:spPr>
          <a:xfrm>
            <a:off x="8774430" y="2975229"/>
            <a:ext cx="849312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25%</a:t>
            </a:r>
            <a:endParaRPr lang="ru-RU" sz="2000"/>
          </a:p>
        </p:txBody>
      </p:sp>
      <p:sp>
        <p:nvSpPr>
          <p:cNvPr id="552" name="Swatch 552"/>
          <p:cNvSpPr/>
          <p:nvPr/>
        </p:nvSpPr>
        <p:spPr>
          <a:xfrm>
            <a:off x="6395784" y="3539109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7FF">
              <a:alpha val="64000"/>
            </a:srgbClr>
          </a:solidFill>
          <a:ln>
            <a:noFill/>
          </a:ln>
        </p:spPr>
      </p:sp>
      <p:sp>
        <p:nvSpPr>
          <p:cNvPr id="553" name="Legend 553"/>
          <p:cNvSpPr txBox="1"/>
          <p:nvPr/>
        </p:nvSpPr>
        <p:spPr>
          <a:xfrm>
            <a:off x="6724968" y="3462909"/>
            <a:ext cx="2049462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Стоимость</a:t>
            </a:r>
            <a:endParaRPr lang="ru-RU" sz="2000"/>
          </a:p>
        </p:txBody>
      </p:sp>
      <p:sp>
        <p:nvSpPr>
          <p:cNvPr id="554" name="Share 554"/>
          <p:cNvSpPr txBox="1"/>
          <p:nvPr/>
        </p:nvSpPr>
        <p:spPr>
          <a:xfrm>
            <a:off x="8774430" y="3462909"/>
            <a:ext cx="849312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20%</a:t>
            </a:r>
            <a:endParaRPr lang="ru-RU" sz="2000"/>
          </a:p>
        </p:txBody>
      </p:sp>
      <p:sp>
        <p:nvSpPr>
          <p:cNvPr id="555" name="Swatch 555"/>
          <p:cNvSpPr/>
          <p:nvPr/>
        </p:nvSpPr>
        <p:spPr>
          <a:xfrm>
            <a:off x="6395784" y="4026789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7FF">
              <a:alpha val="44000"/>
            </a:srgbClr>
          </a:solidFill>
          <a:ln>
            <a:noFill/>
          </a:ln>
        </p:spPr>
      </p:sp>
      <p:sp>
        <p:nvSpPr>
          <p:cNvPr id="556" name="Legend 556"/>
          <p:cNvSpPr txBox="1"/>
          <p:nvPr/>
        </p:nvSpPr>
        <p:spPr>
          <a:xfrm>
            <a:off x="6724968" y="3950589"/>
            <a:ext cx="2049462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Тренеры</a:t>
            </a:r>
            <a:endParaRPr lang="ru-RU" sz="2000"/>
          </a:p>
        </p:txBody>
      </p:sp>
      <p:sp>
        <p:nvSpPr>
          <p:cNvPr id="557" name="Share 557"/>
          <p:cNvSpPr txBox="1"/>
          <p:nvPr/>
        </p:nvSpPr>
        <p:spPr>
          <a:xfrm>
            <a:off x="8774430" y="3950589"/>
            <a:ext cx="849312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12,5%</a:t>
            </a:r>
            <a:endParaRPr lang="ru-RU" sz="2000"/>
          </a:p>
        </p:txBody>
      </p:sp>
      <p:sp>
        <p:nvSpPr>
          <p:cNvPr id="558" name="Swatch 558"/>
          <p:cNvSpPr/>
          <p:nvPr/>
        </p:nvSpPr>
        <p:spPr>
          <a:xfrm>
            <a:off x="6395784" y="4514469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7FF">
              <a:alpha val="26000"/>
            </a:srgbClr>
          </a:solidFill>
          <a:ln>
            <a:noFill/>
          </a:ln>
        </p:spPr>
      </p:sp>
      <p:sp>
        <p:nvSpPr>
          <p:cNvPr id="559" name="Legend 559"/>
          <p:cNvSpPr txBox="1"/>
          <p:nvPr/>
        </p:nvSpPr>
        <p:spPr>
          <a:xfrm>
            <a:off x="6724968" y="4438269"/>
            <a:ext cx="2049462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Атмосфера</a:t>
            </a:r>
            <a:endParaRPr lang="ru-RU" sz="2000"/>
          </a:p>
        </p:txBody>
      </p:sp>
      <p:sp>
        <p:nvSpPr>
          <p:cNvPr id="560" name="Share 560"/>
          <p:cNvSpPr txBox="1"/>
          <p:nvPr/>
        </p:nvSpPr>
        <p:spPr>
          <a:xfrm>
            <a:off x="8774430" y="4438269"/>
            <a:ext cx="849312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7,5%</a:t>
            </a:r>
            <a:endParaRPr lang="ru-RU" sz="2000"/>
          </a:p>
        </p:txBody>
      </p:sp>
      <p:sp>
        <p:nvSpPr>
          <p:cNvPr id="561" name="Conclusion strip 561"/>
          <p:cNvSpPr/>
          <p:nvPr/>
        </p:nvSpPr>
        <p:spPr>
          <a:xfrm>
            <a:off x="677334" y="5283200"/>
            <a:ext cx="10837332" cy="67564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2" name="Conclusion bar 562"/>
          <p:cNvSpPr/>
          <p:nvPr/>
        </p:nvSpPr>
        <p:spPr>
          <a:xfrm>
            <a:off x="931334" y="5471160"/>
            <a:ext cx="41148" cy="29972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563" name="Conclusion 563"/>
          <p:cNvSpPr txBox="1"/>
          <p:nvPr/>
        </p:nvSpPr>
        <p:spPr>
          <a:xfrm>
            <a:off x="1175682" y="5440680"/>
            <a:ext cx="10084984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Большинство клиентов выбирают ближайшую к дому студию</a:t>
            </a:r>
            <a:endParaRPr lang="ru-RU" sz="2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10485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Средняя выручка на клиента — 5 050 ₽ в месяц</a:t>
            </a:r>
            <a:endParaRPr/>
          </a:p>
        </p:txBody>
      </p:sp>
      <p:graphicFrame>
        <p:nvGraphicFramePr>
          <p:cNvPr id="544" name="Table"/>
          <p:cNvGraphicFramePr>
            <a:graphicFrameLocks noGrp="1"/>
          </p:cNvGraphicFramePr>
          <p:nvPr/>
        </p:nvGraphicFramePr>
        <p:xfrm>
          <a:off x="677334" y="1752854"/>
          <a:ext cx="10837332" cy="2819781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680906"/>
                <a:gridCol w="2718809"/>
                <a:gridCol w="2718809"/>
                <a:gridCol w="2718808"/>
              </a:tblGrid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Абонемент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Количество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Стоимость, ₽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Стоимость одного занятия, ₽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</a:tr>
              <a:tr h="71132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Четыре занятия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4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3 200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800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71132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Восемь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8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5 200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650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711327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Двенадцать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12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6 600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550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5" name="Conclusion strip 545"/>
          <p:cNvSpPr/>
          <p:nvPr/>
        </p:nvSpPr>
        <p:spPr>
          <a:xfrm>
            <a:off x="677334" y="4860671"/>
            <a:ext cx="10837332" cy="67564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46" name="Conclusion bar 546"/>
          <p:cNvSpPr/>
          <p:nvPr/>
        </p:nvSpPr>
        <p:spPr>
          <a:xfrm>
            <a:off x="931334" y="5048631"/>
            <a:ext cx="41148" cy="29972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547" name="Conclusion 547"/>
          <p:cNvSpPr txBox="1"/>
          <p:nvPr/>
        </p:nvSpPr>
        <p:spPr>
          <a:xfrm>
            <a:off x="1175682" y="5018151"/>
            <a:ext cx="10084984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Разовое посещение обойдется в 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900 рублей</a:t>
            </a: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, пробная тренировка — в 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500 рублей</a:t>
            </a:r>
            <a:endParaRPr lang="ru-RU" sz="2000"/>
          </a:p>
        </p:txBody>
      </p:sp>
      <p:sp>
        <p:nvSpPr>
          <p:cNvPr id="548" name="Footnote 548"/>
          <p:cNvSpPr txBox="1"/>
          <p:nvPr/>
        </p:nvSpPr>
        <p:spPr>
          <a:xfrm>
            <a:off x="677334" y="5973064"/>
            <a:ext cx="10837332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Доход от разовых и пробных посещений в основной финансовый прогноз не включен</a:t>
            </a:r>
            <a:endParaRPr lang="ru-RU" sz="12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7973458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Месячная вместимость превышает ожидаемые посещения на 700</a:t>
            </a:r>
            <a:endParaRPr/>
          </a:p>
        </p:txBody>
      </p:sp>
      <p:sp>
        <p:nvSpPr>
          <p:cNvPr id="544" name="Unit 544"/>
          <p:cNvSpPr txBox="1"/>
          <p:nvPr/>
        </p:nvSpPr>
        <p:spPr>
          <a:xfrm>
            <a:off x="677334" y="2356358"/>
            <a:ext cx="6935892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Месячная вместимость и ожидаемые посещения, посещений</a:t>
            </a:r>
            <a:endParaRPr lang="ru-RU" sz="1200"/>
          </a:p>
        </p:txBody>
      </p:sp>
      <p:graphicFrame>
        <p:nvGraphicFramePr>
          <p:cNvPr id="545" name="Chart 544"/>
          <p:cNvGraphicFramePr>
            <a:graphicFrameLocks noGrp="1"/>
          </p:cNvGraphicFramePr>
          <p:nvPr/>
        </p:nvGraphicFramePr>
        <p:xfrm>
          <a:off x="677334" y="2644648"/>
          <a:ext cx="6935892" cy="23987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46" name="Line 546"/>
          <p:cNvCxnSpPr/>
          <p:nvPr/>
        </p:nvCxnSpPr>
        <p:spPr>
          <a:xfrm>
            <a:off x="7905834" y="2622080"/>
            <a:ext cx="0" cy="2161540"/>
          </a:xfrm>
          <a:prstGeom prst="line">
            <a:avLst/>
          </a:prstGeom>
          <a:ln w="12700">
            <a:solidFill>
              <a:srgbClr val="E1E1E1"/>
            </a:solidFill>
          </a:ln>
        </p:spPr>
      </p:cxnSp>
      <p:sp>
        <p:nvSpPr>
          <p:cNvPr id="547" name="Takeaway 547"/>
          <p:cNvSpPr txBox="1"/>
          <p:nvPr/>
        </p:nvSpPr>
        <p:spPr>
          <a:xfrm>
            <a:off x="8198442" y="2622080"/>
            <a:ext cx="3316224" cy="21615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79400" indent="-279400">
              <a:lnSpc>
                <a:spcPct val="110000"/>
              </a:lnSpc>
              <a:spcAft>
                <a:spcPts val="98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Студия работает ежедневно с 07:00 до 22:00</a:t>
            </a:r>
            <a:endParaRPr lang="ru-RU" sz="2000"/>
          </a:p>
          <a:p>
            <a:pPr algn="l" marL="279400" indent="-279400">
              <a:lnSpc>
                <a:spcPct val="110000"/>
              </a:lnSpc>
              <a:spcAft>
                <a:spcPts val="98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Самые востребованные утренние и вечерние занятия</a:t>
            </a:r>
            <a:endParaRPr lang="ru-RU" sz="2000"/>
          </a:p>
        </p:txBody>
      </p:sp>
      <p:sp>
        <p:nvSpPr>
          <p:cNvPr id="548" name="Conclusion strip 548"/>
          <p:cNvSpPr/>
          <p:nvPr/>
        </p:nvSpPr>
        <p:spPr>
          <a:xfrm>
            <a:off x="677334" y="5331480"/>
            <a:ext cx="10837332" cy="67564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49" name="Conclusion bar 549"/>
          <p:cNvSpPr/>
          <p:nvPr/>
        </p:nvSpPr>
        <p:spPr>
          <a:xfrm>
            <a:off x="931334" y="5519440"/>
            <a:ext cx="41148" cy="29972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550" name="Conclusion 550"/>
          <p:cNvSpPr txBox="1"/>
          <p:nvPr/>
        </p:nvSpPr>
        <p:spPr>
          <a:xfrm>
            <a:off x="1175682" y="5488960"/>
            <a:ext cx="10084984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Средняя загрузка составит 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74%</a:t>
            </a:r>
            <a:endParaRPr lang="ru-RU" sz="20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57" name="Google Shape;857;p66"/>
          <p:cNvSpPr txBox="1"/>
          <p:nvPr>
            <p:ph type="title"/>
          </p:nvPr>
        </p:nvSpPr>
        <p:spPr>
          <a:xfrm>
            <a:off x="677334" y="692150"/>
            <a:ext cx="4552133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100 м² — тренировочный зал</a:t>
            </a:r>
            <a:endParaRPr/>
          </a:p>
        </p:txBody>
      </p:sp>
      <p:sp>
        <p:nvSpPr>
          <p:cNvPr id="858" name="Место для фото" descr="Фото помещения: место оставлено свободным — вставьте фото в плейсхолдер или через «Формат фигуры → Заливка → Рисунок»"/>
          <p:cNvSpPr/>
          <p:nvPr/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rgbClr val="E1E1E1"/>
          </a:solidFill>
          <a:ln>
            <a:noFill/>
          </a:ln>
        </p:spPr>
      </p:sp>
      <p:sp>
        <p:nvSpPr>
          <p:cNvPr id="859" name="Figure 859"/>
          <p:cNvSpPr txBox="1"/>
          <p:nvPr/>
        </p:nvSpPr>
        <p:spPr>
          <a:xfrm>
            <a:off x="666666" y="2356358"/>
            <a:ext cx="1175116" cy="469392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100 м²</a:t>
            </a:r>
            <a:endParaRPr lang="ru-RU" sz="2800"/>
          </a:p>
        </p:txBody>
      </p:sp>
      <p:sp>
        <p:nvSpPr>
          <p:cNvPr id="860" name="Label 860"/>
          <p:cNvSpPr txBox="1"/>
          <p:nvPr/>
        </p:nvSpPr>
        <p:spPr>
          <a:xfrm>
            <a:off x="2280694" y="2536171"/>
            <a:ext cx="3327626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Тренировочный зал</a:t>
            </a:r>
            <a:endParaRPr lang="ru-RU" sz="1400"/>
          </a:p>
        </p:txBody>
      </p:sp>
      <p:cxnSp>
        <p:nvCxnSpPr>
          <p:cNvPr id="861" name="Line 861"/>
          <p:cNvCxnSpPr/>
          <p:nvPr/>
        </p:nvCxnSpPr>
        <p:spPr>
          <a:xfrm>
            <a:off x="677334" y="2990342"/>
            <a:ext cx="4930986" cy="0"/>
          </a:xfrm>
          <a:prstGeom prst="line">
            <a:avLst/>
          </a:prstGeom>
          <a:ln w="9525">
            <a:solidFill>
              <a:srgbClr val="E1E1E1"/>
            </a:solidFill>
          </a:ln>
        </p:spPr>
      </p:cxnSp>
      <p:sp>
        <p:nvSpPr>
          <p:cNvPr id="862" name="Figure 862"/>
          <p:cNvSpPr txBox="1"/>
          <p:nvPr/>
        </p:nvSpPr>
        <p:spPr>
          <a:xfrm>
            <a:off x="677334" y="3154934"/>
            <a:ext cx="1164448" cy="469392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35 м²</a:t>
            </a:r>
            <a:endParaRPr lang="ru-RU" sz="2800"/>
          </a:p>
        </p:txBody>
      </p:sp>
      <p:sp>
        <p:nvSpPr>
          <p:cNvPr id="863" name="Label 863"/>
          <p:cNvSpPr txBox="1"/>
          <p:nvPr/>
        </p:nvSpPr>
        <p:spPr>
          <a:xfrm>
            <a:off x="2280694" y="3334747"/>
            <a:ext cx="3327626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Раздевалки и душевые</a:t>
            </a:r>
            <a:endParaRPr lang="ru-RU" sz="1400"/>
          </a:p>
        </p:txBody>
      </p:sp>
      <p:cxnSp>
        <p:nvCxnSpPr>
          <p:cNvPr id="864" name="Line 864"/>
          <p:cNvCxnSpPr/>
          <p:nvPr/>
        </p:nvCxnSpPr>
        <p:spPr>
          <a:xfrm>
            <a:off x="677334" y="3788918"/>
            <a:ext cx="4930986" cy="0"/>
          </a:xfrm>
          <a:prstGeom prst="line">
            <a:avLst/>
          </a:prstGeom>
          <a:ln w="9525">
            <a:solidFill>
              <a:srgbClr val="E1E1E1"/>
            </a:solidFill>
          </a:ln>
        </p:spPr>
      </p:cxnSp>
      <p:sp>
        <p:nvSpPr>
          <p:cNvPr id="865" name="Figure 865"/>
          <p:cNvSpPr txBox="1"/>
          <p:nvPr/>
        </p:nvSpPr>
        <p:spPr>
          <a:xfrm>
            <a:off x="677334" y="3953510"/>
            <a:ext cx="1164448" cy="469392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25 м²</a:t>
            </a:r>
            <a:endParaRPr lang="ru-RU" sz="2800"/>
          </a:p>
        </p:txBody>
      </p:sp>
      <p:sp>
        <p:nvSpPr>
          <p:cNvPr id="866" name="Label 866"/>
          <p:cNvSpPr txBox="1"/>
          <p:nvPr/>
        </p:nvSpPr>
        <p:spPr>
          <a:xfrm>
            <a:off x="2280694" y="4133323"/>
            <a:ext cx="3327626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Зона ресепшена и ожидания</a:t>
            </a:r>
            <a:endParaRPr lang="ru-RU" sz="1400"/>
          </a:p>
        </p:txBody>
      </p:sp>
      <p:cxnSp>
        <p:nvCxnSpPr>
          <p:cNvPr id="867" name="Line 867"/>
          <p:cNvCxnSpPr/>
          <p:nvPr/>
        </p:nvCxnSpPr>
        <p:spPr>
          <a:xfrm>
            <a:off x="677334" y="4587494"/>
            <a:ext cx="4930986" cy="0"/>
          </a:xfrm>
          <a:prstGeom prst="line">
            <a:avLst/>
          </a:prstGeom>
          <a:ln w="9525">
            <a:solidFill>
              <a:srgbClr val="E1E1E1"/>
            </a:solidFill>
          </a:ln>
        </p:spPr>
      </p:cxnSp>
      <p:sp>
        <p:nvSpPr>
          <p:cNvPr id="868" name="Figure 868"/>
          <p:cNvSpPr txBox="1"/>
          <p:nvPr/>
        </p:nvSpPr>
        <p:spPr>
          <a:xfrm>
            <a:off x="677334" y="4752086"/>
            <a:ext cx="1164448" cy="469392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20 м²</a:t>
            </a:r>
            <a:endParaRPr lang="ru-RU" sz="2800"/>
          </a:p>
        </p:txBody>
      </p:sp>
      <p:sp>
        <p:nvSpPr>
          <p:cNvPr id="869" name="Label 869"/>
          <p:cNvSpPr txBox="1"/>
          <p:nvPr/>
        </p:nvSpPr>
        <p:spPr>
          <a:xfrm>
            <a:off x="2280694" y="4931899"/>
            <a:ext cx="3327626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Подсобные помещения</a:t>
            </a:r>
            <a:endParaRPr lang="ru-RU" sz="1400"/>
          </a:p>
        </p:txBody>
      </p:sp>
      <p:sp>
        <p:nvSpPr>
          <p:cNvPr id="870" name="Conclusion strip 870"/>
          <p:cNvSpPr/>
          <p:nvPr/>
        </p:nvSpPr>
        <p:spPr>
          <a:xfrm>
            <a:off x="677334" y="5484368"/>
            <a:ext cx="4930986" cy="715264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871" name="Conclusion bar 871"/>
          <p:cNvSpPr/>
          <p:nvPr/>
        </p:nvSpPr>
        <p:spPr>
          <a:xfrm>
            <a:off x="855134" y="5615940"/>
            <a:ext cx="41148" cy="45212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872" name="Conclusion 872"/>
          <p:cNvSpPr txBox="1"/>
          <p:nvPr/>
        </p:nvSpPr>
        <p:spPr>
          <a:xfrm>
            <a:off x="1038522" y="5594604"/>
            <a:ext cx="4391998" cy="4947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Большая часть площади отведена под тренировочный зал</a:t>
            </a:r>
            <a:endParaRPr lang="ru-RU" sz="1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10485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Команда</a:t>
            </a:r>
            <a:endParaRPr/>
          </a:p>
        </p:txBody>
      </p:sp>
      <p:graphicFrame>
        <p:nvGraphicFramePr>
          <p:cNvPr id="544" name="Chart 543"/>
          <p:cNvGraphicFramePr>
            <a:graphicFrameLocks noGrp="1"/>
          </p:cNvGraphicFramePr>
          <p:nvPr/>
        </p:nvGraphicFramePr>
        <p:xfrm>
          <a:off x="677334" y="1752854"/>
          <a:ext cx="2485349" cy="24853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45" name="Legend title 545"/>
          <p:cNvSpPr txBox="1"/>
          <p:nvPr/>
        </p:nvSpPr>
        <p:spPr>
          <a:xfrm>
            <a:off x="3747899" y="2032360"/>
            <a:ext cx="3865327" cy="6192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Распределение бюджета команды</a:t>
            </a:r>
            <a:endParaRPr lang="ru-RU" sz="1400"/>
          </a:p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сумма · доля от общей суммы</a:t>
            </a:r>
            <a:endParaRPr lang="ru-RU" sz="1400"/>
          </a:p>
        </p:txBody>
      </p:sp>
      <p:sp>
        <p:nvSpPr>
          <p:cNvPr id="546" name="Swatch 546"/>
          <p:cNvSpPr/>
          <p:nvPr/>
        </p:nvSpPr>
        <p:spPr>
          <a:xfrm>
            <a:off x="3747899" y="2704952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547" name="Legend 547"/>
          <p:cNvSpPr txBox="1"/>
          <p:nvPr/>
        </p:nvSpPr>
        <p:spPr>
          <a:xfrm>
            <a:off x="3978327" y="2651612"/>
            <a:ext cx="2176383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Оплата работы тренеров</a:t>
            </a:r>
            <a:endParaRPr lang="ru-RU" sz="1400"/>
          </a:p>
        </p:txBody>
      </p:sp>
      <p:sp>
        <p:nvSpPr>
          <p:cNvPr id="548" name="Share 548"/>
          <p:cNvSpPr txBox="1"/>
          <p:nvPr/>
        </p:nvSpPr>
        <p:spPr>
          <a:xfrm>
            <a:off x="6154710" y="2651612"/>
            <a:ext cx="1458516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260 000 ₽  ·  62%</a:t>
            </a:r>
            <a:endParaRPr lang="ru-RU" sz="1400"/>
          </a:p>
        </p:txBody>
      </p:sp>
      <p:sp>
        <p:nvSpPr>
          <p:cNvPr id="549" name="Swatch 549"/>
          <p:cNvSpPr/>
          <p:nvPr/>
        </p:nvSpPr>
        <p:spPr>
          <a:xfrm>
            <a:off x="3747899" y="3053948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0077FF">
              <a:alpha val="76000"/>
            </a:srgbClr>
          </a:solidFill>
          <a:ln>
            <a:noFill/>
          </a:ln>
        </p:spPr>
      </p:sp>
      <p:sp>
        <p:nvSpPr>
          <p:cNvPr id="550" name="Legend 550"/>
          <p:cNvSpPr txBox="1"/>
          <p:nvPr/>
        </p:nvSpPr>
        <p:spPr>
          <a:xfrm>
            <a:off x="3978327" y="3000608"/>
            <a:ext cx="2176383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Администраторов</a:t>
            </a:r>
            <a:endParaRPr lang="ru-RU" sz="1400"/>
          </a:p>
        </p:txBody>
      </p:sp>
      <p:sp>
        <p:nvSpPr>
          <p:cNvPr id="551" name="Share 551"/>
          <p:cNvSpPr txBox="1"/>
          <p:nvPr/>
        </p:nvSpPr>
        <p:spPr>
          <a:xfrm>
            <a:off x="6154710" y="3000608"/>
            <a:ext cx="1458516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110 000 ₽  ·  26%</a:t>
            </a:r>
            <a:endParaRPr lang="ru-RU" sz="1400"/>
          </a:p>
        </p:txBody>
      </p:sp>
      <p:sp>
        <p:nvSpPr>
          <p:cNvPr id="552" name="Swatch 552"/>
          <p:cNvSpPr/>
          <p:nvPr/>
        </p:nvSpPr>
        <p:spPr>
          <a:xfrm>
            <a:off x="3747899" y="3402944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0077FF">
              <a:alpha val="50000"/>
            </a:srgbClr>
          </a:solidFill>
          <a:ln>
            <a:noFill/>
          </a:ln>
        </p:spPr>
      </p:sp>
      <p:sp>
        <p:nvSpPr>
          <p:cNvPr id="553" name="Legend 553"/>
          <p:cNvSpPr txBox="1"/>
          <p:nvPr/>
        </p:nvSpPr>
        <p:spPr>
          <a:xfrm>
            <a:off x="3978327" y="3349604"/>
            <a:ext cx="2176383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Уборки</a:t>
            </a:r>
            <a:endParaRPr lang="ru-RU" sz="1400"/>
          </a:p>
        </p:txBody>
      </p:sp>
      <p:sp>
        <p:nvSpPr>
          <p:cNvPr id="554" name="Share 554"/>
          <p:cNvSpPr txBox="1"/>
          <p:nvPr/>
        </p:nvSpPr>
        <p:spPr>
          <a:xfrm>
            <a:off x="6154710" y="3349604"/>
            <a:ext cx="1458516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30 000 ₽  ·  7%</a:t>
            </a:r>
            <a:endParaRPr lang="ru-RU" sz="1400"/>
          </a:p>
        </p:txBody>
      </p:sp>
      <p:sp>
        <p:nvSpPr>
          <p:cNvPr id="555" name="Swatch 555"/>
          <p:cNvSpPr/>
          <p:nvPr/>
        </p:nvSpPr>
        <p:spPr>
          <a:xfrm>
            <a:off x="3747899" y="375194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0077FF">
              <a:alpha val="26000"/>
            </a:srgbClr>
          </a:solidFill>
          <a:ln>
            <a:noFill/>
          </a:ln>
        </p:spPr>
      </p:sp>
      <p:sp>
        <p:nvSpPr>
          <p:cNvPr id="556" name="Legend 556"/>
          <p:cNvSpPr txBox="1"/>
          <p:nvPr/>
        </p:nvSpPr>
        <p:spPr>
          <a:xfrm>
            <a:off x="3978327" y="3698600"/>
            <a:ext cx="2176383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Резерв на замены</a:t>
            </a:r>
            <a:endParaRPr lang="ru-RU" sz="1400"/>
          </a:p>
        </p:txBody>
      </p:sp>
      <p:sp>
        <p:nvSpPr>
          <p:cNvPr id="557" name="Share 557"/>
          <p:cNvSpPr txBox="1"/>
          <p:nvPr/>
        </p:nvSpPr>
        <p:spPr>
          <a:xfrm>
            <a:off x="6154710" y="3698600"/>
            <a:ext cx="1458516" cy="2600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20 000 ₽  ·  5%</a:t>
            </a:r>
            <a:endParaRPr lang="ru-RU" sz="1400"/>
          </a:p>
        </p:txBody>
      </p:sp>
      <p:cxnSp>
        <p:nvCxnSpPr>
          <p:cNvPr id="558" name="Line 558"/>
          <p:cNvCxnSpPr/>
          <p:nvPr/>
        </p:nvCxnSpPr>
        <p:spPr>
          <a:xfrm>
            <a:off x="7905834" y="2605849"/>
            <a:ext cx="0" cy="695960"/>
          </a:xfrm>
          <a:prstGeom prst="line">
            <a:avLst/>
          </a:prstGeom>
          <a:ln w="12700">
            <a:solidFill>
              <a:srgbClr val="E1E1E1"/>
            </a:solidFill>
          </a:ln>
        </p:spPr>
      </p:cxnSp>
      <p:sp>
        <p:nvSpPr>
          <p:cNvPr id="559" name="Takeaway 559"/>
          <p:cNvSpPr txBox="1"/>
          <p:nvPr/>
        </p:nvSpPr>
        <p:spPr>
          <a:xfrm>
            <a:off x="8198442" y="2605849"/>
            <a:ext cx="3316224" cy="695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spcAft>
                <a:spcPts val="980"/>
              </a:spcAft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Резерв на замены — минимальная статья</a:t>
            </a:r>
            <a:endParaRPr lang="ru-RU" sz="2000"/>
          </a:p>
        </p:txBody>
      </p:sp>
      <p:sp>
        <p:nvSpPr>
          <p:cNvPr id="560" name="Conclusion strip 560"/>
          <p:cNvSpPr/>
          <p:nvPr/>
        </p:nvSpPr>
        <p:spPr>
          <a:xfrm>
            <a:off x="677334" y="4526239"/>
            <a:ext cx="10837332" cy="67564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1" name="Conclusion bar 561"/>
          <p:cNvSpPr/>
          <p:nvPr/>
        </p:nvSpPr>
        <p:spPr>
          <a:xfrm>
            <a:off x="931334" y="4714199"/>
            <a:ext cx="41148" cy="29972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562" name="Conclusion 562"/>
          <p:cNvSpPr txBox="1"/>
          <p:nvPr/>
        </p:nvSpPr>
        <p:spPr>
          <a:xfrm>
            <a:off x="1175682" y="4683719"/>
            <a:ext cx="10084984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Тренеры — основная статья расходов</a:t>
            </a:r>
            <a:endParaRPr lang="ru-RU" sz="2000"/>
          </a:p>
        </p:txBody>
      </p:sp>
      <p:sp>
        <p:nvSpPr>
          <p:cNvPr id="563" name="Footnote 563"/>
          <p:cNvSpPr txBox="1"/>
          <p:nvPr/>
        </p:nvSpPr>
        <p:spPr>
          <a:xfrm>
            <a:off x="677334" y="5973064"/>
            <a:ext cx="10837332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Отдельная зарплата владельца в модель не включена</a:t>
            </a:r>
            <a:endParaRPr lang="ru-RU" sz="12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6479671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90 000 ₽ на соцсети — главный канал привлечения</a:t>
            </a:r>
            <a:endParaRPr/>
          </a:p>
        </p:txBody>
      </p:sp>
      <p:graphicFrame>
        <p:nvGraphicFramePr>
          <p:cNvPr id="544" name="Table"/>
          <p:cNvGraphicFramePr>
            <a:graphicFrameLocks noGrp="1"/>
          </p:cNvGraphicFramePr>
          <p:nvPr/>
        </p:nvGraphicFramePr>
        <p:xfrm>
          <a:off x="677334" y="2356358"/>
          <a:ext cx="7802879" cy="267462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6061328"/>
                <a:gridCol w="1741551"/>
              </a:tblGrid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Распределение бюджета на продвижение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Бюджет, ₽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7FF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Реклама в соцсетях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90 000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Районные сообщества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60 000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Партнерства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40 000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Мероприятия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30 000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Печатные материалы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20 000</a:t>
                      </a:r>
                    </a:p>
                  </a:txBody>
                  <a:tcPr marL="124459" marR="124459" marT="53340" marB="533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5" name="Conclusion strip 545"/>
          <p:cNvSpPr/>
          <p:nvPr/>
        </p:nvSpPr>
        <p:spPr>
          <a:xfrm>
            <a:off x="677334" y="5319014"/>
            <a:ext cx="10837332" cy="67564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46" name="Conclusion bar 546"/>
          <p:cNvSpPr/>
          <p:nvPr/>
        </p:nvSpPr>
        <p:spPr>
          <a:xfrm>
            <a:off x="931334" y="5506974"/>
            <a:ext cx="41148" cy="29972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547" name="Conclusion 547"/>
          <p:cNvSpPr txBox="1"/>
          <p:nvPr/>
        </p:nvSpPr>
        <p:spPr>
          <a:xfrm>
            <a:off x="1175682" y="5476494"/>
            <a:ext cx="10084984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Бюджет на продвижение распределён на 5 каналов</a:t>
            </a:r>
            <a:endParaRPr lang="ru-RU" sz="20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10485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Стартовый бюджет — 3 000 000 рублей</a:t>
            </a:r>
            <a:endParaRPr/>
          </a:p>
        </p:txBody>
      </p:sp>
      <p:graphicFrame>
        <p:nvGraphicFramePr>
          <p:cNvPr id="544" name="Chart 543"/>
          <p:cNvGraphicFramePr>
            <a:graphicFrameLocks noGrp="1"/>
          </p:cNvGraphicFramePr>
          <p:nvPr/>
        </p:nvGraphicFramePr>
        <p:xfrm>
          <a:off x="677334" y="1752854"/>
          <a:ext cx="2406089" cy="24060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45" name="Legend title 545"/>
          <p:cNvSpPr txBox="1"/>
          <p:nvPr/>
        </p:nvSpPr>
        <p:spPr>
          <a:xfrm>
            <a:off x="3668639" y="1752854"/>
            <a:ext cx="3944587" cy="5344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Вложения</a:t>
            </a:r>
            <a:endParaRPr lang="ru-RU" sz="1200"/>
          </a:p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сумма · доля от общей суммы</a:t>
            </a:r>
            <a:endParaRPr lang="ru-RU" sz="1200"/>
          </a:p>
        </p:txBody>
      </p:sp>
      <p:sp>
        <p:nvSpPr>
          <p:cNvPr id="546" name="Swatch 546"/>
          <p:cNvSpPr/>
          <p:nvPr/>
        </p:nvSpPr>
        <p:spPr>
          <a:xfrm>
            <a:off x="3668639" y="233299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547" name="Legend 547"/>
          <p:cNvSpPr txBox="1"/>
          <p:nvPr/>
        </p:nvSpPr>
        <p:spPr>
          <a:xfrm>
            <a:off x="3866149" y="2287270"/>
            <a:ext cx="2496921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Ремонт и подготовка помещения</a:t>
            </a:r>
            <a:endParaRPr lang="ru-RU" sz="1200"/>
          </a:p>
        </p:txBody>
      </p:sp>
      <p:sp>
        <p:nvSpPr>
          <p:cNvPr id="548" name="Share 548"/>
          <p:cNvSpPr txBox="1"/>
          <p:nvPr/>
        </p:nvSpPr>
        <p:spPr>
          <a:xfrm>
            <a:off x="6363070" y="2287270"/>
            <a:ext cx="1250156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900 000 ₽  ·  30%</a:t>
            </a:r>
            <a:endParaRPr lang="ru-RU" sz="1200"/>
          </a:p>
        </p:txBody>
      </p:sp>
      <p:sp>
        <p:nvSpPr>
          <p:cNvPr id="549" name="Swatch 549"/>
          <p:cNvSpPr/>
          <p:nvPr/>
        </p:nvSpPr>
        <p:spPr>
          <a:xfrm>
            <a:off x="3668639" y="263575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77FF">
              <a:alpha val="86000"/>
            </a:srgbClr>
          </a:solidFill>
          <a:ln>
            <a:noFill/>
          </a:ln>
        </p:spPr>
      </p:sp>
      <p:sp>
        <p:nvSpPr>
          <p:cNvPr id="550" name="Legend 550"/>
          <p:cNvSpPr txBox="1"/>
          <p:nvPr/>
        </p:nvSpPr>
        <p:spPr>
          <a:xfrm>
            <a:off x="3866149" y="2590038"/>
            <a:ext cx="2496921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Оборотный резерв</a:t>
            </a:r>
            <a:endParaRPr lang="ru-RU" sz="1200"/>
          </a:p>
        </p:txBody>
      </p:sp>
      <p:sp>
        <p:nvSpPr>
          <p:cNvPr id="551" name="Share 551"/>
          <p:cNvSpPr txBox="1"/>
          <p:nvPr/>
        </p:nvSpPr>
        <p:spPr>
          <a:xfrm>
            <a:off x="6363070" y="2590038"/>
            <a:ext cx="1250156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850 000 ₽  ·  28%</a:t>
            </a:r>
            <a:endParaRPr lang="ru-RU" sz="1200"/>
          </a:p>
        </p:txBody>
      </p:sp>
      <p:sp>
        <p:nvSpPr>
          <p:cNvPr id="552" name="Swatch 552"/>
          <p:cNvSpPr/>
          <p:nvPr/>
        </p:nvSpPr>
        <p:spPr>
          <a:xfrm>
            <a:off x="3668639" y="293852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77FF">
              <a:alpha val="70000"/>
            </a:srgbClr>
          </a:solidFill>
          <a:ln>
            <a:noFill/>
          </a:ln>
        </p:spPr>
      </p:sp>
      <p:sp>
        <p:nvSpPr>
          <p:cNvPr id="553" name="Legend 553"/>
          <p:cNvSpPr txBox="1"/>
          <p:nvPr/>
        </p:nvSpPr>
        <p:spPr>
          <a:xfrm>
            <a:off x="3866149" y="2892806"/>
            <a:ext cx="2496921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Оборудование и инвентарь</a:t>
            </a:r>
            <a:endParaRPr lang="ru-RU" sz="1200"/>
          </a:p>
        </p:txBody>
      </p:sp>
      <p:sp>
        <p:nvSpPr>
          <p:cNvPr id="554" name="Share 554"/>
          <p:cNvSpPr txBox="1"/>
          <p:nvPr/>
        </p:nvSpPr>
        <p:spPr>
          <a:xfrm>
            <a:off x="6363070" y="2892806"/>
            <a:ext cx="1250156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650 000 ₽  ·  22%</a:t>
            </a:r>
            <a:endParaRPr lang="ru-RU" sz="1200"/>
          </a:p>
        </p:txBody>
      </p:sp>
      <p:sp>
        <p:nvSpPr>
          <p:cNvPr id="555" name="Swatch 555"/>
          <p:cNvSpPr/>
          <p:nvPr/>
        </p:nvSpPr>
        <p:spPr>
          <a:xfrm>
            <a:off x="3668639" y="324129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77FF">
              <a:alpha val="56000"/>
            </a:srgbClr>
          </a:solidFill>
          <a:ln>
            <a:noFill/>
          </a:ln>
        </p:spPr>
      </p:sp>
      <p:sp>
        <p:nvSpPr>
          <p:cNvPr id="556" name="Legend 556"/>
          <p:cNvSpPr txBox="1"/>
          <p:nvPr/>
        </p:nvSpPr>
        <p:spPr>
          <a:xfrm>
            <a:off x="3866149" y="3195574"/>
            <a:ext cx="2496921" cy="42773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Мебель и обустройство</a:t>
            </a:r>
            <a:endParaRPr lang="ru-RU" sz="1200"/>
          </a:p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раздевалок</a:t>
            </a:r>
            <a:endParaRPr lang="ru-RU" sz="1200"/>
          </a:p>
        </p:txBody>
      </p:sp>
      <p:sp>
        <p:nvSpPr>
          <p:cNvPr id="557" name="Share 557"/>
          <p:cNvSpPr txBox="1"/>
          <p:nvPr/>
        </p:nvSpPr>
        <p:spPr>
          <a:xfrm>
            <a:off x="6363070" y="3195574"/>
            <a:ext cx="1250156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300 000 ₽  ·  10%</a:t>
            </a:r>
            <a:endParaRPr lang="ru-RU" sz="1200"/>
          </a:p>
        </p:txBody>
      </p:sp>
      <p:sp>
        <p:nvSpPr>
          <p:cNvPr id="558" name="Swatch 558"/>
          <p:cNvSpPr/>
          <p:nvPr/>
        </p:nvSpPr>
        <p:spPr>
          <a:xfrm>
            <a:off x="3668639" y="374523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77FF">
              <a:alpha val="40000"/>
            </a:srgbClr>
          </a:solidFill>
          <a:ln>
            <a:noFill/>
          </a:ln>
        </p:spPr>
      </p:sp>
      <p:sp>
        <p:nvSpPr>
          <p:cNvPr id="559" name="Legend 559"/>
          <p:cNvSpPr txBox="1"/>
          <p:nvPr/>
        </p:nvSpPr>
        <p:spPr>
          <a:xfrm>
            <a:off x="3866149" y="3699510"/>
            <a:ext cx="2496921" cy="42773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Обеспечительный платеж</a:t>
            </a:r>
            <a:endParaRPr lang="ru-RU" sz="1200"/>
          </a:p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 аренде</a:t>
            </a:r>
            <a:endParaRPr lang="ru-RU" sz="1200"/>
          </a:p>
        </p:txBody>
      </p:sp>
      <p:sp>
        <p:nvSpPr>
          <p:cNvPr id="560" name="Share 560"/>
          <p:cNvSpPr txBox="1"/>
          <p:nvPr/>
        </p:nvSpPr>
        <p:spPr>
          <a:xfrm>
            <a:off x="6363070" y="3699510"/>
            <a:ext cx="1250156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180 000 ₽  ·  6%</a:t>
            </a:r>
            <a:endParaRPr lang="ru-RU" sz="1200"/>
          </a:p>
        </p:txBody>
      </p:sp>
      <p:sp>
        <p:nvSpPr>
          <p:cNvPr id="561" name="Swatch 561"/>
          <p:cNvSpPr/>
          <p:nvPr/>
        </p:nvSpPr>
        <p:spPr>
          <a:xfrm>
            <a:off x="3668639" y="424916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77FF">
              <a:alpha val="26000"/>
            </a:srgbClr>
          </a:solidFill>
          <a:ln>
            <a:noFill/>
          </a:ln>
        </p:spPr>
      </p:sp>
      <p:sp>
        <p:nvSpPr>
          <p:cNvPr id="562" name="Legend 562"/>
          <p:cNvSpPr txBox="1"/>
          <p:nvPr/>
        </p:nvSpPr>
        <p:spPr>
          <a:xfrm>
            <a:off x="3866149" y="4203446"/>
            <a:ext cx="2496921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Сайт и система записи</a:t>
            </a:r>
            <a:endParaRPr lang="ru-RU" sz="1200"/>
          </a:p>
        </p:txBody>
      </p:sp>
      <p:sp>
        <p:nvSpPr>
          <p:cNvPr id="563" name="Share 563"/>
          <p:cNvSpPr txBox="1"/>
          <p:nvPr/>
        </p:nvSpPr>
        <p:spPr>
          <a:xfrm>
            <a:off x="6363070" y="4203446"/>
            <a:ext cx="1250156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120 000 ₽  ·  4%</a:t>
            </a:r>
            <a:endParaRPr lang="ru-RU" sz="1200"/>
          </a:p>
        </p:txBody>
      </p:sp>
      <p:cxnSp>
        <p:nvCxnSpPr>
          <p:cNvPr id="564" name="Line 564"/>
          <p:cNvCxnSpPr/>
          <p:nvPr/>
        </p:nvCxnSpPr>
        <p:spPr>
          <a:xfrm>
            <a:off x="7905834" y="2742755"/>
            <a:ext cx="0" cy="695960"/>
          </a:xfrm>
          <a:prstGeom prst="line">
            <a:avLst/>
          </a:prstGeom>
          <a:ln w="12700">
            <a:solidFill>
              <a:srgbClr val="E1E1E1"/>
            </a:solidFill>
          </a:ln>
        </p:spPr>
      </p:cxnSp>
      <p:sp>
        <p:nvSpPr>
          <p:cNvPr id="565" name="Takeaway 565"/>
          <p:cNvSpPr txBox="1"/>
          <p:nvPr/>
        </p:nvSpPr>
        <p:spPr>
          <a:xfrm>
            <a:off x="8198442" y="2742755"/>
            <a:ext cx="3316224" cy="695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spcAft>
                <a:spcPts val="980"/>
              </a:spcAft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Сайт и система записи — минимальные вложения</a:t>
            </a:r>
            <a:endParaRPr lang="ru-RU" sz="2000"/>
          </a:p>
        </p:txBody>
      </p:sp>
      <p:sp>
        <p:nvSpPr>
          <p:cNvPr id="566" name="Conclusion strip 566"/>
          <p:cNvSpPr/>
          <p:nvPr/>
        </p:nvSpPr>
        <p:spPr>
          <a:xfrm>
            <a:off x="677334" y="4718050"/>
            <a:ext cx="10837332" cy="67564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7" name="Conclusion bar 567"/>
          <p:cNvSpPr/>
          <p:nvPr/>
        </p:nvSpPr>
        <p:spPr>
          <a:xfrm>
            <a:off x="931334" y="4906010"/>
            <a:ext cx="41148" cy="29972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568" name="Conclusion 568"/>
          <p:cNvSpPr txBox="1"/>
          <p:nvPr/>
        </p:nvSpPr>
        <p:spPr>
          <a:xfrm>
            <a:off x="1175682" y="4875530"/>
            <a:ext cx="10084984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Еще 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850 000 рублей</a:t>
            </a: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 составят оборотный резерв</a:t>
            </a:r>
            <a:endParaRPr lang="ru-RU" sz="2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594100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Студия получит 224 375 ₽ операционной прибыли</a:t>
            </a:r>
            <a:endParaRPr/>
          </a:p>
        </p:txBody>
      </p:sp>
      <p:sp>
        <p:nvSpPr>
          <p:cNvPr id="544" name="Unit 544"/>
          <p:cNvSpPr txBox="1"/>
          <p:nvPr/>
        </p:nvSpPr>
        <p:spPr>
          <a:xfrm>
            <a:off x="677334" y="2356358"/>
            <a:ext cx="6935892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₽</a:t>
            </a:r>
            <a:endParaRPr lang="ru-RU" sz="1200"/>
          </a:p>
        </p:txBody>
      </p:sp>
      <p:graphicFrame>
        <p:nvGraphicFramePr>
          <p:cNvPr id="545" name="Chart 544"/>
          <p:cNvGraphicFramePr>
            <a:graphicFrameLocks noGrp="1"/>
          </p:cNvGraphicFramePr>
          <p:nvPr/>
        </p:nvGraphicFramePr>
        <p:xfrm>
          <a:off x="677334" y="2644648"/>
          <a:ext cx="6935892" cy="203892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46" name="Line 546"/>
          <p:cNvCxnSpPr/>
          <p:nvPr/>
        </p:nvCxnSpPr>
        <p:spPr>
          <a:xfrm>
            <a:off x="7905834" y="2512021"/>
            <a:ext cx="0" cy="2084832"/>
          </a:xfrm>
          <a:prstGeom prst="line">
            <a:avLst/>
          </a:prstGeom>
          <a:ln w="12700">
            <a:solidFill>
              <a:srgbClr val="E1E1E1"/>
            </a:solidFill>
          </a:ln>
        </p:spPr>
      </p:cxnSp>
      <p:sp>
        <p:nvSpPr>
          <p:cNvPr id="547" name="Takeaway 547"/>
          <p:cNvSpPr txBox="1"/>
          <p:nvPr/>
        </p:nvSpPr>
        <p:spPr>
          <a:xfrm>
            <a:off x="8198442" y="2512021"/>
            <a:ext cx="3316224" cy="208483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1460" indent="-251460">
              <a:lnSpc>
                <a:spcPct val="110000"/>
              </a:lnSpc>
              <a:spcAft>
                <a:spcPts val="98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При 250 активных клиентах</a:t>
            </a:r>
            <a:endParaRPr lang="ru-RU" sz="1800"/>
          </a:p>
          <a:p>
            <a:pPr algn="l" marL="251460" indent="-251460">
              <a:lnSpc>
                <a:spcPct val="110000"/>
              </a:lnSpc>
              <a:spcAft>
                <a:spcPts val="98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Средняя выручка на клиента — 5 050 ₽</a:t>
            </a:r>
            <a:endParaRPr lang="ru-RU" sz="1800"/>
          </a:p>
          <a:p>
            <a:pPr algn="l" marL="251460" indent="-251460">
              <a:lnSpc>
                <a:spcPct val="110000"/>
              </a:lnSpc>
              <a:spcAft>
                <a:spcPts val="98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Переменные расходы — 5% от выручки (63 125 ₽)</a:t>
            </a:r>
            <a:endParaRPr lang="ru-RU" sz="1800"/>
          </a:p>
        </p:txBody>
      </p:sp>
      <p:sp>
        <p:nvSpPr>
          <p:cNvPr id="548" name="Conclusion strip 548"/>
          <p:cNvSpPr/>
          <p:nvPr/>
        </p:nvSpPr>
        <p:spPr>
          <a:xfrm>
            <a:off x="677334" y="4971613"/>
            <a:ext cx="10837332" cy="67564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49" name="Conclusion bar 549"/>
          <p:cNvSpPr/>
          <p:nvPr/>
        </p:nvSpPr>
        <p:spPr>
          <a:xfrm>
            <a:off x="931334" y="5159573"/>
            <a:ext cx="41148" cy="29972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550" name="Conclusion 550"/>
          <p:cNvSpPr txBox="1"/>
          <p:nvPr/>
        </p:nvSpPr>
        <p:spPr>
          <a:xfrm>
            <a:off x="1175682" y="5129093"/>
            <a:ext cx="10084984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224 375 рублей</a:t>
            </a: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, рентабельность — 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17,8%</a:t>
            </a:r>
            <a:endParaRPr lang="ru-RU" sz="2000"/>
          </a:p>
        </p:txBody>
      </p:sp>
      <p:sp>
        <p:nvSpPr>
          <p:cNvPr id="551" name="Footnote 551"/>
          <p:cNvSpPr txBox="1"/>
          <p:nvPr/>
        </p:nvSpPr>
        <p:spPr>
          <a:xfrm>
            <a:off x="677334" y="5973064"/>
            <a:ext cx="10837332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Налоги, амортизация и проценты по кредитам не учтены</a:t>
            </a:r>
            <a:endParaRPr lang="ru-RU" sz="12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10485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Прогноз на первые шесть месяцев</a:t>
            </a:r>
            <a:endParaRPr/>
          </a:p>
        </p:txBody>
      </p:sp>
      <p:sp>
        <p:nvSpPr>
          <p:cNvPr id="544" name="Chart title 544"/>
          <p:cNvSpPr txBox="1"/>
          <p:nvPr/>
        </p:nvSpPr>
        <p:spPr>
          <a:xfrm>
            <a:off x="677334" y="1752854"/>
            <a:ext cx="5052906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Рост активных клиентов, человек</a:t>
            </a:r>
            <a:endParaRPr lang="ru-RU" sz="2000"/>
          </a:p>
        </p:txBody>
      </p:sp>
      <p:graphicFrame>
        <p:nvGraphicFramePr>
          <p:cNvPr id="545" name="Chart 544"/>
          <p:cNvGraphicFramePr>
            <a:graphicFrameLocks noGrp="1"/>
          </p:cNvGraphicFramePr>
          <p:nvPr/>
        </p:nvGraphicFramePr>
        <p:xfrm>
          <a:off x="677334" y="2236978"/>
          <a:ext cx="5052906" cy="304012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46" name="Chart title 546"/>
          <p:cNvSpPr txBox="1"/>
          <p:nvPr/>
        </p:nvSpPr>
        <p:spPr>
          <a:xfrm>
            <a:off x="6461760" y="1752854"/>
            <a:ext cx="5052906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Операционный результат</a:t>
            </a:r>
            <a:endParaRPr lang="ru-RU" sz="2000"/>
          </a:p>
        </p:txBody>
      </p:sp>
      <p:graphicFrame>
        <p:nvGraphicFramePr>
          <p:cNvPr id="547" name="Chart 546"/>
          <p:cNvGraphicFramePr>
            <a:graphicFrameLocks noGrp="1"/>
          </p:cNvGraphicFramePr>
          <p:nvPr/>
        </p:nvGraphicFramePr>
        <p:xfrm>
          <a:off x="6461760" y="2236978"/>
          <a:ext cx="5052906" cy="304012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48" name="Conclusion strip 548"/>
          <p:cNvSpPr/>
          <p:nvPr/>
        </p:nvSpPr>
        <p:spPr>
          <a:xfrm>
            <a:off x="677334" y="5523992"/>
            <a:ext cx="10837332" cy="67564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49" name="Conclusion bar 549"/>
          <p:cNvSpPr/>
          <p:nvPr/>
        </p:nvSpPr>
        <p:spPr>
          <a:xfrm>
            <a:off x="931334" y="5711952"/>
            <a:ext cx="41148" cy="29972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550" name="Conclusion 550"/>
          <p:cNvSpPr txBox="1"/>
          <p:nvPr/>
        </p:nvSpPr>
        <p:spPr>
          <a:xfrm>
            <a:off x="1175682" y="5681472"/>
            <a:ext cx="10084984" cy="360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Операционная прибыль достигается на 5-⁠й месяц</a:t>
            </a:r>
            <a:endParaRPr lang="ru-RU" sz="2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10485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Недостаток оборотных средств — 387 388 ₽</a:t>
            </a:r>
            <a:endParaRPr/>
          </a:p>
        </p:txBody>
      </p:sp>
      <p:sp>
        <p:nvSpPr>
          <p:cNvPr id="544" name="Unit 544"/>
          <p:cNvSpPr txBox="1"/>
          <p:nvPr/>
        </p:nvSpPr>
        <p:spPr>
          <a:xfrm>
            <a:off x="677334" y="1752854"/>
            <a:ext cx="6935892" cy="2265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1200" b="0" cap="none" spc="0" baseline="0" dirty="0">
                <a:solidFill>
                  <a:srgbClr val="262626"/>
                </a:solidFill>
                <a:latin typeface="Play"/>
                <a:cs typeface="Play"/>
              </a:rPr>
              <a:t>Сумма</a:t>
            </a:r>
            <a:endParaRPr lang="ru-RU" sz="1200"/>
          </a:p>
        </p:txBody>
      </p:sp>
      <p:graphicFrame>
        <p:nvGraphicFramePr>
          <p:cNvPr id="545" name="Chart 544"/>
          <p:cNvGraphicFramePr>
            <a:graphicFrameLocks noGrp="1"/>
          </p:cNvGraphicFramePr>
          <p:nvPr/>
        </p:nvGraphicFramePr>
        <p:xfrm>
          <a:off x="677334" y="2041144"/>
          <a:ext cx="6935892" cy="26455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46" name="Line 546"/>
          <p:cNvCxnSpPr/>
          <p:nvPr/>
        </p:nvCxnSpPr>
        <p:spPr>
          <a:xfrm>
            <a:off x="7905834" y="1822462"/>
            <a:ext cx="0" cy="2990088"/>
          </a:xfrm>
          <a:prstGeom prst="line">
            <a:avLst/>
          </a:prstGeom>
          <a:ln w="12700">
            <a:solidFill>
              <a:srgbClr val="E1E1E1"/>
            </a:solidFill>
          </a:ln>
        </p:spPr>
      </p:cxnSp>
      <p:sp>
        <p:nvSpPr>
          <p:cNvPr id="547" name="Takeaway 547"/>
          <p:cNvSpPr txBox="1"/>
          <p:nvPr/>
        </p:nvSpPr>
        <p:spPr>
          <a:xfrm>
            <a:off x="8198442" y="1822462"/>
            <a:ext cx="3316224" cy="299008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1460" indent="-251460">
              <a:lnSpc>
                <a:spcPct val="110000"/>
              </a:lnSpc>
              <a:spcAft>
                <a:spcPts val="98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Общий бюджет проекта нужно увеличить до 3 387 388 ₽</a:t>
            </a:r>
            <a:endParaRPr lang="ru-RU" sz="1800"/>
          </a:p>
          <a:p>
            <a:pPr algn="l" marL="251460" indent="-251460">
              <a:lnSpc>
                <a:spcPct val="110000"/>
              </a:lnSpc>
              <a:spcAft>
                <a:spcPts val="98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Или сократить затраты до запуска</a:t>
            </a:r>
            <a:endParaRPr lang="ru-RU" sz="1800"/>
          </a:p>
          <a:p>
            <a:pPr algn="l" marL="251460" indent="-251460">
              <a:lnSpc>
                <a:spcPct val="110000"/>
              </a:lnSpc>
              <a:spcAft>
                <a:spcPts val="98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Суммарный операционный убыток за первые четыре месяца составит около 1 237 388 рублей</a:t>
            </a:r>
            <a:endParaRPr lang="ru-RU" sz="1800"/>
          </a:p>
        </p:txBody>
      </p:sp>
      <p:sp>
        <p:nvSpPr>
          <p:cNvPr id="548" name="Conclusion strip 548"/>
          <p:cNvSpPr/>
          <p:nvPr/>
        </p:nvSpPr>
        <p:spPr>
          <a:xfrm>
            <a:off x="677334" y="5100586"/>
            <a:ext cx="10837332" cy="101092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49" name="Conclusion bar 549"/>
          <p:cNvSpPr/>
          <p:nvPr/>
        </p:nvSpPr>
        <p:spPr>
          <a:xfrm>
            <a:off x="931334" y="5288546"/>
            <a:ext cx="41148" cy="6350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550" name="Conclusion 550"/>
          <p:cNvSpPr txBox="1"/>
          <p:nvPr/>
        </p:nvSpPr>
        <p:spPr>
          <a:xfrm>
            <a:off x="1175682" y="5258066"/>
            <a:ext cx="10084984" cy="695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ru-RU" sz="20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Проект может выйти на операционную прибыль к пятому месяцу, но для запуска необходимо заранее закрыть недостаток оборотных средств</a:t>
            </a:r>
            <a:endParaRPr lang="ru-RU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