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1.xml"/><Relationship Id="rId65" Type="http://schemas.openxmlformats.org/officeDocument/2006/relationships/slide" Target="slides/slide2.xml"/><Relationship Id="rId66" Type="http://schemas.openxmlformats.org/officeDocument/2006/relationships/slide" Target="slides/slide3.xml"/><Relationship Id="rId67" Type="http://schemas.openxmlformats.org/officeDocument/2006/relationships/slide" Target="slides/slide4.xml"/><Relationship Id="rId68" Type="http://schemas.openxmlformats.org/officeDocument/2006/relationships/slide" Target="slides/slide5.xml"/><Relationship Id="rId69" Type="http://schemas.openxmlformats.org/officeDocument/2006/relationships/slide" Target="slides/slide6.xml"/><Relationship Id="rId70" Type="http://schemas.openxmlformats.org/officeDocument/2006/relationships/slide" Target="slides/slide7.xml"/><Relationship Id="rId71" Type="http://schemas.openxmlformats.org/officeDocument/2006/relationships/slide" Target="slides/slide8.xml"/><Relationship Id="rId72" Type="http://schemas.openxmlformats.org/officeDocument/2006/relationships/slide" Target="slides/slide9.xml"/><Relationship Id="rId73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Наставники — действующие инженеры VK Tech.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5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5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notesSlide" Target="../notesSlides/notesSlide5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notesSlide" Target="../notesSlides/notesSlide6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2.png"/><Relationship Id="rId3" Type="http://schemas.openxmlformats.org/officeDocument/2006/relationships/image" Target="../media/image233.png"/><Relationship Id="rId4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5" Type="http://schemas.openxmlformats.org/officeDocument/2006/relationships/image" Target="../media/image235.png"/><Relationship Id="rId6" Type="http://schemas.openxmlformats.org/officeDocument/2006/relationships/image" Target="../media/image234.png"/><Relationship Id="rId7" Type="http://schemas.openxmlformats.org/officeDocument/2006/relationships/image" Target="../media/image236.png"/><Relationship Id="rId8" Type="http://schemas.openxmlformats.org/officeDocument/2006/relationships/image" Target="../media/image231.png"/><Relationship Id="rId9" Type="http://schemas.openxmlformats.org/officeDocument/2006/relationships/notesSlide" Target="../notesSlides/notesSlide6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8" name="Google Shape;248;p35"/>
          <p:cNvSpPr txBox="1"/>
          <p:nvPr>
            <p:ph idx="1" type="body"/>
          </p:nvPr>
        </p:nvSpPr>
        <p:spPr>
          <a:xfrm>
            <a:off x="2685321" y="5072811"/>
            <a:ext cx="5012644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lang="ru-RU">
                <a:latin typeface="Play"/>
                <a:ea typeface="Play"/>
                <a:cs typeface="Play"/>
                <a:sym typeface="Play"/>
              </a:rPr>
              <a:t>партнёрские университеты и абитуриенты</a:t>
            </a:r>
            <a:endParaRPr/>
          </a:p>
        </p:txBody>
      </p:sp>
      <p:sp>
        <p:nvSpPr>
          <p:cNvPr id="249" name="Google Shape;249;p35"/>
          <p:cNvSpPr txBox="1"/>
          <p:nvPr>
            <p:ph type="title"/>
          </p:nvPr>
        </p:nvSpPr>
        <p:spPr>
          <a:xfrm>
            <a:off x="622261" y="2112702"/>
            <a:ext cx="4527998" cy="19943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</a:pPr>
            <a:r>
              <a:rPr lang="ru-RU" sz="3360"/>
              <a:t>Образовательная программа VK Education «Инженер данных»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342" name="Google Shape;342;p45"/>
          <p:cNvSpPr txBox="1"/>
          <p:nvPr>
            <p:ph type="title"/>
          </p:nvPr>
        </p:nvSpPr>
        <p:spPr>
          <a:xfrm>
            <a:off x="677334" y="692150"/>
            <a:ext cx="4472925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1400"/>
              <a:t>В первом наборе учились 640 студентов из 12 университетов</a:t>
            </a:r>
            <a:endParaRPr/>
          </a:p>
        </p:txBody>
      </p:sp>
      <p:sp>
        <p:nvSpPr>
          <p:cNvPr id="349" name="Google Shape;349;p45"/>
          <p:cNvSpPr/>
          <p:nvPr/>
        </p:nvSpPr>
        <p:spPr>
          <a:xfrm>
            <a:off x="3265840" y="4026791"/>
            <a:ext cx="3615186" cy="8302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студентов из 12 университетов в первом наборе</a:t>
            </a:r>
            <a:endParaRPr sz="1600"/>
          </a:p>
        </p:txBody>
      </p:sp>
      <p:sp>
        <p:nvSpPr>
          <p:cNvPr id="351" name="Google Shape;351;p45"/>
          <p:cNvSpPr/>
          <p:nvPr/>
        </p:nvSpPr>
        <p:spPr>
          <a:xfrm>
            <a:off x="8796338" y="3864328"/>
            <a:ext cx="1150359" cy="1150359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0000" spcFirstLastPara="1" rIns="91425" wrap="square" tIns="180000">
            <a:no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640</a:t>
            </a:r>
            <a:endParaRPr/>
          </a:p>
        </p:txBody>
      </p:sp>
      <p:sp>
        <p:nvSpPr>
          <p:cNvPr id="352" name="Google Shape;352;p45"/>
          <p:cNvSpPr/>
          <p:nvPr/>
        </p:nvSpPr>
        <p:spPr>
          <a:xfrm>
            <a:off x="10125705" y="3864328"/>
            <a:ext cx="1150359" cy="1150359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0000" spcFirstLastPara="1" rIns="91425" wrap="square" tIns="180000">
            <a:no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2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53" name="Google Shape;35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67336" y="4099195"/>
            <a:ext cx="680624" cy="680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5" name="Google Shape;355;p45"/>
          <p:cNvCxnSpPr/>
          <p:nvPr/>
        </p:nvCxnSpPr>
        <p:spPr>
          <a:xfrm>
            <a:off x="7933038" y="4439507"/>
            <a:ext cx="72493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lg" w="lg" type="triangle"/>
          </a:ln>
        </p:spPr>
      </p:cxnSp>
      <p:cxnSp>
        <p:nvCxnSpPr>
          <p:cNvPr id="356" name="Google Shape;356;p45"/>
          <p:cNvCxnSpPr/>
          <p:nvPr/>
        </p:nvCxnSpPr>
        <p:spPr>
          <a:xfrm>
            <a:off x="2578443" y="4467599"/>
            <a:ext cx="568411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lg" w="lg" type="triangle"/>
          </a:ln>
        </p:spPr>
      </p:cxnSp>
      <p:cxnSp>
        <p:nvCxnSpPr>
          <p:cNvPr id="358" name="Google Shape;358;p45"/>
          <p:cNvCxnSpPr/>
          <p:nvPr/>
        </p:nvCxnSpPr>
        <p:spPr>
          <a:xfrm>
            <a:off x="5173362" y="4467599"/>
            <a:ext cx="757881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lg" w="lg" type="triangle"/>
          </a:ln>
        </p:spPr>
      </p:cxnSp>
      <p:cxnSp>
        <p:nvCxnSpPr>
          <p:cNvPr id="359" name="Google Shape;359;p45"/>
          <p:cNvCxnSpPr/>
          <p:nvPr/>
        </p:nvCxnSpPr>
        <p:spPr>
          <a:xfrm>
            <a:off x="5173362" y="3120807"/>
            <a:ext cx="329514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0" name="Google Shape;360;p45"/>
          <p:cNvCxnSpPr/>
          <p:nvPr/>
        </p:nvCxnSpPr>
        <p:spPr>
          <a:xfrm>
            <a:off x="5173362" y="5785654"/>
            <a:ext cx="329514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1" name="Google Shape;361;p45"/>
          <p:cNvCxnSpPr/>
          <p:nvPr/>
        </p:nvCxnSpPr>
        <p:spPr>
          <a:xfrm>
            <a:off x="5502876" y="3120807"/>
            <a:ext cx="0" cy="134679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2" name="Google Shape;362;p45"/>
          <p:cNvCxnSpPr/>
          <p:nvPr/>
        </p:nvCxnSpPr>
        <p:spPr>
          <a:xfrm>
            <a:off x="5502876" y="4447099"/>
            <a:ext cx="0" cy="1338555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3" name="Google Shape;363;p45"/>
          <p:cNvCxnSpPr/>
          <p:nvPr/>
        </p:nvCxnSpPr>
        <p:spPr>
          <a:xfrm>
            <a:off x="9378282" y="3429000"/>
            <a:ext cx="0" cy="352168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lg" w="lg" type="triangle"/>
          </a:ln>
        </p:spPr>
      </p:cxnSp>
      <p:cxnSp>
        <p:nvCxnSpPr>
          <p:cNvPr id="364" name="Google Shape;364;p45"/>
          <p:cNvCxnSpPr/>
          <p:nvPr/>
        </p:nvCxnSpPr>
        <p:spPr>
          <a:xfrm>
            <a:off x="9374660" y="3429000"/>
            <a:ext cx="13392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5" name="Google Shape;365;p45"/>
          <p:cNvCxnSpPr/>
          <p:nvPr/>
        </p:nvCxnSpPr>
        <p:spPr>
          <a:xfrm>
            <a:off x="10707648" y="3429000"/>
            <a:ext cx="0" cy="352168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lg" w="lg" type="triangle"/>
          </a:ln>
        </p:spPr>
      </p:cxnSp>
      <p:cxnSp>
        <p:nvCxnSpPr>
          <p:cNvPr id="366" name="Google Shape;366;p45"/>
          <p:cNvCxnSpPr/>
          <p:nvPr/>
        </p:nvCxnSpPr>
        <p:spPr>
          <a:xfrm>
            <a:off x="9378282" y="5116376"/>
            <a:ext cx="0" cy="352168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lg" w="lg" type="triangle"/>
            <a:tailEnd len="sm" w="sm" type="none"/>
          </a:ln>
        </p:spPr>
      </p:cxnSp>
      <p:cxnSp>
        <p:nvCxnSpPr>
          <p:cNvPr id="367" name="Google Shape;367;p45"/>
          <p:cNvCxnSpPr/>
          <p:nvPr/>
        </p:nvCxnSpPr>
        <p:spPr>
          <a:xfrm>
            <a:off x="9374660" y="5459813"/>
            <a:ext cx="1332988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8" name="Google Shape;368;p45"/>
          <p:cNvCxnSpPr/>
          <p:nvPr/>
        </p:nvCxnSpPr>
        <p:spPr>
          <a:xfrm>
            <a:off x="10707648" y="5116376"/>
            <a:ext cx="0" cy="352168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lg" w="lg" type="triangl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3" name="Google Shape;763;p58"/>
          <p:cNvSpPr txBox="1"/>
          <p:nvPr>
            <p:ph type="title"/>
          </p:nvPr>
        </p:nvSpPr>
        <p:spPr>
          <a:xfrm>
            <a:off x="677334" y="692150"/>
            <a:ext cx="4472925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>Рынку не хватает инженеров данных</a:t>
            </a:r>
            <a:endParaRPr/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8"/>
          <p:cNvSpPr txBox="1"/>
          <p:nvPr/>
        </p:nvSpPr>
        <p:spPr>
          <a:xfrm>
            <a:off x="658811" y="3780646"/>
            <a:ext cx="4743328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 оценке отрасли дефицит составляет 25 000 специалистов</a:t>
            </a:r>
            <a:endParaRPr sz="1600"/>
          </a:p>
        </p:txBody>
      </p:sp>
      <p:sp>
        <p:nvSpPr>
          <p:cNvPr id="766" name="Google Shape;766;p58"/>
          <p:cNvSpPr txBox="1"/>
          <p:nvPr/>
        </p:nvSpPr>
        <p:spPr>
          <a:xfrm>
            <a:off x="6248797" y="3774296"/>
            <a:ext cx="4743328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Университетские курсы дают теорию</a:t>
            </a:r>
            <a:endParaRPr sz="1600"/>
          </a:p>
        </p:txBody>
      </p:sp>
      <p:sp>
        <p:nvSpPr>
          <p:cNvPr id="768" name="Google Shape;768;p58"/>
          <p:cNvSpPr/>
          <p:nvPr/>
        </p:nvSpPr>
        <p:spPr>
          <a:xfrm>
            <a:off x="671513" y="2562300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69" name="Google Shape;76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38" y="2770225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6722" y="2770225"/>
            <a:ext cx="450850" cy="45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4" name="Google Shape;274;p39"/>
          <p:cNvSpPr/>
          <p:nvPr/>
        </p:nvSpPr>
        <p:spPr>
          <a:xfrm>
            <a:off x="671512" y="1773238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Основы SQL и Python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5" name="Google Shape;275;p39"/>
          <p:cNvSpPr/>
          <p:nvPr/>
        </p:nvSpPr>
        <p:spPr>
          <a:xfrm>
            <a:off x="6154737" y="1775553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Потоковая обработка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6" name="Google Shape;276;p39"/>
          <p:cNvSpPr txBox="1"/>
          <p:nvPr>
            <p:ph type="title"/>
          </p:nvPr>
        </p:nvSpPr>
        <p:spPr>
          <a:xfrm>
            <a:off x="677334" y="692150"/>
            <a:ext cx="4472925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2000">
                <a:solidFill>
                  <a:schemeClr val="dk2"/>
                </a:solidFill>
              </a:rPr>
              <a:t>Годовая программа из 4 модулей</a:t>
            </a:r>
            <a:endParaRPr/>
          </a:p>
        </p:txBody>
      </p:sp>
      <p:sp>
        <p:nvSpPr>
          <p:cNvPr id="277" name="Google Shape;277;p39"/>
          <p:cNvSpPr/>
          <p:nvPr/>
        </p:nvSpPr>
        <p:spPr>
          <a:xfrm>
            <a:off x="671512" y="4044294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Хранилища и витрины</a:t>
            </a:r>
            <a:endParaRPr sz="1600"/>
          </a:p>
        </p:txBody>
      </p:sp>
      <p:sp>
        <p:nvSpPr>
          <p:cNvPr id="278" name="Google Shape;278;p39"/>
          <p:cNvSpPr/>
          <p:nvPr/>
        </p:nvSpPr>
        <p:spPr>
          <a:xfrm>
            <a:off x="6154737" y="4044294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Инженерия ML-пайплайнов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18" name="Google Shape;918;p74"/>
          <p:cNvCxnSpPr/>
          <p:nvPr/>
        </p:nvCxnSpPr>
        <p:spPr>
          <a:xfrm rot="10800000">
            <a:off x="658813" y="2199500"/>
            <a:ext cx="11533187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19" name="Google Shape;919;p74"/>
          <p:cNvCxnSpPr/>
          <p:nvPr/>
        </p:nvCxnSpPr>
        <p:spPr>
          <a:xfrm flipH="1">
            <a:off x="1" y="4351265"/>
            <a:ext cx="8112124" cy="42098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"/>
            <a:headEnd len="lg" w="lg" type="stealth"/>
            <a:tailEnd len="sm" w="sm" type="none"/>
          </a:ln>
        </p:spPr>
      </p:cxnSp>
      <p:sp>
        <p:nvSpPr>
          <p:cNvPr id="920" name="Google Shape;920;p74"/>
          <p:cNvSpPr txBox="1"/>
          <p:nvPr>
            <p:ph type="title"/>
          </p:nvPr>
        </p:nvSpPr>
        <p:spPr>
          <a:xfrm>
            <a:off x="677334" y="692150"/>
            <a:ext cx="4472925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520"/>
              <a:t>Результаты первого набора</a:t>
            </a:r>
            <a:endParaRPr/>
          </a:p>
        </p:txBody>
      </p:sp>
      <p:sp>
        <p:nvSpPr>
          <p:cNvPr id="921" name="Google Shape;921;p74"/>
          <p:cNvSpPr txBox="1"/>
          <p:nvPr/>
        </p:nvSpPr>
        <p:spPr>
          <a:xfrm>
            <a:off x="658813" y="3057872"/>
            <a:ext cx="2038265" cy="565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 конца дошли</a:t>
            </a:r>
            <a:endParaRPr/>
          </a:p>
        </p:txBody>
      </p:sp>
      <p:sp>
        <p:nvSpPr>
          <p:cNvPr id="922" name="Google Shape;922;p74"/>
          <p:cNvSpPr txBox="1"/>
          <p:nvPr/>
        </p:nvSpPr>
        <p:spPr>
          <a:xfrm>
            <a:off x="658813" y="2434478"/>
            <a:ext cx="1143001" cy="597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71%</a:t>
            </a:r>
            <a:endParaRPr/>
          </a:p>
        </p:txBody>
      </p:sp>
      <p:sp>
        <p:nvSpPr>
          <p:cNvPr id="923" name="Google Shape;923;p74"/>
          <p:cNvSpPr txBox="1"/>
          <p:nvPr/>
        </p:nvSpPr>
        <p:spPr>
          <a:xfrm>
            <a:off x="3363214" y="3057872"/>
            <a:ext cx="2038265" cy="565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трудоустроены в течение трёх месяцев после выпуска 58%</a:t>
            </a:r>
            <a:endParaRPr/>
          </a:p>
        </p:txBody>
      </p:sp>
      <p:sp>
        <p:nvSpPr>
          <p:cNvPr id="924" name="Google Shape;924;p74"/>
          <p:cNvSpPr txBox="1"/>
          <p:nvPr/>
        </p:nvSpPr>
        <p:spPr>
          <a:xfrm>
            <a:off x="3363214" y="2434478"/>
            <a:ext cx="1143001" cy="597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58%</a:t>
            </a:r>
            <a:endParaRPr/>
          </a:p>
        </p:txBody>
      </p:sp>
      <p:sp>
        <p:nvSpPr>
          <p:cNvPr id="925" name="Google Shape;925;p74"/>
          <p:cNvSpPr txBox="1"/>
          <p:nvPr/>
        </p:nvSpPr>
        <p:spPr>
          <a:xfrm>
            <a:off x="6073860" y="3057872"/>
            <a:ext cx="2038265" cy="565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средняя стартовая зарплата</a:t>
            </a:r>
            <a:endParaRPr/>
          </a:p>
        </p:txBody>
      </p:sp>
      <p:sp>
        <p:nvSpPr>
          <p:cNvPr id="926" name="Google Shape;926;p74"/>
          <p:cNvSpPr txBox="1"/>
          <p:nvPr/>
        </p:nvSpPr>
        <p:spPr>
          <a:xfrm>
            <a:off x="6073860" y="2434478"/>
            <a:ext cx="1143001" cy="597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145 000 ₽</a:t>
            </a:r>
            <a:endParaRPr/>
          </a:p>
        </p:txBody>
      </p:sp>
      <p:sp>
        <p:nvSpPr>
          <p:cNvPr id="927" name="Google Shape;927;p74"/>
          <p:cNvSpPr/>
          <p:nvPr/>
        </p:nvSpPr>
        <p:spPr>
          <a:xfrm>
            <a:off x="658813" y="2089903"/>
            <a:ext cx="219195" cy="219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74"/>
          <p:cNvSpPr/>
          <p:nvPr/>
        </p:nvSpPr>
        <p:spPr>
          <a:xfrm>
            <a:off x="3416678" y="2089903"/>
            <a:ext cx="219195" cy="219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74"/>
          <p:cNvSpPr/>
          <p:nvPr/>
        </p:nvSpPr>
        <p:spPr>
          <a:xfrm>
            <a:off x="6093813" y="2089903"/>
            <a:ext cx="219195" cy="219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74"/>
          <p:cNvSpPr/>
          <p:nvPr/>
        </p:nvSpPr>
        <p:spPr>
          <a:xfrm>
            <a:off x="707688" y="4262717"/>
            <a:ext cx="219195" cy="219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74"/>
          <p:cNvSpPr/>
          <p:nvPr/>
        </p:nvSpPr>
        <p:spPr>
          <a:xfrm>
            <a:off x="3416678" y="4262717"/>
            <a:ext cx="219195" cy="219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74"/>
          <p:cNvSpPr/>
          <p:nvPr/>
        </p:nvSpPr>
        <p:spPr>
          <a:xfrm>
            <a:off x="6093813" y="4262717"/>
            <a:ext cx="219195" cy="219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74"/>
          <p:cNvSpPr txBox="1"/>
          <p:nvPr/>
        </p:nvSpPr>
        <p:spPr>
          <a:xfrm>
            <a:off x="8796338" y="3057872"/>
            <a:ext cx="2038265" cy="565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оценка программы студентами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74"/>
          <p:cNvSpPr txBox="1"/>
          <p:nvPr/>
        </p:nvSpPr>
        <p:spPr>
          <a:xfrm>
            <a:off x="8796338" y="2434478"/>
            <a:ext cx="1143001" cy="597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4,8 из 5</a:t>
            </a:r>
            <a:endParaRPr/>
          </a:p>
        </p:txBody>
      </p:sp>
      <p:sp>
        <p:nvSpPr>
          <p:cNvPr id="941" name="Google Shape;941;p74"/>
          <p:cNvSpPr/>
          <p:nvPr/>
        </p:nvSpPr>
        <p:spPr>
          <a:xfrm>
            <a:off x="8816291" y="2089903"/>
            <a:ext cx="219195" cy="219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4472925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>Результаты первого набора: сравнение</a:t>
            </a:r>
            <a:endParaRPr/>
          </a:p>
        </p:txBody>
      </p:sp>
      <p:graphicFrame>
        <p:nvGraphicFramePr>
          <p:cNvPr id="889" name="Table 888"/>
          <p:cNvGraphicFramePr>
            <a:graphicFrameLocks noGrp="1"/>
          </p:cNvGraphicFramePr>
          <p:nvPr/>
        </p:nvGraphicFramePr>
        <p:xfrm>
          <a:off x="621792" y="1773238"/>
          <a:ext cx="10924032" cy="1584960"/>
        </p:xfrm>
        <a:graphic>
          <a:graphicData uri="http://schemas.openxmlformats.org/drawingml/2006/table">
            <a:tbl>
              <a:tblPr firstRow="1" bandRow="0"/>
              <a:tblGrid>
                <a:gridCol w="6068906"/>
                <a:gridCol w="2427562"/>
                <a:gridCol w="2427564"/>
              </a:tblGrid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Показатель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Набор 2024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Набор 2025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7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Студентов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640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1 100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Дошли до конца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71%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76%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Трудоустроены за 3 месяца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58%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63%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83" name="Google Shape;283;p40"/>
          <p:cNvSpPr txBox="1"/>
          <p:nvPr>
            <p:ph type="title"/>
          </p:nvPr>
        </p:nvSpPr>
        <p:spPr>
          <a:xfrm>
            <a:off x="677334" y="692150"/>
            <a:ext cx="4472925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3060">
                <a:solidFill>
                  <a:schemeClr val="dk2"/>
                </a:solidFill>
              </a:rPr>
              <a:t>Как устроено обучение</a:t>
            </a:r>
            <a:endParaRPr/>
          </a:p>
        </p:txBody>
      </p:sp>
      <p:sp>
        <p:nvSpPr>
          <p:cNvPr id="284" name="Google Shape;284;p40"/>
          <p:cNvSpPr/>
          <p:nvPr/>
        </p:nvSpPr>
        <p:spPr>
          <a:xfrm>
            <a:off x="677332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Онлайн-лекции по вечерам</a:t>
            </a:r>
            <a:endParaRPr sz="1600"/>
          </a:p>
        </p:txBody>
      </p:sp>
      <p:sp>
        <p:nvSpPr>
          <p:cNvPr id="285" name="Google Shape;285;p40"/>
          <p:cNvSpPr/>
          <p:nvPr/>
        </p:nvSpPr>
        <p:spPr>
          <a:xfrm>
            <a:off x="4334060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Практикумы по субботам</a:t>
            </a:r>
            <a:endParaRPr sz="1600"/>
          </a:p>
        </p:txBody>
      </p:sp>
      <p:sp>
        <p:nvSpPr>
          <p:cNvPr id="286" name="Google Shape;286;p40"/>
          <p:cNvSpPr/>
          <p:nvPr/>
        </p:nvSpPr>
        <p:spPr>
          <a:xfrm>
            <a:off x="7990788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Проверка проектов ревьюерами</a:t>
            </a:r>
            <a:endParaRPr sz="1600"/>
          </a:p>
        </p:txBody>
      </p:sp>
      <p:sp>
        <p:nvSpPr>
          <p:cNvPr id="287" name="Google Shape;287;p40"/>
          <p:cNvSpPr/>
          <p:nvPr/>
        </p:nvSpPr>
        <p:spPr>
          <a:xfrm>
            <a:off x="677332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Карьерный трек с разбором резюме и пробными собеседованиями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3" name="Google Shape;763;p58"/>
          <p:cNvSpPr txBox="1"/>
          <p:nvPr>
            <p:ph type="title"/>
          </p:nvPr>
        </p:nvSpPr>
        <p:spPr>
          <a:xfrm>
            <a:off x="677334" y="692150"/>
            <a:ext cx="4472925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060"/>
              <a:t>Что нужно от партнёров</a:t>
            </a:r>
            <a:endParaRPr/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8"/>
          <p:cNvSpPr txBox="1"/>
          <p:nvPr/>
        </p:nvSpPr>
        <p:spPr>
          <a:xfrm>
            <a:off x="658811" y="3780646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Зачёт модулей программы как дисциплин по выбору</a:t>
            </a:r>
            <a:endParaRPr sz="1600"/>
          </a:p>
        </p:txBody>
      </p:sp>
      <p:sp>
        <p:nvSpPr>
          <p:cNvPr id="766" name="Google Shape;766;p58"/>
          <p:cNvSpPr txBox="1"/>
          <p:nvPr/>
        </p:nvSpPr>
        <p:spPr>
          <a:xfrm>
            <a:off x="4385469" y="3774296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Аудитории для практикумов</a:t>
            </a:r>
            <a:endParaRPr sz="1600"/>
          </a:p>
        </p:txBody>
      </p:sp>
      <p:sp>
        <p:nvSpPr>
          <p:cNvPr id="767" name="Google Shape;767;p58"/>
          <p:cNvSpPr txBox="1"/>
          <p:nvPr/>
        </p:nvSpPr>
        <p:spPr>
          <a:xfrm>
            <a:off x="8112126" y="3774296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Продвижение среди студентов 3–4 курсов</a:t>
            </a:r>
            <a:endParaRPr sz="1600"/>
          </a:p>
        </p:txBody>
      </p:sp>
      <p:sp>
        <p:nvSpPr>
          <p:cNvPr id="768" name="Google Shape;768;p58"/>
          <p:cNvSpPr/>
          <p:nvPr/>
        </p:nvSpPr>
        <p:spPr>
          <a:xfrm>
            <a:off x="671513" y="2562300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69" name="Google Shape;76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38" y="2770225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7349" y="2772418"/>
            <a:ext cx="450851" cy="45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93394" y="2770225"/>
            <a:ext cx="450850" cy="45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81" name="Google Shape;781;p5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/>
              <a:t>Следующие шаги</a:t>
            </a:r>
            <a:endParaRPr/>
          </a:p>
        </p:txBody>
      </p:sp>
      <p:sp>
        <p:nvSpPr>
          <p:cNvPr id="782" name="Google Shape;782;p59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3" name="Google Shape;783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9438" y="2770225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16973" y="2791669"/>
            <a:ext cx="450851" cy="45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5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4144" y="2770225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59"/>
          <p:cNvSpPr txBox="1"/>
          <p:nvPr/>
        </p:nvSpPr>
        <p:spPr>
          <a:xfrm>
            <a:off x="658811" y="3780646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Подписание соглашений с университетами до 1 декабря</a:t>
            </a:r>
            <a:endParaRPr sz="1600"/>
          </a:p>
        </p:txBody>
      </p:sp>
      <p:sp>
        <p:nvSpPr>
          <p:cNvPr id="787" name="Google Shape;787;p59"/>
          <p:cNvSpPr txBox="1"/>
          <p:nvPr/>
        </p:nvSpPr>
        <p:spPr>
          <a:xfrm>
            <a:off x="4385469" y="3774296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Набор третьего потока в феврале</a:t>
            </a:r>
            <a:endParaRPr sz="1600"/>
          </a:p>
        </p:txBody>
      </p:sp>
      <p:sp>
        <p:nvSpPr>
          <p:cNvPr id="788" name="Google Shape;788;p59"/>
          <p:cNvSpPr txBox="1"/>
          <p:nvPr/>
        </p:nvSpPr>
        <p:spPr>
          <a:xfrm>
            <a:off x="8112126" y="3774296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Запуск программы в 20 университетах к сентябрю следующего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Google Shape;1075;p84"/>
          <p:cNvSpPr txBox="1"/>
          <p:nvPr>
            <p:ph type="title"/>
          </p:nvPr>
        </p:nvSpPr>
        <p:spPr>
          <a:xfrm>
            <a:off x="620713" y="2483712"/>
            <a:ext cx="452954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ru-RU" sz="5100"/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