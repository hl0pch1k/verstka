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3873"/>
          <c:y val="0.0141"/>
          <c:w val="0.4943"/>
          <c:h val="0.971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Количество</c:v>
                </c:pt>
              </c:strCache>
            </c:strRef>
          </c:tx>
          <c:spPr>
            <a:solidFill>
              <a:srgbClr val="94C6FF"/>
            </a:solidFill>
            <a:ln>
              <a:noFill/>
            </a:ln>
          </c:spPr>
          <c:invertIfNegative val="0"/>
          <c:dPt>
            <c:idx val="3"/>
            <c:spPr>
              <a:solidFill>
                <a:srgbClr val="0077FF"/>
              </a:solidFill>
              <a:ln>
                <a:noFill/>
              </a:ln>
            </c:spPr>
          </c:dPt>
          <c:dLbls>
            <c:dLbl>
              <c:idx val="3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80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6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Жители района</c:v>
                </c:pt>
                <c:pt idx="1">
                  <c:v>Выбранная возрастная аудитория</c:v>
                </c:pt>
                <c:pt idx="2">
                  <c:v>Потенциально заинтересованные</c:v>
                </c:pt>
                <c:pt idx="3">
                  <c:v>Целевое количество клиентов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18000.0</c:v>
                </c:pt>
                <c:pt idx="1">
                  <c:v>8000.0</c:v>
                </c:pt>
                <c:pt idx="2">
                  <c:v>1200.0</c:v>
                </c:pt>
                <c:pt idx="3">
                  <c:v>250.0</c:v>
                </c:pt>
              </c:numCache>
            </c:numRef>
          </c:val>
        </c:ser>
        <c:dLbls>
          <c:numFmt formatCode="#,##0&quot; человек&quot;;&quot;−&quot;#,##0&quot; челове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6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1200" b="0">
                <a:solidFill>
                  <a:srgbClr val="5757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80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269"/>
          <c:y val="0.0269"/>
          <c:w val="0.9462"/>
          <c:h val="0.946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Важность критериев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E8FFF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5CA8FF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8FC3FF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BDDCFF"/>
              </a:solidFill>
              <a:ln w="19050">
                <a:solidFill>
                  <a:srgbClr val="FFFFFF"/>
                </a:solidFill>
              </a:ln>
            </c:spPr>
          </c:dPt>
          <c:dLbls>
            <c:dLbl>
              <c:idx val="0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FFFF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;&quot;−&quot;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.0&quot;%&quot;;&quot;−&quot;0.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.0&quot;%&quot;;&quot;−&quot;0.0&quot;%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;&quot;−&quot;0&quot;%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Близость к дому</c:v>
                </c:pt>
                <c:pt idx="1">
                  <c:v>Расписание</c:v>
                </c:pt>
                <c:pt idx="2">
                  <c:v>Стоимость</c:v>
                </c:pt>
                <c:pt idx="3">
                  <c:v>Тренеры</c:v>
                </c:pt>
                <c:pt idx="4">
                  <c:v>Атмосфера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35.0</c:v>
                </c:pt>
                <c:pt idx="1">
                  <c:v>25.0</c:v>
                </c:pt>
                <c:pt idx="2">
                  <c:v>20.0</c:v>
                </c:pt>
                <c:pt idx="3">
                  <c:v>12.5</c:v>
                </c:pt>
                <c:pt idx="4">
                  <c:v>7.5</c:v>
                </c:pt>
              </c:numCache>
            </c:numRef>
          </c:val>
        </c:ser>
        <c:dLbls>
          <c:numFmt formatCode="0&quot;%&quot;;&quot;−&quot;0&quot;%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19"/>
          <c:y val="0.1009"/>
          <c:w val="0.9961"/>
          <c:h val="0.813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Посещения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6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Месячная вместимость</c:v>
                </c:pt>
                <c:pt idx="1">
                  <c:v>Ожидаемые посещения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2700.0</c:v>
                </c:pt>
                <c:pt idx="1">
                  <c:v>2000.0</c:v>
                </c:pt>
              </c:numCache>
            </c:numRef>
          </c:val>
        </c:ser>
        <c:dLbls>
          <c:numFmt formatCode="#,##0&quot; посещений&quot;;&quot;−&quot;#,##0&quot; посещений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6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4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E1E1E1"/>
            </a:solidFill>
          </a:ln>
        </c:spPr>
        <c:txPr>
          <a:bodyPr rot="0" vert="horz"/>
          <a:lstStyle/>
          <a:p>
            <a:pPr>
              <a:defRPr sz="1200" b="0">
                <a:solidFill>
                  <a:srgbClr val="5757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2700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432"/>
          <c:y val="0.0432"/>
          <c:w val="0.9136"/>
          <c:h val="0.9136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Бюджет команды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3D98FF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80BBFF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BDDCFF"/>
              </a:solidFill>
              <a:ln w="19050">
                <a:solidFill>
                  <a:srgbClr val="FFFFFF"/>
                </a:solidFill>
              </a:ln>
            </c:spPr>
          </c:dPt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6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Оплата работы тренеров</c:v>
                </c:pt>
                <c:pt idx="1">
                  <c:v>Администраторов</c:v>
                </c:pt>
                <c:pt idx="2">
                  <c:v>Уборки</c:v>
                </c:pt>
                <c:pt idx="3">
                  <c:v>Резерв на замены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260000.0</c:v>
                </c:pt>
                <c:pt idx="1">
                  <c:v>110000.0</c:v>
                </c:pt>
                <c:pt idx="2">
                  <c:v>30000.0</c:v>
                </c:pt>
                <c:pt idx="3">
                  <c:v>20000.0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6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421"/>
          <c:y val="0.0421"/>
          <c:w val="0.9157"/>
          <c:h val="0.9157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Вложения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248AFF"/>
              </a:solidFill>
              <a:ln w="1905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4DA0FF"/>
              </a:solidFill>
              <a:ln w="1905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70B3FF"/>
              </a:solidFill>
              <a:ln w="1905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99C9FF"/>
              </a:solidFill>
              <a:ln w="19050"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BDDCFF"/>
              </a:solidFill>
              <a:ln w="19050">
                <a:solidFill>
                  <a:srgbClr val="FFFFFF"/>
                </a:solidFill>
              </a:ln>
            </c:spPr>
          </c:dPt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6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Ремонт и подготовка помещения</c:v>
                </c:pt>
                <c:pt idx="1">
                  <c:v>Оборотный резерв</c:v>
                </c:pt>
                <c:pt idx="2">
                  <c:v>Оборудование и инвентарь</c:v>
                </c:pt>
                <c:pt idx="3">
                  <c:v>Мебель и обустройство раздевалок</c:v>
                </c:pt>
                <c:pt idx="4">
                  <c:v>Обеспечительный платеж по аренде</c:v>
                </c:pt>
                <c:pt idx="5">
                  <c:v>Сайт и система записи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900000.0</c:v>
                </c:pt>
                <c:pt idx="1">
                  <c:v>850000.0</c:v>
                </c:pt>
                <c:pt idx="2">
                  <c:v>650000.0</c:v>
                </c:pt>
                <c:pt idx="3">
                  <c:v>300000.0</c:v>
                </c:pt>
                <c:pt idx="4">
                  <c:v>180000.0</c:v>
                </c:pt>
                <c:pt idx="5">
                  <c:v>120000.0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6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2771"/>
          <c:y val="0.0163"/>
          <c:w val="0.5369"/>
          <c:h val="0.967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₽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6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Выручка</c:v>
                </c:pt>
                <c:pt idx="1">
                  <c:v>Расходы</c:v>
                </c:pt>
                <c:pt idx="2">
                  <c:v>Операционная прибыль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1262500.0</c:v>
                </c:pt>
                <c:pt idx="1">
                  <c:v>1038125.0</c:v>
                </c:pt>
                <c:pt idx="2">
                  <c:v>224375.0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6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2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1200" b="0">
                <a:solidFill>
                  <a:srgbClr val="5757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62500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41"/>
          <c:y val="0.1138"/>
          <c:w val="0.9917"/>
          <c:h val="0.808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Активные клиенты</c:v>
                </c:pt>
              </c:strCache>
            </c:strRef>
          </c:tx>
          <c:spPr>
            <a:ln w="28575">
              <a:solidFill>
                <a:srgbClr val="0077FF"/>
              </a:solidFill>
            </a:ln>
          </c:spPr>
          <c:marker>
            <c:symbol val="circle"/>
            <c:size val="8"/>
            <c:spPr>
              <a:solidFill>
                <a:srgbClr val="0077FF"/>
              </a:solidFill>
              <a:ln w="19050">
                <a:solidFill>
                  <a:srgbClr val="FFFFFF"/>
                </a:solidFill>
              </a:ln>
            </c:spPr>
          </c:marker>
          <c:dPt>
            <c:idx val="5"/>
            <c:marker>
              <c:symbol val="circle"/>
              <c:size val="11"/>
              <c:spPr>
                <a:solidFill>
                  <a:srgbClr val="0077FF"/>
                </a:solidFill>
                <a:ln w="25400"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837"/>
                  <c:y val="0.0000"/>
                </c:manualLayout>
              </c:layout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837"/>
                  <c:y val="0.0000"/>
                </c:manualLayout>
              </c:layout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837"/>
                  <c:y val="0.0000"/>
                </c:manualLayout>
              </c:layout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837"/>
                  <c:y val="0.0000"/>
                </c:manualLayout>
              </c:layout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80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6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1 мес.</c:v>
                </c:pt>
                <c:pt idx="1">
                  <c:v>2 мес.</c:v>
                </c:pt>
                <c:pt idx="2">
                  <c:v>3 мес.</c:v>
                </c:pt>
                <c:pt idx="3">
                  <c:v>4 мес.</c:v>
                </c:pt>
                <c:pt idx="4">
                  <c:v>5 мес.</c:v>
                </c:pt>
                <c:pt idx="5">
                  <c:v>6 мес.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80.0</c:v>
                </c:pt>
                <c:pt idx="1">
                  <c:v>120.0</c:v>
                </c:pt>
                <c:pt idx="2">
                  <c:v>160.0</c:v>
                </c:pt>
                <c:pt idx="3">
                  <c:v>195.0</c:v>
                </c:pt>
                <c:pt idx="4">
                  <c:v>225.0</c:v>
                </c:pt>
                <c:pt idx="5">
                  <c:v>250.0</c:v>
                </c:pt>
              </c:numCache>
            </c:numRef>
          </c:val>
          <c:smooth val="0"/>
        </c:ser>
        <c:dLbls>
          <c:numFmt formatCode="#,##0&quot; человек&quot;;&quot;−&quot;#,##0&quot; челове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6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510000001"/>
        <c:axId val="510000002"/>
      </c:line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E1E1E1"/>
            </a:solidFill>
          </a:ln>
        </c:spPr>
        <c:txPr>
          <a:bodyPr rot="0" vert="horz"/>
          <a:lstStyle/>
          <a:p>
            <a:pPr>
              <a:defRPr sz="1200" b="0">
                <a:solidFill>
                  <a:srgbClr val="5757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250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2713"/>
          <c:y val="0.0346"/>
          <c:w val="0.4903"/>
          <c:h val="0.823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Операционный результат</c:v>
                </c:pt>
              </c:strCache>
            </c:strRef>
          </c:tx>
          <c:spPr>
            <a:ln w="28575">
              <a:solidFill>
                <a:srgbClr val="0077FF"/>
              </a:solidFill>
            </a:ln>
          </c:spPr>
          <c:marker>
            <c:symbol val="circle"/>
            <c:size val="8"/>
            <c:spPr>
              <a:solidFill>
                <a:srgbClr val="0077FF"/>
              </a:solidFill>
              <a:ln w="19050">
                <a:solidFill>
                  <a:srgbClr val="FFFFFF"/>
                </a:solidFill>
              </a:ln>
            </c:spPr>
          </c:marker>
          <c:dPt>
            <c:idx val="5"/>
            <c:marker>
              <c:symbol val="circle"/>
              <c:size val="11"/>
              <c:spPr>
                <a:solidFill>
                  <a:srgbClr val="0077FF"/>
                </a:solidFill>
                <a:ln w="25400">
                  <a:solidFill>
                    <a:srgbClr val="FFFFFF"/>
                  </a:solidFill>
                </a:ln>
              </c:spPr>
            </c:marker>
          </c:dPt>
          <c:dLbls>
            <c:dLbl>
              <c:idx val="5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350" b="0">
                      <a:solidFill>
                        <a:srgbClr val="0077FF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77FF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/>
                </c:pt>
                <c:pt idx="1">
                  <c:v>2 мес.</c:v>
                </c:pt>
                <c:pt idx="2">
                  <c:v/>
                </c:pt>
                <c:pt idx="3">
                  <c:v>4 мес.</c:v>
                </c:pt>
                <c:pt idx="4">
                  <c:v/>
                </c:pt>
                <c:pt idx="5">
                  <c:v>6 мес.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-591200.0</c:v>
                </c:pt>
                <c:pt idx="1">
                  <c:v>-399300.0</c:v>
                </c:pt>
                <c:pt idx="2">
                  <c:v>-207400.0</c:v>
                </c:pt>
                <c:pt idx="3">
                  <c:v>-39487.5</c:v>
                </c:pt>
                <c:pt idx="4">
                  <c:v>104437.5</c:v>
                </c:pt>
                <c:pt idx="5">
                  <c:v>224375.0</c:v>
                </c:pt>
              </c:numCache>
            </c:numRef>
          </c:val>
          <c:smooth val="0"/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smooth val="0"/>
        <c:axId val="510000001"/>
        <c:axId val="510000002"/>
      </c:line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E1E1E1"/>
            </a:solidFill>
          </a:ln>
        </c:spPr>
        <c:txPr>
          <a:bodyPr rot="-2700000"/>
          <a:lstStyle/>
          <a:p>
            <a:pPr>
              <a:defRPr sz="1200" b="0">
                <a:solidFill>
                  <a:srgbClr val="5757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400000.0"/>
          <c:min val="-600000.0"/>
        </c:scaling>
        <c:delete val="0"/>
        <c:axPos val="l"/>
        <c:majorGridlines>
          <c:spPr>
            <a:ln w="6350">
              <a:solidFill>
                <a:srgbClr val="EAEAEA"/>
              </a:solidFill>
            </a:ln>
          </c:spPr>
        </c:majorGridlines>
        <c:numFmt formatCode="#,##0&quot; ₽&quot;" sourceLinked="0"/>
        <c:majorTickMark val="none"/>
        <c:minorTickMark val="none"/>
        <c:tickLblPos val="nextTo"/>
        <c:spPr>
          <a:ln>
            <a:noFill/>
          </a:ln>
        </c:spPr>
        <c:txPr>
          <a:bodyPr rot="0" vert="horz"/>
          <a:lstStyle/>
          <a:p>
            <a:pPr>
              <a:defRPr sz="1200" b="0">
                <a:solidFill>
                  <a:srgbClr val="5757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1"/>
        <c:crosses val="autoZero"/>
        <c:crossBetween val="between"/>
        <c:majorUnit val="200000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3662"/>
          <c:y val="0.0120"/>
          <c:w val="0.4347"/>
          <c:h val="0.9760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Сумма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&quot; ₽&quot;;&quot;−&quot;#,##0&quot; ₽&quot;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6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&quot; ₽&quot;;&quot;−&quot;#,##0&quot; ₽&quot;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6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Имеющийся резерв</c:v>
                </c:pt>
                <c:pt idx="1">
                  <c:v>Прогнозируемая потребность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850000.0</c:v>
                </c:pt>
                <c:pt idx="1">
                  <c:v>1237388.0</c:v>
                </c:pt>
              </c:numCache>
            </c:numRef>
          </c:val>
        </c:ser>
        <c:dLbls>
          <c:numFmt formatCode="#,##0&quot; ₽&quot;;&quot;−&quot;#,##0&quot; ₽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6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1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1200" b="0">
                <a:solidFill>
                  <a:srgbClr val="5757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37388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2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Фитнес-студия «Движение» предназначена для групповых тренировок рядом с домом. Основные направления включают силовые занятия, растяжку, йогу и функциональные тренировки. Цель проекта — привлечь 250 постоянных клиентов и выйти на ежемесячную операционную прибыль 225 000 рублей к шестому месяцу работы.</a:t>
            </a:r>
          </a:p>
          <a:p>
            <a:r>
              <a:t>[verstka:sl2]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основе предварительной гипотезы 15% из 8 000 жителей в возрасте 23–45 лет могут заинтересоваться занятиями в студии — это 1 200 человек. Для достижения целей проекта необходимо привлечь 21% этой группы, что составляет 250 клиентов.</a:t>
            </a:r>
          </a:p>
          <a:p>
            <a:r>
              <a:t>[verstka:sl3]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Опрос проводился среди 200 жителей района. Каждый участник указал один основной критерий выбора фитнес-студии.</a:t>
            </a:r>
          </a:p>
          <a:p>
            <a:r>
              <a:t>[verstka:sl4]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Доход от разовых и пробных посещений не учитывается в основном финансовом прогнозе.</a:t>
            </a:r>
          </a:p>
          <a:p>
            <a:r>
              <a:t>[verstka:sl5]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Студия может обслужить до 2 700 посещений в месяц, но ожидается только 2 000. Это соответствует загрузке 74%. Утренние и вечерние занятия будут наиболее востребованы.</a:t>
            </a:r>
          </a:p>
          <a:p>
            <a:r>
              <a:t>[verstka:sl6]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Общая площадь студии — 180 м². Тренировочный зал занимает 100 м², что составляет большую часть от общей площади.</a:t>
            </a:r>
          </a:p>
          <a:p>
            <a:r>
              <a:t>[verstka:sl7]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Бюджет команды на первом этапе составляет 420 000 рублей. На оплату тренеров приходится 260 000 рублей, администраторов — 110 000 рублей, уборки — 30 000 рублей, резерв на замены — 20 000 рублей.</a:t>
            </a:r>
          </a:p>
          <a:p>
            <a:r>
              <a:t>[verstka:sl8]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первые три месяца продвижения выделяется 240 000 рублей. Из них 90 000 рублей направят на рекламу в социальных сетях, 60 000 рублей — на районные сообщества и местные каналы, 40 000 рублей — на партнерства с жилыми комплексами и организациями, 30 000 рублей — на мероприятия открытия, 20 000 рублей — на печатные материалы. План на этот период — получить 1 000 обращений, записать 500 человек на пробное занятие, обеспечить 350 фактических посещений и продать 175 первых абонементов.</a:t>
            </a:r>
          </a:p>
          <a:p>
            <a:r>
              <a:t>[verstka:sl9]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Стартовый бюджет проекта составляет 3 000 000 рублей. Ремонт и подготовка помещения требуют 900 000 рублей, оборудование и инвентарь — 650 000 рублей, мебель и обустройство раздевалок — 300 000 рублей, обеспечительный платеж по аренде — 180 000 рублей, сайт и система записи — 120 000 рублей. Оборотный резерв составляет 850 000 рублей.</a:t>
            </a:r>
          </a:p>
          <a:p>
            <a:r>
              <a:t>[verstka:sl10]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При 250 активных клиентах и средней месячной выручке на клиента 5 050 рублей студия получит 1 262 500 рублей выручки. Постоянные ежемесячные расходы составят 975 000 рублей, а переменные расходы — 5% от выручки (63 125 рублей). Общие расходы составят 1 038 125 рублей, операционная прибыль — 224 375 рублей. Налоги, амортизация и проценты по кредитам не учтены.</a:t>
            </a:r>
          </a:p>
          <a:p>
            <a:r>
              <a:t>[verstka:sl11]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Прогноз активных клиентов: 80, 120, 160, 195, 225, 250. Месячная выручка: 404 000, 606 000, 808 000, 984 750, 1 136 250, 1 262 500 ₽. Постоянные расходы: 975 000 ₽, переменные: 5% от выручки. Операционный результат: -591 200, -399 300, -207 400, -39 487,50, +104 437,50, +224 375 ₽.</a:t>
            </a:r>
          </a:p>
          <a:p>
            <a:r>
              <a:t>[verstka:sl12]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Суммарный операционный убыток за первые четыре месяца составит около 1 237 388 рублей. Имеющийся оборотный резерв в 850 000 рублей недостаточен, поэтому дополнительная потребность в финансировании — не менее 387 388 рублей. Это означает, что общий бюджет проекта следует увеличить до 3 387 388 рублей или сократить затраты до запуска.</a:t>
            </a:r>
          </a:p>
          <a:p>
            <a:r>
              <a:t>[verstka:sl13]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l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/>
          <p:nvPr>
            <p:ph idx="1" type="body"/>
          </p:nvPr>
        </p:nvSpPr>
        <p:spPr>
          <a:xfrm>
            <a:off x="658813" y="4866865"/>
            <a:ext cx="102240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4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Титульный слайд">
  <p:cSld name="4_Титульный слайд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5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9" name="Google Shape;7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раздела">
  <p:cSld name="Титульный слайд раздела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8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5" name="Google Shape;85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1342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раздела">
  <p:cSld name="2_Титульный слайд раздела">
    <p:bg>
      <p:bgPr>
        <a:solidFill>
          <a:schemeClr val="l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9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8" name="Google Shape;88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2 строки + объект">
  <p:cSld name="Заголовок в 2 строки + объект">
    <p:bg>
      <p:bgPr>
        <a:solidFill>
          <a:schemeClr val="lt2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671513" y="2040889"/>
            <a:ext cx="5424487" cy="4159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0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итата без фото">
  <p:cSld name="Цитата без фото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 txBox="1"/>
          <p:nvPr>
            <p:ph idx="1" type="body"/>
          </p:nvPr>
        </p:nvSpPr>
        <p:spPr>
          <a:xfrm>
            <a:off x="3359150" y="692151"/>
            <a:ext cx="8174038" cy="1609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12"/>
          <p:cNvSpPr txBox="1"/>
          <p:nvPr>
            <p:ph idx="2" type="body"/>
          </p:nvPr>
        </p:nvSpPr>
        <p:spPr>
          <a:xfrm>
            <a:off x="3359150" y="5738829"/>
            <a:ext cx="8200516" cy="461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12"/>
          <p:cNvSpPr txBox="1"/>
          <p:nvPr>
            <p:ph idx="3" type="body"/>
          </p:nvPr>
        </p:nvSpPr>
        <p:spPr>
          <a:xfrm>
            <a:off x="3366814" y="2459421"/>
            <a:ext cx="8174038" cy="1609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Play"/>
                <a:ea typeface="Play"/>
                <a:cs typeface="Play"/>
                <a:sym typeface="Play"/>
              </a:defRPr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12"/>
          <p:cNvSpPr txBox="1"/>
          <p:nvPr/>
        </p:nvSpPr>
        <p:spPr>
          <a:xfrm>
            <a:off x="544512" y="-1049150"/>
            <a:ext cx="2058988" cy="4478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88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>«</a:t>
            </a:r>
            <a:endParaRPr/>
          </a:p>
        </p:txBody>
      </p:sp>
      <p:sp>
        <p:nvSpPr>
          <p:cNvPr id="106" name="Google Shape;106;p12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Мокап телефона ">
  <p:cSld name="Мокап телефона 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14"/>
          <p:cNvSpPr txBox="1"/>
          <p:nvPr>
            <p:ph idx="1" type="body"/>
          </p:nvPr>
        </p:nvSpPr>
        <p:spPr>
          <a:xfrm>
            <a:off x="671514" y="2055970"/>
            <a:ext cx="5418666" cy="41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4" name="Google Shape;114;p14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5" name="Google Shape;11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82421" y="452282"/>
            <a:ext cx="3174791" cy="599138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/>
          <p:nvPr>
            <p:ph idx="2" type="pic"/>
          </p:nvPr>
        </p:nvSpPr>
        <p:spPr>
          <a:xfrm>
            <a:off x="7951157" y="814745"/>
            <a:ext cx="2430752" cy="526077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скриншот (1)">
  <p:cSld name="Заголовок + скриншот (1)">
    <p:bg>
      <p:bgPr>
        <a:solidFill>
          <a:schemeClr val="lt2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 txBox="1"/>
          <p:nvPr>
            <p:ph idx="1" type="body"/>
          </p:nvPr>
        </p:nvSpPr>
        <p:spPr>
          <a:xfrm>
            <a:off x="6096000" y="692150"/>
            <a:ext cx="5437187" cy="55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15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5"/>
          <p:cNvSpPr txBox="1"/>
          <p:nvPr>
            <p:ph idx="2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">
  <p:cSld name="Заголовок + текст">
    <p:bg>
      <p:bgPr>
        <a:solidFill>
          <a:schemeClr val="lt2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1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аттерн + фото">
  <p:cSld name="Паттерн + фото">
    <p:bg>
      <p:bgPr>
        <a:solidFill>
          <a:schemeClr val="lt2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17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7" name="Google Shape;127;p17"/>
          <p:cNvPicPr preferRelativeResize="0"/>
          <p:nvPr/>
        </p:nvPicPr>
        <p:blipFill rotWithShape="1">
          <a:blip r:embed="rId2">
            <a:alphaModFix/>
          </a:blip>
          <a:srcRect b="39" l="621" r="0" t="0"/>
          <a:stretch/>
        </p:blipFill>
        <p:spPr>
          <a:xfrm>
            <a:off x="5335631" y="0"/>
            <a:ext cx="6872200" cy="6855356"/>
          </a:xfrm>
          <a:custGeom>
            <a:rect b="b" l="l" r="r" t="t"/>
            <a:pathLst>
              <a:path extrusionOk="0" h="6855356" w="6872200">
                <a:moveTo>
                  <a:pt x="5172532" y="3455219"/>
                </a:moveTo>
                <a:cubicBezTo>
                  <a:pt x="5499707" y="3455219"/>
                  <a:pt x="5792960" y="3528040"/>
                  <a:pt x="6052290" y="3673628"/>
                </a:cubicBezTo>
                <a:cubicBezTo>
                  <a:pt x="6311647" y="3819244"/>
                  <a:pt x="6513116" y="4021018"/>
                  <a:pt x="6656750" y="4278950"/>
                </a:cubicBezTo>
                <a:cubicBezTo>
                  <a:pt x="6800384" y="4532724"/>
                  <a:pt x="6872200" y="4823927"/>
                  <a:pt x="6872200" y="5152588"/>
                </a:cubicBezTo>
                <a:cubicBezTo>
                  <a:pt x="6872200" y="5481249"/>
                  <a:pt x="6800384" y="5774545"/>
                  <a:pt x="6656750" y="6032478"/>
                </a:cubicBezTo>
                <a:cubicBezTo>
                  <a:pt x="6513116" y="6286251"/>
                  <a:pt x="6311647" y="6485932"/>
                  <a:pt x="6052290" y="6631548"/>
                </a:cubicBezTo>
                <a:cubicBezTo>
                  <a:pt x="5792960" y="6777135"/>
                  <a:pt x="5499707" y="6849957"/>
                  <a:pt x="5172532" y="6849957"/>
                </a:cubicBezTo>
                <a:cubicBezTo>
                  <a:pt x="4845384" y="6849957"/>
                  <a:pt x="4552131" y="6777135"/>
                  <a:pt x="4292801" y="6631548"/>
                </a:cubicBezTo>
                <a:cubicBezTo>
                  <a:pt x="4037443" y="6485932"/>
                  <a:pt x="3835948" y="6286251"/>
                  <a:pt x="3688342" y="6032478"/>
                </a:cubicBezTo>
                <a:cubicBezTo>
                  <a:pt x="3544708" y="5774545"/>
                  <a:pt x="3472891" y="5481249"/>
                  <a:pt x="3472891" y="5152588"/>
                </a:cubicBezTo>
                <a:cubicBezTo>
                  <a:pt x="3472891" y="4823927"/>
                  <a:pt x="3544708" y="4532724"/>
                  <a:pt x="3688342" y="4278950"/>
                </a:cubicBezTo>
                <a:cubicBezTo>
                  <a:pt x="3835948" y="4021018"/>
                  <a:pt x="4037443" y="3819244"/>
                  <a:pt x="4292801" y="3673628"/>
                </a:cubicBezTo>
                <a:cubicBezTo>
                  <a:pt x="4552131" y="3528040"/>
                  <a:pt x="4845384" y="3455219"/>
                  <a:pt x="5172532" y="3455219"/>
                </a:cubicBezTo>
                <a:close/>
                <a:moveTo>
                  <a:pt x="2986720" y="3455219"/>
                </a:moveTo>
                <a:cubicBezTo>
                  <a:pt x="3221752" y="3455219"/>
                  <a:pt x="3412299" y="3645508"/>
                  <a:pt x="3412299" y="3880250"/>
                </a:cubicBezTo>
                <a:lnTo>
                  <a:pt x="3412299" y="6430352"/>
                </a:lnTo>
                <a:cubicBezTo>
                  <a:pt x="3412299" y="6665066"/>
                  <a:pt x="3221752" y="6855356"/>
                  <a:pt x="2986720" y="6855356"/>
                </a:cubicBezTo>
                <a:cubicBezTo>
                  <a:pt x="2751660" y="6855356"/>
                  <a:pt x="2561116" y="6665066"/>
                  <a:pt x="2561116" y="6430352"/>
                </a:cubicBezTo>
                <a:lnTo>
                  <a:pt x="2561116" y="3880250"/>
                </a:lnTo>
                <a:cubicBezTo>
                  <a:pt x="2561116" y="3645508"/>
                  <a:pt x="2751660" y="3455219"/>
                  <a:pt x="2986720" y="3455219"/>
                </a:cubicBezTo>
                <a:close/>
                <a:moveTo>
                  <a:pt x="0" y="3455219"/>
                </a:moveTo>
                <a:lnTo>
                  <a:pt x="2285195" y="3455219"/>
                </a:lnTo>
                <a:lnTo>
                  <a:pt x="2285195" y="6855356"/>
                </a:lnTo>
                <a:cubicBezTo>
                  <a:pt x="1415843" y="6855356"/>
                  <a:pt x="981165" y="6855356"/>
                  <a:pt x="659952" y="6663607"/>
                </a:cubicBezTo>
                <a:cubicBezTo>
                  <a:pt x="467707" y="6548838"/>
                  <a:pt x="306935" y="6388295"/>
                  <a:pt x="192014" y="6196299"/>
                </a:cubicBezTo>
                <a:cubicBezTo>
                  <a:pt x="0" y="5875515"/>
                  <a:pt x="0" y="5441450"/>
                  <a:pt x="0" y="4573266"/>
                </a:cubicBezTo>
                <a:close/>
                <a:moveTo>
                  <a:pt x="5160091" y="0"/>
                </a:moveTo>
                <a:lnTo>
                  <a:pt x="5164453" y="0"/>
                </a:lnTo>
                <a:lnTo>
                  <a:pt x="5275907" y="52"/>
                </a:lnTo>
                <a:cubicBezTo>
                  <a:pt x="5524640" y="425"/>
                  <a:pt x="5662733" y="3407"/>
                  <a:pt x="5779943" y="27266"/>
                </a:cubicBezTo>
                <a:cubicBezTo>
                  <a:pt x="6312557" y="135674"/>
                  <a:pt x="6728787" y="551352"/>
                  <a:pt x="6837340" y="1083241"/>
                </a:cubicBezTo>
                <a:cubicBezTo>
                  <a:pt x="6864644" y="1217025"/>
                  <a:pt x="6864644" y="1378040"/>
                  <a:pt x="6864644" y="1700070"/>
                </a:cubicBezTo>
                <a:lnTo>
                  <a:pt x="6864644" y="3400137"/>
                </a:lnTo>
                <a:lnTo>
                  <a:pt x="5162272" y="3400137"/>
                </a:lnTo>
                <a:cubicBezTo>
                  <a:pt x="4839813" y="3400137"/>
                  <a:pt x="4678583" y="3400137"/>
                  <a:pt x="4544602" y="3372869"/>
                </a:cubicBezTo>
                <a:cubicBezTo>
                  <a:pt x="4012014" y="3264463"/>
                  <a:pt x="3595758" y="2848797"/>
                  <a:pt x="3487205" y="2316902"/>
                </a:cubicBezTo>
                <a:cubicBezTo>
                  <a:pt x="3459901" y="2183117"/>
                  <a:pt x="3459901" y="2022101"/>
                  <a:pt x="3459901" y="1700070"/>
                </a:cubicBezTo>
                <a:cubicBezTo>
                  <a:pt x="3459901" y="1378040"/>
                  <a:pt x="3459901" y="1217025"/>
                  <a:pt x="3487205" y="1083241"/>
                </a:cubicBezTo>
                <a:cubicBezTo>
                  <a:pt x="3595758" y="551352"/>
                  <a:pt x="4012014" y="135674"/>
                  <a:pt x="4544602" y="27266"/>
                </a:cubicBezTo>
                <a:cubicBezTo>
                  <a:pt x="4661835" y="3407"/>
                  <a:pt x="4799931" y="425"/>
                  <a:pt x="5048646" y="52"/>
                </a:cubicBezTo>
                <a:close/>
                <a:moveTo>
                  <a:pt x="1702374" y="0"/>
                </a:moveTo>
                <a:lnTo>
                  <a:pt x="3404743" y="0"/>
                </a:lnTo>
                <a:lnTo>
                  <a:pt x="3404743" y="3400137"/>
                </a:lnTo>
                <a:lnTo>
                  <a:pt x="1702374" y="3400137"/>
                </a:lnTo>
                <a:cubicBezTo>
                  <a:pt x="762181" y="3400137"/>
                  <a:pt x="0" y="2638994"/>
                  <a:pt x="0" y="1700071"/>
                </a:cubicBezTo>
                <a:cubicBezTo>
                  <a:pt x="0" y="761147"/>
                  <a:pt x="762178" y="0"/>
                  <a:pt x="1702374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аттерн + фото">
  <p:cSld name="1_Паттерн + фото">
    <p:bg>
      <p:bgPr>
        <a:solidFill>
          <a:schemeClr val="l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18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1" name="Google Shape;13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33139" y="0"/>
            <a:ext cx="6858000" cy="6858000"/>
          </a:xfrm>
          <a:custGeom>
            <a:rect b="b" l="l" r="r" t="t"/>
            <a:pathLst>
              <a:path extrusionOk="0" h="6858000" w="6858000">
                <a:moveTo>
                  <a:pt x="1708713" y="3459856"/>
                </a:moveTo>
                <a:cubicBezTo>
                  <a:pt x="2035880" y="3459856"/>
                  <a:pt x="2329130" y="3532775"/>
                  <a:pt x="2588468" y="3678558"/>
                </a:cubicBezTo>
                <a:cubicBezTo>
                  <a:pt x="2847820" y="3824369"/>
                  <a:pt x="3049288" y="4026414"/>
                  <a:pt x="3192922" y="4284692"/>
                </a:cubicBezTo>
                <a:cubicBezTo>
                  <a:pt x="3336556" y="4538807"/>
                  <a:pt x="3408373" y="4830401"/>
                  <a:pt x="3408373" y="5159502"/>
                </a:cubicBezTo>
                <a:cubicBezTo>
                  <a:pt x="3408373" y="5488604"/>
                  <a:pt x="3336556" y="5782294"/>
                  <a:pt x="3192922" y="6040572"/>
                </a:cubicBezTo>
                <a:cubicBezTo>
                  <a:pt x="3049288" y="6294687"/>
                  <a:pt x="2847820" y="6494635"/>
                  <a:pt x="2588468" y="6640446"/>
                </a:cubicBezTo>
                <a:cubicBezTo>
                  <a:pt x="2393965" y="6749783"/>
                  <a:pt x="2180386" y="6818135"/>
                  <a:pt x="1947729" y="6845477"/>
                </a:cubicBezTo>
                <a:lnTo>
                  <a:pt x="1728785" y="6858000"/>
                </a:lnTo>
                <a:lnTo>
                  <a:pt x="1688642" y="6858000"/>
                </a:lnTo>
                <a:lnTo>
                  <a:pt x="1469698" y="6845477"/>
                </a:lnTo>
                <a:cubicBezTo>
                  <a:pt x="1237042" y="6818135"/>
                  <a:pt x="1023462" y="6749783"/>
                  <a:pt x="828957" y="6640446"/>
                </a:cubicBezTo>
                <a:cubicBezTo>
                  <a:pt x="573607" y="6494635"/>
                  <a:pt x="372123" y="6294687"/>
                  <a:pt x="224498" y="6040572"/>
                </a:cubicBezTo>
                <a:cubicBezTo>
                  <a:pt x="80865" y="5782294"/>
                  <a:pt x="9049" y="5488604"/>
                  <a:pt x="9049" y="5159502"/>
                </a:cubicBezTo>
                <a:cubicBezTo>
                  <a:pt x="9049" y="4830401"/>
                  <a:pt x="80865" y="4538807"/>
                  <a:pt x="224498" y="4284692"/>
                </a:cubicBezTo>
                <a:cubicBezTo>
                  <a:pt x="372123" y="4026414"/>
                  <a:pt x="573607" y="3824369"/>
                  <a:pt x="828957" y="3678558"/>
                </a:cubicBezTo>
                <a:cubicBezTo>
                  <a:pt x="1088296" y="3532775"/>
                  <a:pt x="1381548" y="3459856"/>
                  <a:pt x="1708713" y="3459856"/>
                </a:cubicBezTo>
                <a:close/>
                <a:moveTo>
                  <a:pt x="3453272" y="3457153"/>
                </a:moveTo>
                <a:lnTo>
                  <a:pt x="5155643" y="3457153"/>
                </a:lnTo>
                <a:cubicBezTo>
                  <a:pt x="5478130" y="3457153"/>
                  <a:pt x="5639387" y="3457153"/>
                  <a:pt x="5773314" y="3484484"/>
                </a:cubicBezTo>
                <a:cubicBezTo>
                  <a:pt x="6305846" y="3592953"/>
                  <a:pt x="6722213" y="4009315"/>
                  <a:pt x="6830683" y="4541840"/>
                </a:cubicBezTo>
                <a:cubicBezTo>
                  <a:pt x="6854599" y="4659024"/>
                  <a:pt x="6857588" y="4797132"/>
                  <a:pt x="6857962" y="5045867"/>
                </a:cubicBezTo>
                <a:lnTo>
                  <a:pt x="6858000" y="5127440"/>
                </a:lnTo>
                <a:lnTo>
                  <a:pt x="6858000" y="6858000"/>
                </a:lnTo>
                <a:lnTo>
                  <a:pt x="3453272" y="6858000"/>
                </a:lnTo>
                <a:close/>
                <a:moveTo>
                  <a:pt x="6442695" y="0"/>
                </a:moveTo>
                <a:cubicBezTo>
                  <a:pt x="6618970" y="0"/>
                  <a:pt x="6770221" y="107180"/>
                  <a:pt x="6834829" y="259930"/>
                </a:cubicBezTo>
                <a:lnTo>
                  <a:pt x="6858000" y="334574"/>
                </a:lnTo>
                <a:lnTo>
                  <a:pt x="6858000" y="3070133"/>
                </a:lnTo>
                <a:lnTo>
                  <a:pt x="6834829" y="3144774"/>
                </a:lnTo>
                <a:cubicBezTo>
                  <a:pt x="6770221" y="3297517"/>
                  <a:pt x="6618970" y="3404698"/>
                  <a:pt x="6442695" y="3404698"/>
                </a:cubicBezTo>
                <a:cubicBezTo>
                  <a:pt x="6207636" y="3404698"/>
                  <a:pt x="6017089" y="3214154"/>
                  <a:pt x="6017089" y="2979125"/>
                </a:cubicBezTo>
                <a:lnTo>
                  <a:pt x="6017089" y="425587"/>
                </a:lnTo>
                <a:cubicBezTo>
                  <a:pt x="6017089" y="190543"/>
                  <a:pt x="6207636" y="0"/>
                  <a:pt x="6442695" y="0"/>
                </a:cubicBezTo>
                <a:close/>
                <a:moveTo>
                  <a:pt x="3455975" y="0"/>
                </a:moveTo>
                <a:lnTo>
                  <a:pt x="5741184" y="0"/>
                </a:lnTo>
                <a:lnTo>
                  <a:pt x="5741184" y="3404698"/>
                </a:lnTo>
                <a:cubicBezTo>
                  <a:pt x="4871823" y="3404698"/>
                  <a:pt x="4437143" y="3404698"/>
                  <a:pt x="4115924" y="3212692"/>
                </a:cubicBezTo>
                <a:cubicBezTo>
                  <a:pt x="3923695" y="3097770"/>
                  <a:pt x="3762907" y="2937012"/>
                  <a:pt x="3647983" y="2744760"/>
                </a:cubicBezTo>
                <a:cubicBezTo>
                  <a:pt x="3455975" y="2423551"/>
                  <a:pt x="3455975" y="1988882"/>
                  <a:pt x="3455975" y="1119542"/>
                </a:cubicBezTo>
                <a:close/>
                <a:moveTo>
                  <a:pt x="1698448" y="0"/>
                </a:moveTo>
                <a:cubicBezTo>
                  <a:pt x="2020916" y="0"/>
                  <a:pt x="2182148" y="0"/>
                  <a:pt x="2316116" y="27304"/>
                </a:cubicBezTo>
                <a:cubicBezTo>
                  <a:pt x="2848730" y="135857"/>
                  <a:pt x="3264960" y="552093"/>
                  <a:pt x="3373513" y="1084695"/>
                </a:cubicBezTo>
                <a:cubicBezTo>
                  <a:pt x="3400817" y="1218659"/>
                  <a:pt x="3400817" y="1379889"/>
                  <a:pt x="3400817" y="1702352"/>
                </a:cubicBezTo>
                <a:lnTo>
                  <a:pt x="3400817" y="3404699"/>
                </a:lnTo>
                <a:lnTo>
                  <a:pt x="1698448" y="3404699"/>
                </a:lnTo>
                <a:cubicBezTo>
                  <a:pt x="1375983" y="3404699"/>
                  <a:pt x="1214748" y="3404699"/>
                  <a:pt x="1080783" y="3377395"/>
                </a:cubicBezTo>
                <a:cubicBezTo>
                  <a:pt x="548174" y="3268844"/>
                  <a:pt x="131932" y="2852620"/>
                  <a:pt x="23378" y="2320011"/>
                </a:cubicBezTo>
                <a:cubicBezTo>
                  <a:pt x="13139" y="2269774"/>
                  <a:pt x="6740" y="2215703"/>
                  <a:pt x="2740" y="2150733"/>
                </a:cubicBezTo>
                <a:lnTo>
                  <a:pt x="0" y="2092728"/>
                </a:lnTo>
                <a:lnTo>
                  <a:pt x="0" y="1311978"/>
                </a:lnTo>
                <a:lnTo>
                  <a:pt x="2740" y="1253972"/>
                </a:lnTo>
                <a:cubicBezTo>
                  <a:pt x="6740" y="1189002"/>
                  <a:pt x="13139" y="1134932"/>
                  <a:pt x="23378" y="1084695"/>
                </a:cubicBezTo>
                <a:cubicBezTo>
                  <a:pt x="131932" y="552093"/>
                  <a:pt x="548174" y="135857"/>
                  <a:pt x="1080783" y="27304"/>
                </a:cubicBezTo>
                <a:cubicBezTo>
                  <a:pt x="1214748" y="0"/>
                  <a:pt x="1375980" y="0"/>
                  <a:pt x="1698448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Финальный с QR + подпись">
  <p:cSld name="3_Финальный с QR + подпись">
    <p:bg>
      <p:bgPr>
        <a:solidFill>
          <a:schemeClr val="accen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0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0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2" name="Google Shape;14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Финальный с QR + подпись">
  <p:cSld name="2_Финальный с QR + подпись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1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21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8" name="Google Shape;148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Финальный с QR + подпись">
  <p:cSld name="4_Финальный с QR + подпись">
    <p:bg>
      <p:bgPr>
        <a:solidFill>
          <a:schemeClr val="l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2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53" name="Google Shape;153;p22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54" name="Google Shape;15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8" name="Google Shape;158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1" name="Google Shape;161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6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">
  <p:cSld name="1 фото">
    <p:bg>
      <p:bgPr>
        <a:solidFill>
          <a:schemeClr val="lt2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1" name="Google Shape;171;p27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7"/>
          <p:cNvSpPr txBox="1"/>
          <p:nvPr>
            <p:ph idx="1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1 фото">
  <p:cSld name="1_1 фото">
    <p:bg>
      <p:bgPr>
        <a:solidFill>
          <a:schemeClr val="lt2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/>
          <p:nvPr>
            <p:ph idx="2" type="pic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5" name="Google Shape;175;p28"/>
          <p:cNvSpPr txBox="1"/>
          <p:nvPr>
            <p:ph type="title"/>
          </p:nvPr>
        </p:nvSpPr>
        <p:spPr>
          <a:xfrm>
            <a:off x="6870171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8"/>
          <p:cNvSpPr txBox="1"/>
          <p:nvPr>
            <p:ph idx="1" type="body"/>
          </p:nvPr>
        </p:nvSpPr>
        <p:spPr>
          <a:xfrm>
            <a:off x="6864351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 + подпись">
  <p:cSld name="1 фото + подпись">
    <p:bg>
      <p:bgPr>
        <a:solidFill>
          <a:schemeClr val="lt2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/>
          <p:nvPr>
            <p:ph idx="2" type="pic"/>
          </p:nvPr>
        </p:nvSpPr>
        <p:spPr>
          <a:xfrm>
            <a:off x="6096000" y="692151"/>
            <a:ext cx="5437188" cy="4182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9" name="Google Shape;179;p29"/>
          <p:cNvSpPr txBox="1"/>
          <p:nvPr>
            <p:ph idx="1" type="body"/>
          </p:nvPr>
        </p:nvSpPr>
        <p:spPr>
          <a:xfrm>
            <a:off x="6096000" y="5147214"/>
            <a:ext cx="5449888" cy="352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29"/>
          <p:cNvSpPr txBox="1"/>
          <p:nvPr>
            <p:ph idx="3" type="body"/>
          </p:nvPr>
        </p:nvSpPr>
        <p:spPr>
          <a:xfrm>
            <a:off x="6096000" y="5553075"/>
            <a:ext cx="5449888" cy="6842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29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9"/>
          <p:cNvSpPr txBox="1"/>
          <p:nvPr>
            <p:ph idx="4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1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8" name="Google Shape;228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2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31" name="Google Shape;231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6" r:id="rId1"/>
    <p:sldLayoutId id="2147483677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42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67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7892778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Цель проекта — 250 клиентов и 225 000 ₽ прибыли к 6-⁠му месяцу</a:t>
            </a:r>
            <a:endParaRPr/>
          </a:p>
        </p:txBody>
      </p:sp>
      <p:sp>
        <p:nvSpPr>
          <p:cNvPr id="544" name="Marker 544"/>
          <p:cNvSpPr/>
          <p:nvPr/>
        </p:nvSpPr>
        <p:spPr>
          <a:xfrm>
            <a:off x="677334" y="2475738"/>
            <a:ext cx="96520" cy="9652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45" name="Item 545"/>
          <p:cNvSpPr txBox="1"/>
          <p:nvPr/>
        </p:nvSpPr>
        <p:spPr>
          <a:xfrm>
            <a:off x="1083734" y="2356358"/>
            <a:ext cx="8263465" cy="695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Основные направления — силовые занятия, растяжка, йога и функциональные тренировки</a:t>
            </a:r>
            <a:endParaRPr lang="ru-RU" sz="2000"/>
          </a:p>
        </p:txBody>
      </p:sp>
      <p:cxnSp>
        <p:nvCxnSpPr>
          <p:cNvPr id="546" name="Line 546"/>
          <p:cNvCxnSpPr/>
          <p:nvPr/>
        </p:nvCxnSpPr>
        <p:spPr>
          <a:xfrm>
            <a:off x="1083734" y="3242818"/>
            <a:ext cx="8263465" cy="0"/>
          </a:xfrm>
          <a:prstGeom prst="line">
            <a:avLst/>
          </a:prstGeom>
          <a:ln w="9525">
            <a:solidFill>
              <a:srgbClr val="E1E1E1"/>
            </a:solidFill>
          </a:ln>
        </p:spPr>
      </p:cxnSp>
      <p:sp>
        <p:nvSpPr>
          <p:cNvPr id="547" name="Marker 547"/>
          <p:cNvSpPr/>
          <p:nvPr/>
        </p:nvSpPr>
        <p:spPr>
          <a:xfrm>
            <a:off x="677334" y="3552698"/>
            <a:ext cx="96520" cy="9652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48" name="Item 548"/>
          <p:cNvSpPr txBox="1"/>
          <p:nvPr/>
        </p:nvSpPr>
        <p:spPr>
          <a:xfrm>
            <a:off x="1083734" y="3433318"/>
            <a:ext cx="8263465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Площадь студии — 180 м²</a:t>
            </a:r>
            <a:endParaRPr lang="ru-RU" sz="2000"/>
          </a:p>
        </p:txBody>
      </p:sp>
      <p:cxnSp>
        <p:nvCxnSpPr>
          <p:cNvPr id="549" name="Line 549"/>
          <p:cNvCxnSpPr/>
          <p:nvPr/>
        </p:nvCxnSpPr>
        <p:spPr>
          <a:xfrm>
            <a:off x="1083734" y="3984498"/>
            <a:ext cx="8263465" cy="0"/>
          </a:xfrm>
          <a:prstGeom prst="line">
            <a:avLst/>
          </a:prstGeom>
          <a:ln w="9525">
            <a:solidFill>
              <a:srgbClr val="E1E1E1"/>
            </a:solidFill>
          </a:ln>
        </p:spPr>
      </p:cxnSp>
      <p:sp>
        <p:nvSpPr>
          <p:cNvPr id="550" name="Marker 550"/>
          <p:cNvSpPr/>
          <p:nvPr/>
        </p:nvSpPr>
        <p:spPr>
          <a:xfrm>
            <a:off x="677334" y="4294378"/>
            <a:ext cx="96520" cy="9652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51" name="Item 551"/>
          <p:cNvSpPr txBox="1"/>
          <p:nvPr/>
        </p:nvSpPr>
        <p:spPr>
          <a:xfrm>
            <a:off x="1083734" y="4174998"/>
            <a:ext cx="8263465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Максимальное количество участников — 12 человек на занятии</a:t>
            </a:r>
            <a:endParaRPr lang="ru-RU" sz="2000"/>
          </a:p>
        </p:txBody>
      </p:sp>
      <p:cxnSp>
        <p:nvCxnSpPr>
          <p:cNvPr id="552" name="Line 552"/>
          <p:cNvCxnSpPr/>
          <p:nvPr/>
        </p:nvCxnSpPr>
        <p:spPr>
          <a:xfrm>
            <a:off x="1083734" y="4726178"/>
            <a:ext cx="8263465" cy="0"/>
          </a:xfrm>
          <a:prstGeom prst="line">
            <a:avLst/>
          </a:prstGeom>
          <a:ln w="9525">
            <a:solidFill>
              <a:srgbClr val="E1E1E1"/>
            </a:solidFill>
          </a:ln>
        </p:spPr>
      </p:cxnSp>
      <p:sp>
        <p:nvSpPr>
          <p:cNvPr id="553" name="Marker 553"/>
          <p:cNvSpPr/>
          <p:nvPr/>
        </p:nvSpPr>
        <p:spPr>
          <a:xfrm>
            <a:off x="677334" y="5036058"/>
            <a:ext cx="96520" cy="9652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54" name="Item 554"/>
          <p:cNvSpPr txBox="1"/>
          <p:nvPr/>
        </p:nvSpPr>
        <p:spPr>
          <a:xfrm>
            <a:off x="1083734" y="4916678"/>
            <a:ext cx="8263465" cy="695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Цель проекта — 250 постоянных клиентов и 225 000 рублей операционной прибыли к 6-⁠му месяцу</a:t>
            </a:r>
            <a:endParaRPr lang="ru-RU" sz="2000"/>
          </a:p>
        </p:txBody>
      </p:sp>
      <p:sp>
        <p:nvSpPr>
          <p:cNvPr id="555" name="Footnote 555"/>
          <p:cNvSpPr txBox="1"/>
          <p:nvPr/>
        </p:nvSpPr>
        <p:spPr>
          <a:xfrm>
            <a:off x="677334" y="5973064"/>
            <a:ext cx="10837332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Все цифры условные и используются для учебного бизнес-⁠плана</a:t>
            </a:r>
            <a:endParaRPr lang="ru-RU" sz="12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8069564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Целевая аудитория — 250 клиентов из 1 200 потенциальных</a:t>
            </a:r>
            <a:endParaRPr/>
          </a:p>
        </p:txBody>
      </p:sp>
      <p:sp>
        <p:nvSpPr>
          <p:cNvPr id="544" name="Chart note 544"/>
          <p:cNvSpPr txBox="1"/>
          <p:nvPr/>
        </p:nvSpPr>
        <p:spPr>
          <a:xfrm>
            <a:off x="677334" y="2356358"/>
            <a:ext cx="3684692" cy="15951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Aft>
                <a:spcPts val="1800"/>
              </a:spcAft>
              <a:buNone/>
            </a:pPr>
            <a:r>
              <a:rPr lang="ru-RU" sz="20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Цель — привлечь </a:t>
            </a:r>
            <a:r>
              <a:rPr lang="ru-RU" sz="2000" b="1" cap="none" spc="0" baseline="0" dirty="0">
                <a:solidFill>
                  <a:srgbClr val="0077FF"/>
                </a:solidFill>
                <a:latin typeface="Play"/>
                <a:cs typeface="Play"/>
              </a:rPr>
              <a:t>21%</a:t>
            </a:r>
            <a:r>
              <a:rPr lang="ru-RU" sz="20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 потенциально заинтересованных</a:t>
            </a:r>
            <a:endParaRPr lang="ru-RU" sz="20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8 000 в возрасте 23⁠–⁠45 лет</a:t>
            </a:r>
            <a:endParaRPr lang="ru-RU" sz="2000"/>
          </a:p>
        </p:txBody>
      </p:sp>
      <p:cxnSp>
        <p:nvCxnSpPr>
          <p:cNvPr id="545" name="Line 545"/>
          <p:cNvCxnSpPr/>
          <p:nvPr/>
        </p:nvCxnSpPr>
        <p:spPr>
          <a:xfrm>
            <a:off x="4654634" y="2356358"/>
            <a:ext cx="0" cy="1595120"/>
          </a:xfrm>
          <a:prstGeom prst="line">
            <a:avLst/>
          </a:prstGeom>
          <a:ln w="12700">
            <a:solidFill>
              <a:srgbClr val="E1E1E1"/>
            </a:solidFill>
          </a:ln>
        </p:spPr>
      </p:cxnSp>
      <p:sp>
        <p:nvSpPr>
          <p:cNvPr id="546" name="Unit 546"/>
          <p:cNvSpPr txBox="1"/>
          <p:nvPr/>
        </p:nvSpPr>
        <p:spPr>
          <a:xfrm>
            <a:off x="4947242" y="2356358"/>
            <a:ext cx="6567424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Потенциальные клиенты, человек</a:t>
            </a:r>
            <a:endParaRPr lang="ru-RU" sz="1200"/>
          </a:p>
        </p:txBody>
      </p:sp>
      <p:graphicFrame>
        <p:nvGraphicFramePr>
          <p:cNvPr id="547" name="Chart 546"/>
          <p:cNvGraphicFramePr>
            <a:graphicFrameLocks noGrp="1"/>
          </p:cNvGraphicFramePr>
          <p:nvPr/>
        </p:nvGraphicFramePr>
        <p:xfrm>
          <a:off x="4947242" y="2644648"/>
          <a:ext cx="6567424" cy="324752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104851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Близость к дому важна для 35% опрошенных</a:t>
            </a:r>
            <a:endParaRPr/>
          </a:p>
        </p:txBody>
      </p:sp>
      <p:sp>
        <p:nvSpPr>
          <p:cNvPr id="544" name="Chart note 544"/>
          <p:cNvSpPr txBox="1"/>
          <p:nvPr/>
        </p:nvSpPr>
        <p:spPr>
          <a:xfrm>
            <a:off x="677334" y="1752854"/>
            <a:ext cx="3684692" cy="10312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Большинство клиентов выбирают ближайшую к дому студию</a:t>
            </a:r>
            <a:endParaRPr lang="ru-RU" sz="2000"/>
          </a:p>
        </p:txBody>
      </p:sp>
      <p:cxnSp>
        <p:nvCxnSpPr>
          <p:cNvPr id="545" name="Line 545"/>
          <p:cNvCxnSpPr/>
          <p:nvPr/>
        </p:nvCxnSpPr>
        <p:spPr>
          <a:xfrm>
            <a:off x="4654634" y="1752854"/>
            <a:ext cx="0" cy="1031240"/>
          </a:xfrm>
          <a:prstGeom prst="line">
            <a:avLst/>
          </a:prstGeom>
          <a:ln w="12700">
            <a:solidFill>
              <a:srgbClr val="E1E1E1"/>
            </a:solidFill>
          </a:ln>
        </p:spPr>
      </p:cxnSp>
      <p:graphicFrame>
        <p:nvGraphicFramePr>
          <p:cNvPr id="546" name="Chart 545"/>
          <p:cNvGraphicFramePr>
            <a:graphicFrameLocks noGrp="1"/>
          </p:cNvGraphicFramePr>
          <p:nvPr/>
        </p:nvGraphicFramePr>
        <p:xfrm>
          <a:off x="4947242" y="1752854"/>
          <a:ext cx="3399841" cy="339984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47" name="Legend title 547"/>
          <p:cNvSpPr txBox="1"/>
          <p:nvPr/>
        </p:nvSpPr>
        <p:spPr>
          <a:xfrm>
            <a:off x="8932299" y="2297582"/>
            <a:ext cx="2582367" cy="43586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6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Что важно посетителям</a:t>
            </a:r>
            <a:endParaRPr lang="ru-RU" sz="1600"/>
          </a:p>
        </p:txBody>
      </p:sp>
      <p:sp>
        <p:nvSpPr>
          <p:cNvPr id="548" name="Swatch 548"/>
          <p:cNvSpPr/>
          <p:nvPr/>
        </p:nvSpPr>
        <p:spPr>
          <a:xfrm>
            <a:off x="8932299" y="279440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549" name="Legend 549"/>
          <p:cNvSpPr txBox="1"/>
          <p:nvPr/>
        </p:nvSpPr>
        <p:spPr>
          <a:xfrm>
            <a:off x="9195646" y="2733446"/>
            <a:ext cx="1639570" cy="29362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Близость к дому</a:t>
            </a:r>
            <a:endParaRPr lang="ru-RU" sz="1600"/>
          </a:p>
        </p:txBody>
      </p:sp>
      <p:sp>
        <p:nvSpPr>
          <p:cNvPr id="550" name="Share 550"/>
          <p:cNvSpPr txBox="1"/>
          <p:nvPr/>
        </p:nvSpPr>
        <p:spPr>
          <a:xfrm>
            <a:off x="10835216" y="2733446"/>
            <a:ext cx="679450" cy="29362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35%</a:t>
            </a:r>
            <a:endParaRPr lang="ru-RU" sz="1600"/>
          </a:p>
        </p:txBody>
      </p:sp>
      <p:sp>
        <p:nvSpPr>
          <p:cNvPr id="551" name="Swatch 551"/>
          <p:cNvSpPr/>
          <p:nvPr/>
        </p:nvSpPr>
        <p:spPr>
          <a:xfrm>
            <a:off x="8932299" y="318963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77FF">
              <a:alpha val="82000"/>
            </a:srgbClr>
          </a:solidFill>
          <a:ln>
            <a:noFill/>
          </a:ln>
        </p:spPr>
      </p:sp>
      <p:sp>
        <p:nvSpPr>
          <p:cNvPr id="552" name="Legend 552"/>
          <p:cNvSpPr txBox="1"/>
          <p:nvPr/>
        </p:nvSpPr>
        <p:spPr>
          <a:xfrm>
            <a:off x="9195646" y="3128670"/>
            <a:ext cx="1639570" cy="29362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Расписание</a:t>
            </a:r>
            <a:endParaRPr lang="ru-RU" sz="1600"/>
          </a:p>
        </p:txBody>
      </p:sp>
      <p:sp>
        <p:nvSpPr>
          <p:cNvPr id="553" name="Share 553"/>
          <p:cNvSpPr txBox="1"/>
          <p:nvPr/>
        </p:nvSpPr>
        <p:spPr>
          <a:xfrm>
            <a:off x="10835216" y="3128670"/>
            <a:ext cx="679450" cy="29362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25%</a:t>
            </a:r>
            <a:endParaRPr lang="ru-RU" sz="1600"/>
          </a:p>
        </p:txBody>
      </p:sp>
      <p:sp>
        <p:nvSpPr>
          <p:cNvPr id="554" name="Swatch 554"/>
          <p:cNvSpPr/>
          <p:nvPr/>
        </p:nvSpPr>
        <p:spPr>
          <a:xfrm>
            <a:off x="8932299" y="3584854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77FF">
              <a:alpha val="64000"/>
            </a:srgbClr>
          </a:solidFill>
          <a:ln>
            <a:noFill/>
          </a:ln>
        </p:spPr>
      </p:sp>
      <p:sp>
        <p:nvSpPr>
          <p:cNvPr id="555" name="Legend 555"/>
          <p:cNvSpPr txBox="1"/>
          <p:nvPr/>
        </p:nvSpPr>
        <p:spPr>
          <a:xfrm>
            <a:off x="9195646" y="3523894"/>
            <a:ext cx="1639570" cy="29362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Стоимость</a:t>
            </a:r>
            <a:endParaRPr lang="ru-RU" sz="1600"/>
          </a:p>
        </p:txBody>
      </p:sp>
      <p:sp>
        <p:nvSpPr>
          <p:cNvPr id="556" name="Share 556"/>
          <p:cNvSpPr txBox="1"/>
          <p:nvPr/>
        </p:nvSpPr>
        <p:spPr>
          <a:xfrm>
            <a:off x="10835216" y="3523894"/>
            <a:ext cx="679450" cy="29362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20%</a:t>
            </a:r>
            <a:endParaRPr lang="ru-RU" sz="1600"/>
          </a:p>
        </p:txBody>
      </p:sp>
      <p:sp>
        <p:nvSpPr>
          <p:cNvPr id="557" name="Swatch 557"/>
          <p:cNvSpPr/>
          <p:nvPr/>
        </p:nvSpPr>
        <p:spPr>
          <a:xfrm>
            <a:off x="8932299" y="3980078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77FF">
              <a:alpha val="44000"/>
            </a:srgbClr>
          </a:solidFill>
          <a:ln>
            <a:noFill/>
          </a:ln>
        </p:spPr>
      </p:sp>
      <p:sp>
        <p:nvSpPr>
          <p:cNvPr id="558" name="Legend 558"/>
          <p:cNvSpPr txBox="1"/>
          <p:nvPr/>
        </p:nvSpPr>
        <p:spPr>
          <a:xfrm>
            <a:off x="9195646" y="3919118"/>
            <a:ext cx="1639570" cy="29362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Тренеры</a:t>
            </a:r>
            <a:endParaRPr lang="ru-RU" sz="1600"/>
          </a:p>
        </p:txBody>
      </p:sp>
      <p:sp>
        <p:nvSpPr>
          <p:cNvPr id="559" name="Share 559"/>
          <p:cNvSpPr txBox="1"/>
          <p:nvPr/>
        </p:nvSpPr>
        <p:spPr>
          <a:xfrm>
            <a:off x="10835216" y="3919118"/>
            <a:ext cx="679450" cy="29362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12,5%</a:t>
            </a:r>
            <a:endParaRPr lang="ru-RU" sz="1600"/>
          </a:p>
        </p:txBody>
      </p:sp>
      <p:sp>
        <p:nvSpPr>
          <p:cNvPr id="560" name="Swatch 560"/>
          <p:cNvSpPr/>
          <p:nvPr/>
        </p:nvSpPr>
        <p:spPr>
          <a:xfrm>
            <a:off x="8932299" y="437530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561" name="Legend 561"/>
          <p:cNvSpPr txBox="1"/>
          <p:nvPr/>
        </p:nvSpPr>
        <p:spPr>
          <a:xfrm>
            <a:off x="9195646" y="4314342"/>
            <a:ext cx="1639570" cy="29362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Атмосфера</a:t>
            </a:r>
            <a:endParaRPr lang="ru-RU" sz="1600"/>
          </a:p>
        </p:txBody>
      </p:sp>
      <p:sp>
        <p:nvSpPr>
          <p:cNvPr id="562" name="Share 562"/>
          <p:cNvSpPr txBox="1"/>
          <p:nvPr/>
        </p:nvSpPr>
        <p:spPr>
          <a:xfrm>
            <a:off x="10835216" y="4314342"/>
            <a:ext cx="679450" cy="29362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7,5%</a:t>
            </a:r>
            <a:endParaRPr lang="ru-RU" sz="16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104851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Средняя выручка на клиента — 5 050 ₽ в месяц</a:t>
            </a:r>
            <a:endParaRPr/>
          </a:p>
        </p:txBody>
      </p:sp>
      <p:sp>
        <p:nvSpPr>
          <p:cNvPr id="548" name="Conclusion bar 548"/>
          <p:cNvSpPr/>
          <p:nvPr/>
        </p:nvSpPr>
        <p:spPr>
          <a:xfrm>
            <a:off x="677334" y="1783334"/>
            <a:ext cx="41148" cy="6350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49" name="Conclusion 549"/>
          <p:cNvSpPr txBox="1"/>
          <p:nvPr/>
        </p:nvSpPr>
        <p:spPr>
          <a:xfrm>
            <a:off x="921682" y="1752854"/>
            <a:ext cx="9509250" cy="695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Разовое посещение обойдется в </a:t>
            </a:r>
            <a:r>
              <a:rPr lang="ru-RU" sz="2000" b="1" cap="none" spc="0" baseline="0" dirty="0">
                <a:solidFill>
                  <a:srgbClr val="0077FF"/>
                </a:solidFill>
                <a:latin typeface="Play"/>
                <a:cs typeface="Play"/>
              </a:rPr>
              <a:t>900 рублей</a:t>
            </a:r>
            <a:r>
              <a:rPr lang="ru-RU" sz="20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, пробная тренировка — в </a:t>
            </a:r>
            <a:r>
              <a:rPr lang="ru-RU" sz="2000" b="1" cap="none" spc="0" baseline="0" dirty="0">
                <a:solidFill>
                  <a:srgbClr val="0077FF"/>
                </a:solidFill>
                <a:latin typeface="Play"/>
                <a:cs typeface="Play"/>
              </a:rPr>
              <a:t>500 рублей</a:t>
            </a:r>
            <a:endParaRPr lang="ru-RU" sz="2000"/>
          </a:p>
        </p:txBody>
      </p:sp>
      <p:graphicFrame>
        <p:nvGraphicFramePr>
          <p:cNvPr id="550" name="Table"/>
          <p:cNvGraphicFramePr>
            <a:graphicFrameLocks noGrp="1"/>
          </p:cNvGraphicFramePr>
          <p:nvPr/>
        </p:nvGraphicFramePr>
        <p:xfrm>
          <a:off x="677334" y="2695702"/>
          <a:ext cx="10837332" cy="272742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680906"/>
                <a:gridCol w="2718809"/>
                <a:gridCol w="2718809"/>
                <a:gridCol w="2718808"/>
              </a:tblGrid>
              <a:tr h="6858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Абонемент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Количество занятий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Стоимость, ₽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Стоимость одного занятия, ₽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</a:tr>
              <a:tr h="68054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Четыре занятия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4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3 200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800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68054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Восемь занятий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8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5 200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650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68054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Двенадцать занятий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12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6 600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550</a:t>
                      </a:r>
                    </a:p>
                  </a:txBody>
                  <a:tcPr marL="160020" marR="160020" marT="68580" marB="6858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51" name="Footnote 551"/>
          <p:cNvSpPr txBox="1"/>
          <p:nvPr/>
        </p:nvSpPr>
        <p:spPr>
          <a:xfrm>
            <a:off x="677334" y="5973064"/>
            <a:ext cx="10837332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Доход от разовых и пробных посещений в основной финансовый прогноз не включен</a:t>
            </a:r>
            <a:endParaRPr lang="ru-RU" sz="12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7973458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Месячная вместимость превышает ожидаемые посещения на 700</a:t>
            </a:r>
            <a:endParaRPr/>
          </a:p>
        </p:txBody>
      </p:sp>
      <p:sp>
        <p:nvSpPr>
          <p:cNvPr id="544" name="Chart note 544"/>
          <p:cNvSpPr txBox="1"/>
          <p:nvPr/>
        </p:nvSpPr>
        <p:spPr>
          <a:xfrm>
            <a:off x="677334" y="2356358"/>
            <a:ext cx="3684692" cy="270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Aft>
                <a:spcPts val="1800"/>
              </a:spcAft>
              <a:buNone/>
            </a:pPr>
            <a:r>
              <a:rPr lang="ru-RU" sz="20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Средняя загрузка составит </a:t>
            </a:r>
            <a:r>
              <a:rPr lang="ru-RU" sz="2000" b="1" cap="none" spc="0" baseline="0" dirty="0">
                <a:solidFill>
                  <a:srgbClr val="0077FF"/>
                </a:solidFill>
                <a:latin typeface="Play"/>
                <a:cs typeface="Play"/>
              </a:rPr>
              <a:t>74%</a:t>
            </a:r>
            <a:endParaRPr lang="ru-RU" sz="2000"/>
          </a:p>
          <a:p>
            <a:pPr algn="l" marL="279400" indent="-279400">
              <a:lnSpc>
                <a:spcPct val="110000"/>
              </a:lnSpc>
              <a:spcAft>
                <a:spcPts val="800"/>
              </a:spcAft>
              <a:buClr>
                <a:srgbClr val="0077FF"/>
              </a:buClr>
              <a:buFont typeface="Arial"/>
              <a:buChar char="•"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Студия работает ежедневно с 07:00 до 22:00</a:t>
            </a:r>
            <a:endParaRPr lang="ru-RU" sz="2000"/>
          </a:p>
          <a:p>
            <a:pPr algn="l" marL="279400" indent="-279400">
              <a:lnSpc>
                <a:spcPct val="11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Самые востребованные утренние и вечерние занятия</a:t>
            </a:r>
            <a:endParaRPr lang="ru-RU" sz="2000"/>
          </a:p>
        </p:txBody>
      </p:sp>
      <p:cxnSp>
        <p:nvCxnSpPr>
          <p:cNvPr id="545" name="Line 545"/>
          <p:cNvCxnSpPr/>
          <p:nvPr/>
        </p:nvCxnSpPr>
        <p:spPr>
          <a:xfrm>
            <a:off x="4654634" y="2356358"/>
            <a:ext cx="0" cy="2702560"/>
          </a:xfrm>
          <a:prstGeom prst="line">
            <a:avLst/>
          </a:prstGeom>
          <a:ln w="12700">
            <a:solidFill>
              <a:srgbClr val="E1E1E1"/>
            </a:solidFill>
          </a:ln>
        </p:spPr>
      </p:cxnSp>
      <p:sp>
        <p:nvSpPr>
          <p:cNvPr id="546" name="Unit 546"/>
          <p:cNvSpPr txBox="1"/>
          <p:nvPr/>
        </p:nvSpPr>
        <p:spPr>
          <a:xfrm>
            <a:off x="4947242" y="2356358"/>
            <a:ext cx="6567424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Месячная вместимость и ожидаемые посещения, посещений</a:t>
            </a:r>
            <a:endParaRPr lang="ru-RU" sz="1200"/>
          </a:p>
        </p:txBody>
      </p:sp>
      <p:graphicFrame>
        <p:nvGraphicFramePr>
          <p:cNvPr id="547" name="Chart 546"/>
          <p:cNvGraphicFramePr>
            <a:graphicFrameLocks noGrp="1"/>
          </p:cNvGraphicFramePr>
          <p:nvPr/>
        </p:nvGraphicFramePr>
        <p:xfrm>
          <a:off x="4947242" y="2644648"/>
          <a:ext cx="6567424" cy="324752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57" name="Google Shape;857;p66"/>
          <p:cNvSpPr txBox="1"/>
          <p:nvPr>
            <p:ph type="title"/>
          </p:nvPr>
        </p:nvSpPr>
        <p:spPr>
          <a:xfrm>
            <a:off x="677334" y="692150"/>
            <a:ext cx="4552133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100 м² — тренировочный зал</a:t>
            </a:r>
            <a:endParaRPr/>
          </a:p>
        </p:txBody>
      </p:sp>
      <p:sp>
        <p:nvSpPr>
          <p:cNvPr id="858" name="Место для фото" descr="Фото помещения: место оставлено свободным — вставьте фото в плейсхолдер или через «Формат фигуры → Заливка → Рисунок»"/>
          <p:cNvSpPr/>
          <p:nvPr/>
        </p:nvSpPr>
        <p:spPr>
          <a:xfrm>
            <a:off x="6096000" y="0"/>
            <a:ext cx="6096000" cy="6857999"/>
          </a:xfrm>
          <a:prstGeom prst="rect">
            <a:avLst/>
          </a:prstGeom>
          <a:solidFill>
            <a:srgbClr val="E1E1E1"/>
          </a:solidFill>
          <a:ln>
            <a:noFill/>
          </a:ln>
        </p:spPr>
      </p:sp>
      <p:sp>
        <p:nvSpPr>
          <p:cNvPr id="859" name="Conclusion bar 859"/>
          <p:cNvSpPr/>
          <p:nvPr/>
        </p:nvSpPr>
        <p:spPr>
          <a:xfrm>
            <a:off x="677334" y="2377694"/>
            <a:ext cx="41148" cy="45212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860" name="Conclusion 860"/>
          <p:cNvSpPr txBox="1"/>
          <p:nvPr/>
        </p:nvSpPr>
        <p:spPr>
          <a:xfrm>
            <a:off x="860722" y="2356358"/>
            <a:ext cx="4254499" cy="49479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Большая часть площади отведена под тренировочный зал</a:t>
            </a:r>
            <a:endParaRPr lang="ru-RU" sz="1400"/>
          </a:p>
        </p:txBody>
      </p:sp>
      <p:sp>
        <p:nvSpPr>
          <p:cNvPr id="861" name="Rule 861"/>
          <p:cNvSpPr/>
          <p:nvPr/>
        </p:nvSpPr>
        <p:spPr>
          <a:xfrm>
            <a:off x="677334" y="3098038"/>
            <a:ext cx="617220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862" name="Figure 862"/>
          <p:cNvSpPr txBox="1"/>
          <p:nvPr/>
        </p:nvSpPr>
        <p:spPr>
          <a:xfrm>
            <a:off x="654474" y="3066301"/>
            <a:ext cx="2342049" cy="603504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100 м²</a:t>
            </a:r>
            <a:endParaRPr lang="ru-RU" sz="3600"/>
          </a:p>
        </p:txBody>
      </p:sp>
      <p:sp>
        <p:nvSpPr>
          <p:cNvPr id="863" name="Label 863"/>
          <p:cNvSpPr txBox="1"/>
          <p:nvPr/>
        </p:nvSpPr>
        <p:spPr>
          <a:xfrm>
            <a:off x="677334" y="3741814"/>
            <a:ext cx="2319189" cy="695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Тренировочный зал</a:t>
            </a:r>
            <a:endParaRPr lang="ru-RU" sz="2000"/>
          </a:p>
        </p:txBody>
      </p:sp>
      <p:sp>
        <p:nvSpPr>
          <p:cNvPr id="864" name="Rule 864"/>
          <p:cNvSpPr/>
          <p:nvPr/>
        </p:nvSpPr>
        <p:spPr>
          <a:xfrm>
            <a:off x="3289131" y="3098038"/>
            <a:ext cx="617220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865" name="Figure 865"/>
          <p:cNvSpPr txBox="1"/>
          <p:nvPr/>
        </p:nvSpPr>
        <p:spPr>
          <a:xfrm>
            <a:off x="3286845" y="3066301"/>
            <a:ext cx="2321475" cy="603504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35 м²</a:t>
            </a:r>
            <a:endParaRPr lang="ru-RU" sz="3600"/>
          </a:p>
        </p:txBody>
      </p:sp>
      <p:sp>
        <p:nvSpPr>
          <p:cNvPr id="866" name="Label 866"/>
          <p:cNvSpPr txBox="1"/>
          <p:nvPr/>
        </p:nvSpPr>
        <p:spPr>
          <a:xfrm>
            <a:off x="3289131" y="3741814"/>
            <a:ext cx="2319189" cy="695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Раздевалки и душевые</a:t>
            </a:r>
            <a:endParaRPr lang="ru-RU" sz="2000"/>
          </a:p>
        </p:txBody>
      </p:sp>
      <p:sp>
        <p:nvSpPr>
          <p:cNvPr id="867" name="Rule 867"/>
          <p:cNvSpPr/>
          <p:nvPr/>
        </p:nvSpPr>
        <p:spPr>
          <a:xfrm>
            <a:off x="677334" y="4643514"/>
            <a:ext cx="617220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868" name="Figure 868"/>
          <p:cNvSpPr txBox="1"/>
          <p:nvPr/>
        </p:nvSpPr>
        <p:spPr>
          <a:xfrm>
            <a:off x="677334" y="4611777"/>
            <a:ext cx="2319189" cy="603504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25 м²</a:t>
            </a:r>
            <a:endParaRPr lang="ru-RU" sz="3600"/>
          </a:p>
        </p:txBody>
      </p:sp>
      <p:sp>
        <p:nvSpPr>
          <p:cNvPr id="869" name="Label 869"/>
          <p:cNvSpPr txBox="1"/>
          <p:nvPr/>
        </p:nvSpPr>
        <p:spPr>
          <a:xfrm>
            <a:off x="677334" y="5287290"/>
            <a:ext cx="2319189" cy="695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Зона ресепшена и ожидания</a:t>
            </a:r>
            <a:endParaRPr lang="ru-RU" sz="2000"/>
          </a:p>
        </p:txBody>
      </p:sp>
      <p:sp>
        <p:nvSpPr>
          <p:cNvPr id="870" name="Rule 870"/>
          <p:cNvSpPr/>
          <p:nvPr/>
        </p:nvSpPr>
        <p:spPr>
          <a:xfrm>
            <a:off x="3289131" y="4643514"/>
            <a:ext cx="617220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871" name="Figure 871"/>
          <p:cNvSpPr txBox="1"/>
          <p:nvPr/>
        </p:nvSpPr>
        <p:spPr>
          <a:xfrm>
            <a:off x="3289131" y="4611777"/>
            <a:ext cx="2319189" cy="603504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20 м²</a:t>
            </a:r>
            <a:endParaRPr lang="ru-RU" sz="3600"/>
          </a:p>
        </p:txBody>
      </p:sp>
      <p:sp>
        <p:nvSpPr>
          <p:cNvPr id="872" name="Label 872"/>
          <p:cNvSpPr txBox="1"/>
          <p:nvPr/>
        </p:nvSpPr>
        <p:spPr>
          <a:xfrm>
            <a:off x="3289131" y="5287290"/>
            <a:ext cx="2319189" cy="695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Подсобные помещения</a:t>
            </a:r>
            <a:endParaRPr lang="ru-RU" sz="200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104851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Команда</a:t>
            </a:r>
            <a:endParaRPr/>
          </a:p>
        </p:txBody>
      </p:sp>
      <p:sp>
        <p:nvSpPr>
          <p:cNvPr id="544" name="Chart note 544"/>
          <p:cNvSpPr txBox="1"/>
          <p:nvPr/>
        </p:nvSpPr>
        <p:spPr>
          <a:xfrm>
            <a:off x="677334" y="1752854"/>
            <a:ext cx="3684692" cy="15951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Aft>
                <a:spcPts val="1800"/>
              </a:spcAft>
              <a:buNone/>
            </a:pPr>
            <a:r>
              <a:rPr lang="ru-RU" sz="20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Тренеры — основная статья расходов</a:t>
            </a:r>
            <a:endParaRPr lang="ru-RU" sz="20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Резерв на замены — минимальная статья</a:t>
            </a:r>
            <a:endParaRPr lang="ru-RU" sz="2000"/>
          </a:p>
        </p:txBody>
      </p:sp>
      <p:cxnSp>
        <p:nvCxnSpPr>
          <p:cNvPr id="545" name="Line 545"/>
          <p:cNvCxnSpPr/>
          <p:nvPr/>
        </p:nvCxnSpPr>
        <p:spPr>
          <a:xfrm>
            <a:off x="4654634" y="1752854"/>
            <a:ext cx="0" cy="1595120"/>
          </a:xfrm>
          <a:prstGeom prst="line">
            <a:avLst/>
          </a:prstGeom>
          <a:ln w="12700">
            <a:solidFill>
              <a:srgbClr val="E1E1E1"/>
            </a:solidFill>
          </a:ln>
        </p:spPr>
      </p:cxnSp>
      <p:graphicFrame>
        <p:nvGraphicFramePr>
          <p:cNvPr id="546" name="Chart 545"/>
          <p:cNvGraphicFramePr>
            <a:graphicFrameLocks noGrp="1"/>
          </p:cNvGraphicFramePr>
          <p:nvPr/>
        </p:nvGraphicFramePr>
        <p:xfrm>
          <a:off x="4947242" y="1752854"/>
          <a:ext cx="2116881" cy="211688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47" name="Legend title 547"/>
          <p:cNvSpPr txBox="1"/>
          <p:nvPr/>
        </p:nvSpPr>
        <p:spPr>
          <a:xfrm>
            <a:off x="7649339" y="1848126"/>
            <a:ext cx="3865327" cy="61925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Распределение бюджета команды</a:t>
            </a:r>
            <a:endParaRPr lang="ru-RU" sz="14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сумма · доля от общей суммы</a:t>
            </a:r>
            <a:endParaRPr lang="ru-RU" sz="1400"/>
          </a:p>
        </p:txBody>
      </p:sp>
      <p:sp>
        <p:nvSpPr>
          <p:cNvPr id="548" name="Swatch 548"/>
          <p:cNvSpPr/>
          <p:nvPr/>
        </p:nvSpPr>
        <p:spPr>
          <a:xfrm>
            <a:off x="7649339" y="2520718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549" name="Legend 549"/>
          <p:cNvSpPr txBox="1"/>
          <p:nvPr/>
        </p:nvSpPr>
        <p:spPr>
          <a:xfrm>
            <a:off x="7879767" y="2467378"/>
            <a:ext cx="2176383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Оплата работы тренеров</a:t>
            </a:r>
            <a:endParaRPr lang="ru-RU" sz="1400"/>
          </a:p>
        </p:txBody>
      </p:sp>
      <p:sp>
        <p:nvSpPr>
          <p:cNvPr id="550" name="Share 550"/>
          <p:cNvSpPr txBox="1"/>
          <p:nvPr/>
        </p:nvSpPr>
        <p:spPr>
          <a:xfrm>
            <a:off x="10056150" y="2467378"/>
            <a:ext cx="145851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260 000 ₽  ·  62%</a:t>
            </a:r>
            <a:endParaRPr lang="ru-RU" sz="1400"/>
          </a:p>
        </p:txBody>
      </p:sp>
      <p:sp>
        <p:nvSpPr>
          <p:cNvPr id="551" name="Swatch 551"/>
          <p:cNvSpPr/>
          <p:nvPr/>
        </p:nvSpPr>
        <p:spPr>
          <a:xfrm>
            <a:off x="7649339" y="2869714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>
              <a:alpha val="76000"/>
            </a:srgbClr>
          </a:solidFill>
          <a:ln>
            <a:noFill/>
          </a:ln>
        </p:spPr>
      </p:sp>
      <p:sp>
        <p:nvSpPr>
          <p:cNvPr id="552" name="Legend 552"/>
          <p:cNvSpPr txBox="1"/>
          <p:nvPr/>
        </p:nvSpPr>
        <p:spPr>
          <a:xfrm>
            <a:off x="7879767" y="2816374"/>
            <a:ext cx="2176383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Администраторов</a:t>
            </a:r>
            <a:endParaRPr lang="ru-RU" sz="1400"/>
          </a:p>
        </p:txBody>
      </p:sp>
      <p:sp>
        <p:nvSpPr>
          <p:cNvPr id="553" name="Share 553"/>
          <p:cNvSpPr txBox="1"/>
          <p:nvPr/>
        </p:nvSpPr>
        <p:spPr>
          <a:xfrm>
            <a:off x="10056150" y="2816374"/>
            <a:ext cx="145851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110 000 ₽  ·  26%</a:t>
            </a:r>
            <a:endParaRPr lang="ru-RU" sz="1400"/>
          </a:p>
        </p:txBody>
      </p:sp>
      <p:sp>
        <p:nvSpPr>
          <p:cNvPr id="554" name="Swatch 554"/>
          <p:cNvSpPr/>
          <p:nvPr/>
        </p:nvSpPr>
        <p:spPr>
          <a:xfrm>
            <a:off x="7649339" y="3218710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>
              <a:alpha val="50000"/>
            </a:srgbClr>
          </a:solidFill>
          <a:ln>
            <a:noFill/>
          </a:ln>
        </p:spPr>
      </p:sp>
      <p:sp>
        <p:nvSpPr>
          <p:cNvPr id="555" name="Legend 555"/>
          <p:cNvSpPr txBox="1"/>
          <p:nvPr/>
        </p:nvSpPr>
        <p:spPr>
          <a:xfrm>
            <a:off x="7879767" y="3165370"/>
            <a:ext cx="2176383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Уборки</a:t>
            </a:r>
            <a:endParaRPr lang="ru-RU" sz="1400"/>
          </a:p>
        </p:txBody>
      </p:sp>
      <p:sp>
        <p:nvSpPr>
          <p:cNvPr id="556" name="Share 556"/>
          <p:cNvSpPr txBox="1"/>
          <p:nvPr/>
        </p:nvSpPr>
        <p:spPr>
          <a:xfrm>
            <a:off x="10056150" y="3165370"/>
            <a:ext cx="145851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30 000 ₽  ·  7%</a:t>
            </a:r>
            <a:endParaRPr lang="ru-RU" sz="1400"/>
          </a:p>
        </p:txBody>
      </p:sp>
      <p:sp>
        <p:nvSpPr>
          <p:cNvPr id="557" name="Swatch 557"/>
          <p:cNvSpPr/>
          <p:nvPr/>
        </p:nvSpPr>
        <p:spPr>
          <a:xfrm>
            <a:off x="7649339" y="3567706"/>
            <a:ext cx="128016" cy="128016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558" name="Legend 558"/>
          <p:cNvSpPr txBox="1"/>
          <p:nvPr/>
        </p:nvSpPr>
        <p:spPr>
          <a:xfrm>
            <a:off x="7879767" y="3514366"/>
            <a:ext cx="2176383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Резерв на замены</a:t>
            </a:r>
            <a:endParaRPr lang="ru-RU" sz="1400"/>
          </a:p>
        </p:txBody>
      </p:sp>
      <p:sp>
        <p:nvSpPr>
          <p:cNvPr id="559" name="Share 559"/>
          <p:cNvSpPr txBox="1"/>
          <p:nvPr/>
        </p:nvSpPr>
        <p:spPr>
          <a:xfrm>
            <a:off x="10056150" y="3514366"/>
            <a:ext cx="1458516" cy="26009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20 000 ₽  ·  5%</a:t>
            </a:r>
            <a:endParaRPr lang="ru-RU" sz="1400"/>
          </a:p>
        </p:txBody>
      </p:sp>
      <p:sp>
        <p:nvSpPr>
          <p:cNvPr id="560" name="Footnote 560"/>
          <p:cNvSpPr txBox="1"/>
          <p:nvPr/>
        </p:nvSpPr>
        <p:spPr>
          <a:xfrm>
            <a:off x="677334" y="5973064"/>
            <a:ext cx="10837332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Отдельная зарплата владельца в модель не включена</a:t>
            </a:r>
            <a:endParaRPr lang="ru-RU" sz="120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6479671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90 000 ₽ на соцсети — главный канал привлечения</a:t>
            </a:r>
            <a:endParaRPr/>
          </a:p>
        </p:txBody>
      </p:sp>
      <p:sp>
        <p:nvSpPr>
          <p:cNvPr id="544" name="Conclusion bar 544"/>
          <p:cNvSpPr/>
          <p:nvPr/>
        </p:nvSpPr>
        <p:spPr>
          <a:xfrm>
            <a:off x="677334" y="2386838"/>
            <a:ext cx="41148" cy="29972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545" name="Conclusion 545"/>
          <p:cNvSpPr txBox="1"/>
          <p:nvPr/>
        </p:nvSpPr>
        <p:spPr>
          <a:xfrm>
            <a:off x="921682" y="2356358"/>
            <a:ext cx="9509250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Бюджет на продвижение распределён на 5 каналов</a:t>
            </a:r>
            <a:endParaRPr lang="ru-RU" sz="2000"/>
          </a:p>
        </p:txBody>
      </p:sp>
      <p:graphicFrame>
        <p:nvGraphicFramePr>
          <p:cNvPr id="546" name="Table"/>
          <p:cNvGraphicFramePr>
            <a:graphicFrameLocks noGrp="1"/>
          </p:cNvGraphicFramePr>
          <p:nvPr/>
        </p:nvGraphicFramePr>
        <p:xfrm>
          <a:off x="677334" y="2963926"/>
          <a:ext cx="7802879" cy="267462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6061328"/>
                <a:gridCol w="1741551"/>
              </a:tblGrid>
              <a:tr h="4457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Распределение бюджета на продвижение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Бюджет, ₽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Реклама в соцсетях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90 000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Районные сообщества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60 000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Партнерства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40 000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Мероприятия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30 000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Печатные материалы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20 000</a:t>
                      </a:r>
                    </a:p>
                  </a:txBody>
                  <a:tcPr marL="124459" marR="124459" marT="53340" marB="5334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47" name="Caption 547"/>
          <p:cNvSpPr txBox="1"/>
          <p:nvPr/>
        </p:nvSpPr>
        <p:spPr>
          <a:xfrm>
            <a:off x="677334" y="5761990"/>
            <a:ext cx="7802879" cy="2438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Распределение бюджета на продвижение</a:t>
            </a:r>
            <a:endParaRPr lang="ru-RU" sz="12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104851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Стартовый бюджет — 3 000 000 рублей</a:t>
            </a:r>
            <a:endParaRPr/>
          </a:p>
        </p:txBody>
      </p:sp>
      <p:sp>
        <p:nvSpPr>
          <p:cNvPr id="544" name="Chart note 544"/>
          <p:cNvSpPr txBox="1"/>
          <p:nvPr/>
        </p:nvSpPr>
        <p:spPr>
          <a:xfrm>
            <a:off x="677334" y="1752854"/>
            <a:ext cx="3684692" cy="15951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Aft>
                <a:spcPts val="1800"/>
              </a:spcAft>
              <a:buNone/>
            </a:pPr>
            <a:r>
              <a:rPr lang="ru-RU" sz="20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Еще </a:t>
            </a:r>
            <a:r>
              <a:rPr lang="ru-RU" sz="2000" b="1" cap="none" spc="0" baseline="0" dirty="0">
                <a:solidFill>
                  <a:srgbClr val="0077FF"/>
                </a:solidFill>
                <a:latin typeface="Play"/>
                <a:cs typeface="Play"/>
              </a:rPr>
              <a:t>850 000 рублей</a:t>
            </a:r>
            <a:r>
              <a:rPr lang="ru-RU" sz="20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 составят оборотный резерв</a:t>
            </a:r>
            <a:endParaRPr lang="ru-RU" sz="20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Сайт и система записи — минимальные вложения</a:t>
            </a:r>
            <a:endParaRPr lang="ru-RU" sz="2000"/>
          </a:p>
        </p:txBody>
      </p:sp>
      <p:cxnSp>
        <p:nvCxnSpPr>
          <p:cNvPr id="545" name="Line 545"/>
          <p:cNvCxnSpPr/>
          <p:nvPr/>
        </p:nvCxnSpPr>
        <p:spPr>
          <a:xfrm>
            <a:off x="4654634" y="1752854"/>
            <a:ext cx="0" cy="1595120"/>
          </a:xfrm>
          <a:prstGeom prst="line">
            <a:avLst/>
          </a:prstGeom>
          <a:ln w="12700">
            <a:solidFill>
              <a:srgbClr val="E1E1E1"/>
            </a:solidFill>
          </a:ln>
        </p:spPr>
      </p:cxnSp>
      <p:graphicFrame>
        <p:nvGraphicFramePr>
          <p:cNvPr id="546" name="Chart 545"/>
          <p:cNvGraphicFramePr>
            <a:graphicFrameLocks noGrp="1"/>
          </p:cNvGraphicFramePr>
          <p:nvPr/>
        </p:nvGraphicFramePr>
        <p:xfrm>
          <a:off x="4947242" y="1752854"/>
          <a:ext cx="2170270" cy="217027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47" name="Legend title 547"/>
          <p:cNvSpPr txBox="1"/>
          <p:nvPr/>
        </p:nvSpPr>
        <p:spPr>
          <a:xfrm>
            <a:off x="7702728" y="1752854"/>
            <a:ext cx="3811938" cy="53441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Вложения</a:t>
            </a:r>
            <a:endParaRPr lang="ru-RU" sz="12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сумма · доля от общей суммы</a:t>
            </a:r>
            <a:endParaRPr lang="ru-RU" sz="1200"/>
          </a:p>
        </p:txBody>
      </p:sp>
      <p:sp>
        <p:nvSpPr>
          <p:cNvPr id="548" name="Swatch 548"/>
          <p:cNvSpPr/>
          <p:nvPr/>
        </p:nvSpPr>
        <p:spPr>
          <a:xfrm>
            <a:off x="7702728" y="2332990"/>
            <a:ext cx="109728" cy="109728"/>
          </a:xfrm>
          <a:prstGeom prst="roundRect">
            <a:avLst>
              <a:gd name="adj" fmla="val 25000"/>
            </a:avLst>
          </a:prstGeom>
          <a:solidFill>
            <a:srgbClr val="0077FF"/>
          </a:solidFill>
          <a:ln>
            <a:noFill/>
          </a:ln>
        </p:spPr>
      </p:sp>
      <p:sp>
        <p:nvSpPr>
          <p:cNvPr id="549" name="Legend 549"/>
          <p:cNvSpPr txBox="1"/>
          <p:nvPr/>
        </p:nvSpPr>
        <p:spPr>
          <a:xfrm>
            <a:off x="7900238" y="2287270"/>
            <a:ext cx="2364272" cy="42773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Ремонт и подготовка</a:t>
            </a:r>
            <a:endParaRPr lang="ru-RU" sz="12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помещения</a:t>
            </a:r>
            <a:endParaRPr lang="ru-RU" sz="1200"/>
          </a:p>
        </p:txBody>
      </p:sp>
      <p:sp>
        <p:nvSpPr>
          <p:cNvPr id="550" name="Share 550"/>
          <p:cNvSpPr txBox="1"/>
          <p:nvPr/>
        </p:nvSpPr>
        <p:spPr>
          <a:xfrm>
            <a:off x="10264510" y="2287270"/>
            <a:ext cx="1250156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900 000 ₽  ·  30%</a:t>
            </a:r>
            <a:endParaRPr lang="ru-RU" sz="1200"/>
          </a:p>
        </p:txBody>
      </p:sp>
      <p:sp>
        <p:nvSpPr>
          <p:cNvPr id="551" name="Swatch 551"/>
          <p:cNvSpPr/>
          <p:nvPr/>
        </p:nvSpPr>
        <p:spPr>
          <a:xfrm>
            <a:off x="7702728" y="2836926"/>
            <a:ext cx="109728" cy="109728"/>
          </a:xfrm>
          <a:prstGeom prst="roundRect">
            <a:avLst>
              <a:gd name="adj" fmla="val 25000"/>
            </a:avLst>
          </a:prstGeom>
          <a:solidFill>
            <a:srgbClr val="0077FF">
              <a:alpha val="86000"/>
            </a:srgbClr>
          </a:solidFill>
          <a:ln>
            <a:noFill/>
          </a:ln>
        </p:spPr>
      </p:sp>
      <p:sp>
        <p:nvSpPr>
          <p:cNvPr id="552" name="Legend 552"/>
          <p:cNvSpPr txBox="1"/>
          <p:nvPr/>
        </p:nvSpPr>
        <p:spPr>
          <a:xfrm>
            <a:off x="7900238" y="2791206"/>
            <a:ext cx="2364272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Оборотный резерв</a:t>
            </a:r>
            <a:endParaRPr lang="ru-RU" sz="1200"/>
          </a:p>
        </p:txBody>
      </p:sp>
      <p:sp>
        <p:nvSpPr>
          <p:cNvPr id="553" name="Share 553"/>
          <p:cNvSpPr txBox="1"/>
          <p:nvPr/>
        </p:nvSpPr>
        <p:spPr>
          <a:xfrm>
            <a:off x="10264510" y="2791206"/>
            <a:ext cx="1250156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850 000 ₽  ·  28%</a:t>
            </a:r>
            <a:endParaRPr lang="ru-RU" sz="1200"/>
          </a:p>
        </p:txBody>
      </p:sp>
      <p:sp>
        <p:nvSpPr>
          <p:cNvPr id="554" name="Swatch 554"/>
          <p:cNvSpPr/>
          <p:nvPr/>
        </p:nvSpPr>
        <p:spPr>
          <a:xfrm>
            <a:off x="7702728" y="3139694"/>
            <a:ext cx="109728" cy="109728"/>
          </a:xfrm>
          <a:prstGeom prst="roundRect">
            <a:avLst>
              <a:gd name="adj" fmla="val 25000"/>
            </a:avLst>
          </a:prstGeom>
          <a:solidFill>
            <a:srgbClr val="0077FF">
              <a:alpha val="70000"/>
            </a:srgbClr>
          </a:solidFill>
          <a:ln>
            <a:noFill/>
          </a:ln>
        </p:spPr>
      </p:sp>
      <p:sp>
        <p:nvSpPr>
          <p:cNvPr id="555" name="Legend 555"/>
          <p:cNvSpPr txBox="1"/>
          <p:nvPr/>
        </p:nvSpPr>
        <p:spPr>
          <a:xfrm>
            <a:off x="7900238" y="3093974"/>
            <a:ext cx="2364272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Оборудование и инвентарь</a:t>
            </a:r>
            <a:endParaRPr lang="ru-RU" sz="1200"/>
          </a:p>
        </p:txBody>
      </p:sp>
      <p:sp>
        <p:nvSpPr>
          <p:cNvPr id="556" name="Share 556"/>
          <p:cNvSpPr txBox="1"/>
          <p:nvPr/>
        </p:nvSpPr>
        <p:spPr>
          <a:xfrm>
            <a:off x="10264510" y="3093974"/>
            <a:ext cx="1250156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650 000 ₽  ·  22%</a:t>
            </a:r>
            <a:endParaRPr lang="ru-RU" sz="1200"/>
          </a:p>
        </p:txBody>
      </p:sp>
      <p:sp>
        <p:nvSpPr>
          <p:cNvPr id="557" name="Swatch 557"/>
          <p:cNvSpPr/>
          <p:nvPr/>
        </p:nvSpPr>
        <p:spPr>
          <a:xfrm>
            <a:off x="7702728" y="3442462"/>
            <a:ext cx="109728" cy="109728"/>
          </a:xfrm>
          <a:prstGeom prst="roundRect">
            <a:avLst>
              <a:gd name="adj" fmla="val 25000"/>
            </a:avLst>
          </a:prstGeom>
          <a:solidFill>
            <a:srgbClr val="0077FF">
              <a:alpha val="56000"/>
            </a:srgbClr>
          </a:solidFill>
          <a:ln>
            <a:noFill/>
          </a:ln>
        </p:spPr>
      </p:sp>
      <p:sp>
        <p:nvSpPr>
          <p:cNvPr id="558" name="Legend 558"/>
          <p:cNvSpPr txBox="1"/>
          <p:nvPr/>
        </p:nvSpPr>
        <p:spPr>
          <a:xfrm>
            <a:off x="7900238" y="3396742"/>
            <a:ext cx="2364272" cy="42773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Мебель и обустройство</a:t>
            </a:r>
            <a:endParaRPr lang="ru-RU" sz="12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раздевалок</a:t>
            </a:r>
            <a:endParaRPr lang="ru-RU" sz="1200"/>
          </a:p>
        </p:txBody>
      </p:sp>
      <p:sp>
        <p:nvSpPr>
          <p:cNvPr id="559" name="Share 559"/>
          <p:cNvSpPr txBox="1"/>
          <p:nvPr/>
        </p:nvSpPr>
        <p:spPr>
          <a:xfrm>
            <a:off x="10264510" y="3396742"/>
            <a:ext cx="1250156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300 000 ₽  ·  10%</a:t>
            </a:r>
            <a:endParaRPr lang="ru-RU" sz="1200"/>
          </a:p>
        </p:txBody>
      </p:sp>
      <p:sp>
        <p:nvSpPr>
          <p:cNvPr id="560" name="Swatch 560"/>
          <p:cNvSpPr/>
          <p:nvPr/>
        </p:nvSpPr>
        <p:spPr>
          <a:xfrm>
            <a:off x="7702728" y="3946398"/>
            <a:ext cx="109728" cy="109728"/>
          </a:xfrm>
          <a:prstGeom prst="roundRect">
            <a:avLst>
              <a:gd name="adj" fmla="val 25000"/>
            </a:avLst>
          </a:prstGeom>
          <a:solidFill>
            <a:srgbClr val="0077FF">
              <a:alpha val="40000"/>
            </a:srgbClr>
          </a:solidFill>
          <a:ln>
            <a:noFill/>
          </a:ln>
        </p:spPr>
      </p:sp>
      <p:sp>
        <p:nvSpPr>
          <p:cNvPr id="561" name="Legend 561"/>
          <p:cNvSpPr txBox="1"/>
          <p:nvPr/>
        </p:nvSpPr>
        <p:spPr>
          <a:xfrm>
            <a:off x="7900238" y="3900678"/>
            <a:ext cx="2364272" cy="42773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Обеспечительный платеж</a:t>
            </a:r>
            <a:endParaRPr lang="ru-RU" sz="1200"/>
          </a:p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 аренде</a:t>
            </a:r>
            <a:endParaRPr lang="ru-RU" sz="1200"/>
          </a:p>
        </p:txBody>
      </p:sp>
      <p:sp>
        <p:nvSpPr>
          <p:cNvPr id="562" name="Share 562"/>
          <p:cNvSpPr txBox="1"/>
          <p:nvPr/>
        </p:nvSpPr>
        <p:spPr>
          <a:xfrm>
            <a:off x="10264510" y="3900678"/>
            <a:ext cx="1250156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180 000 ₽  ·  6%</a:t>
            </a:r>
            <a:endParaRPr lang="ru-RU" sz="1200"/>
          </a:p>
        </p:txBody>
      </p:sp>
      <p:sp>
        <p:nvSpPr>
          <p:cNvPr id="563" name="Swatch 563"/>
          <p:cNvSpPr/>
          <p:nvPr/>
        </p:nvSpPr>
        <p:spPr>
          <a:xfrm>
            <a:off x="7702728" y="4450334"/>
            <a:ext cx="109728" cy="109728"/>
          </a:xfrm>
          <a:prstGeom prst="roundRect">
            <a:avLst>
              <a:gd name="adj" fmla="val 25000"/>
            </a:avLst>
          </a:prstGeom>
          <a:solidFill>
            <a:srgbClr val="0077FF">
              <a:alpha val="26000"/>
            </a:srgbClr>
          </a:solidFill>
          <a:ln>
            <a:noFill/>
          </a:ln>
        </p:spPr>
      </p:sp>
      <p:sp>
        <p:nvSpPr>
          <p:cNvPr id="564" name="Legend 564"/>
          <p:cNvSpPr txBox="1"/>
          <p:nvPr/>
        </p:nvSpPr>
        <p:spPr>
          <a:xfrm>
            <a:off x="7900238" y="4404614"/>
            <a:ext cx="2364272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Сайт и система записи</a:t>
            </a:r>
            <a:endParaRPr lang="ru-RU" sz="1200"/>
          </a:p>
        </p:txBody>
      </p:sp>
      <p:sp>
        <p:nvSpPr>
          <p:cNvPr id="565" name="Share 565"/>
          <p:cNvSpPr txBox="1"/>
          <p:nvPr/>
        </p:nvSpPr>
        <p:spPr>
          <a:xfrm>
            <a:off x="10264510" y="4404614"/>
            <a:ext cx="1250156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120 000 ₽  ·  4%</a:t>
            </a:r>
            <a:endParaRPr lang="ru-RU" sz="120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5941006" cy="12984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Студия получит 224 375 ₽ операционной прибыли</a:t>
            </a:r>
            <a:endParaRPr/>
          </a:p>
        </p:txBody>
      </p:sp>
      <p:sp>
        <p:nvSpPr>
          <p:cNvPr id="544" name="Chart note 544"/>
          <p:cNvSpPr txBox="1"/>
          <p:nvPr/>
        </p:nvSpPr>
        <p:spPr>
          <a:xfrm>
            <a:off x="677334" y="2356358"/>
            <a:ext cx="3684692" cy="28041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Aft>
                <a:spcPts val="1800"/>
              </a:spcAft>
              <a:buNone/>
            </a:pPr>
            <a:r>
              <a:rPr lang="ru-RU" sz="2000" b="1" cap="none" spc="0" baseline="0" dirty="0">
                <a:solidFill>
                  <a:srgbClr val="0077FF"/>
                </a:solidFill>
                <a:latin typeface="Play"/>
                <a:cs typeface="Play"/>
              </a:rPr>
              <a:t>224 375 рублей</a:t>
            </a:r>
            <a:r>
              <a:rPr lang="ru-RU" sz="20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, рентабельность — </a:t>
            </a:r>
            <a:r>
              <a:rPr lang="ru-RU" sz="2000" b="1" cap="none" spc="0" baseline="0" dirty="0">
                <a:solidFill>
                  <a:srgbClr val="0077FF"/>
                </a:solidFill>
                <a:latin typeface="Play"/>
                <a:cs typeface="Play"/>
              </a:rPr>
              <a:t>17,8%</a:t>
            </a:r>
            <a:endParaRPr lang="ru-RU" sz="2000"/>
          </a:p>
          <a:p>
            <a:pPr algn="l" marL="279400" indent="-279400">
              <a:lnSpc>
                <a:spcPct val="110000"/>
              </a:lnSpc>
              <a:spcAft>
                <a:spcPts val="800"/>
              </a:spcAft>
              <a:buClr>
                <a:srgbClr val="0077FF"/>
              </a:buClr>
              <a:buFont typeface="Arial"/>
              <a:buChar char="•"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При 250 активных клиентах</a:t>
            </a:r>
            <a:endParaRPr lang="ru-RU" sz="2000"/>
          </a:p>
          <a:p>
            <a:pPr algn="l" marL="279400" indent="-279400">
              <a:lnSpc>
                <a:spcPct val="110000"/>
              </a:lnSpc>
              <a:spcAft>
                <a:spcPts val="800"/>
              </a:spcAft>
              <a:buClr>
                <a:srgbClr val="0077FF"/>
              </a:buClr>
              <a:buFont typeface="Arial"/>
              <a:buChar char="•"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Средняя выручка на клиента — 5 050 ₽</a:t>
            </a:r>
            <a:endParaRPr lang="ru-RU" sz="2000"/>
          </a:p>
          <a:p>
            <a:pPr algn="l" marL="279400" indent="-279400">
              <a:lnSpc>
                <a:spcPct val="11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Переменные расходы — 5% от выручки (63 125 ₽)</a:t>
            </a:r>
            <a:endParaRPr lang="ru-RU" sz="2000"/>
          </a:p>
        </p:txBody>
      </p:sp>
      <p:cxnSp>
        <p:nvCxnSpPr>
          <p:cNvPr id="545" name="Line 545"/>
          <p:cNvCxnSpPr/>
          <p:nvPr/>
        </p:nvCxnSpPr>
        <p:spPr>
          <a:xfrm>
            <a:off x="4654634" y="2356358"/>
            <a:ext cx="0" cy="2804160"/>
          </a:xfrm>
          <a:prstGeom prst="line">
            <a:avLst/>
          </a:prstGeom>
          <a:ln w="12700">
            <a:solidFill>
              <a:srgbClr val="E1E1E1"/>
            </a:solidFill>
          </a:ln>
        </p:spPr>
      </p:cxnSp>
      <p:sp>
        <p:nvSpPr>
          <p:cNvPr id="546" name="Unit 546"/>
          <p:cNvSpPr txBox="1"/>
          <p:nvPr/>
        </p:nvSpPr>
        <p:spPr>
          <a:xfrm>
            <a:off x="4947242" y="2356358"/>
            <a:ext cx="6567424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₽</a:t>
            </a:r>
            <a:endParaRPr lang="ru-RU" sz="1200"/>
          </a:p>
        </p:txBody>
      </p:sp>
      <p:graphicFrame>
        <p:nvGraphicFramePr>
          <p:cNvPr id="547" name="Chart 546"/>
          <p:cNvGraphicFramePr>
            <a:graphicFrameLocks noGrp="1"/>
          </p:cNvGraphicFramePr>
          <p:nvPr/>
        </p:nvGraphicFramePr>
        <p:xfrm>
          <a:off x="4947242" y="2644648"/>
          <a:ext cx="6567424" cy="28119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48" name="Footnote 548"/>
          <p:cNvSpPr txBox="1"/>
          <p:nvPr/>
        </p:nvSpPr>
        <p:spPr>
          <a:xfrm>
            <a:off x="677334" y="5973064"/>
            <a:ext cx="10837332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Налоги, амортизация и проценты по кредитам не учтены</a:t>
            </a:r>
            <a:endParaRPr lang="ru-RU" sz="120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104851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Прогноз на первые шесть месяцев</a:t>
            </a:r>
            <a:endParaRPr/>
          </a:p>
        </p:txBody>
      </p:sp>
      <p:sp>
        <p:nvSpPr>
          <p:cNvPr id="544" name="Chart note 544"/>
          <p:cNvSpPr txBox="1"/>
          <p:nvPr/>
        </p:nvSpPr>
        <p:spPr>
          <a:xfrm>
            <a:off x="677334" y="1752854"/>
            <a:ext cx="3251199" cy="695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Операционная прибыль достигается на 5-⁠й месяц</a:t>
            </a:r>
            <a:endParaRPr lang="ru-RU" sz="2000"/>
          </a:p>
        </p:txBody>
      </p:sp>
      <p:cxnSp>
        <p:nvCxnSpPr>
          <p:cNvPr id="545" name="Line 545"/>
          <p:cNvCxnSpPr/>
          <p:nvPr/>
        </p:nvCxnSpPr>
        <p:spPr>
          <a:xfrm>
            <a:off x="4294293" y="1752854"/>
            <a:ext cx="0" cy="695960"/>
          </a:xfrm>
          <a:prstGeom prst="line">
            <a:avLst/>
          </a:prstGeom>
          <a:ln w="12700">
            <a:solidFill>
              <a:srgbClr val="E1E1E1"/>
            </a:solidFill>
          </a:ln>
        </p:spPr>
      </p:cxnSp>
      <p:sp>
        <p:nvSpPr>
          <p:cNvPr id="546" name="Chart title 546"/>
          <p:cNvSpPr txBox="1"/>
          <p:nvPr/>
        </p:nvSpPr>
        <p:spPr>
          <a:xfrm>
            <a:off x="4660053" y="1752854"/>
            <a:ext cx="3061546" cy="6959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Рост активных клиентов, человек</a:t>
            </a:r>
            <a:endParaRPr lang="ru-RU" sz="2000"/>
          </a:p>
        </p:txBody>
      </p:sp>
      <p:graphicFrame>
        <p:nvGraphicFramePr>
          <p:cNvPr id="547" name="Chart 546"/>
          <p:cNvGraphicFramePr>
            <a:graphicFrameLocks noGrp="1"/>
          </p:cNvGraphicFramePr>
          <p:nvPr/>
        </p:nvGraphicFramePr>
        <p:xfrm>
          <a:off x="4660053" y="2572258"/>
          <a:ext cx="3061546" cy="362737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48" name="Chart title 548"/>
          <p:cNvSpPr txBox="1"/>
          <p:nvPr/>
        </p:nvSpPr>
        <p:spPr>
          <a:xfrm>
            <a:off x="8453119" y="1752854"/>
            <a:ext cx="3061547" cy="3606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20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Операционный результат</a:t>
            </a:r>
            <a:endParaRPr lang="ru-RU" sz="2000"/>
          </a:p>
        </p:txBody>
      </p:sp>
      <p:graphicFrame>
        <p:nvGraphicFramePr>
          <p:cNvPr id="549" name="Chart 548"/>
          <p:cNvGraphicFramePr>
            <a:graphicFrameLocks noGrp="1"/>
          </p:cNvGraphicFramePr>
          <p:nvPr/>
        </p:nvGraphicFramePr>
        <p:xfrm>
          <a:off x="8453119" y="2236978"/>
          <a:ext cx="3061547" cy="396265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Google Shape;543;p56"/>
          <p:cNvSpPr txBox="1"/>
          <p:nvPr>
            <p:ph type="title"/>
          </p:nvPr>
        </p:nvSpPr>
        <p:spPr>
          <a:xfrm>
            <a:off x="677334" y="692150"/>
            <a:ext cx="104851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>Недостаток оборотных средств — 387 388 ₽</a:t>
            </a:r>
            <a:endParaRPr/>
          </a:p>
        </p:txBody>
      </p:sp>
      <p:sp>
        <p:nvSpPr>
          <p:cNvPr id="544" name="Chart note 544"/>
          <p:cNvSpPr txBox="1"/>
          <p:nvPr/>
        </p:nvSpPr>
        <p:spPr>
          <a:xfrm>
            <a:off x="677334" y="1752854"/>
            <a:ext cx="4118186" cy="3480816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Aft>
                <a:spcPts val="1800"/>
              </a:spcAft>
              <a:buNone/>
            </a:pPr>
            <a:r>
              <a:rPr lang="ru-RU" sz="20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Проект может выйти на операционную прибыль к пятому месяцу, но для запуска необходимо заранее закрыть недостаток оборотных средств</a:t>
            </a:r>
            <a:endParaRPr lang="ru-RU" sz="2000"/>
          </a:p>
          <a:p>
            <a:pPr algn="l" marL="195580" indent="-195580">
              <a:lnSpc>
                <a:spcPct val="110000"/>
              </a:lnSpc>
              <a:spcAft>
                <a:spcPts val="56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Общий бюджет проекта нужно увеличить до 3 387 388 ₽</a:t>
            </a:r>
            <a:endParaRPr lang="ru-RU" sz="1400"/>
          </a:p>
          <a:p>
            <a:pPr algn="l" marL="195580" indent="-195580">
              <a:lnSpc>
                <a:spcPct val="110000"/>
              </a:lnSpc>
              <a:spcAft>
                <a:spcPts val="560"/>
              </a:spcAft>
              <a:buClr>
                <a:srgbClr val="0077FF"/>
              </a:buClr>
              <a:buFont typeface="Arial"/>
              <a:buChar char="•"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Или сократить затраты до запуска</a:t>
            </a:r>
            <a:endParaRPr lang="ru-RU" sz="1400"/>
          </a:p>
          <a:p>
            <a:pPr algn="l" marL="195580" indent="-195580">
              <a:lnSpc>
                <a:spcPct val="11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4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Суммарный операционный убыток за первые четыре месяца составит около 1 237 388 рублей</a:t>
            </a:r>
            <a:endParaRPr lang="ru-RU" sz="1400"/>
          </a:p>
        </p:txBody>
      </p:sp>
      <p:cxnSp>
        <p:nvCxnSpPr>
          <p:cNvPr id="545" name="Line 545"/>
          <p:cNvCxnSpPr/>
          <p:nvPr/>
        </p:nvCxnSpPr>
        <p:spPr>
          <a:xfrm>
            <a:off x="5088128" y="1752854"/>
            <a:ext cx="0" cy="3480816"/>
          </a:xfrm>
          <a:prstGeom prst="line">
            <a:avLst/>
          </a:prstGeom>
          <a:ln w="12700">
            <a:solidFill>
              <a:srgbClr val="E1E1E1"/>
            </a:solidFill>
          </a:ln>
        </p:spPr>
      </p:cxnSp>
      <p:sp>
        <p:nvSpPr>
          <p:cNvPr id="546" name="Unit 546"/>
          <p:cNvSpPr txBox="1"/>
          <p:nvPr/>
        </p:nvSpPr>
        <p:spPr>
          <a:xfrm>
            <a:off x="5380736" y="1752854"/>
            <a:ext cx="6133930" cy="22656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buNone/>
            </a:pPr>
            <a:r>
              <a:rPr lang="ru-RU" sz="1200" b="0" cap="none" spc="0" baseline="0" dirty="0">
                <a:solidFill>
                  <a:srgbClr val="262626"/>
                </a:solidFill>
                <a:latin typeface="Play"/>
                <a:cs typeface="Play"/>
              </a:rPr>
              <a:t>Сумма</a:t>
            </a:r>
            <a:endParaRPr lang="ru-RU" sz="1200"/>
          </a:p>
        </p:txBody>
      </p:sp>
      <p:graphicFrame>
        <p:nvGraphicFramePr>
          <p:cNvPr id="547" name="Chart 546"/>
          <p:cNvGraphicFramePr>
            <a:graphicFrameLocks noGrp="1"/>
          </p:cNvGraphicFramePr>
          <p:nvPr/>
        </p:nvGraphicFramePr>
        <p:xfrm>
          <a:off x="5380736" y="2041144"/>
          <a:ext cx="6133930" cy="38027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